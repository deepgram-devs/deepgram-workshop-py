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sldIdLst>
    <p:sldId id="256" r:id="rId2"/>
    <p:sldId id="294" r:id="rId3"/>
    <p:sldId id="293"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snapToObjects="1">
      <p:cViewPr varScale="1">
        <p:scale>
          <a:sx n="120" d="100"/>
          <a:sy n="120" d="100"/>
        </p:scale>
        <p:origin x="80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46759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Leave this up as the room fills. Nothing to present.</a:t>
            </a:r>
          </a:p>
          <a:p>
            <a:endParaRPr/>
          </a:p>
          <a:p>
            <a:r>
              <a:t>Say, once, while people are sitting down: if you have not run the setup check</a:t>
            </a:r>
          </a:p>
          <a:p>
            <a:r>
              <a:t>yet, run it now -- that command on the screen -- because it is the only thing</a:t>
            </a:r>
          </a:p>
          <a:p>
            <a:r>
              <a:t>that can go wrong in a way that costs you twenty minutes later.</a:t>
            </a:r>
          </a:p>
          <a:p>
            <a:endParaRPr/>
          </a:p>
          <a:p>
            <a:r>
              <a:t>The single biggest predictor of whether this session goes well is how many</a:t>
            </a:r>
          </a:p>
          <a:p>
            <a:r>
              <a:t>people arrive with a working environment. If you sent the pre-event email a</a:t>
            </a:r>
          </a:p>
          <a:p>
            <a:r>
              <a:t>week out, most of the room is fine. Find the ones who aren't now, not at 0:10.</a:t>
            </a:r>
          </a:p>
          <a:p>
            <a:endParaRPr/>
          </a:p>
          <a:p>
            <a:r>
              <a:t>Wired headphones. Ask out loud who doesn't have any and pair them with someone</a:t>
            </a:r>
          </a:p>
          <a:p>
            <a:r>
              <a:t>who does, or seat them where the room noise is lowest. Step 5 is where the</a:t>
            </a:r>
          </a:p>
          <a:p>
            <a:r>
              <a:t>difference shows.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2E81E-7A5A-AC23-3DFA-D844839D3F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925BFA-C8E8-C25B-F8F9-7D943AD0EE8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8AD7E44-B425-6483-AE21-FD6A2484B389}"/>
              </a:ext>
            </a:extLst>
          </p:cNvPr>
          <p:cNvSpPr>
            <a:spLocks noGrp="1"/>
          </p:cNvSpPr>
          <p:nvPr>
            <p:ph type="body" sz="quarter" idx="3"/>
          </p:nvPr>
        </p:nvSpPr>
        <p:spPr/>
        <p:txBody>
          <a:bodyPr/>
          <a:lstStyle/>
          <a:p>
            <a:r>
              <a:t>Leave this up as the room fills. Nothing to present.</a:t>
            </a:r>
          </a:p>
          <a:p>
            <a:endParaRPr/>
          </a:p>
          <a:p>
            <a:r>
              <a:t>Say, once, while people are sitting down: if you have not run the setup check</a:t>
            </a:r>
          </a:p>
          <a:p>
            <a:r>
              <a:t>yet, run it now -- that command on the screen -- because it is the only thing</a:t>
            </a:r>
          </a:p>
          <a:p>
            <a:r>
              <a:t>that can go wrong in a way that costs you twenty minutes later.</a:t>
            </a:r>
          </a:p>
          <a:p>
            <a:endParaRPr/>
          </a:p>
          <a:p>
            <a:r>
              <a:t>The single biggest predictor of whether this session goes well is how many</a:t>
            </a:r>
          </a:p>
          <a:p>
            <a:r>
              <a:t>people arrive with a working environment. If you sent the pre-event email a</a:t>
            </a:r>
          </a:p>
          <a:p>
            <a:r>
              <a:t>week out, most of the room is fine. Find the ones who aren't now, not at 0:10.</a:t>
            </a:r>
          </a:p>
          <a:p>
            <a:endParaRPr/>
          </a:p>
          <a:p>
            <a:r>
              <a:t>Wired headphones. Ask out loud who doesn't have any and pair them with someone</a:t>
            </a:r>
          </a:p>
          <a:p>
            <a:r>
              <a:t>who does, or seat them where the room noise is lowest. Step 5 is where the</a:t>
            </a:r>
          </a:p>
          <a:p>
            <a:r>
              <a:t>difference shows.</a:t>
            </a:r>
          </a:p>
        </p:txBody>
      </p:sp>
      <p:sp>
        <p:nvSpPr>
          <p:cNvPr id="4" name="Slide Number Placeholder 3">
            <a:extLst>
              <a:ext uri="{FF2B5EF4-FFF2-40B4-BE49-F238E27FC236}">
                <a16:creationId xmlns:a16="http://schemas.microsoft.com/office/drawing/2014/main" id="{E219FD6F-5776-9ECB-B937-F36BFF75E447}"/>
              </a:ext>
            </a:extLst>
          </p:cNvPr>
          <p:cNvSpPr>
            <a:spLocks noGrp="1"/>
          </p:cNvSpPr>
          <p:nvPr>
            <p:ph type="sldNum" sz="quarter" idx="5"/>
          </p:nvPr>
        </p:nvSpPr>
        <p:spPr/>
      </p:sp>
    </p:spTree>
    <p:extLst>
      <p:ext uri="{BB962C8B-B14F-4D97-AF65-F5344CB8AC3E}">
        <p14:creationId xmlns:p14="http://schemas.microsoft.com/office/powerpoint/2010/main" val="40700398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1408C-284F-78E9-958B-E8D8161C3F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CA0D3-7EAB-8767-4D87-689F6AC94B6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56F19CA-0703-4083-61CF-547387B71B55}"/>
              </a:ext>
            </a:extLst>
          </p:cNvPr>
          <p:cNvSpPr>
            <a:spLocks noGrp="1"/>
          </p:cNvSpPr>
          <p:nvPr>
            <p:ph type="body" sz="quarter" idx="3"/>
          </p:nvPr>
        </p:nvSpPr>
        <p:spPr/>
        <p:txBody>
          <a:bodyPr/>
          <a:lstStyle/>
          <a:p>
            <a:r>
              <a:t>Leave this up as the room fills. Nothing to present.</a:t>
            </a:r>
          </a:p>
          <a:p>
            <a:endParaRPr/>
          </a:p>
          <a:p>
            <a:r>
              <a:t>Say, once, while people are sitting down: if you have not run the setup check</a:t>
            </a:r>
          </a:p>
          <a:p>
            <a:r>
              <a:t>yet, run it now -- that command on the screen -- because it is the only thing</a:t>
            </a:r>
          </a:p>
          <a:p>
            <a:r>
              <a:t>that can go wrong in a way that costs you twenty minutes later.</a:t>
            </a:r>
          </a:p>
          <a:p>
            <a:endParaRPr/>
          </a:p>
          <a:p>
            <a:r>
              <a:t>The single biggest predictor of whether this session goes well is how many</a:t>
            </a:r>
          </a:p>
          <a:p>
            <a:r>
              <a:t>people arrive with a working environment. If you sent the pre-event email a</a:t>
            </a:r>
          </a:p>
          <a:p>
            <a:r>
              <a:t>week out, most of the room is fine. Find the ones who aren't now, not at 0:10.</a:t>
            </a:r>
          </a:p>
          <a:p>
            <a:endParaRPr/>
          </a:p>
          <a:p>
            <a:r>
              <a:t>Wired headphones. Ask out loud who doesn't have any and pair them with someone</a:t>
            </a:r>
          </a:p>
          <a:p>
            <a:r>
              <a:t>who does, or seat them where the room noise is lowest. Step 5 is where the</a:t>
            </a:r>
          </a:p>
          <a:p>
            <a:r>
              <a:t>difference shows.</a:t>
            </a:r>
          </a:p>
        </p:txBody>
      </p:sp>
      <p:sp>
        <p:nvSpPr>
          <p:cNvPr id="4" name="Slide Number Placeholder 3">
            <a:extLst>
              <a:ext uri="{FF2B5EF4-FFF2-40B4-BE49-F238E27FC236}">
                <a16:creationId xmlns:a16="http://schemas.microsoft.com/office/drawing/2014/main" id="{7591F65A-1E91-F118-117B-0684EC92AA5F}"/>
              </a:ext>
            </a:extLst>
          </p:cNvPr>
          <p:cNvSpPr>
            <a:spLocks noGrp="1"/>
          </p:cNvSpPr>
          <p:nvPr>
            <p:ph type="sldNum" sz="quarter" idx="5"/>
          </p:nvPr>
        </p:nvSpPr>
        <p:spPr/>
      </p:sp>
    </p:spTree>
    <p:extLst>
      <p:ext uri="{BB962C8B-B14F-4D97-AF65-F5344CB8AC3E}">
        <p14:creationId xmlns:p14="http://schemas.microsoft.com/office/powerpoint/2010/main" val="25387109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Thirty seconds on this slide. It is a promise, not a lesson.</a:t>
            </a:r>
          </a:p>
          <a:p>
            <a:endParaRPr/>
          </a:p>
          <a:p>
            <a:r>
              <a:t>The number that matters to the room is 1 API key. Your Deepgram key pays for</a:t>
            </a:r>
          </a:p>
          <a:p>
            <a:r>
              <a:t>speech-to-text, the LLM, and text-to-speech alike -- Deepgram brokers the LLM</a:t>
            </a:r>
          </a:p>
          <a:p>
            <a:r>
              <a:t>call, so there is no OpenAI account, no second key, and no second bill. People</a:t>
            </a:r>
          </a:p>
          <a:p>
            <a:r>
              <a:t>who have wired up a voice pipeline before will not expect that.</a:t>
            </a:r>
          </a:p>
          <a:p>
            <a:endParaRPr/>
          </a:p>
          <a:p>
            <a:r>
              <a:t>New accounts get $200 in credit and a full three-hour run costs well under a</a:t>
            </a:r>
          </a:p>
          <a:p>
            <a:r>
              <a:t>dollar per person, so nobody needs to worry about the meter.</a:t>
            </a:r>
          </a:p>
          <a:p>
            <a:endParaRPr/>
          </a:p>
          <a:p>
            <a:r>
              <a:t>If someone asks about the browser: it is there for echo cancellation and for</a:t>
            </a:r>
          </a:p>
          <a:p>
            <a:r>
              <a:t>the microphone permission model, not because the agent needs a front end. That</a:t>
            </a:r>
          </a:p>
          <a:p>
            <a:r>
              <a:t>choice is what makes WSL work and what stops Step 5 turning into twenty minutes</a:t>
            </a:r>
          </a:p>
          <a:p>
            <a:r>
              <a:t>of debugging a laptop speaker.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Leave this up during setup. Do not read it out.</a:t>
            </a:r>
          </a:p>
          <a:p>
            <a:endParaRPr/>
          </a:p>
          <a:p>
            <a:r>
              <a:t>The two you will actually be asked about:</a:t>
            </a:r>
          </a:p>
          <a:p>
            <a:endParaRPr/>
          </a:p>
          <a:p>
            <a:r>
              <a:t>uv -- people assume they need Python first. They don't. uv fetches Python 3.13</a:t>
            </a:r>
          </a:p>
          <a:p>
            <a:r>
              <a:t>itself. If someone has an old Python and is worried, that is fine, uv ignores it.</a:t>
            </a:r>
          </a:p>
          <a:p>
            <a:endParaRPr/>
          </a:p>
          <a:p>
            <a:r>
              <a:t>Headphones -- the request in the pre-event email was not decoration. Without</a:t>
            </a:r>
          </a:p>
          <a:p>
            <a:r>
              <a:t>them the agent can hear itself through the laptop speakers and interrupt itself,</a:t>
            </a:r>
          </a:p>
          <a:p>
            <a:r>
              <a:t>which looks exactly like a broken barge-in implementation. That costs people</a:t>
            </a:r>
          </a:p>
          <a:p>
            <a:r>
              <a:t>twenty minutes in Step 5 and it costs you the best moment in the workshop.</a:t>
            </a:r>
          </a:p>
          <a:p>
            <a:endParaRPr/>
          </a:p>
          <a:p>
            <a:r>
              <a:t>A terminal on macOS, Linux, Windows, or WSL all work. WSL is no longer a problem</a:t>
            </a:r>
          </a:p>
          <a:p>
            <a:r>
              <a:t>because the audio is Windows' problem now, not yours -- the browser handles it.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Worth thirty seconds, because it decides whether anyone feels stranded.</a:t>
            </a:r>
          </a:p>
          <a:p>
            <a:endParaRPr/>
          </a:p>
          <a:p>
            <a:r>
              <a:t>Say out loud: if your environment went sideways, or you did not come here to</a:t>
            </a:r>
          </a:p>
          <a:p>
            <a:r>
              <a:t>write Python, Easy Mode is not a consolation prize. It covers every concept in</a:t>
            </a:r>
          </a:p>
          <a:p>
            <a:r>
              <a:t>this workshop through the Playground, and you will finish each lab faster than</a:t>
            </a:r>
          </a:p>
          <a:p>
            <a:r>
              <a:t>the code track finishes its step. Spend the spare minutes on the Going further</a:t>
            </a:r>
          </a:p>
          <a:p>
            <a:r>
              <a:t>prompts in the lab.</a:t>
            </a:r>
          </a:p>
          <a:p>
            <a:endParaRPr/>
          </a:p>
          <a:p>
            <a:r>
              <a:t>Also say: the Playground's settings panel is a form over a JSON document, and</a:t>
            </a:r>
          </a:p>
          <a:p>
            <a:r>
              <a:t>the developers next to you are typing that same document by hand. Once someone</a:t>
            </a:r>
          </a:p>
          <a:p>
            <a:r>
              <a:t>sees that, the two tracks stop looking like different activities.</a:t>
            </a:r>
          </a:p>
          <a:p>
            <a:endParaRPr/>
          </a:p>
          <a:p>
            <a:r>
              <a:t>Pair people up if the room allows it. An Easy Mode attendee sitting next to a</a:t>
            </a:r>
          </a:p>
          <a:p>
            <a:r>
              <a:t>code track attendee is the best version of this -- at Step 5 the Easy Mode</a:t>
            </a:r>
          </a:p>
          <a:p>
            <a:r>
              <a:t>person gets barge-in for free and can watch their neighbour implement it.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Show it, name the break, move on. Do not walk the room through eleven rows.</a:t>
            </a:r>
          </a:p>
          <a:p>
            <a:endParaRPr/>
          </a:p>
          <a:p>
            <a:r>
              <a:t>The two sentences worth saying:</a:t>
            </a:r>
          </a:p>
          <a:p>
            <a:endParaRPr/>
          </a:p>
          <a:p>
            <a:r>
              <a:t>"The amber rows are where we stop and make sure everyone is together. If you're</a:t>
            </a:r>
          </a:p>
          <a:p>
            <a:r>
              <a:t>behind at one of those, say so -- that's what they're for."</a:t>
            </a:r>
          </a:p>
          <a:p>
            <a:endParaRPr/>
          </a:p>
          <a:p>
            <a:r>
              <a:t>"Every step folder contains a complete, working version of the step before it.</a:t>
            </a:r>
          </a:p>
          <a:p>
            <a:r>
              <a:t>So if you fall behind, you skip ahead and keep going. You lose the typing, not</a:t>
            </a:r>
          </a:p>
          <a:p>
            <a:r>
              <a:t>the workshop." Say this now, at the first gate, and again at the break. If you</a:t>
            </a:r>
          </a:p>
          <a:p>
            <a:r>
              <a:t>don't say it, people fall behind quietly and disengage.</a:t>
            </a:r>
          </a:p>
          <a:p>
            <a:endParaRPr/>
          </a:p>
          <a:p>
            <a:r>
              <a:t>Timings come from FACILITATOR.md and assume a 3-hour slot. A 90-minute run is</a:t>
            </a:r>
          </a:p>
          <a:p>
            <a:r>
              <a:t>Steps 0 to 5 and still ends with a working voice agent you can interrupt.</a:t>
            </a:r>
          </a:p>
          <a:p>
            <a:endParaRPr/>
          </a:p>
          <a:p>
            <a:r>
              <a:t>Steps 6b and 7b are deliberately not on this map. Mention each in one sentence</a:t>
            </a:r>
          </a:p>
          <a:p>
            <a:r>
              <a:t>when you finish the step before it, and point at the appendix.</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first of six slides you actually present. Ten minutes for the whole</a:t>
            </a:r>
          </a:p>
          <a:p>
            <a:r>
              <a:t>block -- they came to code, not to watch slides.</a:t>
            </a:r>
          </a:p>
          <a:p>
            <a:endParaRPr/>
          </a:p>
          <a:p>
            <a:r>
              <a:t>Three models, three jobs:</a:t>
            </a:r>
          </a:p>
          <a:p>
            <a:endParaRPr/>
          </a:p>
          <a:p>
            <a:r>
              <a:t>Flux, speech-to-text. Deepgram's conversational model. It streams transcripts as</a:t>
            </a:r>
          </a:p>
          <a:p>
            <a:r>
              <a:t>you speak, so nothing waits for a complete utterance, and it scores end-of-turn</a:t>
            </a:r>
          </a:p>
          <a:p>
            <a:r>
              <a:t>confidence while the audio is still arriving. That second half is the slide after</a:t>
            </a:r>
          </a:p>
          <a:p>
            <a:r>
              <a:t>next and it is the important one.</a:t>
            </a:r>
          </a:p>
          <a:p>
            <a:endParaRPr/>
          </a:p>
          <a:p>
            <a:r>
              <a:t>gpt-4o-mini, the brain. Takes the transcript, mixes it with the conversation</a:t>
            </a:r>
          </a:p>
          <a:p>
            <a:r>
              <a:t>history and the agent's standing instructions, decides what to say back. Chosen</a:t>
            </a:r>
          </a:p>
          <a:p>
            <a:r>
              <a:t>because it is fast and cheap, and speed matters more than raw capability when</a:t>
            </a:r>
          </a:p>
          <a:p>
            <a:r>
              <a:t>somebody is waiting to hear a reply. The same pattern works with Anthropic,</a:t>
            </a:r>
          </a:p>
          <a:p>
            <a:r>
              <a:t>Google, Groq, and Bedrock -- you swap a provider, not your architecture.</a:t>
            </a:r>
          </a:p>
          <a:p>
            <a:endParaRPr/>
          </a:p>
          <a:p>
            <a:r>
              <a:t>Flux TTS, text-to-speech. Streaming voice engine built for conversation.</a:t>
            </a:r>
          </a:p>
          <a:p>
            <a:endParaRPr/>
          </a:p>
          <a:p>
            <a:r>
              <a:t>Check yourself, ask the room: what are the three building blocks, and which one</a:t>
            </a:r>
          </a:p>
          <a:p>
            <a:r>
              <a:t>holds the conversation history? Answer: STT, LLM, TTS -- and the LLM holds it.</a:t>
            </a:r>
          </a:p>
          <a:p>
            <a:endParaRPr/>
          </a:p>
          <a:p>
            <a:r>
              <a:t>If someone asks whether the speech models must run on Deepgram's infrastructure:</a:t>
            </a:r>
          </a:p>
          <a:p>
            <a:r>
              <a:t>no. Flux, Nova-3, and Aura-2 are on AWS Marketplace and deploy to SageMaker</a:t>
            </a:r>
          </a:p>
          <a:p>
            <a:r>
              <a:t>endpoints in your own VPC. That is a different architecture, not a setting, and</a:t>
            </a:r>
          </a:p>
          <a:p>
            <a:r>
              <a:t>the Voice Agent API itself does not run there -- SageMaker's network isolation</a:t>
            </a:r>
          </a:p>
          <a:p>
            <a:r>
              <a:t>blocks the outbound LLM calls the orchestrator makes. Park it; it's on a slide</a:t>
            </a:r>
          </a:p>
          <a:p>
            <a:r>
              <a:t>in the appendix path if they want more.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New slide, and the one that answers "wait, what is running where?" before</a:t>
            </a:r>
          </a:p>
          <a:p>
            <a:r>
              <a:t>anybody has to ask it. Sixty seconds.</a:t>
            </a:r>
          </a:p>
          <a:p>
            <a:endParaRPr/>
          </a:p>
          <a:p>
            <a:r>
              <a:t>The shape to convey: your machine holds the browser and a small Python process.</a:t>
            </a:r>
          </a:p>
          <a:p>
            <a:r>
              <a:t>Deepgram holds the pipeline. There is no server to deploy, nothing always-on,</a:t>
            </a:r>
          </a:p>
          <a:p>
            <a:r>
              <a:t>and nothing accruing cost between sessions -- everything is either a local</a:t>
            </a:r>
          </a:p>
          <a:p>
            <a:r>
              <a:t>process you started or a metered API call.</a:t>
            </a:r>
          </a:p>
          <a:p>
            <a:endParaRPr/>
          </a:p>
          <a:p>
            <a:r>
              <a:t>The seven hops, if you want to walk them: browser captures audio and streams it</a:t>
            </a:r>
          </a:p>
          <a:p>
            <a:r>
              <a:t>to the local bridge over 127.0.0.1; Python forwards it to Deepgram on one</a:t>
            </a:r>
          </a:p>
          <a:p>
            <a:r>
              <a:t>authenticated WebSocket; Flux transcribes and decides the turn ended; the</a:t>
            </a:r>
          </a:p>
          <a:p>
            <a:r>
              <a:t>orchestrator calls the think provider; the model streams tokens back; TTS</a:t>
            </a:r>
          </a:p>
          <a:p>
            <a:r>
              <a:t>synthesises the reply as it arrives rather than waiting for a full sentence;</a:t>
            </a:r>
          </a:p>
          <a:p>
            <a:r>
              <a:t>agent audio returns on the same socket and plays in the browser.</a:t>
            </a:r>
          </a:p>
          <a:p>
            <a:endParaRPr/>
          </a:p>
          <a:p>
            <a:r>
              <a:t>Two details people ask about:</a:t>
            </a:r>
          </a:p>
          <a:p>
            <a:endParaRPr/>
          </a:p>
          <a:p>
            <a:r>
              <a:t>Why 127.0.0.1 and not a LAN address -- browsers only grant microphone access in</a:t>
            </a:r>
          </a:p>
          <a:p>
            <a:r>
              <a:t>a secure context, and localhost qualifies while a LAN address does not. This is</a:t>
            </a:r>
          </a:p>
          <a:p>
            <a:r>
              <a:t>environment failure number two later today, so planting it now pays off.</a:t>
            </a:r>
          </a:p>
          <a:p>
            <a:endParaRPr/>
          </a:p>
          <a:p>
            <a:r>
              <a:t>Where the credential travels in Step 6b -- your AWS access key goes into the</a:t>
            </a:r>
          </a:p>
          <a:p>
            <a:r>
              <a:t>Settings message, over the WebSocket, to Deepgram. That is what "called as you"</a:t>
            </a:r>
          </a:p>
          <a:p>
            <a:r>
              <a:t>means, and it's why the step asks for an IAM user scoped to one model ARN rather</a:t>
            </a:r>
          </a:p>
          <a:p>
            <a:r>
              <a:t>than admin keys. Appendix slide has the detail.</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Forty-five seconds. The left column is what most of the room expects to be</a:t>
            </a:r>
          </a:p>
          <a:p>
            <a:r>
              <a:t>signing up for; the right column is the actual deal.</a:t>
            </a:r>
          </a:p>
          <a:p>
            <a:endParaRPr/>
          </a:p>
          <a:p>
            <a:r>
              <a:t>The framing that lands: you are not building a pipeline today, you are</a:t>
            </a:r>
          </a:p>
          <a:p>
            <a:r>
              <a:t>configuring one and reacting to what it tells you. Everything you write in the</a:t>
            </a:r>
          </a:p>
          <a:p>
            <a:r>
              <a:t>next three hours is either a settings object or an event handler.</a:t>
            </a:r>
          </a:p>
          <a:p>
            <a:endParaRPr/>
          </a:p>
          <a:p>
            <a:r>
              <a:t>Check yourself, ask the room: name two things the Voice Agent API handles that</a:t>
            </a:r>
          </a:p>
          <a:p>
            <a:r>
              <a:t>you would otherwise write yourself. Answers: turn-taking, provider handoffs,</a:t>
            </a:r>
          </a:p>
          <a:p>
            <a:r>
              <a:t>buffering, interruption signalling. Any two.</a:t>
            </a:r>
          </a:p>
          <a:p>
            <a:endParaRPr/>
          </a:p>
          <a:p>
            <a:r>
              <a:t>If someone pushes on lock-in or wanting their own model: good instinct, and</a:t>
            </a:r>
          </a:p>
          <a:p>
            <a:r>
              <a:t>Step 6b is the answer -- think.endpoint plus provider credentials points the</a:t>
            </a:r>
          </a:p>
          <a:p>
            <a:r>
              <a:t>middle of the pipeline anywhere that speaks OpenAI Chat Completions. One</a:t>
            </a:r>
          </a:p>
          <a:p>
            <a:r>
              <a:t>sentence, then move; the appendix carries it.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Slow down. Ninety seconds, and it is the most valuable ninety seconds in the</a:t>
            </a:r>
          </a:p>
          <a:p>
            <a:r>
              <a:t>block, because it is the thing experienced people have to unlearn.</a:t>
            </a:r>
          </a:p>
          <a:p>
            <a:endParaRPr/>
          </a:p>
          <a:p>
            <a:r>
              <a:t>Anyone in the room who has built a voice pipeline has written voice activity</a:t>
            </a:r>
          </a:p>
          <a:p>
            <a:r>
              <a:t>detection, and has an opinion about it. Name that out loud -- it earns you the</a:t>
            </a:r>
          </a:p>
          <a:p>
            <a:r>
              <a:t>next slide. Ask who has shipped a silence threshold and watch the hands.</a:t>
            </a:r>
          </a:p>
          <a:p>
            <a:endParaRPr/>
          </a:p>
          <a:p>
            <a:r>
              <a:t>The point is not that Flux is better at guessing. The point is that turn</a:t>
            </a:r>
          </a:p>
          <a:p>
            <a:r>
              <a:t>detection is a modelling problem being solved by the model that already has the</a:t>
            </a:r>
          </a:p>
          <a:p>
            <a:r>
              <a:t>audio, rather than an energy heuristic in your client that has strictly less</a:t>
            </a:r>
          </a:p>
          <a:p>
            <a:r>
              <a:t>information to work with.</a:t>
            </a:r>
          </a:p>
          <a:p>
            <a:endParaRPr/>
          </a:p>
          <a:p>
            <a:r>
              <a:t>What it costs: a number. eot_threshold, 0.5 to 0.9, and that is Step 8.</a:t>
            </a:r>
          </a:p>
          <a:p>
            <a:endParaRPr/>
          </a:p>
          <a:p>
            <a:r>
              <a:t>What it does not remove is on the next slide, and it is the one obligation you</a:t>
            </a:r>
          </a:p>
          <a:p>
            <a:r>
              <a:t>still own. Do not let anyone leave this block thinking barge-in is free.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statement, said once, then stop talking. Let it sit for a beat.</a:t>
            </a:r>
          </a:p>
          <a:p>
            <a:endParaRPr/>
          </a:p>
          <a:p>
            <a:r>
              <a:t>This is the setup for the best moment in the workshop. At 1:50 they will run an</a:t>
            </a:r>
          </a:p>
          <a:p>
            <a:r>
              <a:t>agent that ignores them mid-sentence, and because you said this at 0:07 they</a:t>
            </a:r>
          </a:p>
          <a:p>
            <a:r>
              <a:t>will already know why.</a:t>
            </a:r>
          </a:p>
          <a:p>
            <a:endParaRPr/>
          </a:p>
          <a:p>
            <a:r>
              <a:t>Check yourself, ask the room: where does turn detection happen with Flux, and</a:t>
            </a:r>
          </a:p>
          <a:p>
            <a:r>
              <a:t>what is the client still responsible for? Answer: inside the model, server-side</a:t>
            </a:r>
          </a:p>
          <a:p>
            <a:r>
              <a:t>-- and the client is still responsible for clearing queued playback on barge-in.</a:t>
            </a:r>
          </a:p>
          <a:p>
            <a:endParaRPr/>
          </a:p>
          <a:p>
            <a:r>
              <a:t>Do not explain the two-queue problem now. It is Step 5's slide and it lands far</a:t>
            </a:r>
          </a:p>
          <a:p>
            <a:r>
              <a:t>better after they have heard the bug with their own ears.</a:t>
            </a:r>
          </a:p>
          <a:p>
            <a:endParaRPr/>
          </a:p>
          <a:p>
            <a:r>
              <a:t>You are about six or seven minutes into the ten. One more slide, then they code.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Last slide of the presented block. Sixty seconds, then get them coding.</a:t>
            </a:r>
          </a:p>
          <a:p>
            <a:endParaRPr/>
          </a:p>
          <a:p>
            <a:r>
              <a:t>The mechanic to demonstrate rather than describe: open a main.py, show one TODO</a:t>
            </a:r>
          </a:p>
          <a:p>
            <a:r>
              <a:t>block, select the commented lines, hit Cmd+/ and watch them uncomment at the</a:t>
            </a:r>
          </a:p>
          <a:p>
            <a:r>
              <a:t>right indentation. Ten seconds of screen share saves fifteen questions.</a:t>
            </a:r>
          </a:p>
          <a:p>
            <a:endParaRPr/>
          </a:p>
          <a:p>
            <a:r>
              <a:t>Say the falling-behind rule out loud now, and say it again at the first gate:</a:t>
            </a:r>
          </a:p>
          <a:p>
            <a:r>
              <a:t>if you are behind, skip to the next folder. Everything before it is already</a:t>
            </a:r>
          </a:p>
          <a:p>
            <a:r>
              <a:t>done for you. People will not believe this is allowed unless you say it.</a:t>
            </a:r>
          </a:p>
          <a:p>
            <a:endParaRPr/>
          </a:p>
          <a:p>
            <a:r>
              <a:t>Check yourself, ask the room: you're stuck halfway through Step 5, where do you</a:t>
            </a:r>
          </a:p>
          <a:p>
            <a:r>
              <a:t>look for the working version? Answer: the next folder.</a:t>
            </a:r>
          </a:p>
          <a:p>
            <a:endParaRPr/>
          </a:p>
          <a:p>
            <a:r>
              <a:t>Then: "That's the last slide I talk at you. Run Step 1."</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Hold the room here. This gate is the one that pays for itself.</a:t>
            </a:r>
          </a:p>
          <a:p>
            <a:endParaRPr/>
          </a:p>
          <a:p>
            <a:r>
              <a:t>Leave the slide up. People who arrived with a working environment will be done in</a:t>
            </a:r>
          </a:p>
          <a:p>
            <a:r>
              <a:t>two minutes; use the remaining thirteen on everyone else. One floating helper per</a:t>
            </a:r>
          </a:p>
          <a:p>
            <a:r>
              <a:t>fifteen attendees, and the helper should be walking, not sitting.</a:t>
            </a:r>
          </a:p>
          <a:p>
            <a:endParaRPr/>
          </a:p>
          <a:p>
            <a:r>
              <a:t>The check finishes in a browser page, so watch for people who read the green</a:t>
            </a:r>
          </a:p>
          <a:p>
            <a:r>
              <a:t>terminal lines and stop. Both halves have to be green.</a:t>
            </a:r>
          </a:p>
          <a:p>
            <a:endParaRPr/>
          </a:p>
          <a:p>
            <a:r>
              <a:t>Failures you will hit here, in order of frequency: microphone permission clicked</a:t>
            </a:r>
          </a:p>
          <a:p>
            <a:r>
              <a:t>past; the page open on a LAN address instead of 127.0.0.1; a Bluetooth headset</a:t>
            </a:r>
          </a:p>
          <a:p>
            <a:r>
              <a:t>that flips to a mono profile; a truncated API key. All four are on the appendix</a:t>
            </a:r>
          </a:p>
          <a:p>
            <a:r>
              <a:t>slide -- jump there rather than describing them from memory.</a:t>
            </a:r>
          </a:p>
          <a:p>
            <a:endParaRPr/>
          </a:p>
          <a:p>
            <a:r>
              <a:t>Say the falling-behind rule out loud at this gate. "If you get stuck, skip to the</a:t>
            </a:r>
          </a:p>
          <a:p>
            <a:r>
              <a:t>next folder -- it already contains a finished version of everything before it.</a:t>
            </a:r>
          </a:p>
          <a:p>
            <a:r>
              <a:t>You lose the typing, not the workshop." This is the moment people decide whether</a:t>
            </a:r>
          </a:p>
          <a:p>
            <a:r>
              <a:t>it is safe to admit they are behind.</a:t>
            </a:r>
          </a:p>
          <a:p>
            <a:endParaRPr/>
          </a:p>
          <a:p>
            <a:r>
              <a:t>Check yourself, ask the room: how many API keys does this workshop need?</a:t>
            </a:r>
          </a:p>
          <a:p>
            <a:r>
              <a:t>Answer: one. Deepgram brokers the OpenAI call, so your Deepgram key covers the LLM.</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 reference slide, not a talk. Leave it up beside the gate slide if you</a:t>
            </a:r>
          </a:p>
          <a:p>
            <a:r>
              <a:t>have a second screen.</a:t>
            </a:r>
          </a:p>
          <a:p>
            <a:endParaRPr/>
          </a:p>
          <a:p>
            <a:r>
              <a:t>Its real job is to stop people declaring victory early. The terminal going green</a:t>
            </a:r>
          </a:p>
          <a:p>
            <a:r>
              <a:t>proves the key and the account. It proves nothing about the microphone. The</a:t>
            </a:r>
          </a:p>
          <a:p>
            <a:r>
              <a:t>browser page is the half that fails on the day.</a:t>
            </a:r>
          </a:p>
          <a:p>
            <a:endParaRPr/>
          </a:p>
          <a:p>
            <a:r>
              <a:t>Peak level on the microphone line matters: a peak of 0.00 with permission</a:t>
            </a:r>
          </a:p>
          <a:p>
            <a:r>
              <a:t>granted usually means the wrong input device, not a broken browser.</a:t>
            </a:r>
          </a:p>
          <a:p>
            <a:endParaRPr/>
          </a:p>
          <a:p>
            <a:r>
              <a:t>Echo cancellation granted is worth reading when someone later reports the agent</a:t>
            </a:r>
          </a:p>
          <a:p>
            <a:r>
              <a:t>interrupting itself. If it says the browser did not grant it, headphones are not</a:t>
            </a:r>
          </a:p>
          <a:p>
            <a:r>
              <a:t>optional for that person.</a:t>
            </a:r>
          </a:p>
          <a:p>
            <a:endParaRPr/>
          </a:p>
          <a:p>
            <a:r>
              <a:t>Regional note if you are running outside global: Step 1 opens the same socket</a:t>
            </a:r>
          </a:p>
          <a:p>
            <a:r>
              <a:t>Step 2 will, with the same three models, and reports whether the server accepted</a:t>
            </a:r>
          </a:p>
          <a:p>
            <a:r>
              <a:t>them. That -- not the key, and not whether the host answers -- is the question</a:t>
            </a:r>
          </a:p>
          <a:p>
            <a:r>
              <a:t>worth asking before a room of people hits Step 2.</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Twenty minutes, and it is mostly typing a settings object. Let them work.</a:t>
            </a:r>
          </a:p>
          <a:p>
            <a:endParaRPr/>
          </a:p>
          <a:p>
            <a:r>
              <a:t>The one thing worth saying out loud: listen configures speech-to-text, and the</a:t>
            </a:r>
          </a:p>
          <a:p>
            <a:r>
              <a:t>LLM is named under think. People reach for listen when they want to change the</a:t>
            </a:r>
          </a:p>
          <a:p>
            <a:r>
              <a:t>model and then wonder why nothing happened.</a:t>
            </a:r>
          </a:p>
          <a:p>
            <a:endParaRPr/>
          </a:p>
          <a:p>
            <a:r>
              <a:t>Watch for anyone who has not seen "&gt;&gt; Settings applied" by about 0:40. Nine</a:t>
            </a:r>
          </a:p>
          <a:p>
            <a:r>
              <a:t>times in ten it is a typo in a provider type string, and the server's error frame</a:t>
            </a:r>
          </a:p>
          <a:p>
            <a:r>
              <a:t>names the field.</a:t>
            </a:r>
          </a:p>
          <a:p>
            <a:endParaRPr/>
          </a:p>
          <a:p>
            <a:r>
              <a:t>Check yourself, two of them:</a:t>
            </a:r>
          </a:p>
          <a:p>
            <a:r>
              <a:t>- Which part of SETTINGS configures speech-to-text, and where is the LLM named?</a:t>
            </a:r>
          </a:p>
          <a:p>
            <a:r>
              <a:t>  Answer: listen configures STT; the LLM is under think.</a:t>
            </a:r>
          </a:p>
          <a:p>
            <a:r>
              <a:t>- What happens to audio you send before the handshake completes?</a:t>
            </a:r>
          </a:p>
          <a:p>
            <a:r>
              <a:t>  Answer: the agent discards any media that arrives before SettingsApplied, so</a:t>
            </a:r>
          </a:p>
          <a:p>
            <a:r>
              <a:t>  audio sent early is silently lost. That is why the bridge waits for the</a:t>
            </a:r>
          </a:p>
          <a:p>
            <a:r>
              <a:t>  browser's start message before it opens the Deepgram socket at all.</a:t>
            </a:r>
          </a:p>
          <a:p>
            <a:endParaRPr/>
          </a:p>
          <a:p>
            <a:r>
              <a:t>Next slide is the ordering. It is worth showing even though nobody has to write</a:t>
            </a:r>
          </a:p>
          <a:p>
            <a:r>
              <a:t>it, because every later step leans on that sequence.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Reference slide. Leave it up while they work through Step 2.</a:t>
            </a:r>
          </a:p>
          <a:p>
            <a:endParaRPr/>
          </a:p>
          <a:p>
            <a:r>
              <a:t>Nobody writes this sequence -- it is in web/session.py and no step edits it. You</a:t>
            </a:r>
          </a:p>
          <a:p>
            <a:r>
              <a:t>show it because every later step's bug has its root here, and because a room that</a:t>
            </a:r>
          </a:p>
          <a:p>
            <a:r>
              <a:t>has seen the order stops guessing.</a:t>
            </a:r>
          </a:p>
          <a:p>
            <a:endParaRPr/>
          </a:p>
          <a:p>
            <a:r>
              <a:t>The two failure modes on the slide are the ones you will actually be asked about,</a:t>
            </a:r>
          </a:p>
          <a:p>
            <a:r>
              <a:t>in Steps 3 and 4 rather than here:</a:t>
            </a:r>
          </a:p>
          <a:p>
            <a:endParaRPr/>
          </a:p>
          <a:p>
            <a:r>
              <a:t>Handlers after the listener: the greeting arrives within milliseconds of</a:t>
            </a:r>
          </a:p>
          <a:p>
            <a:r>
              <a:t>SettingsApplied. Register late and you miss it, which reads as "the agent never</a:t>
            </a:r>
          </a:p>
          <a:p>
            <a:r>
              <a:t>said anything."</a:t>
            </a:r>
          </a:p>
          <a:p>
            <a:endParaRPr/>
          </a:p>
          <a:p>
            <a:r>
              <a:t>Media before the handshake: silently discarded. In Step 4 that looks like an</a:t>
            </a:r>
          </a:p>
          <a:p>
            <a:r>
              <a:t>agent that cannot hear you for the first second.</a:t>
            </a:r>
          </a:p>
          <a:p>
            <a:endParaRPr/>
          </a:p>
          <a:p>
            <a:r>
              <a:t>If anyone asks why the receive loop needs its own thread: websockets' send()</a:t>
            </a:r>
          </a:p>
          <a:p>
            <a:r>
              <a:t>joins its receive thread with a ten-second close timeout as soon as a connection</a:t>
            </a:r>
          </a:p>
          <a:p>
            <a:r>
              <a:t>starts closing. On the event loop that would freeze the whole server. That is</a:t>
            </a:r>
          </a:p>
          <a:p>
            <a:r>
              <a:t>also why no coroutine ever calls send_media directly -- sends queue, and one</a:t>
            </a:r>
          </a:p>
          <a:p>
            <a:r>
              <a:t>dedicated thread takes the risk.</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First moment the workshop makes a sound. Worth waiting for the whole room.</a:t>
            </a:r>
          </a:p>
          <a:p>
            <a:endParaRPr/>
          </a:p>
          <a:p>
            <a:r>
              <a:t>Twenty-five minutes is generous for one line of code, and that is deliberate --</a:t>
            </a:r>
          </a:p>
          <a:p>
            <a:r>
              <a:t>it absorbs the stragglers from Step 1 and Step 2.</a:t>
            </a:r>
          </a:p>
          <a:p>
            <a:endParaRPr/>
          </a:p>
          <a:p>
            <a:r>
              <a:t>Watch for: volume at zero, output routed to a disconnected Bluetooth device, and</a:t>
            </a:r>
          </a:p>
          <a:p>
            <a:r>
              <a:t>people who did not press the button on the page. The page has to be clicked</a:t>
            </a:r>
          </a:p>
          <a:p>
            <a:r>
              <a:t>before an AudioContext can be constructed, because browsers only unlock audio</a:t>
            </a:r>
          </a:p>
          <a:p>
            <a:r>
              <a:t>inside a user gesture.</a:t>
            </a:r>
          </a:p>
          <a:p>
            <a:endParaRPr/>
          </a:p>
          <a:p>
            <a:r>
              <a:t>Check yourself, ask the room: why does the bridge wait for the browser to say its</a:t>
            </a:r>
          </a:p>
          <a:p>
            <a:r>
              <a:t>speaker is live before opening the Deepgram socket? Answer: the greeting starts</a:t>
            </a:r>
          </a:p>
          <a:p>
            <a:r>
              <a:t>arriving within milliseconds of SettingsApplied, and audio with nowhere to go is</a:t>
            </a:r>
          </a:p>
          <a:p>
            <a:r>
              <a:t>audio thrown away.</a:t>
            </a:r>
          </a:p>
          <a:p>
            <a:endParaRPr/>
          </a:p>
          <a:p>
            <a:r>
              <a:t>When the room has heard it, name what just happened: three models, one socket,</a:t>
            </a:r>
          </a:p>
          <a:p>
            <a:r>
              <a:t>and the reply was synthesised as it arrived rather than after a full sentence.</a:t>
            </a:r>
          </a:p>
          <a:p>
            <a:r>
              <a:t>That is why it felt fast.</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high point. Do not rush it and do not talk over it.</a:t>
            </a:r>
          </a:p>
          <a:p>
            <a:endParaRPr/>
          </a:p>
          <a:p>
            <a:r>
              <a:t>When the room starts talking to their agents, stop facilitating for a minute and</a:t>
            </a:r>
          </a:p>
          <a:p>
            <a:r>
              <a:t>let the noise happen. People will ask their agent something silly and laugh. That</a:t>
            </a:r>
          </a:p>
          <a:p>
            <a:r>
              <a:t>is the moment they decide the workshop was worth attending.</a:t>
            </a:r>
          </a:p>
          <a:p>
            <a:endParaRPr/>
          </a:p>
          <a:p>
            <a:r>
              <a:t>Then draw the line under it: the outbound side of a voice agent is two lines,</a:t>
            </a:r>
          </a:p>
          <a:p>
            <a:r>
              <a:t>because the model that already has the audio is the thing deciding when the turn</a:t>
            </a:r>
          </a:p>
          <a:p>
            <a:r>
              <a:t>ended. Compare that to whatever VAD they have written before.</a:t>
            </a:r>
          </a:p>
          <a:p>
            <a:endParaRPr/>
          </a:p>
          <a:p>
            <a:r>
              <a:t>Check yourself, ask the room: why is there no voice activity detection anywhere</a:t>
            </a:r>
          </a:p>
          <a:p>
            <a:r>
              <a:t>in this file? Answer: Flux does turn detection inside the model.</a:t>
            </a:r>
          </a:p>
          <a:p>
            <a:endParaRPr/>
          </a:p>
          <a:p>
            <a:r>
              <a:t>Watch for the agent interrupting itself. That is speakers feeding the microphone</a:t>
            </a:r>
          </a:p>
          <a:p>
            <a:r>
              <a:t>past the echo canceller -- headphones, or turn the volume down. It is rarer than</a:t>
            </a:r>
          </a:p>
          <a:p>
            <a:r>
              <a:t>it used to be, which makes it more confusing when it happens to one person.</a:t>
            </a:r>
          </a:p>
          <a:p>
            <a:endParaRPr/>
          </a:p>
          <a:p>
            <a:r>
              <a:t>Break is next, at 1:40. Before you send them off, say: anyone still behind should</a:t>
            </a:r>
          </a:p>
          <a:p>
            <a:r>
              <a:t>open steps/05-barge-in/ during the break and start from there. Then use the ten</a:t>
            </a:r>
          </a:p>
          <a:p>
            <a:r>
              <a:t>minutes to unstick people rather than to get coffee.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the ten minutes and mean it. Coming back late compounds through the second</a:t>
            </a:r>
          </a:p>
          <a:p>
            <a:r>
              <a:t>half, and Step 5 is the step you cannot afford to shorten.</a:t>
            </a:r>
          </a:p>
          <a:p>
            <a:endParaRPr/>
          </a:p>
          <a:p>
            <a:r>
              <a:t>Do not take the break yourself. This is your best window to unstick stragglers,</a:t>
            </a:r>
          </a:p>
          <a:p>
            <a:r>
              <a:t>and the amber line on the slide is the thing to say to each of them</a:t>
            </a:r>
          </a:p>
          <a:p>
            <a:r>
              <a:t>individually -- people will not take the shortcut on their own.</a:t>
            </a:r>
          </a:p>
          <a:p>
            <a:endParaRPr/>
          </a:p>
          <a:p>
            <a:r>
              <a:t>Worth a quick count while the room is empty: how many people finished Step 4?</a:t>
            </a:r>
          </a:p>
          <a:p>
            <a:r>
              <a:t>That number tells you whether you are running the full path or cutting Step 8,</a:t>
            </a:r>
          </a:p>
          <a:p>
            <a:r>
              <a:t>and it is the most useful thing to write down for next time.</a:t>
            </a:r>
          </a:p>
          <a:p>
            <a:endParaRPr/>
          </a:p>
          <a:p>
            <a:r>
              <a:t>If more than a couple of people are still on Step 2 or 3, plan to cut Step 8 and</a:t>
            </a:r>
          </a:p>
          <a:p>
            <a:r>
              <a:t>Step 7's exercises now rather than discovering it at 3:05.</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step people remember. Never cut it, and do not let anyone skip the first</a:t>
            </a:r>
          </a:p>
          <a:p>
            <a:r>
              <a:t>part.</a:t>
            </a:r>
          </a:p>
          <a:p>
            <a:endParaRPr/>
          </a:p>
          <a:p>
            <a:r>
              <a:t>Run it together, as a room. Say: do not write anything yet. Ask your agent</a:t>
            </a:r>
          </a:p>
          <a:p>
            <a:r>
              <a:t>something open-ended -- how a car engine works is reliable -- wait until it is</a:t>
            </a:r>
          </a:p>
          <a:p>
            <a:r>
              <a:t>properly going, then talk over it.</a:t>
            </a:r>
          </a:p>
          <a:p>
            <a:endParaRPr/>
          </a:p>
          <a:p>
            <a:r>
              <a:t>The room will react. Someone will laugh. Wait for that before you say anything,</a:t>
            </a:r>
          </a:p>
          <a:p>
            <a:r>
              <a:t>because the fix means nothing until they have felt the problem.</a:t>
            </a:r>
          </a:p>
          <a:p>
            <a:endParaRPr/>
          </a:p>
          <a:p>
            <a:r>
              <a:t>Then point at the console: &gt;&gt; UserStartedSpeaking is right there. The server knew.</a:t>
            </a:r>
          </a:p>
          <a:p>
            <a:r>
              <a:t>This is not a detection failure, it is a playback failure, and it is entirely</a:t>
            </a:r>
          </a:p>
          <a:p>
            <a:r>
              <a:t>yours to fix.</a:t>
            </a:r>
          </a:p>
          <a:p>
            <a:endParaRPr/>
          </a:p>
          <a:p>
            <a:r>
              <a:t>Check yourself, and it is the best question in the workshop: why isn't it enough</a:t>
            </a:r>
          </a:p>
          <a:p>
            <a:r>
              <a:t>to tell the browser to flush? Answer: the pump would immediately refill the</a:t>
            </a:r>
          </a:p>
          <a:p>
            <a:r>
              <a:t>browser's queue from the Python-side one. Clearing the far queue first and the</a:t>
            </a:r>
          </a:p>
          <a:p>
            <a:r>
              <a:t>near queue second means the agent talks over the user a moment later rather than</a:t>
            </a:r>
          </a:p>
          <a:p>
            <a:r>
              <a:t>immediately -- which is worse, because it looks like it nearly works.</a:t>
            </a:r>
          </a:p>
          <a:p>
            <a:endParaRPr/>
          </a:p>
          <a:p>
            <a:r>
              <a:t>The PortAudio equivalent, if someone is running --local: stop() drains the</a:t>
            </a:r>
          </a:p>
          <a:p>
            <a:r>
              <a:t>buffer, playing everything already queued before stopping. abort() throws it away.</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Show this after the room has heard the bug, never before.</a:t>
            </a:r>
          </a:p>
          <a:p>
            <a:endParaRPr/>
          </a:p>
          <a:p>
            <a:r>
              <a:t>The diagram is the whole explanation: two queues, and the one nearest Deepgram</a:t>
            </a:r>
          </a:p>
          <a:p>
            <a:r>
              <a:t>has to go first. If you clear the browser and leave the Python side full, the</a:t>
            </a:r>
          </a:p>
          <a:p>
            <a:r>
              <a:t>pump refills the browser within milliseconds.</a:t>
            </a:r>
          </a:p>
          <a:p>
            <a:endParaRPr/>
          </a:p>
          <a:p>
            <a:r>
              <a:t>Worth saying explicitly, because it is the transferable lesson: the failure mode</a:t>
            </a:r>
          </a:p>
          <a:p>
            <a:r>
              <a:t>of clearing in the wrong order is not "it still does not work." It is "it works</a:t>
            </a:r>
          </a:p>
          <a:p>
            <a:r>
              <a:t>in the demo you just did and fails when the answer is long." Those are the bugs</a:t>
            </a:r>
          </a:p>
          <a:p>
            <a:r>
              <a:t>that ship.</a:t>
            </a:r>
          </a:p>
          <a:p>
            <a:endParaRPr/>
          </a:p>
          <a:p>
            <a:r>
              <a:t>The deque detail earns its place if anyone asks why not asyncio.Queue: you cannot</a:t>
            </a:r>
          </a:p>
          <a:p>
            <a:r>
              <a:t>selectively drop items from a Queue, and Outbox.drop_audio has to remove audio</a:t>
            </a:r>
          </a:p>
          <a:p>
            <a:r>
              <a:t>while leaving control frames alone.</a:t>
            </a:r>
          </a:p>
          <a:p>
            <a:endParaRPr/>
          </a:p>
          <a:p>
            <a:r>
              <a:t>After this, the workshop is finished as a piece of engineering. Everything from</a:t>
            </a:r>
          </a:p>
          <a:p>
            <a:r>
              <a:t>Step 6 on is making it yours.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most fun twenty minutes, and the easiest to under-run. Make the demo happen.</a:t>
            </a:r>
          </a:p>
          <a:p>
            <a:endParaRPr/>
          </a:p>
          <a:p>
            <a:r>
              <a:t>At the gate, go around and have four or five people put their agent on the room's</a:t>
            </a:r>
          </a:p>
          <a:p>
            <a:r>
              <a:t>speakers. It costs three minutes and it is the only time people hear what</a:t>
            </a:r>
          </a:p>
          <a:p>
            <a:r>
              <a:t>somebody else built.</a:t>
            </a:r>
          </a:p>
          <a:p>
            <a:endParaRPr/>
          </a:p>
          <a:p>
            <a:r>
              <a:t>The one instruction that matters: change one thing at a time. Swap the voice and</a:t>
            </a:r>
          </a:p>
          <a:p>
            <a:r>
              <a:t>run the same conversation -- same words, different job applicant. Then raise the</a:t>
            </a:r>
          </a:p>
          <a:p>
            <a:r>
              <a:t>temperature and watch it start improvising.</a:t>
            </a:r>
          </a:p>
          <a:p>
            <a:endParaRPr/>
          </a:p>
          <a:p>
            <a:r>
              <a:t>Voice catalogue is at developers.deepgram.com/docs/tts-models. A misspelled voice</a:t>
            </a:r>
          </a:p>
          <a:p>
            <a:r>
              <a:t>warns rather than fails, so someone whose voice did not change should read the</a:t>
            </a:r>
          </a:p>
          <a:p>
            <a:r>
              <a:t>console for &gt;&gt; Agent warning.</a:t>
            </a:r>
          </a:p>
          <a:p>
            <a:endParaRPr/>
          </a:p>
          <a:p>
            <a:r>
              <a:t>Check yourself, ask the room: name the two prompt instructions that matter for</a:t>
            </a:r>
          </a:p>
          <a:p>
            <a:r>
              <a:t>speech but not for chat. Answer: tell it that it is speaking -- no markdown,</a:t>
            </a:r>
          </a:p>
          <a:p>
            <a:r>
              <a:t>bullets, or emoji -- and tell it to be brief. Next slide covers both.</a:t>
            </a:r>
          </a:p>
          <a:p>
            <a:endParaRPr/>
          </a:p>
          <a:p>
            <a:r>
              <a:t>Then, in one sentence: there is an optional Step 6b that moves the LLM into your</a:t>
            </a:r>
          </a:p>
          <a:p>
            <a:r>
              <a:t>own AWS account on Bedrock. It needs model access granted per model and per</a:t>
            </a:r>
          </a:p>
          <a:p>
            <a:r>
              <a:t>region, which is calendar time rather than work, so it is a take-home unless this</a:t>
            </a:r>
          </a:p>
          <a:p>
            <a:r>
              <a:t>room already has AWS. Do not spend more than a sentence on it.</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rules, thirty seconds, then let them write.</a:t>
            </a:r>
          </a:p>
          <a:p>
            <a:endParaRPr/>
          </a:p>
          <a:p>
            <a:r>
              <a:t>The markdown one always gets a laugh when you say it out loud in the star-star</a:t>
            </a:r>
          </a:p>
          <a:p>
            <a:r>
              <a:t>voice. Use that -- it makes the rule stick, and it is the single most common</a:t>
            </a:r>
          </a:p>
          <a:p>
            <a:r>
              <a:t>thing people get wrong on their first voice prompt.</a:t>
            </a:r>
          </a:p>
          <a:p>
            <a:endParaRPr/>
          </a:p>
          <a:p>
            <a:r>
              <a:t>The brevity rule is the one people resist, because a longer answer looks more</a:t>
            </a:r>
          </a:p>
          <a:p>
            <a:r>
              <a:t>helpful in a text box. Point out that they will discover this themselves within</a:t>
            </a:r>
          </a:p>
          <a:p>
            <a:r>
              <a:t>two exchanges of their own agent.</a:t>
            </a:r>
          </a:p>
          <a:p>
            <a:endParaRPr/>
          </a:p>
          <a:p>
            <a:r>
              <a:t>The barista prompt on the slide is a starting point, not the exercise. The</a:t>
            </a:r>
          </a:p>
          <a:p>
            <a:r>
              <a:t>exercise is pushing at it: ask Sam for the weather, ask it to write you a Python</a:t>
            </a:r>
          </a:p>
          <a:p>
            <a:r>
              <a:t>script, ask what it thinks of a film. A prompt that holds under pressure is the</a:t>
            </a:r>
          </a:p>
          <a:p>
            <a:r>
              <a:t>difference between a demo and a product.</a:t>
            </a:r>
          </a:p>
          <a:p>
            <a:endParaRPr/>
          </a:p>
          <a:p>
            <a:r>
              <a:t>Worth mentioning for anyone thinking about production: prompt injection against a</a:t>
            </a:r>
          </a:p>
          <a:p>
            <a:r>
              <a:t>voice agent is the same problem as against a chat agent, except your attacker is</a:t>
            </a:r>
          </a:p>
          <a:p>
            <a:r>
              <a:t>talking out loud.</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step that turns a demo into something a business would pay for. Thirty</a:t>
            </a:r>
          </a:p>
          <a:p>
            <a:r>
              <a:t>minutes, and the gate is the valuable part.</a:t>
            </a:r>
          </a:p>
          <a:p>
            <a:endParaRPr/>
          </a:p>
          <a:p>
            <a:r>
              <a:t>At the gate, do the sketching exercise properly: ask everyone to write down one</a:t>
            </a:r>
          </a:p>
          <a:p>
            <a:r>
              <a:t>thing their agent would need to look up that a model cannot possibly know, then</a:t>
            </a:r>
          </a:p>
          <a:p>
            <a:r>
              <a:t>have three people say theirs out loud. It reliably produces the best conversation</a:t>
            </a:r>
          </a:p>
          <a:p>
            <a:r>
              <a:t>of the session, and it is where people work out whether they can actually use</a:t>
            </a:r>
          </a:p>
          <a:p>
            <a:r>
              <a:t>this.</a:t>
            </a:r>
          </a:p>
          <a:p>
            <a:endParaRPr/>
          </a:p>
          <a:p>
            <a:r>
              <a:t>Before they start, plant the clock demo: ask your agent what time it is and</a:t>
            </a:r>
          </a:p>
          <a:p>
            <a:r>
              <a:t>listen to it invent an answer with total confidence. Ten seconds, and it makes</a:t>
            </a:r>
          </a:p>
          <a:p>
            <a:r>
              <a:t>the case for the whole step.</a:t>
            </a:r>
          </a:p>
          <a:p>
            <a:endParaRPr/>
          </a:p>
          <a:p>
            <a:r>
              <a:t>Check yourself, ask the room: what decides whether a function runs on your</a:t>
            </a:r>
          </a:p>
          <a:p>
            <a:r>
              <a:t>machine or on Deepgram's? Answer: setting endpoint moves execution to Deepgram;</a:t>
            </a:r>
          </a:p>
          <a:p>
            <a:r>
              <a:t>omitting it keeps the function client-side.</a:t>
            </a:r>
          </a:p>
          <a:p>
            <a:endParaRPr/>
          </a:p>
          <a:p>
            <a:r>
              <a:t>Next slide is the three things that will bite them. Show it before they start</a:t>
            </a:r>
          </a:p>
          <a:p>
            <a:r>
              <a:t>rather than after they are stuck.</a:t>
            </a:r>
          </a:p>
          <a:p>
            <a:endParaRPr/>
          </a:p>
          <a:p>
            <a:r>
              <a:t>If you are running long, cut Step 7's exercises rather than the step. And in one</a:t>
            </a:r>
          </a:p>
          <a:p>
            <a:r>
              <a:t>sentence at the end: Step 7b is the same machinery pointed at a clinic, it needs</a:t>
            </a:r>
          </a:p>
          <a:p>
            <a:r>
              <a:t>nothing beyond the key you already have, and it teaches the two things banking</a:t>
            </a:r>
          </a:p>
          <a:p>
            <a:r>
              <a:t>does not.</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Reference slide. Leave it up for the whole step.</a:t>
            </a:r>
          </a:p>
          <a:p>
            <a:endParaRPr/>
          </a:p>
          <a:p>
            <a:r>
              <a:t>Number two is the one that eats time. When somebody says "it just isn't calling</a:t>
            </a:r>
          </a:p>
          <a:p>
            <a:r>
              <a:t>my function," the description is the first thing to read, not the schema and not</a:t>
            </a:r>
          </a:p>
          <a:p>
            <a:r>
              <a:t>the wiring. Say that out loud before they start and you will save several</a:t>
            </a:r>
          </a:p>
          <a:p>
            <a:r>
              <a:t>one-on-one debugging sessions.</a:t>
            </a:r>
          </a:p>
          <a:p>
            <a:endParaRPr/>
          </a:p>
          <a:p>
            <a:r>
              <a:t>Number three is the one with production consequences. The threading rule the</a:t>
            </a:r>
          </a:p>
          <a:p>
            <a:r>
              <a:t>whole design rests on: on_message runs on the receive loop, which is also</a:t>
            </a:r>
          </a:p>
          <a:p>
            <a:r>
              <a:t>carrying audio, so it may not block. People will copy this pattern into real</a:t>
            </a:r>
          </a:p>
          <a:p>
            <a:r>
              <a:t>systems, and a synchronous database call in that handler is a stall in the</a:t>
            </a:r>
          </a:p>
          <a:p>
            <a:r>
              <a:t>conversation rather than a slow reply.</a:t>
            </a:r>
          </a:p>
          <a:p>
            <a:endParaRPr/>
          </a:p>
          <a:p>
            <a:r>
              <a:t>Number one is a design decision rather than a bug, but it is worth being precise</a:t>
            </a:r>
          </a:p>
          <a:p>
            <a:r>
              <a:t>about because both directions are legitimate. Client-side for local state and</a:t>
            </a:r>
          </a:p>
          <a:p>
            <a:r>
              <a:t>credentials; server-side when the function is just an HTTP call and you would</a:t>
            </a:r>
          </a:p>
          <a:p>
            <a:r>
              <a:t>rather Deepgram made it.</a:t>
            </a:r>
          </a:p>
          <a:p>
            <a:endParaRPr/>
          </a:p>
          <a:p>
            <a:r>
              <a:t>If someone finishes early, point them at the transfer_funds exercise -- a</a:t>
            </a:r>
          </a:p>
          <a:p>
            <a:r>
              <a:t>state-changing call needs confirmation before it fires, and a prompt is not an</a:t>
            </a:r>
          </a:p>
          <a:p>
            <a:r>
              <a:t>authorization layer.</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Pace-recovery step. It exists so you can end on time.</a:t>
            </a:r>
          </a:p>
          <a:p>
            <a:endParaRPr/>
          </a:p>
          <a:p>
            <a:r>
              <a:t>If you are running long, this is the first thing to cut, and it cuts cleanly --</a:t>
            </a:r>
          </a:p>
          <a:p>
            <a:r>
              <a:t>it is configuration rather than code, the LAB.md reads fine unattended, and</a:t>
            </a:r>
          </a:p>
          <a:p>
            <a:r>
              <a:t>nothing downstream depends on it. Say "this one is your homework" and go to the</a:t>
            </a:r>
          </a:p>
          <a:p>
            <a:r>
              <a:t>wrap.</a:t>
            </a:r>
          </a:p>
          <a:p>
            <a:endParaRPr/>
          </a:p>
          <a:p>
            <a:r>
              <a:t>If you have the time, it is a good step, because it is the first time the room</a:t>
            </a:r>
          </a:p>
          <a:p>
            <a:r>
              <a:t>has to make a judgement call rather than follow an instruction.</a:t>
            </a:r>
          </a:p>
          <a:p>
            <a:endParaRPr/>
          </a:p>
          <a:p>
            <a:r>
              <a:t>The sentence that carries it: no value is correct in the abstract. A drive-through</a:t>
            </a:r>
          </a:p>
          <a:p>
            <a:r>
              <a:t>agent wants speed. An agent taking a credit card number over the phone wants</a:t>
            </a:r>
          </a:p>
          <a:p>
            <a:r>
              <a:t>patience. You are choosing which mistake to make.</a:t>
            </a:r>
          </a:p>
          <a:p>
            <a:endParaRPr/>
          </a:p>
          <a:p>
            <a:r>
              <a:t>Check yourself, ask the room: your agent keeps cutting people off when they pause</a:t>
            </a:r>
          </a:p>
          <a:p>
            <a:r>
              <a:t>to think. Which dial, and which way? Answer: raise eot_threshold -- it demands</a:t>
            </a:r>
          </a:p>
          <a:p>
            <a:r>
              <a:t>more confidence before Flux calls the turn over.</a:t>
            </a:r>
          </a:p>
          <a:p>
            <a:endParaRPr/>
          </a:p>
          <a:p>
            <a:r>
              <a:t>Note there is no amber gate on this slide. Deliberate. Stragglers are catching up</a:t>
            </a:r>
          </a:p>
          <a:p>
            <a:r>
              <a:t>during it, so holding the room here would defeat the point.</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Leave it up while they run the four passes.</a:t>
            </a:r>
          </a:p>
          <a:p>
            <a:endParaRPr/>
          </a:p>
          <a:p>
            <a:r>
              <a:t>Insist on the same sentence every time, out loud, with a real hesitation in it:</a:t>
            </a:r>
          </a:p>
          <a:p>
            <a:r>
              <a:t>"I'd like to order a... uh... large coffee." Four different settings, one</a:t>
            </a:r>
          </a:p>
          <a:p>
            <a:r>
              <a:t>sentence, and the difference is unmistakable. People who improvise a new sentence</a:t>
            </a:r>
          </a:p>
          <a:p>
            <a:r>
              <a:t>each run learn nothing.</a:t>
            </a:r>
          </a:p>
          <a:p>
            <a:endParaRPr/>
          </a:p>
          <a:p>
            <a:r>
              <a:t>Row three is the instructive one. A 500 ms timeout overrides a perfectly good</a:t>
            </a:r>
          </a:p>
          <a:p>
            <a:r>
              <a:t>confidence score, which is how you discover that the timeout is a backstop and</a:t>
            </a:r>
          </a:p>
          <a:p>
            <a:r>
              <a:t>not a tuning dial.</a:t>
            </a:r>
          </a:p>
          <a:p>
            <a:endParaRPr/>
          </a:p>
          <a:p>
            <a:r>
              <a:t>The latency line in the console is the honest half of this step. Patience costs</a:t>
            </a:r>
          </a:p>
          <a:p>
            <a:r>
              <a:t>milliseconds, and the room should see the number rather than take your word for</a:t>
            </a:r>
          </a:p>
          <a:p>
            <a:r>
              <a:t>it.</a:t>
            </a:r>
          </a:p>
          <a:p>
            <a:endParaRPr/>
          </a:p>
          <a:p>
            <a:r>
              <a:t>Going further, if anyone finishes early: eager_eot_threshold, 0.3 to 0.9, at or</a:t>
            </a:r>
          </a:p>
          <a:p>
            <a:r>
              <a:t>below eot_threshold. It starts the LLM on a probable turn end and throws the work</a:t>
            </a:r>
          </a:p>
          <a:p>
            <a:r>
              <a:t>away if the user keeps talking -- lower latency, more LLM calls. That trade is</a:t>
            </a:r>
          </a:p>
          <a:p>
            <a:r>
              <a:t>the most production-relevant thing in this step.</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Sixty seconds. It is a victory lap, and the room has earned it.</a:t>
            </a:r>
          </a:p>
          <a:p>
            <a:endParaRPr/>
          </a:p>
          <a:p>
            <a:r>
              <a:t>Read the six lines, or better, ask the room to tell you what the agent does now.</a:t>
            </a:r>
          </a:p>
          <a:p>
            <a:r>
              <a:t>People underestimate what they built because each step felt small.</a:t>
            </a:r>
          </a:p>
          <a:p>
            <a:endParaRPr/>
          </a:p>
          <a:p>
            <a:r>
              <a:t>The closing point is the last panel: none of the hard audio work is in their file.</a:t>
            </a:r>
          </a:p>
          <a:p>
            <a:r>
              <a:t>No resampling, no chunking, no device handling, no VAD. That is a design choice</a:t>
            </a:r>
          </a:p>
          <a:p>
            <a:r>
              <a:t>they can copy -- keep the transport out of the agent, and swapping a browser for</a:t>
            </a:r>
          </a:p>
          <a:p>
            <a:r>
              <a:t>a Twilio media stream never touches agent code.</a:t>
            </a:r>
          </a:p>
          <a:p>
            <a:endParaRPr/>
          </a:p>
          <a:p>
            <a:r>
              <a:t>Point at steps/99-final/README.md for the extension ideas, and say the finished</a:t>
            </a:r>
          </a:p>
          <a:p>
            <a:r>
              <a:t>agent is there as a reference implementation when one of their steps misbehaves</a:t>
            </a:r>
          </a:p>
          <a:p>
            <a:r>
              <a:t>later.</a:t>
            </a:r>
          </a:p>
          <a:p>
            <a:endParaRPr/>
          </a:p>
          <a:p>
            <a:r>
              <a:t>Then leave real room for questions. The next two slides are for the people who</a:t>
            </a:r>
          </a:p>
          <a:p>
            <a:r>
              <a:t>want somewhere to go, and the links slide is the one to leave up as the room</a:t>
            </a:r>
          </a:p>
          <a:p>
            <a:r>
              <a:t>empties out.</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Thirty seconds, and only if the room has energy left. Otherwise say one sentence</a:t>
            </a:r>
          </a:p>
          <a:p>
            <a:r>
              <a:t>each and go to the links.</a:t>
            </a:r>
          </a:p>
          <a:p>
            <a:endParaRPr/>
          </a:p>
          <a:p>
            <a:r>
              <a:t>The honest framing on 6b: the step takes fifteen minutes and getting AWS Bedrock</a:t>
            </a:r>
          </a:p>
          <a:p>
            <a:r>
              <a:t>model access takes days. If anyone wants it, tell them to request access before</a:t>
            </a:r>
          </a:p>
          <a:p>
            <a:r>
              <a:t>they sit down to do it, not after. Access is per model and per region, and some</a:t>
            </a:r>
          </a:p>
          <a:p>
            <a:r>
              <a:t>families need a one-time use case form that is not instant.</a:t>
            </a:r>
          </a:p>
          <a:p>
            <a:endParaRPr/>
          </a:p>
          <a:p>
            <a:r>
              <a:t>7b is the better recommendation for almost everyone in the room, because it costs</a:t>
            </a:r>
          </a:p>
          <a:p>
            <a:r>
              <a:t>nothing but time and it teaches the habit that survives into production: return</a:t>
            </a:r>
          </a:p>
          <a:p>
            <a:r>
              <a:t>only what the agent may say aloud. Filter at the boundary, not in the prompt.</a:t>
            </a:r>
          </a:p>
          <a:p>
            <a:endParaRPr/>
          </a:p>
          <a:p>
            <a:r>
              <a:t>If the room is a healthcare room, say you would swap 7b in for Step 7's exercises</a:t>
            </a:r>
          </a:p>
          <a:p>
            <a:r>
              <a:t>rather than adding it on top.</a:t>
            </a:r>
          </a:p>
          <a:p>
            <a:endParaRPr/>
          </a:p>
          <a:p>
            <a:r>
              <a:t>Anyone who came from the Pipecat edition of this workshop and wants 6b: warn them</a:t>
            </a:r>
          </a:p>
          <a:p>
            <a:r>
              <a:t>that AWS_BEARER_TOKEN_BEDROCK does nothing here. It is a botocore convenience and</a:t>
            </a:r>
          </a:p>
          <a:p>
            <a:r>
              <a:t>there is no botocore in this stack.</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Leave it up during questions. Do not read five bullets to a room at 3:20.</a:t>
            </a:r>
          </a:p>
          <a:p>
            <a:endParaRPr/>
          </a:p>
          <a:p>
            <a:r>
              <a:t>If you only point at one, point at keyterms. It is one line, it is already wired</a:t>
            </a:r>
          </a:p>
          <a:p>
            <a:r>
              <a:t>into the listen provider in the finished agent, and it is the change that most</a:t>
            </a:r>
          </a:p>
          <a:p>
            <a:r>
              <a:t>often turns a demo that mishears product names into something a business will</a:t>
            </a:r>
          </a:p>
          <a:p>
            <a:r>
              <a:t>tolerate.</a:t>
            </a:r>
          </a:p>
          <a:p>
            <a:endParaRPr/>
          </a:p>
          <a:p>
            <a:r>
              <a:t>Telephony is last on the slide because it is the one people ask about first and</a:t>
            </a:r>
          </a:p>
          <a:p>
            <a:r>
              <a:t>it is the biggest job -- though the interesting part is that main.py does not</a:t>
            </a:r>
          </a:p>
          <a:p>
            <a:r>
              <a:t>change. The work is replacing web/, which is exactly why the audio layer lives</a:t>
            </a:r>
          </a:p>
          <a:p>
            <a:r>
              <a:t>outside the step files.</a:t>
            </a:r>
          </a:p>
          <a:p>
            <a:endParaRPr/>
          </a:p>
          <a:p>
            <a:r>
              <a:t>Mid-conversation updates is the sleeper. send_inject_user_message makes function</a:t>
            </a:r>
          </a:p>
          <a:p>
            <a:r>
              <a:t>calling testable without a microphone, which is how you would write tests for any</a:t>
            </a:r>
          </a:p>
          <a:p>
            <a:r>
              <a:t>of this.</a:t>
            </a:r>
          </a:p>
          <a:p>
            <a:endParaRPr/>
          </a:p>
          <a:p>
            <a:r>
              <a:t>Everything here is in steps/99-final/README.md, so nobody has to write it down.</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Leave this up as the room empties. It is the last thing anyone photographs.</a:t>
            </a:r>
          </a:p>
          <a:p>
            <a:endParaRPr/>
          </a:p>
          <a:p>
            <a:r>
              <a:t>The six QR slots ship empty on purpose -- generate them from the links table at</a:t>
            </a:r>
          </a:p>
          <a:p>
            <a:r>
              <a:t>the end of FACILITATOR.md and drop them in before a conference floor, where</a:t>
            </a:r>
          </a:p>
          <a:p>
            <a:r>
              <a:t>nobody will type a URL. For an internal team session, the URLs alone are fine.</a:t>
            </a:r>
          </a:p>
          <a:p>
            <a:endParaRPr/>
          </a:p>
          <a:p>
            <a:r>
              <a:t>Say two things while it is up:</a:t>
            </a:r>
          </a:p>
          <a:p>
            <a:endParaRPr/>
          </a:p>
          <a:p>
            <a:r>
              <a:t>Invite people into Discord while they still have the agent running. A question</a:t>
            </a:r>
          </a:p>
          <a:p>
            <a:r>
              <a:t>asked with a live terminal gets a better answer than one asked three days later</a:t>
            </a:r>
          </a:p>
          <a:p>
            <a:r>
              <a:t>from memory.</a:t>
            </a:r>
          </a:p>
          <a:p>
            <a:endParaRPr/>
          </a:p>
          <a:p>
            <a:r>
              <a:t>Share the repo link again, and point at steps/99-final/README.md. That is where</a:t>
            </a:r>
          </a:p>
          <a:p>
            <a:r>
              <a:t>the extension ideas live, and it is the file people actually come back to.</a:t>
            </a:r>
          </a:p>
          <a:p>
            <a:endParaRPr/>
          </a:p>
          <a:p>
            <a:r>
              <a:t>Then, for your own sake, write down three things before you leave: which step</a:t>
            </a:r>
          </a:p>
          <a:p>
            <a:r>
              <a:t>consumed the most time, how many people finished Step 7, and which environment</a:t>
            </a:r>
          </a:p>
          <a:p>
            <a:r>
              <a:t>failures actually occurred. That is what you will change before the next run.</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Never presented. This slide exists so you can find the backup material quickly</a:t>
            </a:r>
          </a:p>
          <a:p>
            <a:r>
              <a:t>in presenter view without scrolling past thirty slides.</a:t>
            </a:r>
          </a:p>
          <a:p>
            <a:endParaRPr/>
          </a:p>
          <a:p>
            <a:r>
              <a:t>Practical tip: note these slide numbers on a sticky before you start. The failures</a:t>
            </a:r>
          </a:p>
          <a:p>
            <a:r>
              <a:t>slide is the one you will want inside the first twenty minutes, and hunting for it</a:t>
            </a:r>
          </a:p>
          <a:p>
            <a:r>
              <a:t>in front of a room while somebody's microphone does not work is worse than</a:t>
            </a:r>
          </a:p>
          <a:p>
            <a:r>
              <a:t>describing it from memory.</a:t>
            </a:r>
          </a:p>
          <a:p>
            <a:endParaRPr/>
          </a:p>
          <a:p>
            <a:r>
              <a:t>If you are running the deck in presenter mode, PowerPoint's slide-jump shortcut is</a:t>
            </a:r>
          </a:p>
          <a:p>
            <a:r>
              <a:t>typing the slide number and pressing Enter.</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Your most-used slide. Know where it is before you start.</a:t>
            </a:r>
          </a:p>
          <a:p>
            <a:endParaRPr/>
          </a:p>
          <a:p>
            <a:r>
              <a:t>Numbers one and two account for most of what you will see, and both are one-line</a:t>
            </a:r>
          </a:p>
          <a:p>
            <a:r>
              <a:t>fixes once you know to look. Number two is the sneaky one, because the audio API</a:t>
            </a:r>
          </a:p>
          <a:p>
            <a:r>
              <a:t>does not throw an error a person could search for -- ctx.audioWorklet is simply</a:t>
            </a:r>
          </a:p>
          <a:p>
            <a:r>
              <a:t>undefined. If someone is on a LAN address, nothing they read online will help them.</a:t>
            </a:r>
          </a:p>
          <a:p>
            <a:endParaRPr/>
          </a:p>
          <a:p>
            <a:r>
              <a:t>Number six, only if you are running Step 6b: Bedrock model access. Not on the main</a:t>
            </a:r>
          </a:p>
          <a:p>
            <a:r>
              <a:t>line, but by far the longest to fix, because you cannot fix it in the room. Two</a:t>
            </a:r>
          </a:p>
          <a:p>
            <a:r>
              <a:t>cheaper mistakes shadow it and are worth ruling out first -- a region mismatch</a:t>
            </a:r>
          </a:p>
          <a:p>
            <a:r>
              <a:t>between the credentials and the endpoint URL, and an IAM user holding</a:t>
            </a:r>
          </a:p>
          <a:p>
            <a:r>
              <a:t>bedrock:InvokeModel but not bedrock:InvokeModelWithResponseStream. The agent</a:t>
            </a:r>
          </a:p>
          <a:p>
            <a:r>
              <a:t>streams, so the non-streaming permission alone is not enough.</a:t>
            </a:r>
          </a:p>
          <a:p>
            <a:endParaRPr/>
          </a:p>
          <a:p>
            <a:r>
              <a:t>For the amber panel: the room shares a .env layout, so if one person hits a</a:t>
            </a:r>
          </a:p>
          <a:p>
            <a:r>
              <a:t>refused model, everyone connecting to that region will. Fix it once, out loud, for</a:t>
            </a:r>
          </a:p>
          <a:p>
            <a:r>
              <a:t>the whole room.</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you, not for the room. Do not project it before asking the question.</a:t>
            </a:r>
          </a:p>
          <a:p>
            <a:endParaRPr/>
          </a:p>
          <a:p>
            <a:r>
              <a:t>The two worth asking out loud, because the answers change how people build:</a:t>
            </a:r>
          </a:p>
          <a:p>
            <a:endParaRPr/>
          </a:p>
          <a:p>
            <a:r>
              <a:t>Step 4's -- why is there no VAD anywhere in this file. It is the moment the Flux</a:t>
            </a:r>
          </a:p>
          <a:p>
            <a:r>
              <a:t>argument lands for people who have written voice activity detection before.</a:t>
            </a:r>
          </a:p>
          <a:p>
            <a:endParaRPr/>
          </a:p>
          <a:p>
            <a:r>
              <a:t>Step 5's -- why isn't it enough to tell the browser to flush. Nobody gets this</a:t>
            </a:r>
          </a:p>
          <a:p>
            <a:r>
              <a:t>right first time, and the wrong answer is instructive: clearing the near queue</a:t>
            </a:r>
          </a:p>
          <a:p>
            <a:r>
              <a:t>first produces a bug that looks almost fixed, which is the worst kind.</a:t>
            </a:r>
          </a:p>
          <a:p>
            <a:endParaRPr/>
          </a:p>
          <a:p>
            <a:r>
              <a:t>Step 0's four answers are quick fire. Use them to fill the last minute of the</a:t>
            </a:r>
          </a:p>
          <a:p>
            <a:r>
              <a:t>overview block if you are running ahead.</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Same as the previous slide: yours, not the room's.</a:t>
            </a:r>
          </a:p>
          <a:p>
            <a:endParaRPr/>
          </a:p>
          <a:p>
            <a:r>
              <a:t>Step 6's answer is the one that saves people the most time on their own projects,</a:t>
            </a:r>
          </a:p>
          <a:p>
            <a:r>
              <a:t>and it is worth asking even if you are behind. Two instructions, ten seconds.</a:t>
            </a:r>
          </a:p>
          <a:p>
            <a:endParaRPr/>
          </a:p>
          <a:p>
            <a:r>
              <a:t>Step 6b's answer is the useful mental model for the whole provider list. Brokered</a:t>
            </a:r>
          </a:p>
          <a:p>
            <a:r>
              <a:t>means Deepgram holds the account and a model name is the entire configuration.</a:t>
            </a:r>
          </a:p>
          <a:p>
            <a:r>
              <a:t>Bring-your-own means Deepgram calls as you, which needs credentials and an</a:t>
            </a:r>
          </a:p>
          <a:p>
            <a:r>
              <a:t>address. Once someone has that distinction, Groq and Bedrock stop being special</a:t>
            </a:r>
          </a:p>
          <a:p>
            <a:r>
              <a:t>cases.</a:t>
            </a:r>
          </a:p>
          <a:p>
            <a:endParaRPr/>
          </a:p>
          <a:p>
            <a:r>
              <a:t>Step 7b's is the one to labour if the room includes anyone building for a</a:t>
            </a:r>
          </a:p>
          <a:p>
            <a:r>
              <a:t>regulated industry. A prompt is a request. A payload is a guarantee. Everything</a:t>
            </a:r>
          </a:p>
          <a:p>
            <a:r>
              <a:t>else in a compliance conversation is downstream of understanding that difference.</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slide. Use it if someone asks about lock-in, data residency, or running</a:t>
            </a:r>
          </a:p>
          <a:p>
            <a:r>
              <a:t>their own model -- which someone usually does around Step 6.</a:t>
            </a:r>
          </a:p>
          <a:p>
            <a:endParaRPr/>
          </a:p>
          <a:p>
            <a:r>
              <a:t>The setting worth remembering is think.endpoint, and it is not Bedrock-specific.</a:t>
            </a:r>
          </a:p>
          <a:p>
            <a:r>
              <a:t>Point it at anything that speaks the OpenAI Chat Completions format -- a</a:t>
            </a:r>
          </a:p>
          <a:p>
            <a:r>
              <a:t>self-hosted model, a gateway in front of your own inference, a router, a proxy</a:t>
            </a:r>
          </a:p>
          <a:p>
            <a:r>
              <a:t>that logs every completion -- and the agent talks to it. Bedrock is just the case</a:t>
            </a:r>
          </a:p>
          <a:p>
            <a:r>
              <a:t>with enough structure that Deepgram gave it a provider type of its own.</a:t>
            </a:r>
          </a:p>
          <a:p>
            <a:endParaRPr/>
          </a:p>
          <a:p>
            <a:r>
              <a:t>Two practical warnings if anyone is going to actually do this:</a:t>
            </a:r>
          </a:p>
          <a:p>
            <a:endParaRPr/>
          </a:p>
          <a:p>
            <a:r>
              <a:t>Model access is per model and per region, and some families need a one-time use</a:t>
            </a:r>
          </a:p>
          <a:p>
            <a:r>
              <a:t>case form that is not instant. Request it days ahead.</a:t>
            </a:r>
          </a:p>
          <a:p>
            <a:endParaRPr/>
          </a:p>
          <a:p>
            <a:r>
              <a:t>bedrock:InvokeModel is not enough. The agent streams, so it needs</a:t>
            </a:r>
          </a:p>
          <a:p>
            <a:r>
              <a:t>bedrock:InvokeModelWithResponseStream.</a:t>
            </a:r>
          </a:p>
          <a:p>
            <a:endParaRPr/>
          </a:p>
          <a:p>
            <a:r>
              <a:t>Worth naming the graceful-degradation design too: think_settings() guards on the</a:t>
            </a:r>
          </a:p>
          <a:p>
            <a:r>
              <a:t>presence of AWS credentials and falls back to the brokered provider without them.</a:t>
            </a:r>
          </a:p>
          <a:p>
            <a:r>
              <a:t>The person whose model access never got approved can still run your file.</a:t>
            </a:r>
          </a:p>
          <a:p>
            <a:endParaRPr/>
          </a:p>
          <a:p>
            <a:r>
              <a:t>And the bill genuinely moves -- after 6b the request shows up in AWS, Bedrock,</a:t>
            </a:r>
          </a:p>
          <a:p>
            <a:r>
              <a:t>Usage, and nowhere in the Deepgram console. Speech-to-text and text-to-speech are</a:t>
            </a:r>
          </a:p>
          <a:p>
            <a:r>
              <a:t>still Deepgram's; only the middle of the pipeline changed hands.</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slide, and the one to reach for when someone asks about a regulated</a:t>
            </a:r>
          </a:p>
          <a:p>
            <a:r>
              <a:t>industry or about stopping an agent leaking data.</a:t>
            </a:r>
          </a:p>
          <a:p>
            <a:endParaRPr/>
          </a:p>
          <a:p>
            <a:r>
              <a:t>Keyterms is best demonstrated rather than described. If you have two minutes and</a:t>
            </a:r>
          </a:p>
          <a:p>
            <a:r>
              <a:t>a microphone, run it with the list empty and say the semaglutide sentence out</a:t>
            </a:r>
          </a:p>
          <a:p>
            <a:r>
              <a:t>loud. The transcript comes back with a drug that does not exist, and the room</a:t>
            </a:r>
          </a:p>
          <a:p>
            <a:r>
              <a:t>understands keyterms permanently. It is the highest-leverage accuracy fix</a:t>
            </a:r>
          </a:p>
          <a:p>
            <a:r>
              <a:t>available for a domain-specific agent and it is one line of configuration.</a:t>
            </a:r>
          </a:p>
          <a:p>
            <a:endParaRPr/>
          </a:p>
          <a:p>
            <a:r>
              <a:t>The payload lesson is the transferable one, and it generalises well past</a:t>
            </a:r>
          </a:p>
          <a:p>
            <a:r>
              <a:t>healthcare. The prompt is a request; the payload is a guarantee. Prose asking a</a:t>
            </a:r>
          </a:p>
          <a:p>
            <a:r>
              <a:t>model not to repeat a phone number can be talked around -- under pressure, under</a:t>
            </a:r>
          </a:p>
          <a:p>
            <a:r>
              <a:t>a clever question, or just because the model was being helpful. A payload that</a:t>
            </a:r>
          </a:p>
          <a:p>
            <a:r>
              <a:t>never carried the phone number cannot.</a:t>
            </a:r>
          </a:p>
          <a:p>
            <a:endParaRPr/>
          </a:p>
          <a:p>
            <a:r>
              <a:t>If someone wants the compliance conversation: BAAs with every vendor that touches</a:t>
            </a:r>
          </a:p>
          <a:p>
            <a:r>
              <a:t>PHI, including logging and observability, which is the one teams forget. Audit</a:t>
            </a:r>
          </a:p>
          <a:p>
            <a:r>
              <a:t>controls that are not print statements. Retention and redaction decisions for the</a:t>
            </a:r>
          </a:p>
          <a:p>
            <a:r>
              <a:t>audio as well as the transcript. And a documented risk analysis, training, and</a:t>
            </a:r>
          </a:p>
          <a:p>
            <a:r>
              <a:t>breach process around all of it. There is no such thing as a HIPAA-certified</a:t>
            </a:r>
          </a:p>
          <a:p>
            <a:r>
              <a:t>codebase -- it is a program you maintain, and it wants a lawyer involved early.</a:t>
            </a:r>
          </a:p>
          <a:p>
            <a:endParaRPr/>
          </a:p>
          <a:p>
            <a:r>
              <a:t>Deepgram is a Business Associate under HIPAA and offers BAAs to qualifying</a:t>
            </a:r>
          </a:p>
          <a:p>
            <a:r>
              <a:t>Covered Entities on request. That is an account-team conversation, not a</a:t>
            </a:r>
          </a:p>
          <a:p>
            <a:r>
              <a:t>configuration flag.</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slide, and pre-flight reading if you are running this outside the global</a:t>
            </a:r>
          </a:p>
          <a:p>
            <a:r>
              <a:t>endpoint.</a:t>
            </a:r>
          </a:p>
          <a:p>
            <a:endParaRPr/>
          </a:p>
          <a:p>
            <a:r>
              <a:t>Add the DEEPGRAM_REGION line to the pre-event email if attendees clone the repo</a:t>
            </a:r>
          </a:p>
          <a:p>
            <a:r>
              <a:t>themselves. .env.example documents it, but people paste their key and stop</a:t>
            </a:r>
          </a:p>
          <a:p>
            <a:r>
              <a:t>reading.</a:t>
            </a:r>
          </a:p>
          <a:p>
            <a:endParaRPr/>
          </a:p>
          <a:p>
            <a:r>
              <a:t>The important operational point is that you do not have to verify a region</a:t>
            </a:r>
          </a:p>
          <a:p>
            <a:r>
              <a:t>yourself. Step 1 opens the real socket with the real three models and reports what</a:t>
            </a:r>
          </a:p>
          <a:p>
            <a:r>
              <a:t>the server said, per attendee. That is stronger than any check you could run in</a:t>
            </a:r>
          </a:p>
          <a:p>
            <a:r>
              <a:t>advance, and it means each person finds out on their own machine.</a:t>
            </a:r>
          </a:p>
          <a:p>
            <a:endParaRPr/>
          </a:p>
          <a:p>
            <a:r>
              <a:t>The au caveat is dated deliberately, because it will go stale. Step 1 tells each</a:t>
            </a:r>
          </a:p>
          <a:p>
            <a:r>
              <a:t>attendee directly, so the room will find out even if this slide is out of date --</a:t>
            </a:r>
          </a:p>
          <a:p>
            <a:r>
              <a:t>which is the right way round.</a:t>
            </a:r>
          </a:p>
          <a:p>
            <a:endParaRPr/>
          </a:p>
          <a:p>
            <a:r>
              <a:t>If someone asks about audio never leaving their network: that is self-hosted, and</a:t>
            </a:r>
          </a:p>
          <a:p>
            <a:r>
              <a:t>on AWS it takes the form of Flux, Nova-3, and Aura-2 on SageMaker endpoints in</a:t>
            </a:r>
          </a:p>
          <a:p>
            <a:r>
              <a:t>their own VPC. Speech models only -- SageMaker's network isolation blocks the</a:t>
            </a:r>
          </a:p>
          <a:p>
            <a:r>
              <a:t>outbound LLM calls the Voice Agent orchestrator makes, so the Agent API itself</a:t>
            </a:r>
          </a:p>
          <a:p>
            <a:r>
              <a:t>does not run there. Different architecture, not a setting.</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0B10"/>
        </a:solidFill>
        <a:effectLst/>
      </p:bgPr>
    </p:bg>
    <p:spTree>
      <p:nvGrpSpPr>
        <p:cNvPr id="1" name=""/>
        <p:cNvGrpSpPr/>
        <p:nvPr/>
      </p:nvGrpSpPr>
      <p:grpSpPr>
        <a:xfrm>
          <a:off x="0" y="0"/>
          <a:ext cx="0" cy="0"/>
          <a:chOff x="0" y="0"/>
          <a:chExt cx="0" cy="0"/>
        </a:xfrm>
      </p:grpSpPr>
      <p:sp>
        <p:nvSpPr>
          <p:cNvPr id="2" name="TextBox 1"/>
          <p:cNvSpPr txBox="1"/>
          <p:nvPr/>
        </p:nvSpPr>
        <p:spPr>
          <a:xfrm>
            <a:off x="640080" y="1060704"/>
            <a:ext cx="10911809" cy="274320"/>
          </a:xfrm>
          <a:prstGeom prst="rect">
            <a:avLst/>
          </a:prstGeom>
          <a:noFill/>
        </p:spPr>
        <p:txBody>
          <a:bodyPr wrap="square" lIns="0" tIns="0" rIns="0" bIns="0">
            <a:spAutoFit/>
          </a:bodyPr>
          <a:lstStyle/>
          <a:p>
            <a:pPr algn="l">
              <a:spcBef>
                <a:spcPts val="0"/>
              </a:spcBef>
              <a:spcAft>
                <a:spcPts val="0"/>
              </a:spcAft>
            </a:pPr>
            <a:r>
              <a:rPr sz="1200" b="1">
                <a:solidFill>
                  <a:srgbClr val="13EF93"/>
                </a:solidFill>
                <a:latin typeface="Calibri"/>
              </a:rPr>
              <a:t>DEEPGRAM DEVELOPER WORKSHOP</a:t>
            </a:r>
          </a:p>
        </p:txBody>
      </p:sp>
      <p:sp>
        <p:nvSpPr>
          <p:cNvPr id="3" name="TextBox 2"/>
          <p:cNvSpPr txBox="1"/>
          <p:nvPr/>
        </p:nvSpPr>
        <p:spPr>
          <a:xfrm>
            <a:off x="640080" y="1481328"/>
            <a:ext cx="7863840" cy="1737360"/>
          </a:xfrm>
          <a:prstGeom prst="rect">
            <a:avLst/>
          </a:prstGeom>
          <a:noFill/>
        </p:spPr>
        <p:txBody>
          <a:bodyPr wrap="square" lIns="0" tIns="0" rIns="0" bIns="0">
            <a:spAutoFit/>
          </a:bodyPr>
          <a:lstStyle/>
          <a:p>
            <a:pPr algn="l">
              <a:lnSpc>
                <a:spcPct val="102000"/>
              </a:lnSpc>
              <a:spcBef>
                <a:spcPts val="0"/>
              </a:spcBef>
              <a:spcAft>
                <a:spcPts val="0"/>
              </a:spcAft>
            </a:pPr>
            <a:r>
              <a:rPr sz="5200" b="1">
                <a:solidFill>
                  <a:srgbClr val="E9EFF6"/>
                </a:solidFill>
                <a:latin typeface="Calibri"/>
              </a:rPr>
              <a:t>Build a Real-Time</a:t>
            </a:r>
          </a:p>
          <a:p>
            <a:pPr algn="l">
              <a:lnSpc>
                <a:spcPct val="102000"/>
              </a:lnSpc>
              <a:spcBef>
                <a:spcPts val="0"/>
              </a:spcBef>
              <a:spcAft>
                <a:spcPts val="0"/>
              </a:spcAft>
            </a:pPr>
            <a:r>
              <a:rPr sz="5200" b="1">
                <a:solidFill>
                  <a:srgbClr val="13EF93"/>
                </a:solidFill>
                <a:latin typeface="Calibri"/>
              </a:rPr>
              <a:t>Voice Agent</a:t>
            </a:r>
          </a:p>
        </p:txBody>
      </p:sp>
      <p:sp>
        <p:nvSpPr>
          <p:cNvPr id="4" name="TextBox 3"/>
          <p:cNvSpPr txBox="1"/>
          <p:nvPr/>
        </p:nvSpPr>
        <p:spPr>
          <a:xfrm>
            <a:off x="640080" y="3401568"/>
            <a:ext cx="8138160" cy="822960"/>
          </a:xfrm>
          <a:prstGeom prst="rect">
            <a:avLst/>
          </a:prstGeom>
          <a:noFill/>
        </p:spPr>
        <p:txBody>
          <a:bodyPr wrap="square" lIns="0" tIns="0" rIns="0" bIns="0">
            <a:spAutoFit/>
          </a:bodyPr>
          <a:lstStyle/>
          <a:p>
            <a:pPr algn="l">
              <a:spcBef>
                <a:spcPts val="0"/>
              </a:spcBef>
              <a:spcAft>
                <a:spcPts val="0"/>
              </a:spcAft>
            </a:pPr>
            <a:r>
              <a:rPr sz="1900" b="1">
                <a:solidFill>
                  <a:srgbClr val="E9EFF6"/>
                </a:solidFill>
                <a:latin typeface="Calibri"/>
              </a:rPr>
              <a:t>Python Edition</a:t>
            </a:r>
          </a:p>
          <a:p>
            <a:pPr algn="l">
              <a:spcBef>
                <a:spcPts val="600"/>
              </a:spcBef>
              <a:spcAft>
                <a:spcPts val="0"/>
              </a:spcAft>
            </a:pPr>
            <a:r>
              <a:rPr sz="1500" b="0">
                <a:solidFill>
                  <a:srgbClr val="93A4B7"/>
                </a:solidFill>
                <a:latin typeface="Calibri"/>
              </a:rPr>
              <a:t>Flux speech-to-text, an LLM, and Flux TTS on one WebSocket</a:t>
            </a:r>
          </a:p>
          <a:p>
            <a:pPr algn="l">
              <a:spcBef>
                <a:spcPts val="400"/>
              </a:spcBef>
              <a:spcAft>
                <a:spcPts val="0"/>
              </a:spcAft>
            </a:pPr>
            <a:r>
              <a:rPr sz="1300" b="0">
                <a:solidFill>
                  <a:srgbClr val="5D6E80"/>
                </a:solidFill>
                <a:latin typeface="Calibri"/>
              </a:rPr>
              <a:t>Roughly three hours   ·   hands-on   ·   on your own machine</a:t>
            </a:r>
          </a:p>
        </p:txBody>
      </p:sp>
      <p:sp>
        <p:nvSpPr>
          <p:cNvPr id="5" name="Rounded Rectangle 4"/>
          <p:cNvSpPr/>
          <p:nvPr/>
        </p:nvSpPr>
        <p:spPr>
          <a:xfrm>
            <a:off x="640080" y="4828032"/>
            <a:ext cx="5943600" cy="1014983"/>
          </a:xfrm>
          <a:prstGeom prst="roundRect">
            <a:avLst>
              <a:gd name="adj" fmla="val 3500"/>
            </a:avLst>
          </a:prstGeom>
          <a:solidFill>
            <a:srgbClr val="04070A"/>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59" y="4992624"/>
            <a:ext cx="5577840" cy="649223"/>
          </a:xfrm>
          <a:prstGeom prst="rect">
            <a:avLst/>
          </a:prstGeom>
          <a:noFill/>
        </p:spPr>
        <p:txBody>
          <a:bodyPr wrap="square" lIns="0" tIns="0" rIns="0" bIns="0">
            <a:spAutoFit/>
          </a:bodyPr>
          <a:lstStyle/>
          <a:p>
            <a:pPr algn="l">
              <a:lnSpc>
                <a:spcPct val="118000"/>
              </a:lnSpc>
              <a:spcBef>
                <a:spcPts val="0"/>
              </a:spcBef>
              <a:spcAft>
                <a:spcPts val="0"/>
              </a:spcAft>
            </a:pPr>
            <a:r>
              <a:rPr sz="1200" b="0">
                <a:solidFill>
                  <a:srgbClr val="13EF93"/>
                </a:solidFill>
                <a:latin typeface="Courier New"/>
              </a:rPr>
              <a:t>uv sync</a:t>
            </a:r>
          </a:p>
          <a:p>
            <a:pPr algn="l">
              <a:lnSpc>
                <a:spcPct val="118000"/>
              </a:lnSpc>
              <a:spcBef>
                <a:spcPts val="0"/>
              </a:spcBef>
              <a:spcAft>
                <a:spcPts val="0"/>
              </a:spcAft>
            </a:pPr>
            <a:r>
              <a:rPr sz="1200" b="0">
                <a:solidFill>
                  <a:srgbClr val="13EF93"/>
                </a:solidFill>
                <a:latin typeface="Courier New"/>
              </a:rPr>
              <a:t>cp .env.example .env</a:t>
            </a:r>
          </a:p>
          <a:p>
            <a:pPr algn="l">
              <a:lnSpc>
                <a:spcPct val="118000"/>
              </a:lnSpc>
              <a:spcBef>
                <a:spcPts val="0"/>
              </a:spcBef>
              <a:spcAft>
                <a:spcPts val="0"/>
              </a:spcAft>
            </a:pPr>
            <a:r>
              <a:rPr sz="1200" b="0">
                <a:solidFill>
                  <a:srgbClr val="13EF93"/>
                </a:solidFill>
                <a:latin typeface="Courier New"/>
              </a:rPr>
              <a:t>uv run steps/01-setup/main.py</a:t>
            </a:r>
          </a:p>
        </p:txBody>
      </p:sp>
      <p:sp>
        <p:nvSpPr>
          <p:cNvPr id="7" name="TextBox 6"/>
          <p:cNvSpPr txBox="1"/>
          <p:nvPr/>
        </p:nvSpPr>
        <p:spPr>
          <a:xfrm>
            <a:off x="640080" y="5989320"/>
            <a:ext cx="5943600" cy="274320"/>
          </a:xfrm>
          <a:prstGeom prst="rect">
            <a:avLst/>
          </a:prstGeom>
          <a:noFill/>
        </p:spPr>
        <p:txBody>
          <a:bodyPr wrap="square" lIns="0" tIns="0" rIns="0" bIns="0">
            <a:spAutoFit/>
          </a:bodyPr>
          <a:lstStyle/>
          <a:p>
            <a:pPr algn="l">
              <a:spcBef>
                <a:spcPts val="0"/>
              </a:spcBef>
              <a:spcAft>
                <a:spcPts val="0"/>
              </a:spcAft>
            </a:pPr>
            <a:r>
              <a:rPr sz="1200" b="0">
                <a:solidFill>
                  <a:srgbClr val="5D6E80"/>
                </a:solidFill>
                <a:latin typeface="Calibri"/>
              </a:rPr>
              <a:t>Start here while people settle in.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70B10"/>
        </a:solidFill>
        <a:effectLst/>
      </p:bgPr>
    </p:bg>
    <p:spTree>
      <p:nvGrpSpPr>
        <p:cNvPr id="1" name="">
          <a:extLst>
            <a:ext uri="{FF2B5EF4-FFF2-40B4-BE49-F238E27FC236}">
              <a16:creationId xmlns:a16="http://schemas.microsoft.com/office/drawing/2014/main" id="{70C28614-773D-23E7-A6BE-B8C2C1196B9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210B65D-7DA1-D808-E3E2-84607074EB12}"/>
              </a:ext>
            </a:extLst>
          </p:cNvPr>
          <p:cNvSpPr txBox="1"/>
          <p:nvPr/>
        </p:nvSpPr>
        <p:spPr>
          <a:xfrm>
            <a:off x="640080" y="1060704"/>
            <a:ext cx="10911809" cy="274320"/>
          </a:xfrm>
          <a:prstGeom prst="rect">
            <a:avLst/>
          </a:prstGeom>
          <a:noFill/>
        </p:spPr>
        <p:txBody>
          <a:bodyPr wrap="square" lIns="0" tIns="0" rIns="0" bIns="0">
            <a:spAutoFit/>
          </a:bodyPr>
          <a:lstStyle/>
          <a:p>
            <a:pPr algn="l">
              <a:spcBef>
                <a:spcPts val="0"/>
              </a:spcBef>
              <a:spcAft>
                <a:spcPts val="0"/>
              </a:spcAft>
            </a:pPr>
            <a:r>
              <a:rPr sz="1200" b="1">
                <a:solidFill>
                  <a:srgbClr val="13EF93"/>
                </a:solidFill>
                <a:latin typeface="Calibri"/>
              </a:rPr>
              <a:t>DEEPGRAM DEVELOPER WORKSHOP</a:t>
            </a:r>
          </a:p>
        </p:txBody>
      </p:sp>
      <p:sp>
        <p:nvSpPr>
          <p:cNvPr id="3" name="TextBox 2">
            <a:extLst>
              <a:ext uri="{FF2B5EF4-FFF2-40B4-BE49-F238E27FC236}">
                <a16:creationId xmlns:a16="http://schemas.microsoft.com/office/drawing/2014/main" id="{BB54F39F-C258-A672-8AE2-E46C6903D809}"/>
              </a:ext>
            </a:extLst>
          </p:cNvPr>
          <p:cNvSpPr txBox="1"/>
          <p:nvPr/>
        </p:nvSpPr>
        <p:spPr>
          <a:xfrm>
            <a:off x="640080" y="1481328"/>
            <a:ext cx="7863840" cy="1737360"/>
          </a:xfrm>
          <a:prstGeom prst="rect">
            <a:avLst/>
          </a:prstGeom>
          <a:noFill/>
        </p:spPr>
        <p:txBody>
          <a:bodyPr wrap="square" lIns="0" tIns="0" rIns="0" bIns="0">
            <a:spAutoFit/>
          </a:bodyPr>
          <a:lstStyle/>
          <a:p>
            <a:pPr algn="l">
              <a:lnSpc>
                <a:spcPct val="102000"/>
              </a:lnSpc>
              <a:spcBef>
                <a:spcPts val="0"/>
              </a:spcBef>
              <a:spcAft>
                <a:spcPts val="0"/>
              </a:spcAft>
            </a:pPr>
            <a:r>
              <a:rPr sz="5200" b="1">
                <a:solidFill>
                  <a:srgbClr val="E9EFF6"/>
                </a:solidFill>
                <a:latin typeface="Calibri"/>
              </a:rPr>
              <a:t>Build a Real-Time</a:t>
            </a:r>
          </a:p>
          <a:p>
            <a:pPr algn="l">
              <a:lnSpc>
                <a:spcPct val="102000"/>
              </a:lnSpc>
              <a:spcBef>
                <a:spcPts val="0"/>
              </a:spcBef>
              <a:spcAft>
                <a:spcPts val="0"/>
              </a:spcAft>
            </a:pPr>
            <a:r>
              <a:rPr sz="5200" b="1">
                <a:solidFill>
                  <a:srgbClr val="13EF93"/>
                </a:solidFill>
                <a:latin typeface="Calibri"/>
              </a:rPr>
              <a:t>Voice Agent</a:t>
            </a:r>
          </a:p>
        </p:txBody>
      </p:sp>
      <p:sp>
        <p:nvSpPr>
          <p:cNvPr id="4" name="TextBox 3">
            <a:extLst>
              <a:ext uri="{FF2B5EF4-FFF2-40B4-BE49-F238E27FC236}">
                <a16:creationId xmlns:a16="http://schemas.microsoft.com/office/drawing/2014/main" id="{97098903-8C39-259C-9433-E0334759C56B}"/>
              </a:ext>
            </a:extLst>
          </p:cNvPr>
          <p:cNvSpPr txBox="1"/>
          <p:nvPr/>
        </p:nvSpPr>
        <p:spPr>
          <a:xfrm>
            <a:off x="640080" y="3401568"/>
            <a:ext cx="8138160" cy="822960"/>
          </a:xfrm>
          <a:prstGeom prst="rect">
            <a:avLst/>
          </a:prstGeom>
          <a:noFill/>
        </p:spPr>
        <p:txBody>
          <a:bodyPr wrap="square" lIns="0" tIns="0" rIns="0" bIns="0">
            <a:spAutoFit/>
          </a:bodyPr>
          <a:lstStyle/>
          <a:p>
            <a:pPr algn="l">
              <a:spcBef>
                <a:spcPts val="0"/>
              </a:spcBef>
              <a:spcAft>
                <a:spcPts val="0"/>
              </a:spcAft>
            </a:pPr>
            <a:r>
              <a:rPr sz="1900" b="1">
                <a:solidFill>
                  <a:srgbClr val="E9EFF6"/>
                </a:solidFill>
                <a:latin typeface="Calibri"/>
              </a:rPr>
              <a:t>Python Edition</a:t>
            </a:r>
          </a:p>
          <a:p>
            <a:pPr algn="l">
              <a:spcBef>
                <a:spcPts val="600"/>
              </a:spcBef>
              <a:spcAft>
                <a:spcPts val="0"/>
              </a:spcAft>
            </a:pPr>
            <a:r>
              <a:rPr sz="1500" b="0">
                <a:solidFill>
                  <a:srgbClr val="93A4B7"/>
                </a:solidFill>
                <a:latin typeface="Calibri"/>
              </a:rPr>
              <a:t>Flux speech-to-text, an LLM, and Flux TTS on one WebSocket</a:t>
            </a:r>
          </a:p>
          <a:p>
            <a:pPr algn="l">
              <a:spcBef>
                <a:spcPts val="400"/>
              </a:spcBef>
              <a:spcAft>
                <a:spcPts val="0"/>
              </a:spcAft>
            </a:pPr>
            <a:r>
              <a:rPr sz="1300" b="0">
                <a:solidFill>
                  <a:srgbClr val="5D6E80"/>
                </a:solidFill>
                <a:latin typeface="Calibri"/>
              </a:rPr>
              <a:t>Roughly three hours   ·   hands-on   ·   on your own machine</a:t>
            </a:r>
          </a:p>
        </p:txBody>
      </p:sp>
      <p:sp>
        <p:nvSpPr>
          <p:cNvPr id="5" name="Rounded Rectangle 4">
            <a:extLst>
              <a:ext uri="{FF2B5EF4-FFF2-40B4-BE49-F238E27FC236}">
                <a16:creationId xmlns:a16="http://schemas.microsoft.com/office/drawing/2014/main" id="{9F0B178D-CF43-9DE1-9D45-BDE2F5D71C1A}"/>
              </a:ext>
            </a:extLst>
          </p:cNvPr>
          <p:cNvSpPr/>
          <p:nvPr/>
        </p:nvSpPr>
        <p:spPr>
          <a:xfrm>
            <a:off x="640080" y="4828032"/>
            <a:ext cx="5943600" cy="1014983"/>
          </a:xfrm>
          <a:prstGeom prst="roundRect">
            <a:avLst>
              <a:gd name="adj" fmla="val 3500"/>
            </a:avLst>
          </a:prstGeom>
          <a:solidFill>
            <a:srgbClr val="04070A"/>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A23A2ED5-BC09-2E1E-6406-C5E13D60F897}"/>
              </a:ext>
            </a:extLst>
          </p:cNvPr>
          <p:cNvSpPr txBox="1"/>
          <p:nvPr/>
        </p:nvSpPr>
        <p:spPr>
          <a:xfrm>
            <a:off x="822959" y="4992624"/>
            <a:ext cx="5577840" cy="649223"/>
          </a:xfrm>
          <a:prstGeom prst="rect">
            <a:avLst/>
          </a:prstGeom>
          <a:noFill/>
        </p:spPr>
        <p:txBody>
          <a:bodyPr wrap="square" lIns="0" tIns="0" rIns="0" bIns="0">
            <a:spAutoFit/>
          </a:bodyPr>
          <a:lstStyle/>
          <a:p>
            <a:pPr algn="l">
              <a:lnSpc>
                <a:spcPct val="118000"/>
              </a:lnSpc>
              <a:spcBef>
                <a:spcPts val="0"/>
              </a:spcBef>
              <a:spcAft>
                <a:spcPts val="0"/>
              </a:spcAft>
            </a:pPr>
            <a:r>
              <a:rPr sz="1200" b="0">
                <a:solidFill>
                  <a:srgbClr val="13EF93"/>
                </a:solidFill>
                <a:latin typeface="Courier New"/>
              </a:rPr>
              <a:t>uv sync</a:t>
            </a:r>
          </a:p>
          <a:p>
            <a:pPr algn="l">
              <a:lnSpc>
                <a:spcPct val="118000"/>
              </a:lnSpc>
              <a:spcBef>
                <a:spcPts val="0"/>
              </a:spcBef>
              <a:spcAft>
                <a:spcPts val="0"/>
              </a:spcAft>
            </a:pPr>
            <a:r>
              <a:rPr sz="1200" b="0">
                <a:solidFill>
                  <a:srgbClr val="13EF93"/>
                </a:solidFill>
                <a:latin typeface="Courier New"/>
              </a:rPr>
              <a:t>cp .env.example .env</a:t>
            </a:r>
          </a:p>
          <a:p>
            <a:pPr algn="l">
              <a:lnSpc>
                <a:spcPct val="118000"/>
              </a:lnSpc>
              <a:spcBef>
                <a:spcPts val="0"/>
              </a:spcBef>
              <a:spcAft>
                <a:spcPts val="0"/>
              </a:spcAft>
            </a:pPr>
            <a:r>
              <a:rPr sz="1200" b="0">
                <a:solidFill>
                  <a:srgbClr val="13EF93"/>
                </a:solidFill>
                <a:latin typeface="Courier New"/>
              </a:rPr>
              <a:t>uv run steps/01-setup/main.py</a:t>
            </a:r>
          </a:p>
        </p:txBody>
      </p:sp>
      <p:sp>
        <p:nvSpPr>
          <p:cNvPr id="7" name="TextBox 6">
            <a:extLst>
              <a:ext uri="{FF2B5EF4-FFF2-40B4-BE49-F238E27FC236}">
                <a16:creationId xmlns:a16="http://schemas.microsoft.com/office/drawing/2014/main" id="{E82F4436-2EDD-1E5A-CFEB-FBBAB067DAFE}"/>
              </a:ext>
            </a:extLst>
          </p:cNvPr>
          <p:cNvSpPr txBox="1"/>
          <p:nvPr/>
        </p:nvSpPr>
        <p:spPr>
          <a:xfrm>
            <a:off x="640080" y="5989320"/>
            <a:ext cx="5943600" cy="274320"/>
          </a:xfrm>
          <a:prstGeom prst="rect">
            <a:avLst/>
          </a:prstGeom>
          <a:noFill/>
        </p:spPr>
        <p:txBody>
          <a:bodyPr wrap="square" lIns="0" tIns="0" rIns="0" bIns="0">
            <a:spAutoFit/>
          </a:bodyPr>
          <a:lstStyle/>
          <a:p>
            <a:pPr algn="l">
              <a:spcBef>
                <a:spcPts val="0"/>
              </a:spcBef>
              <a:spcAft>
                <a:spcPts val="0"/>
              </a:spcAft>
            </a:pPr>
            <a:r>
              <a:rPr sz="1200" b="0">
                <a:solidFill>
                  <a:srgbClr val="5D6E80"/>
                </a:solidFill>
                <a:latin typeface="Calibri"/>
              </a:rPr>
              <a:t>Start here while people settle in.</a:t>
            </a:r>
          </a:p>
        </p:txBody>
      </p:sp>
      <p:pic>
        <p:nvPicPr>
          <p:cNvPr id="9" name="Picture 8">
            <a:extLst>
              <a:ext uri="{FF2B5EF4-FFF2-40B4-BE49-F238E27FC236}">
                <a16:creationId xmlns:a16="http://schemas.microsoft.com/office/drawing/2014/main" id="{28BF8DFA-53EE-F4E5-6BDD-D8F2903C11CE}"/>
              </a:ext>
            </a:extLst>
          </p:cNvPr>
          <p:cNvPicPr>
            <a:picLocks noChangeAspect="1"/>
          </p:cNvPicPr>
          <p:nvPr/>
        </p:nvPicPr>
        <p:blipFill>
          <a:blip r:embed="rId3"/>
          <a:stretch>
            <a:fillRect/>
          </a:stretch>
        </p:blipFill>
        <p:spPr>
          <a:xfrm>
            <a:off x="6932428" y="0"/>
            <a:ext cx="5259571" cy="5832729"/>
          </a:xfrm>
          <a:prstGeom prst="rect">
            <a:avLst/>
          </a:prstGeom>
        </p:spPr>
      </p:pic>
    </p:spTree>
    <p:extLst>
      <p:ext uri="{BB962C8B-B14F-4D97-AF65-F5344CB8AC3E}">
        <p14:creationId xmlns:p14="http://schemas.microsoft.com/office/powerpoint/2010/main" val="5262390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70B10"/>
        </a:solidFill>
        <a:effectLst/>
      </p:bgPr>
    </p:bg>
    <p:spTree>
      <p:nvGrpSpPr>
        <p:cNvPr id="1" name="">
          <a:extLst>
            <a:ext uri="{FF2B5EF4-FFF2-40B4-BE49-F238E27FC236}">
              <a16:creationId xmlns:a16="http://schemas.microsoft.com/office/drawing/2014/main" id="{C8CA59AB-0FC2-0D34-5759-0998248B2C0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0E9864B-FFDB-C207-6BA2-D659DA32E8B8}"/>
              </a:ext>
            </a:extLst>
          </p:cNvPr>
          <p:cNvSpPr txBox="1"/>
          <p:nvPr/>
        </p:nvSpPr>
        <p:spPr>
          <a:xfrm>
            <a:off x="640080" y="1060704"/>
            <a:ext cx="10911809" cy="274320"/>
          </a:xfrm>
          <a:prstGeom prst="rect">
            <a:avLst/>
          </a:prstGeom>
          <a:noFill/>
        </p:spPr>
        <p:txBody>
          <a:bodyPr wrap="square" lIns="0" tIns="0" rIns="0" bIns="0">
            <a:spAutoFit/>
          </a:bodyPr>
          <a:lstStyle/>
          <a:p>
            <a:pPr algn="l">
              <a:spcBef>
                <a:spcPts val="0"/>
              </a:spcBef>
              <a:spcAft>
                <a:spcPts val="0"/>
              </a:spcAft>
            </a:pPr>
            <a:r>
              <a:rPr sz="1200" b="1">
                <a:solidFill>
                  <a:srgbClr val="13EF93"/>
                </a:solidFill>
                <a:latin typeface="Calibri"/>
              </a:rPr>
              <a:t>DEEPGRAM DEVELOPER WORKSHOP</a:t>
            </a:r>
          </a:p>
        </p:txBody>
      </p:sp>
      <p:sp>
        <p:nvSpPr>
          <p:cNvPr id="3" name="TextBox 2">
            <a:extLst>
              <a:ext uri="{FF2B5EF4-FFF2-40B4-BE49-F238E27FC236}">
                <a16:creationId xmlns:a16="http://schemas.microsoft.com/office/drawing/2014/main" id="{E41535ED-7DD8-AA11-18D2-4046A2A85A36}"/>
              </a:ext>
            </a:extLst>
          </p:cNvPr>
          <p:cNvSpPr txBox="1"/>
          <p:nvPr/>
        </p:nvSpPr>
        <p:spPr>
          <a:xfrm>
            <a:off x="640080" y="1481328"/>
            <a:ext cx="7863840" cy="1604542"/>
          </a:xfrm>
          <a:prstGeom prst="rect">
            <a:avLst/>
          </a:prstGeom>
          <a:noFill/>
        </p:spPr>
        <p:txBody>
          <a:bodyPr wrap="square" lIns="0" tIns="0" rIns="0" bIns="0">
            <a:spAutoFit/>
          </a:bodyPr>
          <a:lstStyle/>
          <a:p>
            <a:pPr algn="l">
              <a:lnSpc>
                <a:spcPct val="102000"/>
              </a:lnSpc>
              <a:spcBef>
                <a:spcPts val="0"/>
              </a:spcBef>
              <a:spcAft>
                <a:spcPts val="0"/>
              </a:spcAft>
            </a:pPr>
            <a:r>
              <a:rPr sz="5200" b="1" dirty="0">
                <a:solidFill>
                  <a:srgbClr val="E9EFF6"/>
                </a:solidFill>
                <a:latin typeface="Calibri"/>
              </a:rPr>
              <a:t>Build a Real-Time</a:t>
            </a:r>
          </a:p>
          <a:p>
            <a:pPr algn="l">
              <a:lnSpc>
                <a:spcPct val="102000"/>
              </a:lnSpc>
              <a:spcBef>
                <a:spcPts val="0"/>
              </a:spcBef>
              <a:spcAft>
                <a:spcPts val="0"/>
              </a:spcAft>
            </a:pPr>
            <a:r>
              <a:rPr sz="5200" b="1" dirty="0">
                <a:solidFill>
                  <a:srgbClr val="13EF93"/>
                </a:solidFill>
                <a:latin typeface="Calibri"/>
              </a:rPr>
              <a:t>Voice Agent</a:t>
            </a:r>
            <a:r>
              <a:rPr lang="en-US" sz="5200" b="1" dirty="0">
                <a:solidFill>
                  <a:srgbClr val="13EF93"/>
                </a:solidFill>
                <a:latin typeface="Calibri"/>
              </a:rPr>
              <a:t> - AWS</a:t>
            </a:r>
            <a:endParaRPr sz="5200" b="1" dirty="0">
              <a:solidFill>
                <a:srgbClr val="13EF93"/>
              </a:solidFill>
              <a:latin typeface="Calibri"/>
            </a:endParaRPr>
          </a:p>
        </p:txBody>
      </p:sp>
      <p:sp>
        <p:nvSpPr>
          <p:cNvPr id="4" name="TextBox 3">
            <a:extLst>
              <a:ext uri="{FF2B5EF4-FFF2-40B4-BE49-F238E27FC236}">
                <a16:creationId xmlns:a16="http://schemas.microsoft.com/office/drawing/2014/main" id="{5B8C47C2-7091-8E78-238E-921EB115400F}"/>
              </a:ext>
            </a:extLst>
          </p:cNvPr>
          <p:cNvSpPr txBox="1"/>
          <p:nvPr/>
        </p:nvSpPr>
        <p:spPr>
          <a:xfrm>
            <a:off x="640080" y="3401568"/>
            <a:ext cx="8138160" cy="822960"/>
          </a:xfrm>
          <a:prstGeom prst="rect">
            <a:avLst/>
          </a:prstGeom>
          <a:noFill/>
        </p:spPr>
        <p:txBody>
          <a:bodyPr wrap="square" lIns="0" tIns="0" rIns="0" bIns="0">
            <a:spAutoFit/>
          </a:bodyPr>
          <a:lstStyle/>
          <a:p>
            <a:pPr algn="l">
              <a:spcBef>
                <a:spcPts val="0"/>
              </a:spcBef>
              <a:spcAft>
                <a:spcPts val="0"/>
              </a:spcAft>
            </a:pPr>
            <a:r>
              <a:rPr sz="1900" b="1">
                <a:solidFill>
                  <a:srgbClr val="E9EFF6"/>
                </a:solidFill>
                <a:latin typeface="Calibri"/>
              </a:rPr>
              <a:t>Python Edition</a:t>
            </a:r>
          </a:p>
          <a:p>
            <a:pPr algn="l">
              <a:spcBef>
                <a:spcPts val="600"/>
              </a:spcBef>
              <a:spcAft>
                <a:spcPts val="0"/>
              </a:spcAft>
            </a:pPr>
            <a:r>
              <a:rPr sz="1500" b="0">
                <a:solidFill>
                  <a:srgbClr val="93A4B7"/>
                </a:solidFill>
                <a:latin typeface="Calibri"/>
              </a:rPr>
              <a:t>Flux speech-to-text, an LLM, and Flux TTS on one WebSocket</a:t>
            </a:r>
          </a:p>
          <a:p>
            <a:pPr algn="l">
              <a:spcBef>
                <a:spcPts val="400"/>
              </a:spcBef>
              <a:spcAft>
                <a:spcPts val="0"/>
              </a:spcAft>
            </a:pPr>
            <a:r>
              <a:rPr sz="1300" b="0">
                <a:solidFill>
                  <a:srgbClr val="5D6E80"/>
                </a:solidFill>
                <a:latin typeface="Calibri"/>
              </a:rPr>
              <a:t>Roughly three hours   ·   hands-on   ·   on your own machine</a:t>
            </a:r>
          </a:p>
        </p:txBody>
      </p:sp>
      <p:sp>
        <p:nvSpPr>
          <p:cNvPr id="5" name="Rounded Rectangle 4">
            <a:extLst>
              <a:ext uri="{FF2B5EF4-FFF2-40B4-BE49-F238E27FC236}">
                <a16:creationId xmlns:a16="http://schemas.microsoft.com/office/drawing/2014/main" id="{720533A8-83DB-BCCB-4EB1-03A2D46B9193}"/>
              </a:ext>
            </a:extLst>
          </p:cNvPr>
          <p:cNvSpPr/>
          <p:nvPr/>
        </p:nvSpPr>
        <p:spPr>
          <a:xfrm>
            <a:off x="640080" y="4828032"/>
            <a:ext cx="5943600" cy="1014983"/>
          </a:xfrm>
          <a:prstGeom prst="roundRect">
            <a:avLst>
              <a:gd name="adj" fmla="val 3500"/>
            </a:avLst>
          </a:prstGeom>
          <a:solidFill>
            <a:srgbClr val="04070A"/>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34387379-7860-4232-EA7C-12450257B013}"/>
              </a:ext>
            </a:extLst>
          </p:cNvPr>
          <p:cNvSpPr txBox="1"/>
          <p:nvPr/>
        </p:nvSpPr>
        <p:spPr>
          <a:xfrm>
            <a:off x="822959" y="4992624"/>
            <a:ext cx="5577840" cy="649223"/>
          </a:xfrm>
          <a:prstGeom prst="rect">
            <a:avLst/>
          </a:prstGeom>
          <a:noFill/>
        </p:spPr>
        <p:txBody>
          <a:bodyPr wrap="square" lIns="0" tIns="0" rIns="0" bIns="0">
            <a:spAutoFit/>
          </a:bodyPr>
          <a:lstStyle/>
          <a:p>
            <a:pPr algn="l">
              <a:lnSpc>
                <a:spcPct val="118000"/>
              </a:lnSpc>
              <a:spcBef>
                <a:spcPts val="0"/>
              </a:spcBef>
              <a:spcAft>
                <a:spcPts val="0"/>
              </a:spcAft>
            </a:pPr>
            <a:r>
              <a:rPr sz="1200" b="0">
                <a:solidFill>
                  <a:srgbClr val="13EF93"/>
                </a:solidFill>
                <a:latin typeface="Courier New"/>
              </a:rPr>
              <a:t>uv sync</a:t>
            </a:r>
          </a:p>
          <a:p>
            <a:pPr algn="l">
              <a:lnSpc>
                <a:spcPct val="118000"/>
              </a:lnSpc>
              <a:spcBef>
                <a:spcPts val="0"/>
              </a:spcBef>
              <a:spcAft>
                <a:spcPts val="0"/>
              </a:spcAft>
            </a:pPr>
            <a:r>
              <a:rPr sz="1200" b="0">
                <a:solidFill>
                  <a:srgbClr val="13EF93"/>
                </a:solidFill>
                <a:latin typeface="Courier New"/>
              </a:rPr>
              <a:t>cp .env.example .env</a:t>
            </a:r>
          </a:p>
          <a:p>
            <a:pPr algn="l">
              <a:lnSpc>
                <a:spcPct val="118000"/>
              </a:lnSpc>
              <a:spcBef>
                <a:spcPts val="0"/>
              </a:spcBef>
              <a:spcAft>
                <a:spcPts val="0"/>
              </a:spcAft>
            </a:pPr>
            <a:r>
              <a:rPr sz="1200" b="0">
                <a:solidFill>
                  <a:srgbClr val="13EF93"/>
                </a:solidFill>
                <a:latin typeface="Courier New"/>
              </a:rPr>
              <a:t>uv run steps/01-setup/main.py</a:t>
            </a:r>
          </a:p>
        </p:txBody>
      </p:sp>
      <p:sp>
        <p:nvSpPr>
          <p:cNvPr id="7" name="TextBox 6">
            <a:extLst>
              <a:ext uri="{FF2B5EF4-FFF2-40B4-BE49-F238E27FC236}">
                <a16:creationId xmlns:a16="http://schemas.microsoft.com/office/drawing/2014/main" id="{7D82E6B1-5B8C-F767-7EE5-3C9034961996}"/>
              </a:ext>
            </a:extLst>
          </p:cNvPr>
          <p:cNvSpPr txBox="1"/>
          <p:nvPr/>
        </p:nvSpPr>
        <p:spPr>
          <a:xfrm>
            <a:off x="640080" y="5989320"/>
            <a:ext cx="5943600" cy="274320"/>
          </a:xfrm>
          <a:prstGeom prst="rect">
            <a:avLst/>
          </a:prstGeom>
          <a:noFill/>
        </p:spPr>
        <p:txBody>
          <a:bodyPr wrap="square" lIns="0" tIns="0" rIns="0" bIns="0">
            <a:spAutoFit/>
          </a:bodyPr>
          <a:lstStyle/>
          <a:p>
            <a:pPr algn="l">
              <a:spcBef>
                <a:spcPts val="0"/>
              </a:spcBef>
              <a:spcAft>
                <a:spcPts val="0"/>
              </a:spcAft>
            </a:pPr>
            <a:r>
              <a:rPr sz="1200" b="0">
                <a:solidFill>
                  <a:srgbClr val="5D6E80"/>
                </a:solidFill>
                <a:latin typeface="Calibri"/>
              </a:rPr>
              <a:t>Start here while people settle in.</a:t>
            </a:r>
          </a:p>
        </p:txBody>
      </p:sp>
      <p:pic>
        <p:nvPicPr>
          <p:cNvPr id="9" name="Picture 8">
            <a:extLst>
              <a:ext uri="{FF2B5EF4-FFF2-40B4-BE49-F238E27FC236}">
                <a16:creationId xmlns:a16="http://schemas.microsoft.com/office/drawing/2014/main" id="{CADF4778-372D-2DFC-ED43-8AC0482E1D3A}"/>
              </a:ext>
            </a:extLst>
          </p:cNvPr>
          <p:cNvPicPr>
            <a:picLocks noChangeAspect="1"/>
          </p:cNvPicPr>
          <p:nvPr/>
        </p:nvPicPr>
        <p:blipFill>
          <a:blip r:embed="rId3"/>
          <a:stretch>
            <a:fillRect/>
          </a:stretch>
        </p:blipFill>
        <p:spPr>
          <a:xfrm>
            <a:off x="6900530" y="0"/>
            <a:ext cx="5291470" cy="5868105"/>
          </a:xfrm>
          <a:prstGeom prst="rect">
            <a:avLst/>
          </a:prstGeom>
        </p:spPr>
      </p:pic>
    </p:spTree>
    <p:extLst>
      <p:ext uri="{BB962C8B-B14F-4D97-AF65-F5344CB8AC3E}">
        <p14:creationId xmlns:p14="http://schemas.microsoft.com/office/powerpoint/2010/main" val="23742849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70B10"/>
        </a:solidFill>
        <a:effectLst/>
      </p:bgPr>
    </p:bg>
    <p:spTree>
      <p:nvGrpSpPr>
        <p:cNvPr id="1" name=""/>
        <p:cNvGrpSpPr/>
        <p:nvPr/>
      </p:nvGrpSpPr>
      <p:grpSpPr>
        <a:xfrm>
          <a:off x="0" y="0"/>
          <a:ext cx="0" cy="0"/>
          <a:chOff x="0" y="0"/>
          <a:chExt cx="0" cy="0"/>
        </a:xfrm>
      </p:grpSpPr>
      <p:sp>
        <p:nvSpPr>
          <p:cNvPr id="2" name="TextBox 1"/>
          <p:cNvSpPr txBox="1"/>
          <p:nvPr/>
        </p:nvSpPr>
        <p:spPr>
          <a:xfrm>
            <a:off x="640080" y="475488"/>
            <a:ext cx="10911809" cy="548640"/>
          </a:xfrm>
          <a:prstGeom prst="rect">
            <a:avLst/>
          </a:prstGeom>
          <a:noFill/>
        </p:spPr>
        <p:txBody>
          <a:bodyPr wrap="square" lIns="0" tIns="0" rIns="0" bIns="0">
            <a:spAutoFit/>
          </a:bodyPr>
          <a:lstStyle/>
          <a:p>
            <a:pPr algn="l">
              <a:spcBef>
                <a:spcPts val="0"/>
              </a:spcBef>
              <a:spcAft>
                <a:spcPts val="0"/>
              </a:spcAft>
            </a:pPr>
            <a:r>
              <a:rPr sz="3100" b="1">
                <a:solidFill>
                  <a:srgbClr val="E9EFF6"/>
                </a:solidFill>
                <a:latin typeface="Calibri"/>
              </a:rPr>
              <a:t>What you'll build</a:t>
            </a:r>
          </a:p>
        </p:txBody>
      </p:sp>
      <p:sp>
        <p:nvSpPr>
          <p:cNvPr id="3" name="TextBox 2"/>
          <p:cNvSpPr txBox="1"/>
          <p:nvPr/>
        </p:nvSpPr>
        <p:spPr>
          <a:xfrm>
            <a:off x="640080" y="1188720"/>
            <a:ext cx="9692640" cy="548640"/>
          </a:xfrm>
          <a:prstGeom prst="rect">
            <a:avLst/>
          </a:prstGeom>
          <a:noFill/>
        </p:spPr>
        <p:txBody>
          <a:bodyPr wrap="square" lIns="0" tIns="0" rIns="0" bIns="0">
            <a:spAutoFit/>
          </a:bodyPr>
          <a:lstStyle/>
          <a:p>
            <a:pPr algn="l">
              <a:lnSpc>
                <a:spcPct val="128000"/>
              </a:lnSpc>
              <a:spcBef>
                <a:spcPts val="0"/>
              </a:spcBef>
              <a:spcAft>
                <a:spcPts val="0"/>
              </a:spcAft>
            </a:pPr>
            <a:r>
              <a:rPr sz="1450" b="0">
                <a:solidFill>
                  <a:srgbClr val="93A4B7"/>
                </a:solidFill>
                <a:latin typeface="Calibri"/>
              </a:rPr>
              <a:t>A voice agent you can hold a conversation with. It listens on Flux, thinks with an LLM, answers in a natural voice, stops talking the moment you interrupt it, and calls your Python when it needs something it can't know.</a:t>
            </a:r>
          </a:p>
        </p:txBody>
      </p:sp>
      <p:sp>
        <p:nvSpPr>
          <p:cNvPr id="4" name="Rounded Rectangle 3"/>
          <p:cNvSpPr/>
          <p:nvPr/>
        </p:nvSpPr>
        <p:spPr>
          <a:xfrm>
            <a:off x="640080" y="2560320"/>
            <a:ext cx="2577076" cy="2011680"/>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77824" y="2834640"/>
            <a:ext cx="2101588" cy="822960"/>
          </a:xfrm>
          <a:prstGeom prst="rect">
            <a:avLst/>
          </a:prstGeom>
          <a:noFill/>
        </p:spPr>
        <p:txBody>
          <a:bodyPr wrap="square" lIns="0" tIns="0" rIns="0" bIns="0">
            <a:spAutoFit/>
          </a:bodyPr>
          <a:lstStyle/>
          <a:p>
            <a:pPr algn="l">
              <a:spcBef>
                <a:spcPts val="0"/>
              </a:spcBef>
              <a:spcAft>
                <a:spcPts val="0"/>
              </a:spcAft>
            </a:pPr>
            <a:r>
              <a:rPr sz="4600" b="1">
                <a:solidFill>
                  <a:srgbClr val="13EF93"/>
                </a:solidFill>
                <a:latin typeface="Calibri"/>
              </a:rPr>
              <a:t>~350</a:t>
            </a:r>
          </a:p>
        </p:txBody>
      </p:sp>
      <p:sp>
        <p:nvSpPr>
          <p:cNvPr id="6" name="TextBox 5"/>
          <p:cNvSpPr txBox="1"/>
          <p:nvPr/>
        </p:nvSpPr>
        <p:spPr>
          <a:xfrm>
            <a:off x="877824" y="3694176"/>
            <a:ext cx="2101588" cy="731520"/>
          </a:xfrm>
          <a:prstGeom prst="rect">
            <a:avLst/>
          </a:prstGeom>
          <a:noFill/>
        </p:spPr>
        <p:txBody>
          <a:bodyPr wrap="square" lIns="0" tIns="0" rIns="0" bIns="0">
            <a:spAutoFit/>
          </a:bodyPr>
          <a:lstStyle/>
          <a:p>
            <a:pPr algn="l">
              <a:spcBef>
                <a:spcPts val="0"/>
              </a:spcBef>
              <a:spcAft>
                <a:spcPts val="0"/>
              </a:spcAft>
            </a:pPr>
            <a:r>
              <a:rPr sz="1450" b="1">
                <a:solidFill>
                  <a:srgbClr val="E9EFF6"/>
                </a:solidFill>
                <a:latin typeface="Calibri"/>
              </a:rPr>
              <a:t>lines of Python</a:t>
            </a:r>
          </a:p>
          <a:p>
            <a:pPr algn="l">
              <a:lnSpc>
                <a:spcPct val="125000"/>
              </a:lnSpc>
              <a:spcBef>
                <a:spcPts val="400"/>
              </a:spcBef>
              <a:spcAft>
                <a:spcPts val="0"/>
              </a:spcAft>
            </a:pPr>
            <a:r>
              <a:rPr sz="1200" b="0">
                <a:solidFill>
                  <a:srgbClr val="93A4B7"/>
                </a:solidFill>
                <a:latin typeface="Calibri"/>
              </a:rPr>
              <a:t>when you're done</a:t>
            </a:r>
          </a:p>
        </p:txBody>
      </p:sp>
      <p:sp>
        <p:nvSpPr>
          <p:cNvPr id="7" name="Rounded Rectangle 6"/>
          <p:cNvSpPr/>
          <p:nvPr/>
        </p:nvSpPr>
        <p:spPr>
          <a:xfrm>
            <a:off x="3418324" y="2560320"/>
            <a:ext cx="2577076" cy="2011680"/>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6068" y="2834640"/>
            <a:ext cx="2101588" cy="822960"/>
          </a:xfrm>
          <a:prstGeom prst="rect">
            <a:avLst/>
          </a:prstGeom>
          <a:noFill/>
        </p:spPr>
        <p:txBody>
          <a:bodyPr wrap="square" lIns="0" tIns="0" rIns="0" bIns="0">
            <a:spAutoFit/>
          </a:bodyPr>
          <a:lstStyle/>
          <a:p>
            <a:pPr algn="l">
              <a:spcBef>
                <a:spcPts val="0"/>
              </a:spcBef>
              <a:spcAft>
                <a:spcPts val="0"/>
              </a:spcAft>
            </a:pPr>
            <a:r>
              <a:rPr sz="4600" b="1">
                <a:solidFill>
                  <a:srgbClr val="13EF93"/>
                </a:solidFill>
                <a:latin typeface="Calibri"/>
              </a:rPr>
              <a:t>8</a:t>
            </a:r>
          </a:p>
        </p:txBody>
      </p:sp>
      <p:sp>
        <p:nvSpPr>
          <p:cNvPr id="9" name="TextBox 8"/>
          <p:cNvSpPr txBox="1"/>
          <p:nvPr/>
        </p:nvSpPr>
        <p:spPr>
          <a:xfrm>
            <a:off x="3656068" y="3694176"/>
            <a:ext cx="2101588" cy="731520"/>
          </a:xfrm>
          <a:prstGeom prst="rect">
            <a:avLst/>
          </a:prstGeom>
          <a:noFill/>
        </p:spPr>
        <p:txBody>
          <a:bodyPr wrap="square" lIns="0" tIns="0" rIns="0" bIns="0">
            <a:spAutoFit/>
          </a:bodyPr>
          <a:lstStyle/>
          <a:p>
            <a:pPr algn="l">
              <a:spcBef>
                <a:spcPts val="0"/>
              </a:spcBef>
              <a:spcAft>
                <a:spcPts val="0"/>
              </a:spcAft>
            </a:pPr>
            <a:r>
              <a:rPr sz="1450" b="1">
                <a:solidFill>
                  <a:srgbClr val="E9EFF6"/>
                </a:solidFill>
                <a:latin typeface="Calibri"/>
              </a:rPr>
              <a:t>steps</a:t>
            </a:r>
          </a:p>
          <a:p>
            <a:pPr algn="l">
              <a:lnSpc>
                <a:spcPct val="125000"/>
              </a:lnSpc>
              <a:spcBef>
                <a:spcPts val="400"/>
              </a:spcBef>
              <a:spcAft>
                <a:spcPts val="0"/>
              </a:spcAft>
            </a:pPr>
            <a:r>
              <a:rPr sz="1200" b="0">
                <a:solidFill>
                  <a:srgbClr val="93A4B7"/>
                </a:solidFill>
                <a:latin typeface="Calibri"/>
              </a:rPr>
              <a:t>every one a complete running program</a:t>
            </a:r>
          </a:p>
        </p:txBody>
      </p:sp>
      <p:sp>
        <p:nvSpPr>
          <p:cNvPr id="10" name="Rounded Rectangle 9"/>
          <p:cNvSpPr/>
          <p:nvPr/>
        </p:nvSpPr>
        <p:spPr>
          <a:xfrm>
            <a:off x="6196568" y="2560320"/>
            <a:ext cx="2577076" cy="2011680"/>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34312" y="2834640"/>
            <a:ext cx="2101588" cy="822960"/>
          </a:xfrm>
          <a:prstGeom prst="rect">
            <a:avLst/>
          </a:prstGeom>
          <a:noFill/>
        </p:spPr>
        <p:txBody>
          <a:bodyPr wrap="square" lIns="0" tIns="0" rIns="0" bIns="0">
            <a:spAutoFit/>
          </a:bodyPr>
          <a:lstStyle/>
          <a:p>
            <a:pPr algn="l">
              <a:spcBef>
                <a:spcPts val="0"/>
              </a:spcBef>
              <a:spcAft>
                <a:spcPts val="0"/>
              </a:spcAft>
            </a:pPr>
            <a:r>
              <a:rPr sz="4600" b="1">
                <a:solidFill>
                  <a:srgbClr val="13EF93"/>
                </a:solidFill>
                <a:latin typeface="Calibri"/>
              </a:rPr>
              <a:t>1</a:t>
            </a:r>
          </a:p>
        </p:txBody>
      </p:sp>
      <p:sp>
        <p:nvSpPr>
          <p:cNvPr id="12" name="TextBox 11"/>
          <p:cNvSpPr txBox="1"/>
          <p:nvPr/>
        </p:nvSpPr>
        <p:spPr>
          <a:xfrm>
            <a:off x="6434312" y="3694176"/>
            <a:ext cx="2101588" cy="731520"/>
          </a:xfrm>
          <a:prstGeom prst="rect">
            <a:avLst/>
          </a:prstGeom>
          <a:noFill/>
        </p:spPr>
        <p:txBody>
          <a:bodyPr wrap="square" lIns="0" tIns="0" rIns="0" bIns="0">
            <a:spAutoFit/>
          </a:bodyPr>
          <a:lstStyle/>
          <a:p>
            <a:pPr algn="l">
              <a:spcBef>
                <a:spcPts val="0"/>
              </a:spcBef>
              <a:spcAft>
                <a:spcPts val="0"/>
              </a:spcAft>
            </a:pPr>
            <a:r>
              <a:rPr sz="1450" b="1">
                <a:solidFill>
                  <a:srgbClr val="E9EFF6"/>
                </a:solidFill>
                <a:latin typeface="Calibri"/>
              </a:rPr>
              <a:t>API key</a:t>
            </a:r>
          </a:p>
          <a:p>
            <a:pPr algn="l">
              <a:lnSpc>
                <a:spcPct val="125000"/>
              </a:lnSpc>
              <a:spcBef>
                <a:spcPts val="400"/>
              </a:spcBef>
              <a:spcAft>
                <a:spcPts val="0"/>
              </a:spcAft>
            </a:pPr>
            <a:r>
              <a:rPr sz="1200" b="0">
                <a:solidFill>
                  <a:srgbClr val="93A4B7"/>
                </a:solidFill>
                <a:latin typeface="Calibri"/>
              </a:rPr>
              <a:t>covers all three models</a:t>
            </a:r>
          </a:p>
        </p:txBody>
      </p:sp>
      <p:sp>
        <p:nvSpPr>
          <p:cNvPr id="13" name="Rounded Rectangle 12"/>
          <p:cNvSpPr/>
          <p:nvPr/>
        </p:nvSpPr>
        <p:spPr>
          <a:xfrm>
            <a:off x="8974813" y="2560320"/>
            <a:ext cx="2577076" cy="2011680"/>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212557" y="2834640"/>
            <a:ext cx="2101588" cy="822960"/>
          </a:xfrm>
          <a:prstGeom prst="rect">
            <a:avLst/>
          </a:prstGeom>
          <a:noFill/>
        </p:spPr>
        <p:txBody>
          <a:bodyPr wrap="square" lIns="0" tIns="0" rIns="0" bIns="0">
            <a:spAutoFit/>
          </a:bodyPr>
          <a:lstStyle/>
          <a:p>
            <a:pPr algn="l">
              <a:spcBef>
                <a:spcPts val="0"/>
              </a:spcBef>
              <a:spcAft>
                <a:spcPts val="0"/>
              </a:spcAft>
            </a:pPr>
            <a:r>
              <a:rPr sz="4600" b="1">
                <a:solidFill>
                  <a:srgbClr val="13EF93"/>
                </a:solidFill>
                <a:latin typeface="Calibri"/>
              </a:rPr>
              <a:t>&lt;$1</a:t>
            </a:r>
          </a:p>
        </p:txBody>
      </p:sp>
      <p:sp>
        <p:nvSpPr>
          <p:cNvPr id="15" name="TextBox 14"/>
          <p:cNvSpPr txBox="1"/>
          <p:nvPr/>
        </p:nvSpPr>
        <p:spPr>
          <a:xfrm>
            <a:off x="9212557" y="3694176"/>
            <a:ext cx="2101588" cy="731520"/>
          </a:xfrm>
          <a:prstGeom prst="rect">
            <a:avLst/>
          </a:prstGeom>
          <a:noFill/>
        </p:spPr>
        <p:txBody>
          <a:bodyPr wrap="square" lIns="0" tIns="0" rIns="0" bIns="0">
            <a:spAutoFit/>
          </a:bodyPr>
          <a:lstStyle/>
          <a:p>
            <a:pPr algn="l">
              <a:spcBef>
                <a:spcPts val="0"/>
              </a:spcBef>
              <a:spcAft>
                <a:spcPts val="0"/>
              </a:spcAft>
            </a:pPr>
            <a:r>
              <a:rPr sz="1450" b="1">
                <a:solidFill>
                  <a:srgbClr val="E9EFF6"/>
                </a:solidFill>
                <a:latin typeface="Calibri"/>
              </a:rPr>
              <a:t>of credit</a:t>
            </a:r>
          </a:p>
          <a:p>
            <a:pPr algn="l">
              <a:lnSpc>
                <a:spcPct val="125000"/>
              </a:lnSpc>
              <a:spcBef>
                <a:spcPts val="400"/>
              </a:spcBef>
              <a:spcAft>
                <a:spcPts val="0"/>
              </a:spcAft>
            </a:pPr>
            <a:r>
              <a:rPr sz="1200" b="0">
                <a:solidFill>
                  <a:srgbClr val="93A4B7"/>
                </a:solidFill>
                <a:latin typeface="Calibri"/>
              </a:rPr>
              <a:t>spent per attendee</a:t>
            </a:r>
          </a:p>
        </p:txBody>
      </p:sp>
      <p:sp>
        <p:nvSpPr>
          <p:cNvPr id="16" name="Rounded Rectangle 15"/>
          <p:cNvSpPr/>
          <p:nvPr/>
        </p:nvSpPr>
        <p:spPr>
          <a:xfrm>
            <a:off x="640080" y="4864608"/>
            <a:ext cx="10911809" cy="841248"/>
          </a:xfrm>
          <a:prstGeom prst="roundRect">
            <a:avLst>
              <a:gd name="adj" fmla="val 3500"/>
            </a:avLst>
          </a:prstGeom>
          <a:solidFill>
            <a:srgbClr val="081F18"/>
          </a:solidFill>
          <a:ln w="12700">
            <a:solidFill>
              <a:srgbClr val="0D6B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50976" y="5065776"/>
            <a:ext cx="10290017" cy="457200"/>
          </a:xfrm>
          <a:prstGeom prst="rect">
            <a:avLst/>
          </a:prstGeom>
          <a:noFill/>
        </p:spPr>
        <p:txBody>
          <a:bodyPr wrap="square" lIns="0" tIns="0" rIns="0" bIns="0">
            <a:spAutoFit/>
          </a:bodyPr>
          <a:lstStyle/>
          <a:p>
            <a:pPr algn="l">
              <a:spcBef>
                <a:spcPts val="0"/>
              </a:spcBef>
              <a:spcAft>
                <a:spcPts val="0"/>
              </a:spcAft>
            </a:pPr>
            <a:r>
              <a:rPr sz="1500" b="1">
                <a:solidFill>
                  <a:srgbClr val="13EF93"/>
                </a:solidFill>
                <a:latin typeface="Calibri"/>
              </a:rPr>
              <a:t>The agent is entirely Python.</a:t>
            </a:r>
          </a:p>
          <a:p>
            <a:pPr algn="l">
              <a:spcBef>
                <a:spcPts val="400"/>
              </a:spcBef>
              <a:spcAft>
                <a:spcPts val="0"/>
              </a:spcAft>
            </a:pPr>
            <a:r>
              <a:rPr sz="1350" b="0">
                <a:solidFill>
                  <a:srgbClr val="93A4B7"/>
                </a:solidFill>
                <a:latin typeface="Calibri"/>
              </a:rPr>
              <a:t>The browser is only the microphone and the speaker — and swapping it for a Twilio media stream never touches a line of agent code.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70B10"/>
        </a:solidFill>
        <a:effectLst/>
      </p:bgPr>
    </p:bg>
    <p:spTree>
      <p:nvGrpSpPr>
        <p:cNvPr id="1" name=""/>
        <p:cNvGrpSpPr/>
        <p:nvPr/>
      </p:nvGrpSpPr>
      <p:grpSpPr>
        <a:xfrm>
          <a:off x="0" y="0"/>
          <a:ext cx="0" cy="0"/>
          <a:chOff x="0" y="0"/>
          <a:chExt cx="0" cy="0"/>
        </a:xfrm>
      </p:grpSpPr>
      <p:sp>
        <p:nvSpPr>
          <p:cNvPr id="2" name="TextBox 1"/>
          <p:cNvSpPr txBox="1"/>
          <p:nvPr/>
        </p:nvSpPr>
        <p:spPr>
          <a:xfrm>
            <a:off x="640080" y="475488"/>
            <a:ext cx="10911809" cy="548640"/>
          </a:xfrm>
          <a:prstGeom prst="rect">
            <a:avLst/>
          </a:prstGeom>
          <a:noFill/>
        </p:spPr>
        <p:txBody>
          <a:bodyPr wrap="square" lIns="0" tIns="0" rIns="0" bIns="0">
            <a:spAutoFit/>
          </a:bodyPr>
          <a:lstStyle/>
          <a:p>
            <a:pPr algn="l">
              <a:spcBef>
                <a:spcPts val="0"/>
              </a:spcBef>
              <a:spcAft>
                <a:spcPts val="0"/>
              </a:spcAft>
            </a:pPr>
            <a:r>
              <a:rPr sz="3100" b="1">
                <a:solidFill>
                  <a:srgbClr val="E9EFF6"/>
                </a:solidFill>
                <a:latin typeface="Calibri"/>
              </a:rPr>
              <a:t>What you need on your machine</a:t>
            </a:r>
          </a:p>
        </p:txBody>
      </p:sp>
      <p:sp>
        <p:nvSpPr>
          <p:cNvPr id="3" name="TextBox 2"/>
          <p:cNvSpPr txBox="1"/>
          <p:nvPr/>
        </p:nvSpPr>
        <p:spPr>
          <a:xfrm>
            <a:off x="640080" y="1188720"/>
            <a:ext cx="9692640" cy="548640"/>
          </a:xfrm>
          <a:prstGeom prst="rect">
            <a:avLst/>
          </a:prstGeom>
          <a:noFill/>
        </p:spPr>
        <p:txBody>
          <a:bodyPr wrap="square" lIns="0" tIns="0" rIns="0" bIns="0">
            <a:spAutoFit/>
          </a:bodyPr>
          <a:lstStyle/>
          <a:p>
            <a:pPr algn="l">
              <a:lnSpc>
                <a:spcPct val="128000"/>
              </a:lnSpc>
              <a:spcBef>
                <a:spcPts val="0"/>
              </a:spcBef>
              <a:spcAft>
                <a:spcPts val="0"/>
              </a:spcAft>
            </a:pPr>
            <a:r>
              <a:rPr sz="1450" b="0">
                <a:solidFill>
                  <a:srgbClr val="93A4B7"/>
                </a:solidFill>
                <a:latin typeface="Calibri"/>
              </a:rPr>
              <a:t>One dependency to install, one key to paste, and headphones. That's the whole bar.</a:t>
            </a:r>
          </a:p>
        </p:txBody>
      </p:sp>
      <p:sp>
        <p:nvSpPr>
          <p:cNvPr id="4" name="Rounded Rectangle 3"/>
          <p:cNvSpPr/>
          <p:nvPr/>
        </p:nvSpPr>
        <p:spPr>
          <a:xfrm>
            <a:off x="640080" y="1920240"/>
            <a:ext cx="384048" cy="384048"/>
          </a:xfrm>
          <a:prstGeom prst="roundRect">
            <a:avLst>
              <a:gd name="adj" fmla="val 50000"/>
            </a:avLst>
          </a:prstGeom>
          <a:noFill/>
          <a:ln w="12700">
            <a:solidFill>
              <a:srgbClr val="13EF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984248"/>
            <a:ext cx="384048" cy="274320"/>
          </a:xfrm>
          <a:prstGeom prst="rect">
            <a:avLst/>
          </a:prstGeom>
          <a:noFill/>
        </p:spPr>
        <p:txBody>
          <a:bodyPr wrap="square" lIns="0" tIns="0" rIns="0" bIns="0">
            <a:spAutoFit/>
          </a:bodyPr>
          <a:lstStyle/>
          <a:p>
            <a:pPr algn="ctr">
              <a:spcBef>
                <a:spcPts val="0"/>
              </a:spcBef>
              <a:spcAft>
                <a:spcPts val="0"/>
              </a:spcAft>
            </a:pPr>
            <a:r>
              <a:rPr sz="1250" b="1">
                <a:solidFill>
                  <a:srgbClr val="13EF93"/>
                </a:solidFill>
                <a:latin typeface="Calibri"/>
              </a:rPr>
              <a:t>1</a:t>
            </a:r>
          </a:p>
        </p:txBody>
      </p:sp>
      <p:sp>
        <p:nvSpPr>
          <p:cNvPr id="6" name="TextBox 5"/>
          <p:cNvSpPr txBox="1"/>
          <p:nvPr/>
        </p:nvSpPr>
        <p:spPr>
          <a:xfrm>
            <a:off x="1280160" y="1883664"/>
            <a:ext cx="10271729" cy="749808"/>
          </a:xfrm>
          <a:prstGeom prst="rect">
            <a:avLst/>
          </a:prstGeom>
          <a:noFill/>
        </p:spPr>
        <p:txBody>
          <a:bodyPr wrap="square" lIns="0" tIns="0" rIns="0" bIns="0">
            <a:spAutoFit/>
          </a:bodyPr>
          <a:lstStyle/>
          <a:p>
            <a:pPr algn="l">
              <a:spcBef>
                <a:spcPts val="0"/>
              </a:spcBef>
              <a:spcAft>
                <a:spcPts val="0"/>
              </a:spcAft>
            </a:pPr>
            <a:r>
              <a:rPr sz="1400" b="1">
                <a:solidFill>
                  <a:srgbClr val="E9EFF6"/>
                </a:solidFill>
                <a:latin typeface="Calibri"/>
              </a:rPr>
              <a:t>uv</a:t>
            </a:r>
          </a:p>
          <a:p>
            <a:pPr algn="l">
              <a:lnSpc>
                <a:spcPct val="128000"/>
              </a:lnSpc>
              <a:spcBef>
                <a:spcPts val="400"/>
              </a:spcBef>
              <a:spcAft>
                <a:spcPts val="0"/>
              </a:spcAft>
            </a:pPr>
            <a:r>
              <a:rPr sz="1250" b="0">
                <a:solidFill>
                  <a:srgbClr val="93A4B7"/>
                </a:solidFill>
                <a:latin typeface="Calibri"/>
              </a:rPr>
              <a:t>The only thing to install. It fetches Python 3.13 and every dependency itself, so you don't need Python already. One virtual environment serves every step — you run uv sync once.</a:t>
            </a:r>
          </a:p>
        </p:txBody>
      </p:sp>
      <p:sp>
        <p:nvSpPr>
          <p:cNvPr id="7" name="Rounded Rectangle 6"/>
          <p:cNvSpPr/>
          <p:nvPr/>
        </p:nvSpPr>
        <p:spPr>
          <a:xfrm>
            <a:off x="640080" y="2779776"/>
            <a:ext cx="384048" cy="384048"/>
          </a:xfrm>
          <a:prstGeom prst="roundRect">
            <a:avLst>
              <a:gd name="adj" fmla="val 50000"/>
            </a:avLst>
          </a:prstGeom>
          <a:noFill/>
          <a:ln w="12700">
            <a:solidFill>
              <a:srgbClr val="13EF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2843784"/>
            <a:ext cx="384048" cy="274320"/>
          </a:xfrm>
          <a:prstGeom prst="rect">
            <a:avLst/>
          </a:prstGeom>
          <a:noFill/>
        </p:spPr>
        <p:txBody>
          <a:bodyPr wrap="square" lIns="0" tIns="0" rIns="0" bIns="0">
            <a:spAutoFit/>
          </a:bodyPr>
          <a:lstStyle/>
          <a:p>
            <a:pPr algn="ctr">
              <a:spcBef>
                <a:spcPts val="0"/>
              </a:spcBef>
              <a:spcAft>
                <a:spcPts val="0"/>
              </a:spcAft>
            </a:pPr>
            <a:r>
              <a:rPr sz="1250" b="1">
                <a:solidFill>
                  <a:srgbClr val="13EF93"/>
                </a:solidFill>
                <a:latin typeface="Calibri"/>
              </a:rPr>
              <a:t>2</a:t>
            </a:r>
          </a:p>
        </p:txBody>
      </p:sp>
      <p:sp>
        <p:nvSpPr>
          <p:cNvPr id="9" name="TextBox 8"/>
          <p:cNvSpPr txBox="1"/>
          <p:nvPr/>
        </p:nvSpPr>
        <p:spPr>
          <a:xfrm>
            <a:off x="1280160" y="2743200"/>
            <a:ext cx="10271729" cy="749808"/>
          </a:xfrm>
          <a:prstGeom prst="rect">
            <a:avLst/>
          </a:prstGeom>
          <a:noFill/>
        </p:spPr>
        <p:txBody>
          <a:bodyPr wrap="square" lIns="0" tIns="0" rIns="0" bIns="0">
            <a:spAutoFit/>
          </a:bodyPr>
          <a:lstStyle/>
          <a:p>
            <a:pPr algn="l">
              <a:spcBef>
                <a:spcPts val="0"/>
              </a:spcBef>
              <a:spcAft>
                <a:spcPts val="0"/>
              </a:spcAft>
            </a:pPr>
            <a:r>
              <a:rPr sz="1400" b="1">
                <a:solidFill>
                  <a:srgbClr val="E9EFF6"/>
                </a:solidFill>
                <a:latin typeface="Calibri"/>
              </a:rPr>
              <a:t>A free Deepgram API key</a:t>
            </a:r>
          </a:p>
          <a:p>
            <a:pPr algn="l">
              <a:lnSpc>
                <a:spcPct val="128000"/>
              </a:lnSpc>
              <a:spcBef>
                <a:spcPts val="400"/>
              </a:spcBef>
              <a:spcAft>
                <a:spcPts val="0"/>
              </a:spcAft>
            </a:pPr>
            <a:r>
              <a:rPr sz="1250" b="0">
                <a:solidFill>
                  <a:srgbClr val="93A4B7"/>
                </a:solidFill>
                <a:latin typeface="Calibri"/>
              </a:rPr>
              <a:t>console.deepgram.com/signup — signup takes a minute, and new accounts get $200 in credit.</a:t>
            </a:r>
          </a:p>
        </p:txBody>
      </p:sp>
      <p:sp>
        <p:nvSpPr>
          <p:cNvPr id="10" name="Rounded Rectangle 9"/>
          <p:cNvSpPr/>
          <p:nvPr/>
        </p:nvSpPr>
        <p:spPr>
          <a:xfrm>
            <a:off x="640080" y="3639311"/>
            <a:ext cx="384048" cy="384048"/>
          </a:xfrm>
          <a:prstGeom prst="roundRect">
            <a:avLst>
              <a:gd name="adj" fmla="val 50000"/>
            </a:avLst>
          </a:prstGeom>
          <a:noFill/>
          <a:ln w="12700">
            <a:solidFill>
              <a:srgbClr val="13EF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3703320"/>
            <a:ext cx="384048" cy="274320"/>
          </a:xfrm>
          <a:prstGeom prst="rect">
            <a:avLst/>
          </a:prstGeom>
          <a:noFill/>
        </p:spPr>
        <p:txBody>
          <a:bodyPr wrap="square" lIns="0" tIns="0" rIns="0" bIns="0">
            <a:spAutoFit/>
          </a:bodyPr>
          <a:lstStyle/>
          <a:p>
            <a:pPr algn="ctr">
              <a:spcBef>
                <a:spcPts val="0"/>
              </a:spcBef>
              <a:spcAft>
                <a:spcPts val="0"/>
              </a:spcAft>
            </a:pPr>
            <a:r>
              <a:rPr sz="1250" b="1">
                <a:solidFill>
                  <a:srgbClr val="13EF93"/>
                </a:solidFill>
                <a:latin typeface="Calibri"/>
              </a:rPr>
              <a:t>3</a:t>
            </a:r>
          </a:p>
        </p:txBody>
      </p:sp>
      <p:sp>
        <p:nvSpPr>
          <p:cNvPr id="12" name="TextBox 11"/>
          <p:cNvSpPr txBox="1"/>
          <p:nvPr/>
        </p:nvSpPr>
        <p:spPr>
          <a:xfrm>
            <a:off x="1280160" y="3602736"/>
            <a:ext cx="10271729" cy="749808"/>
          </a:xfrm>
          <a:prstGeom prst="rect">
            <a:avLst/>
          </a:prstGeom>
          <a:noFill/>
        </p:spPr>
        <p:txBody>
          <a:bodyPr wrap="square" lIns="0" tIns="0" rIns="0" bIns="0">
            <a:spAutoFit/>
          </a:bodyPr>
          <a:lstStyle/>
          <a:p>
            <a:pPr algn="l">
              <a:spcBef>
                <a:spcPts val="0"/>
              </a:spcBef>
              <a:spcAft>
                <a:spcPts val="0"/>
              </a:spcAft>
            </a:pPr>
            <a:r>
              <a:rPr sz="1400" b="1">
                <a:solidFill>
                  <a:srgbClr val="E9EFF6"/>
                </a:solidFill>
                <a:latin typeface="Calibri"/>
              </a:rPr>
              <a:t>A current browser</a:t>
            </a:r>
          </a:p>
          <a:p>
            <a:pPr algn="l">
              <a:lnSpc>
                <a:spcPct val="128000"/>
              </a:lnSpc>
              <a:spcBef>
                <a:spcPts val="400"/>
              </a:spcBef>
              <a:spcAft>
                <a:spcPts val="0"/>
              </a:spcAft>
            </a:pPr>
            <a:r>
              <a:rPr sz="1250" b="0">
                <a:solidFill>
                  <a:srgbClr val="93A4B7"/>
                </a:solidFill>
                <a:latin typeface="Calibri"/>
              </a:rPr>
              <a:t>Chrome, Firefox, or Safari. The browser is the microphone and the speaker, so it needs getUserMedia and AudioWorklet.</a:t>
            </a:r>
          </a:p>
        </p:txBody>
      </p:sp>
      <p:sp>
        <p:nvSpPr>
          <p:cNvPr id="13" name="Rounded Rectangle 12"/>
          <p:cNvSpPr/>
          <p:nvPr/>
        </p:nvSpPr>
        <p:spPr>
          <a:xfrm>
            <a:off x="640080" y="4498848"/>
            <a:ext cx="384048" cy="384048"/>
          </a:xfrm>
          <a:prstGeom prst="roundRect">
            <a:avLst>
              <a:gd name="adj" fmla="val 50000"/>
            </a:avLst>
          </a:prstGeom>
          <a:noFill/>
          <a:ln w="12700">
            <a:solidFill>
              <a:srgbClr val="13EF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4562856"/>
            <a:ext cx="384048" cy="274320"/>
          </a:xfrm>
          <a:prstGeom prst="rect">
            <a:avLst/>
          </a:prstGeom>
          <a:noFill/>
        </p:spPr>
        <p:txBody>
          <a:bodyPr wrap="square" lIns="0" tIns="0" rIns="0" bIns="0">
            <a:spAutoFit/>
          </a:bodyPr>
          <a:lstStyle/>
          <a:p>
            <a:pPr algn="ctr">
              <a:spcBef>
                <a:spcPts val="0"/>
              </a:spcBef>
              <a:spcAft>
                <a:spcPts val="0"/>
              </a:spcAft>
            </a:pPr>
            <a:r>
              <a:rPr sz="1250" b="1">
                <a:solidFill>
                  <a:srgbClr val="13EF93"/>
                </a:solidFill>
                <a:latin typeface="Calibri"/>
              </a:rPr>
              <a:t>4</a:t>
            </a:r>
          </a:p>
        </p:txBody>
      </p:sp>
      <p:sp>
        <p:nvSpPr>
          <p:cNvPr id="15" name="TextBox 14"/>
          <p:cNvSpPr txBox="1"/>
          <p:nvPr/>
        </p:nvSpPr>
        <p:spPr>
          <a:xfrm>
            <a:off x="1280160" y="4462272"/>
            <a:ext cx="10271729" cy="749808"/>
          </a:xfrm>
          <a:prstGeom prst="rect">
            <a:avLst/>
          </a:prstGeom>
          <a:noFill/>
        </p:spPr>
        <p:txBody>
          <a:bodyPr wrap="square" lIns="0" tIns="0" rIns="0" bIns="0">
            <a:spAutoFit/>
          </a:bodyPr>
          <a:lstStyle/>
          <a:p>
            <a:pPr algn="l">
              <a:spcBef>
                <a:spcPts val="0"/>
              </a:spcBef>
              <a:spcAft>
                <a:spcPts val="0"/>
              </a:spcAft>
            </a:pPr>
            <a:r>
              <a:rPr sz="1400" b="1">
                <a:solidFill>
                  <a:srgbClr val="E9EFF6"/>
                </a:solidFill>
                <a:latin typeface="Calibri"/>
              </a:rPr>
              <a:t>Wired headphones</a:t>
            </a:r>
          </a:p>
          <a:p>
            <a:pPr algn="l">
              <a:lnSpc>
                <a:spcPct val="128000"/>
              </a:lnSpc>
              <a:spcBef>
                <a:spcPts val="400"/>
              </a:spcBef>
              <a:spcAft>
                <a:spcPts val="0"/>
              </a:spcAft>
            </a:pPr>
            <a:r>
              <a:rPr sz="1250" b="0">
                <a:solidFill>
                  <a:srgbClr val="93A4B7"/>
                </a:solidFill>
                <a:latin typeface="Calibri"/>
              </a:rPr>
              <a:t>Your browser cancels most of the echo from your speakers, but not all of it on every browser. Step 5 is where the difference shows.</a:t>
            </a:r>
          </a:p>
        </p:txBody>
      </p:sp>
      <p:sp>
        <p:nvSpPr>
          <p:cNvPr id="16" name="Rounded Rectangle 15"/>
          <p:cNvSpPr/>
          <p:nvPr/>
        </p:nvSpPr>
        <p:spPr>
          <a:xfrm>
            <a:off x="640080" y="5577840"/>
            <a:ext cx="10911809" cy="749808"/>
          </a:xfrm>
          <a:prstGeom prst="roundRect">
            <a:avLst>
              <a:gd name="adj" fmla="val 3500"/>
            </a:avLst>
          </a:prstGeom>
          <a:solidFill>
            <a:srgbClr val="17222E"/>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50976" y="5742432"/>
            <a:ext cx="10290017" cy="457200"/>
          </a:xfrm>
          <a:prstGeom prst="rect">
            <a:avLst/>
          </a:prstGeom>
          <a:noFill/>
        </p:spPr>
        <p:txBody>
          <a:bodyPr wrap="square" lIns="0" tIns="0" rIns="0" bIns="0">
            <a:spAutoFit/>
          </a:bodyPr>
          <a:lstStyle/>
          <a:p>
            <a:pPr algn="l">
              <a:spcBef>
                <a:spcPts val="0"/>
              </a:spcBef>
              <a:spcAft>
                <a:spcPts val="0"/>
              </a:spcAft>
            </a:pPr>
            <a:r>
              <a:rPr sz="1350" b="1">
                <a:solidFill>
                  <a:srgbClr val="13EF93"/>
                </a:solidFill>
                <a:latin typeface="Calibri"/>
              </a:rPr>
              <a:t>Locked-down laptop, Chromebook, or tablet?</a:t>
            </a:r>
          </a:p>
          <a:p>
            <a:pPr algn="l">
              <a:spcBef>
                <a:spcPts val="400"/>
              </a:spcBef>
              <a:spcAft>
                <a:spcPts val="0"/>
              </a:spcAft>
            </a:pPr>
            <a:r>
              <a:rPr sz="1250" b="0">
                <a:solidFill>
                  <a:srgbClr val="93A4B7"/>
                </a:solidFill>
                <a:latin typeface="Calibri"/>
              </a:rPr>
              <a:t>Easy Mode runs the same workshop in the browser, no install. Or .devcontainer/ runs the whole thing in GitHub Codespaces, with nothing local at all.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70B10"/>
        </a:solidFill>
        <a:effectLst/>
      </p:bgPr>
    </p:bg>
    <p:spTree>
      <p:nvGrpSpPr>
        <p:cNvPr id="1" name=""/>
        <p:cNvGrpSpPr/>
        <p:nvPr/>
      </p:nvGrpSpPr>
      <p:grpSpPr>
        <a:xfrm>
          <a:off x="0" y="0"/>
          <a:ext cx="0" cy="0"/>
          <a:chOff x="0" y="0"/>
          <a:chExt cx="0" cy="0"/>
        </a:xfrm>
      </p:grpSpPr>
      <p:sp>
        <p:nvSpPr>
          <p:cNvPr id="2" name="TextBox 1"/>
          <p:cNvSpPr txBox="1"/>
          <p:nvPr/>
        </p:nvSpPr>
        <p:spPr>
          <a:xfrm>
            <a:off x="640080" y="475488"/>
            <a:ext cx="10911809" cy="548640"/>
          </a:xfrm>
          <a:prstGeom prst="rect">
            <a:avLst/>
          </a:prstGeom>
          <a:noFill/>
        </p:spPr>
        <p:txBody>
          <a:bodyPr wrap="square" lIns="0" tIns="0" rIns="0" bIns="0">
            <a:spAutoFit/>
          </a:bodyPr>
          <a:lstStyle/>
          <a:p>
            <a:pPr algn="l">
              <a:spcBef>
                <a:spcPts val="0"/>
              </a:spcBef>
              <a:spcAft>
                <a:spcPts val="0"/>
              </a:spcAft>
            </a:pPr>
            <a:r>
              <a:rPr sz="3100" b="1">
                <a:solidFill>
                  <a:srgbClr val="E9EFF6"/>
                </a:solidFill>
                <a:latin typeface="Calibri"/>
              </a:rPr>
              <a:t>Two tracks, one room</a:t>
            </a:r>
          </a:p>
        </p:txBody>
      </p:sp>
      <p:sp>
        <p:nvSpPr>
          <p:cNvPr id="3" name="TextBox 2"/>
          <p:cNvSpPr txBox="1"/>
          <p:nvPr/>
        </p:nvSpPr>
        <p:spPr>
          <a:xfrm>
            <a:off x="640080" y="1188720"/>
            <a:ext cx="9692640" cy="548640"/>
          </a:xfrm>
          <a:prstGeom prst="rect">
            <a:avLst/>
          </a:prstGeom>
          <a:noFill/>
        </p:spPr>
        <p:txBody>
          <a:bodyPr wrap="square" lIns="0" tIns="0" rIns="0" bIns="0">
            <a:spAutoFit/>
          </a:bodyPr>
          <a:lstStyle/>
          <a:p>
            <a:pPr algn="l">
              <a:lnSpc>
                <a:spcPct val="128000"/>
              </a:lnSpc>
              <a:spcBef>
                <a:spcPts val="0"/>
              </a:spcBef>
              <a:spcAft>
                <a:spcPts val="0"/>
              </a:spcAft>
            </a:pPr>
            <a:r>
              <a:rPr sz="1450" b="0">
                <a:solidFill>
                  <a:srgbClr val="93A4B7"/>
                </a:solidFill>
                <a:latin typeface="Calibri"/>
              </a:rPr>
              <a:t>Both tracks talk to the same Voice Agent API. Nobody is doing a lesser version of this.</a:t>
            </a:r>
          </a:p>
        </p:txBody>
      </p:sp>
      <p:sp>
        <p:nvSpPr>
          <p:cNvPr id="4" name="Rounded Rectangle 3"/>
          <p:cNvSpPr/>
          <p:nvPr/>
        </p:nvSpPr>
        <p:spPr>
          <a:xfrm>
            <a:off x="640080" y="1956816"/>
            <a:ext cx="5318744" cy="2432304"/>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32688" y="2212848"/>
            <a:ext cx="4733528" cy="1920240"/>
          </a:xfrm>
          <a:prstGeom prst="rect">
            <a:avLst/>
          </a:prstGeom>
          <a:noFill/>
        </p:spPr>
        <p:txBody>
          <a:bodyPr wrap="square" lIns="0" tIns="0" rIns="0" bIns="0">
            <a:spAutoFit/>
          </a:bodyPr>
          <a:lstStyle/>
          <a:p>
            <a:pPr algn="l">
              <a:spcBef>
                <a:spcPts val="0"/>
              </a:spcBef>
              <a:spcAft>
                <a:spcPts val="0"/>
              </a:spcAft>
            </a:pPr>
            <a:r>
              <a:rPr sz="1100" b="1">
                <a:solidFill>
                  <a:srgbClr val="13EF93"/>
                </a:solidFill>
                <a:latin typeface="Calibri"/>
              </a:rPr>
              <a:t>CODE TRACK</a:t>
            </a:r>
          </a:p>
          <a:p>
            <a:pPr algn="l">
              <a:lnSpc>
                <a:spcPct val="114000"/>
              </a:lnSpc>
              <a:spcBef>
                <a:spcPts val="800"/>
              </a:spcBef>
              <a:spcAft>
                <a:spcPts val="0"/>
              </a:spcAft>
            </a:pPr>
            <a:r>
              <a:rPr sz="1800" b="1">
                <a:solidFill>
                  <a:srgbClr val="E9EFF6"/>
                </a:solidFill>
                <a:latin typeface="Calibri"/>
              </a:rPr>
              <a:t>You write the agent in Python</a:t>
            </a:r>
          </a:p>
          <a:p>
            <a:pPr algn="l">
              <a:lnSpc>
                <a:spcPct val="130000"/>
              </a:lnSpc>
              <a:spcBef>
                <a:spcPts val="800"/>
              </a:spcBef>
              <a:spcAft>
                <a:spcPts val="0"/>
              </a:spcAft>
            </a:pPr>
            <a:r>
              <a:rPr sz="1300" b="0">
                <a:solidFill>
                  <a:srgbClr val="93A4B7"/>
                </a:solidFill>
                <a:latin typeface="Calibri"/>
              </a:rPr>
              <a:t>Eight steps, each a complete runnable program. Work the TODO blocks in main.py; the next folder is the answer key.</a:t>
            </a:r>
          </a:p>
          <a:p>
            <a:pPr algn="l">
              <a:spcBef>
                <a:spcPts val="1200"/>
              </a:spcBef>
              <a:spcAft>
                <a:spcPts val="0"/>
              </a:spcAft>
            </a:pPr>
            <a:r>
              <a:rPr sz="1150" b="1">
                <a:solidFill>
                  <a:srgbClr val="13EF93"/>
                </a:solidFill>
                <a:latin typeface="Courier New"/>
              </a:rPr>
              <a:t>uv   ·   a terminal   ·   a browser</a:t>
            </a:r>
          </a:p>
        </p:txBody>
      </p:sp>
      <p:sp>
        <p:nvSpPr>
          <p:cNvPr id="6" name="Rounded Rectangle 5"/>
          <p:cNvSpPr/>
          <p:nvPr/>
        </p:nvSpPr>
        <p:spPr>
          <a:xfrm>
            <a:off x="6233144" y="1956816"/>
            <a:ext cx="5318744" cy="2432304"/>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25752" y="2212848"/>
            <a:ext cx="4733528" cy="1920240"/>
          </a:xfrm>
          <a:prstGeom prst="rect">
            <a:avLst/>
          </a:prstGeom>
          <a:noFill/>
        </p:spPr>
        <p:txBody>
          <a:bodyPr wrap="square" lIns="0" tIns="0" rIns="0" bIns="0">
            <a:spAutoFit/>
          </a:bodyPr>
          <a:lstStyle/>
          <a:p>
            <a:pPr algn="l">
              <a:spcBef>
                <a:spcPts val="0"/>
              </a:spcBef>
              <a:spcAft>
                <a:spcPts val="0"/>
              </a:spcAft>
            </a:pPr>
            <a:r>
              <a:rPr sz="1100" b="1">
                <a:solidFill>
                  <a:srgbClr val="FFB454"/>
                </a:solidFill>
                <a:latin typeface="Calibri"/>
              </a:rPr>
              <a:t>EASY MODE</a:t>
            </a:r>
          </a:p>
          <a:p>
            <a:pPr algn="l">
              <a:lnSpc>
                <a:spcPct val="114000"/>
              </a:lnSpc>
              <a:spcBef>
                <a:spcPts val="800"/>
              </a:spcBef>
              <a:spcAft>
                <a:spcPts val="0"/>
              </a:spcAft>
            </a:pPr>
            <a:r>
              <a:rPr sz="1800" b="1">
                <a:solidFill>
                  <a:srgbClr val="E9EFF6"/>
                </a:solidFill>
                <a:latin typeface="Calibri"/>
              </a:rPr>
              <a:t>You configure the agent in a browser</a:t>
            </a:r>
          </a:p>
          <a:p>
            <a:pPr algn="l">
              <a:lnSpc>
                <a:spcPct val="130000"/>
              </a:lnSpc>
              <a:spcBef>
                <a:spcPts val="800"/>
              </a:spcBef>
              <a:spcAft>
                <a:spcPts val="0"/>
              </a:spcAft>
            </a:pPr>
            <a:r>
              <a:rPr sz="1300" b="0">
                <a:solidFill>
                  <a:srgbClr val="93A4B7"/>
                </a:solidFill>
                <a:latin typeface="Calibri"/>
              </a:rPr>
              <a:t>Six labs in the Deepgram Playground. No install, no terminal, no key pasted into a file. You end with a config you can hand to a developer.</a:t>
            </a:r>
          </a:p>
          <a:p>
            <a:pPr algn="l">
              <a:spcBef>
                <a:spcPts val="1200"/>
              </a:spcBef>
              <a:spcAft>
                <a:spcPts val="0"/>
              </a:spcAft>
            </a:pPr>
            <a:r>
              <a:rPr sz="1150" b="1">
                <a:solidFill>
                  <a:srgbClr val="FFB454"/>
                </a:solidFill>
                <a:latin typeface="Courier New"/>
              </a:rPr>
              <a:t>a browser   ·   headphones</a:t>
            </a:r>
          </a:p>
        </p:txBody>
      </p:sp>
      <p:sp>
        <p:nvSpPr>
          <p:cNvPr id="8" name="TextBox 7"/>
          <p:cNvSpPr txBox="1"/>
          <p:nvPr/>
        </p:nvSpPr>
        <p:spPr>
          <a:xfrm>
            <a:off x="640080" y="4700016"/>
            <a:ext cx="10911809" cy="274320"/>
          </a:xfrm>
          <a:prstGeom prst="rect">
            <a:avLst/>
          </a:prstGeom>
          <a:noFill/>
        </p:spPr>
        <p:txBody>
          <a:bodyPr wrap="square" lIns="0" tIns="0" rIns="0" bIns="0">
            <a:spAutoFit/>
          </a:bodyPr>
          <a:lstStyle/>
          <a:p>
            <a:pPr algn="l">
              <a:spcBef>
                <a:spcPts val="0"/>
              </a:spcBef>
              <a:spcAft>
                <a:spcPts val="0"/>
              </a:spcAft>
            </a:pPr>
            <a:r>
              <a:rPr sz="1050" b="1">
                <a:solidFill>
                  <a:srgbClr val="5D6E80"/>
                </a:solidFill>
                <a:latin typeface="Calibri"/>
              </a:rPr>
              <a:t>HOW THE LABS LINE UP</a:t>
            </a:r>
          </a:p>
        </p:txBody>
      </p:sp>
      <p:sp>
        <p:nvSpPr>
          <p:cNvPr id="9" name="Rounded Rectangle 8"/>
          <p:cNvSpPr/>
          <p:nvPr/>
        </p:nvSpPr>
        <p:spPr>
          <a:xfrm>
            <a:off x="640080" y="5084064"/>
            <a:ext cx="1696714" cy="786384"/>
          </a:xfrm>
          <a:prstGeom prst="roundRect">
            <a:avLst>
              <a:gd name="adj" fmla="val 3500"/>
            </a:avLst>
          </a:prstGeom>
          <a:solidFill>
            <a:srgbClr val="17222E"/>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86384" y="5230368"/>
            <a:ext cx="1404106" cy="548640"/>
          </a:xfrm>
          <a:prstGeom prst="rect">
            <a:avLst/>
          </a:prstGeom>
          <a:noFill/>
        </p:spPr>
        <p:txBody>
          <a:bodyPr wrap="square" lIns="0" tIns="0" rIns="0" bIns="0">
            <a:spAutoFit/>
          </a:bodyPr>
          <a:lstStyle/>
          <a:p>
            <a:pPr algn="ctr">
              <a:spcBef>
                <a:spcPts val="0"/>
              </a:spcBef>
              <a:spcAft>
                <a:spcPts val="0"/>
              </a:spcAft>
            </a:pPr>
            <a:r>
              <a:rPr sz="1300" b="1">
                <a:solidFill>
                  <a:srgbClr val="E9EFF6"/>
                </a:solidFill>
                <a:latin typeface="Calibri"/>
              </a:rPr>
              <a:t>Steps 1–4</a:t>
            </a:r>
          </a:p>
          <a:p>
            <a:pPr algn="ctr">
              <a:spcBef>
                <a:spcPts val="300"/>
              </a:spcBef>
              <a:spcAft>
                <a:spcPts val="0"/>
              </a:spcAft>
            </a:pPr>
            <a:r>
              <a:rPr sz="1200" b="1">
                <a:solidFill>
                  <a:srgbClr val="FFB454"/>
                </a:solidFill>
                <a:latin typeface="Calibri"/>
              </a:rPr>
              <a:t>Lab 1</a:t>
            </a:r>
          </a:p>
        </p:txBody>
      </p:sp>
      <p:sp>
        <p:nvSpPr>
          <p:cNvPr id="11" name="Rounded Rectangle 10"/>
          <p:cNvSpPr/>
          <p:nvPr/>
        </p:nvSpPr>
        <p:spPr>
          <a:xfrm>
            <a:off x="2483098" y="5084064"/>
            <a:ext cx="1696714" cy="786384"/>
          </a:xfrm>
          <a:prstGeom prst="roundRect">
            <a:avLst>
              <a:gd name="adj" fmla="val 3500"/>
            </a:avLst>
          </a:prstGeom>
          <a:solidFill>
            <a:srgbClr val="17222E"/>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629402" y="5230368"/>
            <a:ext cx="1404106" cy="548640"/>
          </a:xfrm>
          <a:prstGeom prst="rect">
            <a:avLst/>
          </a:prstGeom>
          <a:noFill/>
        </p:spPr>
        <p:txBody>
          <a:bodyPr wrap="square" lIns="0" tIns="0" rIns="0" bIns="0">
            <a:spAutoFit/>
          </a:bodyPr>
          <a:lstStyle/>
          <a:p>
            <a:pPr algn="ctr">
              <a:spcBef>
                <a:spcPts val="0"/>
              </a:spcBef>
              <a:spcAft>
                <a:spcPts val="0"/>
              </a:spcAft>
            </a:pPr>
            <a:r>
              <a:rPr sz="1300" b="1">
                <a:solidFill>
                  <a:srgbClr val="E9EFF6"/>
                </a:solidFill>
                <a:latin typeface="Calibri"/>
              </a:rPr>
              <a:t>Step 5</a:t>
            </a:r>
          </a:p>
          <a:p>
            <a:pPr algn="ctr">
              <a:spcBef>
                <a:spcPts val="300"/>
              </a:spcBef>
              <a:spcAft>
                <a:spcPts val="0"/>
              </a:spcAft>
            </a:pPr>
            <a:r>
              <a:rPr sz="1200" b="1">
                <a:solidFill>
                  <a:srgbClr val="FFB454"/>
                </a:solidFill>
                <a:latin typeface="Calibri"/>
              </a:rPr>
              <a:t>Lab 2</a:t>
            </a:r>
          </a:p>
        </p:txBody>
      </p:sp>
      <p:sp>
        <p:nvSpPr>
          <p:cNvPr id="13" name="Rounded Rectangle 12"/>
          <p:cNvSpPr/>
          <p:nvPr/>
        </p:nvSpPr>
        <p:spPr>
          <a:xfrm>
            <a:off x="4326117" y="5084064"/>
            <a:ext cx="1696714" cy="786384"/>
          </a:xfrm>
          <a:prstGeom prst="roundRect">
            <a:avLst>
              <a:gd name="adj" fmla="val 3500"/>
            </a:avLst>
          </a:prstGeom>
          <a:solidFill>
            <a:srgbClr val="17222E"/>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72421" y="5230368"/>
            <a:ext cx="1404106" cy="548640"/>
          </a:xfrm>
          <a:prstGeom prst="rect">
            <a:avLst/>
          </a:prstGeom>
          <a:noFill/>
        </p:spPr>
        <p:txBody>
          <a:bodyPr wrap="square" lIns="0" tIns="0" rIns="0" bIns="0">
            <a:spAutoFit/>
          </a:bodyPr>
          <a:lstStyle/>
          <a:p>
            <a:pPr algn="ctr">
              <a:spcBef>
                <a:spcPts val="0"/>
              </a:spcBef>
              <a:spcAft>
                <a:spcPts val="0"/>
              </a:spcAft>
            </a:pPr>
            <a:r>
              <a:rPr sz="1300" b="1">
                <a:solidFill>
                  <a:srgbClr val="E9EFF6"/>
                </a:solidFill>
                <a:latin typeface="Calibri"/>
              </a:rPr>
              <a:t>Step 6</a:t>
            </a:r>
          </a:p>
          <a:p>
            <a:pPr algn="ctr">
              <a:spcBef>
                <a:spcPts val="300"/>
              </a:spcBef>
              <a:spcAft>
                <a:spcPts val="0"/>
              </a:spcAft>
            </a:pPr>
            <a:r>
              <a:rPr sz="1200" b="1">
                <a:solidFill>
                  <a:srgbClr val="FFB454"/>
                </a:solidFill>
                <a:latin typeface="Calibri"/>
              </a:rPr>
              <a:t>Lab 4</a:t>
            </a:r>
          </a:p>
        </p:txBody>
      </p:sp>
      <p:sp>
        <p:nvSpPr>
          <p:cNvPr id="15" name="Rounded Rectangle 14"/>
          <p:cNvSpPr/>
          <p:nvPr/>
        </p:nvSpPr>
        <p:spPr>
          <a:xfrm>
            <a:off x="6169136" y="5084064"/>
            <a:ext cx="1696714" cy="786384"/>
          </a:xfrm>
          <a:prstGeom prst="roundRect">
            <a:avLst>
              <a:gd name="adj" fmla="val 3500"/>
            </a:avLst>
          </a:prstGeom>
          <a:solidFill>
            <a:srgbClr val="17222E"/>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15440" y="5230368"/>
            <a:ext cx="1404106" cy="548640"/>
          </a:xfrm>
          <a:prstGeom prst="rect">
            <a:avLst/>
          </a:prstGeom>
          <a:noFill/>
        </p:spPr>
        <p:txBody>
          <a:bodyPr wrap="square" lIns="0" tIns="0" rIns="0" bIns="0">
            <a:spAutoFit/>
          </a:bodyPr>
          <a:lstStyle/>
          <a:p>
            <a:pPr algn="ctr">
              <a:spcBef>
                <a:spcPts val="0"/>
              </a:spcBef>
              <a:spcAft>
                <a:spcPts val="0"/>
              </a:spcAft>
            </a:pPr>
            <a:r>
              <a:rPr sz="1300" b="1">
                <a:solidFill>
                  <a:srgbClr val="E9EFF6"/>
                </a:solidFill>
                <a:latin typeface="Calibri"/>
              </a:rPr>
              <a:t>Step 7</a:t>
            </a:r>
          </a:p>
          <a:p>
            <a:pPr algn="ctr">
              <a:spcBef>
                <a:spcPts val="300"/>
              </a:spcBef>
              <a:spcAft>
                <a:spcPts val="0"/>
              </a:spcAft>
            </a:pPr>
            <a:r>
              <a:rPr sz="1200" b="1">
                <a:solidFill>
                  <a:srgbClr val="FFB454"/>
                </a:solidFill>
                <a:latin typeface="Calibri"/>
              </a:rPr>
              <a:t>Lab 5</a:t>
            </a:r>
          </a:p>
        </p:txBody>
      </p:sp>
      <p:sp>
        <p:nvSpPr>
          <p:cNvPr id="17" name="Rounded Rectangle 16"/>
          <p:cNvSpPr/>
          <p:nvPr/>
        </p:nvSpPr>
        <p:spPr>
          <a:xfrm>
            <a:off x="8012155" y="5084064"/>
            <a:ext cx="1696714" cy="786384"/>
          </a:xfrm>
          <a:prstGeom prst="roundRect">
            <a:avLst>
              <a:gd name="adj" fmla="val 3500"/>
            </a:avLst>
          </a:prstGeom>
          <a:solidFill>
            <a:srgbClr val="17222E"/>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158459" y="5230368"/>
            <a:ext cx="1404106" cy="548640"/>
          </a:xfrm>
          <a:prstGeom prst="rect">
            <a:avLst/>
          </a:prstGeom>
          <a:noFill/>
        </p:spPr>
        <p:txBody>
          <a:bodyPr wrap="square" lIns="0" tIns="0" rIns="0" bIns="0">
            <a:spAutoFit/>
          </a:bodyPr>
          <a:lstStyle/>
          <a:p>
            <a:pPr algn="ctr">
              <a:spcBef>
                <a:spcPts val="0"/>
              </a:spcBef>
              <a:spcAft>
                <a:spcPts val="0"/>
              </a:spcAft>
            </a:pPr>
            <a:r>
              <a:rPr sz="1300" b="1">
                <a:solidFill>
                  <a:srgbClr val="E9EFF6"/>
                </a:solidFill>
                <a:latin typeface="Calibri"/>
              </a:rPr>
              <a:t>Step 8</a:t>
            </a:r>
          </a:p>
          <a:p>
            <a:pPr algn="ctr">
              <a:spcBef>
                <a:spcPts val="300"/>
              </a:spcBef>
              <a:spcAft>
                <a:spcPts val="0"/>
              </a:spcAft>
            </a:pPr>
            <a:r>
              <a:rPr sz="1200" b="1">
                <a:solidFill>
                  <a:srgbClr val="FFB454"/>
                </a:solidFill>
                <a:latin typeface="Calibri"/>
              </a:rPr>
              <a:t>Lab 3</a:t>
            </a:r>
          </a:p>
        </p:txBody>
      </p:sp>
      <p:sp>
        <p:nvSpPr>
          <p:cNvPr id="19" name="Rounded Rectangle 18"/>
          <p:cNvSpPr/>
          <p:nvPr/>
        </p:nvSpPr>
        <p:spPr>
          <a:xfrm>
            <a:off x="9855174" y="5084064"/>
            <a:ext cx="1696714" cy="786384"/>
          </a:xfrm>
          <a:prstGeom prst="roundRect">
            <a:avLst>
              <a:gd name="adj" fmla="val 3500"/>
            </a:avLst>
          </a:prstGeom>
          <a:solidFill>
            <a:srgbClr val="17222E"/>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001478" y="5230368"/>
            <a:ext cx="1404106" cy="548640"/>
          </a:xfrm>
          <a:prstGeom prst="rect">
            <a:avLst/>
          </a:prstGeom>
          <a:noFill/>
        </p:spPr>
        <p:txBody>
          <a:bodyPr wrap="square" lIns="0" tIns="0" rIns="0" bIns="0">
            <a:spAutoFit/>
          </a:bodyPr>
          <a:lstStyle/>
          <a:p>
            <a:pPr algn="ctr">
              <a:spcBef>
                <a:spcPts val="0"/>
              </a:spcBef>
              <a:spcAft>
                <a:spcPts val="0"/>
              </a:spcAft>
            </a:pPr>
            <a:r>
              <a:rPr sz="1300" b="1">
                <a:solidFill>
                  <a:srgbClr val="E9EFF6"/>
                </a:solidFill>
                <a:latin typeface="Calibri"/>
              </a:rPr>
              <a:t>Finished</a:t>
            </a:r>
          </a:p>
          <a:p>
            <a:pPr algn="ctr">
              <a:spcBef>
                <a:spcPts val="300"/>
              </a:spcBef>
              <a:spcAft>
                <a:spcPts val="0"/>
              </a:spcAft>
            </a:pPr>
            <a:r>
              <a:rPr sz="1200" b="1">
                <a:solidFill>
                  <a:srgbClr val="FFB454"/>
                </a:solidFill>
                <a:latin typeface="Calibri"/>
              </a:rPr>
              <a:t>Lab 6</a:t>
            </a:r>
          </a:p>
        </p:txBody>
      </p:sp>
      <p:sp>
        <p:nvSpPr>
          <p:cNvPr id="21" name="TextBox 20"/>
          <p:cNvSpPr txBox="1"/>
          <p:nvPr/>
        </p:nvSpPr>
        <p:spPr>
          <a:xfrm>
            <a:off x="640080" y="6144768"/>
            <a:ext cx="10911809" cy="457200"/>
          </a:xfrm>
          <a:prstGeom prst="rect">
            <a:avLst/>
          </a:prstGeom>
          <a:noFill/>
        </p:spPr>
        <p:txBody>
          <a:bodyPr wrap="square" lIns="0" tIns="0" rIns="0" bIns="0">
            <a:spAutoFit/>
          </a:bodyPr>
          <a:lstStyle/>
          <a:p>
            <a:pPr algn="l">
              <a:lnSpc>
                <a:spcPct val="125000"/>
              </a:lnSpc>
              <a:spcBef>
                <a:spcPts val="0"/>
              </a:spcBef>
              <a:spcAft>
                <a:spcPts val="0"/>
              </a:spcAft>
            </a:pPr>
            <a:r>
              <a:rPr sz="1200" b="0">
                <a:solidFill>
                  <a:srgbClr val="5D6E80"/>
                </a:solidFill>
                <a:latin typeface="Calibri"/>
              </a:rPr>
              <a:t>Easy Mode reaches turn detection earlier than the code track does, which is the only reason its lab numbers don't run in order. Every checkpoint still lands in the same place.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70B10"/>
        </a:solidFill>
        <a:effectLst/>
      </p:bgPr>
    </p:bg>
    <p:spTree>
      <p:nvGrpSpPr>
        <p:cNvPr id="1" name=""/>
        <p:cNvGrpSpPr/>
        <p:nvPr/>
      </p:nvGrpSpPr>
      <p:grpSpPr>
        <a:xfrm>
          <a:off x="0" y="0"/>
          <a:ext cx="0" cy="0"/>
          <a:chOff x="0" y="0"/>
          <a:chExt cx="0" cy="0"/>
        </a:xfrm>
      </p:grpSpPr>
      <p:sp>
        <p:nvSpPr>
          <p:cNvPr id="2" name="TextBox 1"/>
          <p:cNvSpPr txBox="1"/>
          <p:nvPr/>
        </p:nvSpPr>
        <p:spPr>
          <a:xfrm>
            <a:off x="640080" y="475488"/>
            <a:ext cx="10911809" cy="548640"/>
          </a:xfrm>
          <a:prstGeom prst="rect">
            <a:avLst/>
          </a:prstGeom>
          <a:noFill/>
        </p:spPr>
        <p:txBody>
          <a:bodyPr wrap="square" lIns="0" tIns="0" rIns="0" bIns="0">
            <a:spAutoFit/>
          </a:bodyPr>
          <a:lstStyle/>
          <a:p>
            <a:pPr algn="l">
              <a:spcBef>
                <a:spcPts val="0"/>
              </a:spcBef>
              <a:spcAft>
                <a:spcPts val="0"/>
              </a:spcAft>
            </a:pPr>
            <a:r>
              <a:rPr sz="3100" b="1">
                <a:solidFill>
                  <a:srgbClr val="E9EFF6"/>
                </a:solidFill>
                <a:latin typeface="Calibri"/>
              </a:rPr>
              <a:t>Run of show</a:t>
            </a:r>
          </a:p>
        </p:txBody>
      </p:sp>
      <p:sp>
        <p:nvSpPr>
          <p:cNvPr id="3" name="TextBox 2"/>
          <p:cNvSpPr txBox="1"/>
          <p:nvPr/>
        </p:nvSpPr>
        <p:spPr>
          <a:xfrm>
            <a:off x="640080" y="1188720"/>
            <a:ext cx="9692640" cy="548640"/>
          </a:xfrm>
          <a:prstGeom prst="rect">
            <a:avLst/>
          </a:prstGeom>
          <a:noFill/>
        </p:spPr>
        <p:txBody>
          <a:bodyPr wrap="square" lIns="0" tIns="0" rIns="0" bIns="0">
            <a:spAutoFit/>
          </a:bodyPr>
          <a:lstStyle/>
          <a:p>
            <a:pPr algn="l">
              <a:lnSpc>
                <a:spcPct val="128000"/>
              </a:lnSpc>
              <a:spcBef>
                <a:spcPts val="0"/>
              </a:spcBef>
              <a:spcAft>
                <a:spcPts val="0"/>
              </a:spcAft>
            </a:pPr>
            <a:r>
              <a:rPr sz="1450" b="0">
                <a:solidFill>
                  <a:srgbClr val="93A4B7"/>
                </a:solidFill>
                <a:latin typeface="Calibri"/>
              </a:rPr>
              <a:t>Three hours, one break. Amber marks where we regroup — nobody moves past a gate until the room is together.</a:t>
            </a:r>
          </a:p>
        </p:txBody>
      </p:sp>
      <p:sp>
        <p:nvSpPr>
          <p:cNvPr id="4" name="Rounded Rectangle 3"/>
          <p:cNvSpPr/>
          <p:nvPr/>
        </p:nvSpPr>
        <p:spPr>
          <a:xfrm>
            <a:off x="640080" y="2212848"/>
            <a:ext cx="5300456" cy="530352"/>
          </a:xfrm>
          <a:prstGeom prst="roundRect">
            <a:avLst>
              <a:gd name="adj" fmla="val 3500"/>
            </a:avLst>
          </a:prstGeom>
          <a:no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7" y="2359152"/>
            <a:ext cx="658368" cy="274320"/>
          </a:xfrm>
          <a:prstGeom prst="rect">
            <a:avLst/>
          </a:prstGeom>
          <a:noFill/>
        </p:spPr>
        <p:txBody>
          <a:bodyPr wrap="square" lIns="0" tIns="0" rIns="0" bIns="0">
            <a:spAutoFit/>
          </a:bodyPr>
          <a:lstStyle/>
          <a:p>
            <a:pPr algn="l">
              <a:spcBef>
                <a:spcPts val="0"/>
              </a:spcBef>
              <a:spcAft>
                <a:spcPts val="0"/>
              </a:spcAft>
            </a:pPr>
            <a:r>
              <a:rPr sz="1300" b="1">
                <a:solidFill>
                  <a:srgbClr val="5D6E80"/>
                </a:solidFill>
                <a:latin typeface="Courier New"/>
              </a:rPr>
              <a:t>0:00</a:t>
            </a:r>
          </a:p>
        </p:txBody>
      </p:sp>
      <p:sp>
        <p:nvSpPr>
          <p:cNvPr id="6" name="TextBox 5"/>
          <p:cNvSpPr txBox="1"/>
          <p:nvPr/>
        </p:nvSpPr>
        <p:spPr>
          <a:xfrm>
            <a:off x="1609344" y="2340864"/>
            <a:ext cx="3745976" cy="310896"/>
          </a:xfrm>
          <a:prstGeom prst="rect">
            <a:avLst/>
          </a:prstGeom>
          <a:noFill/>
        </p:spPr>
        <p:txBody>
          <a:bodyPr wrap="square" lIns="0" tIns="0" rIns="0" bIns="0">
            <a:spAutoFit/>
          </a:bodyPr>
          <a:lstStyle/>
          <a:p>
            <a:pPr algn="l">
              <a:spcBef>
                <a:spcPts val="0"/>
              </a:spcBef>
              <a:spcAft>
                <a:spcPts val="0"/>
              </a:spcAft>
            </a:pPr>
            <a:r>
              <a:rPr sz="1400" b="1">
                <a:solidFill>
                  <a:srgbClr val="E9EFF6"/>
                </a:solidFill>
                <a:latin typeface="Calibri"/>
              </a:rPr>
              <a:t>Overview</a:t>
            </a:r>
          </a:p>
        </p:txBody>
      </p:sp>
      <p:sp>
        <p:nvSpPr>
          <p:cNvPr id="7" name="TextBox 6"/>
          <p:cNvSpPr txBox="1"/>
          <p:nvPr/>
        </p:nvSpPr>
        <p:spPr>
          <a:xfrm>
            <a:off x="1609344" y="2340864"/>
            <a:ext cx="4111736" cy="310896"/>
          </a:xfrm>
          <a:prstGeom prst="rect">
            <a:avLst/>
          </a:prstGeom>
          <a:noFill/>
        </p:spPr>
        <p:txBody>
          <a:bodyPr wrap="square" lIns="0" tIns="0" rIns="0" bIns="0">
            <a:spAutoFit/>
          </a:bodyPr>
          <a:lstStyle/>
          <a:p>
            <a:pPr algn="r">
              <a:spcBef>
                <a:spcPts val="0"/>
              </a:spcBef>
              <a:spcAft>
                <a:spcPts val="0"/>
              </a:spcAft>
            </a:pPr>
            <a:r>
              <a:rPr sz="1150" b="0">
                <a:solidFill>
                  <a:srgbClr val="93A4B7"/>
                </a:solidFill>
                <a:latin typeface="Calibri"/>
              </a:rPr>
              <a:t>The parts of a voice agent</a:t>
            </a:r>
          </a:p>
        </p:txBody>
      </p:sp>
      <p:sp>
        <p:nvSpPr>
          <p:cNvPr id="8" name="Rounded Rectangle 7"/>
          <p:cNvSpPr/>
          <p:nvPr/>
        </p:nvSpPr>
        <p:spPr>
          <a:xfrm>
            <a:off x="640080" y="2834640"/>
            <a:ext cx="5300456" cy="530352"/>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7" y="2980944"/>
            <a:ext cx="658368" cy="274320"/>
          </a:xfrm>
          <a:prstGeom prst="rect">
            <a:avLst/>
          </a:prstGeom>
          <a:noFill/>
        </p:spPr>
        <p:txBody>
          <a:bodyPr wrap="square" lIns="0" tIns="0" rIns="0" bIns="0">
            <a:spAutoFit/>
          </a:bodyPr>
          <a:lstStyle/>
          <a:p>
            <a:pPr algn="l">
              <a:spcBef>
                <a:spcPts val="0"/>
              </a:spcBef>
              <a:spcAft>
                <a:spcPts val="0"/>
              </a:spcAft>
            </a:pPr>
            <a:r>
              <a:rPr sz="1300" b="1">
                <a:solidFill>
                  <a:srgbClr val="13EF93"/>
                </a:solidFill>
                <a:latin typeface="Courier New"/>
              </a:rPr>
              <a:t>0:10</a:t>
            </a:r>
          </a:p>
        </p:txBody>
      </p:sp>
      <p:sp>
        <p:nvSpPr>
          <p:cNvPr id="10" name="TextBox 9"/>
          <p:cNvSpPr txBox="1"/>
          <p:nvPr/>
        </p:nvSpPr>
        <p:spPr>
          <a:xfrm>
            <a:off x="1609344" y="2962656"/>
            <a:ext cx="3745976" cy="310896"/>
          </a:xfrm>
          <a:prstGeom prst="rect">
            <a:avLst/>
          </a:prstGeom>
          <a:noFill/>
        </p:spPr>
        <p:txBody>
          <a:bodyPr wrap="square" lIns="0" tIns="0" rIns="0" bIns="0">
            <a:spAutoFit/>
          </a:bodyPr>
          <a:lstStyle/>
          <a:p>
            <a:pPr algn="l">
              <a:spcBef>
                <a:spcPts val="0"/>
              </a:spcBef>
              <a:spcAft>
                <a:spcPts val="0"/>
              </a:spcAft>
            </a:pPr>
            <a:r>
              <a:rPr sz="1400" b="1">
                <a:solidFill>
                  <a:srgbClr val="E9EFF6"/>
                </a:solidFill>
                <a:latin typeface="Calibri"/>
              </a:rPr>
              <a:t>Setup</a:t>
            </a:r>
          </a:p>
        </p:txBody>
      </p:sp>
      <p:sp>
        <p:nvSpPr>
          <p:cNvPr id="11" name="TextBox 10"/>
          <p:cNvSpPr txBox="1"/>
          <p:nvPr/>
        </p:nvSpPr>
        <p:spPr>
          <a:xfrm>
            <a:off x="1609344" y="2962656"/>
            <a:ext cx="3764264" cy="310896"/>
          </a:xfrm>
          <a:prstGeom prst="rect">
            <a:avLst/>
          </a:prstGeom>
          <a:noFill/>
        </p:spPr>
        <p:txBody>
          <a:bodyPr wrap="square" lIns="0" tIns="0" rIns="0" bIns="0">
            <a:spAutoFit/>
          </a:bodyPr>
          <a:lstStyle/>
          <a:p>
            <a:pPr algn="r">
              <a:spcBef>
                <a:spcPts val="0"/>
              </a:spcBef>
              <a:spcAft>
                <a:spcPts val="0"/>
              </a:spcAft>
            </a:pPr>
            <a:r>
              <a:rPr sz="1150" b="0">
                <a:solidFill>
                  <a:srgbClr val="93A4B7"/>
                </a:solidFill>
                <a:latin typeface="Calibri"/>
              </a:rPr>
              <a:t>Everyone runs the checker</a:t>
            </a:r>
          </a:p>
        </p:txBody>
      </p:sp>
      <p:sp>
        <p:nvSpPr>
          <p:cNvPr id="12" name="Rounded Rectangle 11"/>
          <p:cNvSpPr/>
          <p:nvPr/>
        </p:nvSpPr>
        <p:spPr>
          <a:xfrm>
            <a:off x="5629640" y="3008376"/>
            <a:ext cx="52120" cy="173736"/>
          </a:xfrm>
          <a:prstGeom prst="roundRect">
            <a:avLst>
              <a:gd name="adj" fmla="val 40000"/>
            </a:avLst>
          </a:prstGeom>
          <a:solidFill>
            <a:srgbClr val="FF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5733882" y="3008376"/>
            <a:ext cx="52120" cy="173736"/>
          </a:xfrm>
          <a:prstGeom prst="roundRect">
            <a:avLst>
              <a:gd name="adj" fmla="val 40000"/>
            </a:avLst>
          </a:prstGeom>
          <a:solidFill>
            <a:srgbClr val="FF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40080" y="3456432"/>
            <a:ext cx="5300456" cy="530352"/>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1247" y="3602736"/>
            <a:ext cx="658368" cy="274320"/>
          </a:xfrm>
          <a:prstGeom prst="rect">
            <a:avLst/>
          </a:prstGeom>
          <a:noFill/>
        </p:spPr>
        <p:txBody>
          <a:bodyPr wrap="square" lIns="0" tIns="0" rIns="0" bIns="0">
            <a:spAutoFit/>
          </a:bodyPr>
          <a:lstStyle/>
          <a:p>
            <a:pPr algn="l">
              <a:spcBef>
                <a:spcPts val="0"/>
              </a:spcBef>
              <a:spcAft>
                <a:spcPts val="0"/>
              </a:spcAft>
            </a:pPr>
            <a:r>
              <a:rPr sz="1300" b="1">
                <a:solidFill>
                  <a:srgbClr val="13EF93"/>
                </a:solidFill>
                <a:latin typeface="Courier New"/>
              </a:rPr>
              <a:t>0:25</a:t>
            </a:r>
          </a:p>
        </p:txBody>
      </p:sp>
      <p:sp>
        <p:nvSpPr>
          <p:cNvPr id="16" name="TextBox 15"/>
          <p:cNvSpPr txBox="1"/>
          <p:nvPr/>
        </p:nvSpPr>
        <p:spPr>
          <a:xfrm>
            <a:off x="1609344" y="3584448"/>
            <a:ext cx="3745976" cy="310896"/>
          </a:xfrm>
          <a:prstGeom prst="rect">
            <a:avLst/>
          </a:prstGeom>
          <a:noFill/>
        </p:spPr>
        <p:txBody>
          <a:bodyPr wrap="square" lIns="0" tIns="0" rIns="0" bIns="0">
            <a:spAutoFit/>
          </a:bodyPr>
          <a:lstStyle/>
          <a:p>
            <a:pPr algn="l">
              <a:spcBef>
                <a:spcPts val="0"/>
              </a:spcBef>
              <a:spcAft>
                <a:spcPts val="0"/>
              </a:spcAft>
            </a:pPr>
            <a:r>
              <a:rPr sz="1400" b="1">
                <a:solidFill>
                  <a:srgbClr val="E9EFF6"/>
                </a:solidFill>
                <a:latin typeface="Calibri"/>
              </a:rPr>
              <a:t>Connect</a:t>
            </a:r>
          </a:p>
        </p:txBody>
      </p:sp>
      <p:sp>
        <p:nvSpPr>
          <p:cNvPr id="17" name="TextBox 16"/>
          <p:cNvSpPr txBox="1"/>
          <p:nvPr/>
        </p:nvSpPr>
        <p:spPr>
          <a:xfrm>
            <a:off x="1609344" y="3584448"/>
            <a:ext cx="3764264" cy="310896"/>
          </a:xfrm>
          <a:prstGeom prst="rect">
            <a:avLst/>
          </a:prstGeom>
          <a:noFill/>
        </p:spPr>
        <p:txBody>
          <a:bodyPr wrap="square" lIns="0" tIns="0" rIns="0" bIns="0">
            <a:spAutoFit/>
          </a:bodyPr>
          <a:lstStyle/>
          <a:p>
            <a:pPr algn="r">
              <a:spcBef>
                <a:spcPts val="0"/>
              </a:spcBef>
              <a:spcAft>
                <a:spcPts val="0"/>
              </a:spcAft>
            </a:pPr>
            <a:r>
              <a:rPr sz="1150" b="0">
                <a:solidFill>
                  <a:srgbClr val="93A4B7"/>
                </a:solidFill>
                <a:latin typeface="Calibri"/>
              </a:rPr>
              <a:t>The settings handshake</a:t>
            </a:r>
          </a:p>
        </p:txBody>
      </p:sp>
      <p:sp>
        <p:nvSpPr>
          <p:cNvPr id="18" name="Rounded Rectangle 17"/>
          <p:cNvSpPr/>
          <p:nvPr/>
        </p:nvSpPr>
        <p:spPr>
          <a:xfrm>
            <a:off x="5629640" y="3630168"/>
            <a:ext cx="52120" cy="173736"/>
          </a:xfrm>
          <a:prstGeom prst="roundRect">
            <a:avLst>
              <a:gd name="adj" fmla="val 40000"/>
            </a:avLst>
          </a:prstGeom>
          <a:solidFill>
            <a:srgbClr val="FF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5733882" y="3630168"/>
            <a:ext cx="52120" cy="173736"/>
          </a:xfrm>
          <a:prstGeom prst="roundRect">
            <a:avLst>
              <a:gd name="adj" fmla="val 40000"/>
            </a:avLst>
          </a:prstGeom>
          <a:solidFill>
            <a:srgbClr val="FF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640080" y="4078224"/>
            <a:ext cx="5300456" cy="530352"/>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41247" y="4224528"/>
            <a:ext cx="658368" cy="274320"/>
          </a:xfrm>
          <a:prstGeom prst="rect">
            <a:avLst/>
          </a:prstGeom>
          <a:noFill/>
        </p:spPr>
        <p:txBody>
          <a:bodyPr wrap="square" lIns="0" tIns="0" rIns="0" bIns="0">
            <a:spAutoFit/>
          </a:bodyPr>
          <a:lstStyle/>
          <a:p>
            <a:pPr algn="l">
              <a:spcBef>
                <a:spcPts val="0"/>
              </a:spcBef>
              <a:spcAft>
                <a:spcPts val="0"/>
              </a:spcAft>
            </a:pPr>
            <a:r>
              <a:rPr sz="1300" b="1">
                <a:solidFill>
                  <a:srgbClr val="13EF93"/>
                </a:solidFill>
                <a:latin typeface="Courier New"/>
              </a:rPr>
              <a:t>0:45</a:t>
            </a:r>
          </a:p>
        </p:txBody>
      </p:sp>
      <p:sp>
        <p:nvSpPr>
          <p:cNvPr id="22" name="TextBox 21"/>
          <p:cNvSpPr txBox="1"/>
          <p:nvPr/>
        </p:nvSpPr>
        <p:spPr>
          <a:xfrm>
            <a:off x="1609344" y="4206240"/>
            <a:ext cx="3745976" cy="310896"/>
          </a:xfrm>
          <a:prstGeom prst="rect">
            <a:avLst/>
          </a:prstGeom>
          <a:noFill/>
        </p:spPr>
        <p:txBody>
          <a:bodyPr wrap="square" lIns="0" tIns="0" rIns="0" bIns="0">
            <a:spAutoFit/>
          </a:bodyPr>
          <a:lstStyle/>
          <a:p>
            <a:pPr algn="l">
              <a:spcBef>
                <a:spcPts val="0"/>
              </a:spcBef>
              <a:spcAft>
                <a:spcPts val="0"/>
              </a:spcAft>
            </a:pPr>
            <a:r>
              <a:rPr sz="1400" b="1">
                <a:solidFill>
                  <a:srgbClr val="E9EFF6"/>
                </a:solidFill>
                <a:latin typeface="Calibri"/>
              </a:rPr>
              <a:t>Hear the agent</a:t>
            </a:r>
          </a:p>
        </p:txBody>
      </p:sp>
      <p:sp>
        <p:nvSpPr>
          <p:cNvPr id="23" name="TextBox 22"/>
          <p:cNvSpPr txBox="1"/>
          <p:nvPr/>
        </p:nvSpPr>
        <p:spPr>
          <a:xfrm>
            <a:off x="1609344" y="4206240"/>
            <a:ext cx="3764264" cy="310896"/>
          </a:xfrm>
          <a:prstGeom prst="rect">
            <a:avLst/>
          </a:prstGeom>
          <a:noFill/>
        </p:spPr>
        <p:txBody>
          <a:bodyPr wrap="square" lIns="0" tIns="0" rIns="0" bIns="0">
            <a:spAutoFit/>
          </a:bodyPr>
          <a:lstStyle/>
          <a:p>
            <a:pPr algn="r">
              <a:spcBef>
                <a:spcPts val="0"/>
              </a:spcBef>
              <a:spcAft>
                <a:spcPts val="0"/>
              </a:spcAft>
            </a:pPr>
            <a:r>
              <a:rPr sz="1150" b="0">
                <a:solidFill>
                  <a:srgbClr val="93A4B7"/>
                </a:solidFill>
                <a:latin typeface="Calibri"/>
              </a:rPr>
              <a:t>Playback — the greeting plays</a:t>
            </a:r>
          </a:p>
        </p:txBody>
      </p:sp>
      <p:sp>
        <p:nvSpPr>
          <p:cNvPr id="24" name="Rounded Rectangle 23"/>
          <p:cNvSpPr/>
          <p:nvPr/>
        </p:nvSpPr>
        <p:spPr>
          <a:xfrm>
            <a:off x="5629640" y="4251960"/>
            <a:ext cx="52120" cy="173736"/>
          </a:xfrm>
          <a:prstGeom prst="roundRect">
            <a:avLst>
              <a:gd name="adj" fmla="val 40000"/>
            </a:avLst>
          </a:prstGeom>
          <a:solidFill>
            <a:srgbClr val="FF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5733882" y="4251960"/>
            <a:ext cx="52120" cy="173736"/>
          </a:xfrm>
          <a:prstGeom prst="roundRect">
            <a:avLst>
              <a:gd name="adj" fmla="val 40000"/>
            </a:avLst>
          </a:prstGeom>
          <a:solidFill>
            <a:srgbClr val="FF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640080" y="4700016"/>
            <a:ext cx="5300456" cy="530352"/>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41247" y="4846320"/>
            <a:ext cx="658368" cy="274320"/>
          </a:xfrm>
          <a:prstGeom prst="rect">
            <a:avLst/>
          </a:prstGeom>
          <a:noFill/>
        </p:spPr>
        <p:txBody>
          <a:bodyPr wrap="square" lIns="0" tIns="0" rIns="0" bIns="0">
            <a:spAutoFit/>
          </a:bodyPr>
          <a:lstStyle/>
          <a:p>
            <a:pPr algn="l">
              <a:spcBef>
                <a:spcPts val="0"/>
              </a:spcBef>
              <a:spcAft>
                <a:spcPts val="0"/>
              </a:spcAft>
            </a:pPr>
            <a:r>
              <a:rPr sz="1300" b="1">
                <a:solidFill>
                  <a:srgbClr val="13EF93"/>
                </a:solidFill>
                <a:latin typeface="Courier New"/>
              </a:rPr>
              <a:t>1:10</a:t>
            </a:r>
          </a:p>
        </p:txBody>
      </p:sp>
      <p:sp>
        <p:nvSpPr>
          <p:cNvPr id="28" name="TextBox 27"/>
          <p:cNvSpPr txBox="1"/>
          <p:nvPr/>
        </p:nvSpPr>
        <p:spPr>
          <a:xfrm>
            <a:off x="1609344" y="4828032"/>
            <a:ext cx="3745976" cy="310896"/>
          </a:xfrm>
          <a:prstGeom prst="rect">
            <a:avLst/>
          </a:prstGeom>
          <a:noFill/>
        </p:spPr>
        <p:txBody>
          <a:bodyPr wrap="square" lIns="0" tIns="0" rIns="0" bIns="0">
            <a:spAutoFit/>
          </a:bodyPr>
          <a:lstStyle/>
          <a:p>
            <a:pPr algn="l">
              <a:spcBef>
                <a:spcPts val="0"/>
              </a:spcBef>
              <a:spcAft>
                <a:spcPts val="0"/>
              </a:spcAft>
            </a:pPr>
            <a:r>
              <a:rPr sz="1400" b="1">
                <a:solidFill>
                  <a:srgbClr val="E9EFF6"/>
                </a:solidFill>
                <a:latin typeface="Calibri"/>
              </a:rPr>
              <a:t>Talk to the agent</a:t>
            </a:r>
          </a:p>
        </p:txBody>
      </p:sp>
      <p:sp>
        <p:nvSpPr>
          <p:cNvPr id="29" name="TextBox 28"/>
          <p:cNvSpPr txBox="1"/>
          <p:nvPr/>
        </p:nvSpPr>
        <p:spPr>
          <a:xfrm>
            <a:off x="1609344" y="4828032"/>
            <a:ext cx="3764264" cy="310896"/>
          </a:xfrm>
          <a:prstGeom prst="rect">
            <a:avLst/>
          </a:prstGeom>
          <a:noFill/>
        </p:spPr>
        <p:txBody>
          <a:bodyPr wrap="square" lIns="0" tIns="0" rIns="0" bIns="0">
            <a:spAutoFit/>
          </a:bodyPr>
          <a:lstStyle/>
          <a:p>
            <a:pPr algn="r">
              <a:spcBef>
                <a:spcPts val="0"/>
              </a:spcBef>
              <a:spcAft>
                <a:spcPts val="0"/>
              </a:spcAft>
            </a:pPr>
            <a:r>
              <a:rPr sz="1150" b="0">
                <a:solidFill>
                  <a:srgbClr val="93A4B7"/>
                </a:solidFill>
                <a:latin typeface="Calibri"/>
              </a:rPr>
              <a:t>Microphone in, a conversation</a:t>
            </a:r>
          </a:p>
        </p:txBody>
      </p:sp>
      <p:sp>
        <p:nvSpPr>
          <p:cNvPr id="30" name="Rounded Rectangle 29"/>
          <p:cNvSpPr/>
          <p:nvPr/>
        </p:nvSpPr>
        <p:spPr>
          <a:xfrm>
            <a:off x="5629640" y="4873752"/>
            <a:ext cx="52120" cy="173736"/>
          </a:xfrm>
          <a:prstGeom prst="roundRect">
            <a:avLst>
              <a:gd name="adj" fmla="val 40000"/>
            </a:avLst>
          </a:prstGeom>
          <a:solidFill>
            <a:srgbClr val="FF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5733882" y="4873752"/>
            <a:ext cx="52120" cy="173736"/>
          </a:xfrm>
          <a:prstGeom prst="roundRect">
            <a:avLst>
              <a:gd name="adj" fmla="val 40000"/>
            </a:avLst>
          </a:prstGeom>
          <a:solidFill>
            <a:srgbClr val="FF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640080" y="5321808"/>
            <a:ext cx="5300456" cy="530352"/>
          </a:xfrm>
          <a:prstGeom prst="roundRect">
            <a:avLst>
              <a:gd name="adj" fmla="val 3500"/>
            </a:avLst>
          </a:prstGeom>
          <a:no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41247" y="5468112"/>
            <a:ext cx="658368" cy="274320"/>
          </a:xfrm>
          <a:prstGeom prst="rect">
            <a:avLst/>
          </a:prstGeom>
          <a:noFill/>
        </p:spPr>
        <p:txBody>
          <a:bodyPr wrap="square" lIns="0" tIns="0" rIns="0" bIns="0">
            <a:spAutoFit/>
          </a:bodyPr>
          <a:lstStyle/>
          <a:p>
            <a:pPr algn="l">
              <a:spcBef>
                <a:spcPts val="0"/>
              </a:spcBef>
              <a:spcAft>
                <a:spcPts val="0"/>
              </a:spcAft>
            </a:pPr>
            <a:r>
              <a:rPr sz="1300" b="1">
                <a:solidFill>
                  <a:srgbClr val="5D6E80"/>
                </a:solidFill>
                <a:latin typeface="Courier New"/>
              </a:rPr>
              <a:t>1:40</a:t>
            </a:r>
          </a:p>
        </p:txBody>
      </p:sp>
      <p:sp>
        <p:nvSpPr>
          <p:cNvPr id="34" name="TextBox 33"/>
          <p:cNvSpPr txBox="1"/>
          <p:nvPr/>
        </p:nvSpPr>
        <p:spPr>
          <a:xfrm>
            <a:off x="1609344" y="5449824"/>
            <a:ext cx="3745976" cy="310896"/>
          </a:xfrm>
          <a:prstGeom prst="rect">
            <a:avLst/>
          </a:prstGeom>
          <a:noFill/>
        </p:spPr>
        <p:txBody>
          <a:bodyPr wrap="square" lIns="0" tIns="0" rIns="0" bIns="0">
            <a:spAutoFit/>
          </a:bodyPr>
          <a:lstStyle/>
          <a:p>
            <a:pPr algn="l">
              <a:spcBef>
                <a:spcPts val="0"/>
              </a:spcBef>
              <a:spcAft>
                <a:spcPts val="0"/>
              </a:spcAft>
            </a:pPr>
            <a:r>
              <a:rPr sz="1400" b="1">
                <a:solidFill>
                  <a:srgbClr val="E9EFF6"/>
                </a:solidFill>
                <a:latin typeface="Calibri"/>
              </a:rPr>
              <a:t>Break</a:t>
            </a:r>
          </a:p>
        </p:txBody>
      </p:sp>
      <p:sp>
        <p:nvSpPr>
          <p:cNvPr id="35" name="TextBox 34"/>
          <p:cNvSpPr txBox="1"/>
          <p:nvPr/>
        </p:nvSpPr>
        <p:spPr>
          <a:xfrm>
            <a:off x="1609344" y="5449824"/>
            <a:ext cx="4111736" cy="310896"/>
          </a:xfrm>
          <a:prstGeom prst="rect">
            <a:avLst/>
          </a:prstGeom>
          <a:noFill/>
        </p:spPr>
        <p:txBody>
          <a:bodyPr wrap="square" lIns="0" tIns="0" rIns="0" bIns="0">
            <a:spAutoFit/>
          </a:bodyPr>
          <a:lstStyle/>
          <a:p>
            <a:pPr algn="r">
              <a:spcBef>
                <a:spcPts val="0"/>
              </a:spcBef>
              <a:spcAft>
                <a:spcPts val="0"/>
              </a:spcAft>
            </a:pPr>
            <a:r>
              <a:rPr sz="1150" b="0">
                <a:solidFill>
                  <a:srgbClr val="93A4B7"/>
                </a:solidFill>
                <a:latin typeface="Calibri"/>
              </a:rPr>
              <a:t>Ten minutes</a:t>
            </a:r>
          </a:p>
        </p:txBody>
      </p:sp>
      <p:sp>
        <p:nvSpPr>
          <p:cNvPr id="36" name="Rounded Rectangle 35"/>
          <p:cNvSpPr/>
          <p:nvPr/>
        </p:nvSpPr>
        <p:spPr>
          <a:xfrm>
            <a:off x="6251432" y="2212848"/>
            <a:ext cx="5300456" cy="530352"/>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452600" y="2359152"/>
            <a:ext cx="658368" cy="274320"/>
          </a:xfrm>
          <a:prstGeom prst="rect">
            <a:avLst/>
          </a:prstGeom>
          <a:noFill/>
        </p:spPr>
        <p:txBody>
          <a:bodyPr wrap="square" lIns="0" tIns="0" rIns="0" bIns="0">
            <a:spAutoFit/>
          </a:bodyPr>
          <a:lstStyle/>
          <a:p>
            <a:pPr algn="l">
              <a:spcBef>
                <a:spcPts val="0"/>
              </a:spcBef>
              <a:spcAft>
                <a:spcPts val="0"/>
              </a:spcAft>
            </a:pPr>
            <a:r>
              <a:rPr sz="1300" b="1">
                <a:solidFill>
                  <a:srgbClr val="13EF93"/>
                </a:solidFill>
                <a:latin typeface="Courier New"/>
              </a:rPr>
              <a:t>1:50</a:t>
            </a:r>
          </a:p>
        </p:txBody>
      </p:sp>
      <p:sp>
        <p:nvSpPr>
          <p:cNvPr id="38" name="TextBox 37"/>
          <p:cNvSpPr txBox="1"/>
          <p:nvPr/>
        </p:nvSpPr>
        <p:spPr>
          <a:xfrm>
            <a:off x="7220696" y="2340864"/>
            <a:ext cx="3745976" cy="310896"/>
          </a:xfrm>
          <a:prstGeom prst="rect">
            <a:avLst/>
          </a:prstGeom>
          <a:noFill/>
        </p:spPr>
        <p:txBody>
          <a:bodyPr wrap="square" lIns="0" tIns="0" rIns="0" bIns="0">
            <a:spAutoFit/>
          </a:bodyPr>
          <a:lstStyle/>
          <a:p>
            <a:pPr algn="l">
              <a:spcBef>
                <a:spcPts val="0"/>
              </a:spcBef>
              <a:spcAft>
                <a:spcPts val="0"/>
              </a:spcAft>
            </a:pPr>
            <a:r>
              <a:rPr sz="1400" b="1">
                <a:solidFill>
                  <a:srgbClr val="E9EFF6"/>
                </a:solidFill>
                <a:latin typeface="Calibri"/>
              </a:rPr>
              <a:t>Barge-in</a:t>
            </a:r>
          </a:p>
        </p:txBody>
      </p:sp>
      <p:sp>
        <p:nvSpPr>
          <p:cNvPr id="39" name="TextBox 38"/>
          <p:cNvSpPr txBox="1"/>
          <p:nvPr/>
        </p:nvSpPr>
        <p:spPr>
          <a:xfrm>
            <a:off x="7220696" y="2340864"/>
            <a:ext cx="3764264" cy="310896"/>
          </a:xfrm>
          <a:prstGeom prst="rect">
            <a:avLst/>
          </a:prstGeom>
          <a:noFill/>
        </p:spPr>
        <p:txBody>
          <a:bodyPr wrap="square" lIns="0" tIns="0" rIns="0" bIns="0">
            <a:spAutoFit/>
          </a:bodyPr>
          <a:lstStyle/>
          <a:p>
            <a:pPr algn="r">
              <a:spcBef>
                <a:spcPts val="0"/>
              </a:spcBef>
              <a:spcAft>
                <a:spcPts val="0"/>
              </a:spcAft>
            </a:pPr>
            <a:r>
              <a:rPr sz="1150" b="0">
                <a:solidFill>
                  <a:srgbClr val="93A4B7"/>
                </a:solidFill>
                <a:latin typeface="Calibri"/>
              </a:rPr>
              <a:t>Interrupting it mid-sentence</a:t>
            </a:r>
          </a:p>
        </p:txBody>
      </p:sp>
      <p:sp>
        <p:nvSpPr>
          <p:cNvPr id="40" name="Rounded Rectangle 39"/>
          <p:cNvSpPr/>
          <p:nvPr/>
        </p:nvSpPr>
        <p:spPr>
          <a:xfrm>
            <a:off x="11240993" y="2386584"/>
            <a:ext cx="52120" cy="173736"/>
          </a:xfrm>
          <a:prstGeom prst="roundRect">
            <a:avLst>
              <a:gd name="adj" fmla="val 40000"/>
            </a:avLst>
          </a:prstGeom>
          <a:solidFill>
            <a:srgbClr val="FF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11345235" y="2386584"/>
            <a:ext cx="52120" cy="173736"/>
          </a:xfrm>
          <a:prstGeom prst="roundRect">
            <a:avLst>
              <a:gd name="adj" fmla="val 40000"/>
            </a:avLst>
          </a:prstGeom>
          <a:solidFill>
            <a:srgbClr val="FF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41"/>
          <p:cNvSpPr/>
          <p:nvPr/>
        </p:nvSpPr>
        <p:spPr>
          <a:xfrm>
            <a:off x="6251432" y="2834640"/>
            <a:ext cx="5300456" cy="530352"/>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452600" y="2980944"/>
            <a:ext cx="658368" cy="274320"/>
          </a:xfrm>
          <a:prstGeom prst="rect">
            <a:avLst/>
          </a:prstGeom>
          <a:noFill/>
        </p:spPr>
        <p:txBody>
          <a:bodyPr wrap="square" lIns="0" tIns="0" rIns="0" bIns="0">
            <a:spAutoFit/>
          </a:bodyPr>
          <a:lstStyle/>
          <a:p>
            <a:pPr algn="l">
              <a:spcBef>
                <a:spcPts val="0"/>
              </a:spcBef>
              <a:spcAft>
                <a:spcPts val="0"/>
              </a:spcAft>
            </a:pPr>
            <a:r>
              <a:rPr sz="1300" b="1">
                <a:solidFill>
                  <a:srgbClr val="13EF93"/>
                </a:solidFill>
                <a:latin typeface="Courier New"/>
              </a:rPr>
              <a:t>2:15</a:t>
            </a:r>
          </a:p>
        </p:txBody>
      </p:sp>
      <p:sp>
        <p:nvSpPr>
          <p:cNvPr id="44" name="TextBox 43"/>
          <p:cNvSpPr txBox="1"/>
          <p:nvPr/>
        </p:nvSpPr>
        <p:spPr>
          <a:xfrm>
            <a:off x="7220696" y="2962656"/>
            <a:ext cx="3745976" cy="310896"/>
          </a:xfrm>
          <a:prstGeom prst="rect">
            <a:avLst/>
          </a:prstGeom>
          <a:noFill/>
        </p:spPr>
        <p:txBody>
          <a:bodyPr wrap="square" lIns="0" tIns="0" rIns="0" bIns="0">
            <a:spAutoFit/>
          </a:bodyPr>
          <a:lstStyle/>
          <a:p>
            <a:pPr algn="l">
              <a:spcBef>
                <a:spcPts val="0"/>
              </a:spcBef>
              <a:spcAft>
                <a:spcPts val="0"/>
              </a:spcAft>
            </a:pPr>
            <a:r>
              <a:rPr sz="1400" b="1">
                <a:solidFill>
                  <a:srgbClr val="E9EFF6"/>
                </a:solidFill>
                <a:latin typeface="Calibri"/>
              </a:rPr>
              <a:t>Make it yours</a:t>
            </a:r>
          </a:p>
        </p:txBody>
      </p:sp>
      <p:sp>
        <p:nvSpPr>
          <p:cNvPr id="45" name="TextBox 44"/>
          <p:cNvSpPr txBox="1"/>
          <p:nvPr/>
        </p:nvSpPr>
        <p:spPr>
          <a:xfrm>
            <a:off x="7220696" y="2962656"/>
            <a:ext cx="3764264" cy="310896"/>
          </a:xfrm>
          <a:prstGeom prst="rect">
            <a:avLst/>
          </a:prstGeom>
          <a:noFill/>
        </p:spPr>
        <p:txBody>
          <a:bodyPr wrap="square" lIns="0" tIns="0" rIns="0" bIns="0">
            <a:spAutoFit/>
          </a:bodyPr>
          <a:lstStyle/>
          <a:p>
            <a:pPr algn="r">
              <a:spcBef>
                <a:spcPts val="0"/>
              </a:spcBef>
              <a:spcAft>
                <a:spcPts val="0"/>
              </a:spcAft>
            </a:pPr>
            <a:r>
              <a:rPr sz="1150" b="0">
                <a:solidFill>
                  <a:srgbClr val="93A4B7"/>
                </a:solidFill>
                <a:latin typeface="Calibri"/>
              </a:rPr>
              <a:t>Prompt, persona, voice</a:t>
            </a:r>
          </a:p>
        </p:txBody>
      </p:sp>
      <p:sp>
        <p:nvSpPr>
          <p:cNvPr id="46" name="Rounded Rectangle 45"/>
          <p:cNvSpPr/>
          <p:nvPr/>
        </p:nvSpPr>
        <p:spPr>
          <a:xfrm>
            <a:off x="11240993" y="3008376"/>
            <a:ext cx="52120" cy="173736"/>
          </a:xfrm>
          <a:prstGeom prst="roundRect">
            <a:avLst>
              <a:gd name="adj" fmla="val 40000"/>
            </a:avLst>
          </a:prstGeom>
          <a:solidFill>
            <a:srgbClr val="FF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ounded Rectangle 46"/>
          <p:cNvSpPr/>
          <p:nvPr/>
        </p:nvSpPr>
        <p:spPr>
          <a:xfrm>
            <a:off x="11345235" y="3008376"/>
            <a:ext cx="52120" cy="173736"/>
          </a:xfrm>
          <a:prstGeom prst="roundRect">
            <a:avLst>
              <a:gd name="adj" fmla="val 40000"/>
            </a:avLst>
          </a:prstGeom>
          <a:solidFill>
            <a:srgbClr val="FF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ounded Rectangle 47"/>
          <p:cNvSpPr/>
          <p:nvPr/>
        </p:nvSpPr>
        <p:spPr>
          <a:xfrm>
            <a:off x="6251432" y="3456432"/>
            <a:ext cx="5300456" cy="530352"/>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452600" y="3602736"/>
            <a:ext cx="658368" cy="274320"/>
          </a:xfrm>
          <a:prstGeom prst="rect">
            <a:avLst/>
          </a:prstGeom>
          <a:noFill/>
        </p:spPr>
        <p:txBody>
          <a:bodyPr wrap="square" lIns="0" tIns="0" rIns="0" bIns="0">
            <a:spAutoFit/>
          </a:bodyPr>
          <a:lstStyle/>
          <a:p>
            <a:pPr algn="l">
              <a:spcBef>
                <a:spcPts val="0"/>
              </a:spcBef>
              <a:spcAft>
                <a:spcPts val="0"/>
              </a:spcAft>
            </a:pPr>
            <a:r>
              <a:rPr sz="1300" b="1">
                <a:solidFill>
                  <a:srgbClr val="13EF93"/>
                </a:solidFill>
                <a:latin typeface="Courier New"/>
              </a:rPr>
              <a:t>2:35</a:t>
            </a:r>
          </a:p>
        </p:txBody>
      </p:sp>
      <p:sp>
        <p:nvSpPr>
          <p:cNvPr id="50" name="TextBox 49"/>
          <p:cNvSpPr txBox="1"/>
          <p:nvPr/>
        </p:nvSpPr>
        <p:spPr>
          <a:xfrm>
            <a:off x="7220696" y="3584448"/>
            <a:ext cx="3745976" cy="310896"/>
          </a:xfrm>
          <a:prstGeom prst="rect">
            <a:avLst/>
          </a:prstGeom>
          <a:noFill/>
        </p:spPr>
        <p:txBody>
          <a:bodyPr wrap="square" lIns="0" tIns="0" rIns="0" bIns="0">
            <a:spAutoFit/>
          </a:bodyPr>
          <a:lstStyle/>
          <a:p>
            <a:pPr algn="l">
              <a:spcBef>
                <a:spcPts val="0"/>
              </a:spcBef>
              <a:spcAft>
                <a:spcPts val="0"/>
              </a:spcAft>
            </a:pPr>
            <a:r>
              <a:rPr sz="1400" b="1">
                <a:solidFill>
                  <a:srgbClr val="E9EFF6"/>
                </a:solidFill>
                <a:latin typeface="Calibri"/>
              </a:rPr>
              <a:t>Function calling</a:t>
            </a:r>
          </a:p>
        </p:txBody>
      </p:sp>
      <p:sp>
        <p:nvSpPr>
          <p:cNvPr id="51" name="TextBox 50"/>
          <p:cNvSpPr txBox="1"/>
          <p:nvPr/>
        </p:nvSpPr>
        <p:spPr>
          <a:xfrm>
            <a:off x="7220696" y="3584448"/>
            <a:ext cx="3764264" cy="310896"/>
          </a:xfrm>
          <a:prstGeom prst="rect">
            <a:avLst/>
          </a:prstGeom>
          <a:noFill/>
        </p:spPr>
        <p:txBody>
          <a:bodyPr wrap="square" lIns="0" tIns="0" rIns="0" bIns="0">
            <a:spAutoFit/>
          </a:bodyPr>
          <a:lstStyle/>
          <a:p>
            <a:pPr algn="r">
              <a:spcBef>
                <a:spcPts val="0"/>
              </a:spcBef>
              <a:spcAft>
                <a:spcPts val="0"/>
              </a:spcAft>
            </a:pPr>
            <a:r>
              <a:rPr sz="1150" b="0">
                <a:solidFill>
                  <a:srgbClr val="93A4B7"/>
                </a:solidFill>
                <a:latin typeface="Calibri"/>
              </a:rPr>
              <a:t>It answers from your data</a:t>
            </a:r>
          </a:p>
        </p:txBody>
      </p:sp>
      <p:sp>
        <p:nvSpPr>
          <p:cNvPr id="52" name="Rounded Rectangle 51"/>
          <p:cNvSpPr/>
          <p:nvPr/>
        </p:nvSpPr>
        <p:spPr>
          <a:xfrm>
            <a:off x="11240993" y="3630168"/>
            <a:ext cx="52120" cy="173736"/>
          </a:xfrm>
          <a:prstGeom prst="roundRect">
            <a:avLst>
              <a:gd name="adj" fmla="val 40000"/>
            </a:avLst>
          </a:prstGeom>
          <a:solidFill>
            <a:srgbClr val="FF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ounded Rectangle 52"/>
          <p:cNvSpPr/>
          <p:nvPr/>
        </p:nvSpPr>
        <p:spPr>
          <a:xfrm>
            <a:off x="11345235" y="3630168"/>
            <a:ext cx="52120" cy="173736"/>
          </a:xfrm>
          <a:prstGeom prst="roundRect">
            <a:avLst>
              <a:gd name="adj" fmla="val 40000"/>
            </a:avLst>
          </a:prstGeom>
          <a:solidFill>
            <a:srgbClr val="FF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ounded Rectangle 53"/>
          <p:cNvSpPr/>
          <p:nvPr/>
        </p:nvSpPr>
        <p:spPr>
          <a:xfrm>
            <a:off x="6251432" y="4078224"/>
            <a:ext cx="5300456" cy="530352"/>
          </a:xfrm>
          <a:prstGeom prst="roundRect">
            <a:avLst>
              <a:gd name="adj" fmla="val 3500"/>
            </a:avLst>
          </a:prstGeom>
          <a:no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6452600" y="4224528"/>
            <a:ext cx="658368" cy="274320"/>
          </a:xfrm>
          <a:prstGeom prst="rect">
            <a:avLst/>
          </a:prstGeom>
          <a:noFill/>
        </p:spPr>
        <p:txBody>
          <a:bodyPr wrap="square" lIns="0" tIns="0" rIns="0" bIns="0">
            <a:spAutoFit/>
          </a:bodyPr>
          <a:lstStyle/>
          <a:p>
            <a:pPr algn="l">
              <a:spcBef>
                <a:spcPts val="0"/>
              </a:spcBef>
              <a:spcAft>
                <a:spcPts val="0"/>
              </a:spcAft>
            </a:pPr>
            <a:r>
              <a:rPr sz="1300" b="1">
                <a:solidFill>
                  <a:srgbClr val="5D6E80"/>
                </a:solidFill>
                <a:latin typeface="Courier New"/>
              </a:rPr>
              <a:t>3:05</a:t>
            </a:r>
          </a:p>
        </p:txBody>
      </p:sp>
      <p:sp>
        <p:nvSpPr>
          <p:cNvPr id="56" name="TextBox 55"/>
          <p:cNvSpPr txBox="1"/>
          <p:nvPr/>
        </p:nvSpPr>
        <p:spPr>
          <a:xfrm>
            <a:off x="7220696" y="4206240"/>
            <a:ext cx="3745976" cy="310896"/>
          </a:xfrm>
          <a:prstGeom prst="rect">
            <a:avLst/>
          </a:prstGeom>
          <a:noFill/>
        </p:spPr>
        <p:txBody>
          <a:bodyPr wrap="square" lIns="0" tIns="0" rIns="0" bIns="0">
            <a:spAutoFit/>
          </a:bodyPr>
          <a:lstStyle/>
          <a:p>
            <a:pPr algn="l">
              <a:spcBef>
                <a:spcPts val="0"/>
              </a:spcBef>
              <a:spcAft>
                <a:spcPts val="0"/>
              </a:spcAft>
            </a:pPr>
            <a:r>
              <a:rPr sz="1400" b="1">
                <a:solidFill>
                  <a:srgbClr val="E9EFF6"/>
                </a:solidFill>
                <a:latin typeface="Calibri"/>
              </a:rPr>
              <a:t>Optimization</a:t>
            </a:r>
          </a:p>
        </p:txBody>
      </p:sp>
      <p:sp>
        <p:nvSpPr>
          <p:cNvPr id="57" name="TextBox 56"/>
          <p:cNvSpPr txBox="1"/>
          <p:nvPr/>
        </p:nvSpPr>
        <p:spPr>
          <a:xfrm>
            <a:off x="7220696" y="4206240"/>
            <a:ext cx="4111736" cy="310896"/>
          </a:xfrm>
          <a:prstGeom prst="rect">
            <a:avLst/>
          </a:prstGeom>
          <a:noFill/>
        </p:spPr>
        <p:txBody>
          <a:bodyPr wrap="square" lIns="0" tIns="0" rIns="0" bIns="0">
            <a:spAutoFit/>
          </a:bodyPr>
          <a:lstStyle/>
          <a:p>
            <a:pPr algn="r">
              <a:spcBef>
                <a:spcPts val="0"/>
              </a:spcBef>
              <a:spcAft>
                <a:spcPts val="0"/>
              </a:spcAft>
            </a:pPr>
            <a:r>
              <a:rPr sz="1150" b="0">
                <a:solidFill>
                  <a:srgbClr val="93A4B7"/>
                </a:solidFill>
                <a:latin typeface="Calibri"/>
              </a:rPr>
              <a:t>Turn thresholds and latency</a:t>
            </a:r>
          </a:p>
        </p:txBody>
      </p:sp>
      <p:sp>
        <p:nvSpPr>
          <p:cNvPr id="58" name="Rounded Rectangle 57"/>
          <p:cNvSpPr/>
          <p:nvPr/>
        </p:nvSpPr>
        <p:spPr>
          <a:xfrm>
            <a:off x="6251432" y="4700016"/>
            <a:ext cx="5300456" cy="530352"/>
          </a:xfrm>
          <a:prstGeom prst="roundRect">
            <a:avLst>
              <a:gd name="adj" fmla="val 3500"/>
            </a:avLst>
          </a:prstGeom>
          <a:no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6452600" y="4846320"/>
            <a:ext cx="658368" cy="274320"/>
          </a:xfrm>
          <a:prstGeom prst="rect">
            <a:avLst/>
          </a:prstGeom>
          <a:noFill/>
        </p:spPr>
        <p:txBody>
          <a:bodyPr wrap="square" lIns="0" tIns="0" rIns="0" bIns="0">
            <a:spAutoFit/>
          </a:bodyPr>
          <a:lstStyle/>
          <a:p>
            <a:pPr algn="l">
              <a:spcBef>
                <a:spcPts val="0"/>
              </a:spcBef>
              <a:spcAft>
                <a:spcPts val="0"/>
              </a:spcAft>
            </a:pPr>
            <a:r>
              <a:rPr sz="1300" b="1">
                <a:solidFill>
                  <a:srgbClr val="5D6E80"/>
                </a:solidFill>
                <a:latin typeface="Courier New"/>
              </a:rPr>
              <a:t>3:20</a:t>
            </a:r>
          </a:p>
        </p:txBody>
      </p:sp>
      <p:sp>
        <p:nvSpPr>
          <p:cNvPr id="60" name="TextBox 59"/>
          <p:cNvSpPr txBox="1"/>
          <p:nvPr/>
        </p:nvSpPr>
        <p:spPr>
          <a:xfrm>
            <a:off x="7220696" y="4828032"/>
            <a:ext cx="3745976" cy="310896"/>
          </a:xfrm>
          <a:prstGeom prst="rect">
            <a:avLst/>
          </a:prstGeom>
          <a:noFill/>
        </p:spPr>
        <p:txBody>
          <a:bodyPr wrap="square" lIns="0" tIns="0" rIns="0" bIns="0">
            <a:spAutoFit/>
          </a:bodyPr>
          <a:lstStyle/>
          <a:p>
            <a:pPr algn="l">
              <a:spcBef>
                <a:spcPts val="0"/>
              </a:spcBef>
              <a:spcAft>
                <a:spcPts val="0"/>
              </a:spcAft>
            </a:pPr>
            <a:r>
              <a:rPr sz="1400" b="1">
                <a:solidFill>
                  <a:srgbClr val="E9EFF6"/>
                </a:solidFill>
                <a:latin typeface="Calibri"/>
              </a:rPr>
              <a:t>Wrap</a:t>
            </a:r>
          </a:p>
        </p:txBody>
      </p:sp>
      <p:sp>
        <p:nvSpPr>
          <p:cNvPr id="61" name="TextBox 60"/>
          <p:cNvSpPr txBox="1"/>
          <p:nvPr/>
        </p:nvSpPr>
        <p:spPr>
          <a:xfrm>
            <a:off x="7220696" y="4828032"/>
            <a:ext cx="4111736" cy="310896"/>
          </a:xfrm>
          <a:prstGeom prst="rect">
            <a:avLst/>
          </a:prstGeom>
          <a:noFill/>
        </p:spPr>
        <p:txBody>
          <a:bodyPr wrap="square" lIns="0" tIns="0" rIns="0" bIns="0">
            <a:spAutoFit/>
          </a:bodyPr>
          <a:lstStyle/>
          <a:p>
            <a:pPr algn="r">
              <a:spcBef>
                <a:spcPts val="0"/>
              </a:spcBef>
              <a:spcAft>
                <a:spcPts val="0"/>
              </a:spcAft>
            </a:pPr>
            <a:r>
              <a:rPr sz="1150" b="0">
                <a:solidFill>
                  <a:srgbClr val="93A4B7"/>
                </a:solidFill>
                <a:latin typeface="Calibri"/>
              </a:rPr>
              <a:t>Where to go next, and questions</a:t>
            </a:r>
          </a:p>
        </p:txBody>
      </p:sp>
      <p:sp>
        <p:nvSpPr>
          <p:cNvPr id="62" name="Rounded Rectangle 61"/>
          <p:cNvSpPr/>
          <p:nvPr/>
        </p:nvSpPr>
        <p:spPr>
          <a:xfrm>
            <a:off x="6251432" y="5321808"/>
            <a:ext cx="5300456" cy="1207008"/>
          </a:xfrm>
          <a:prstGeom prst="roundRect">
            <a:avLst>
              <a:gd name="adj" fmla="val 3500"/>
            </a:avLst>
          </a:prstGeom>
          <a:solidFill>
            <a:srgbClr val="17222E"/>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6489176" y="5504688"/>
            <a:ext cx="4824968" cy="914400"/>
          </a:xfrm>
          <a:prstGeom prst="rect">
            <a:avLst/>
          </a:prstGeom>
          <a:noFill/>
        </p:spPr>
        <p:txBody>
          <a:bodyPr wrap="square" lIns="0" tIns="0" rIns="0" bIns="0">
            <a:spAutoFit/>
          </a:bodyPr>
          <a:lstStyle/>
          <a:p>
            <a:pPr algn="l">
              <a:spcBef>
                <a:spcPts val="0"/>
              </a:spcBef>
              <a:spcAft>
                <a:spcPts val="0"/>
              </a:spcAft>
            </a:pPr>
            <a:r>
              <a:rPr sz="1050" b="1">
                <a:solidFill>
                  <a:srgbClr val="FF7A6B"/>
                </a:solidFill>
                <a:latin typeface="Calibri"/>
              </a:rPr>
              <a:t>IF WE RUN LONG</a:t>
            </a:r>
          </a:p>
          <a:p>
            <a:pPr algn="l">
              <a:lnSpc>
                <a:spcPct val="128000"/>
              </a:lnSpc>
              <a:spcBef>
                <a:spcPts val="600"/>
              </a:spcBef>
              <a:spcAft>
                <a:spcPts val="0"/>
              </a:spcAft>
            </a:pPr>
            <a:r>
              <a:rPr sz="1250" b="0">
                <a:solidFill>
                  <a:srgbClr val="93A4B7"/>
                </a:solidFill>
                <a:latin typeface="Calibri"/>
              </a:rPr>
              <a:t>Step 8 goes first — it's dials rather than code and makes a clean take-home. Step 7's exercises go second. Step 5 never goes.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70B10"/>
        </a:solidFill>
        <a:effectLst/>
      </p:bgPr>
    </p:bg>
    <p:spTree>
      <p:nvGrpSpPr>
        <p:cNvPr id="1" name=""/>
        <p:cNvGrpSpPr/>
        <p:nvPr/>
      </p:nvGrpSpPr>
      <p:grpSpPr>
        <a:xfrm>
          <a:off x="0" y="0"/>
          <a:ext cx="0" cy="0"/>
          <a:chOff x="0" y="0"/>
          <a:chExt cx="0" cy="0"/>
        </a:xfrm>
      </p:grpSpPr>
      <p:sp>
        <p:nvSpPr>
          <p:cNvPr id="2" name="TextBox 1"/>
          <p:cNvSpPr txBox="1"/>
          <p:nvPr/>
        </p:nvSpPr>
        <p:spPr>
          <a:xfrm>
            <a:off x="640080" y="475488"/>
            <a:ext cx="10911809" cy="237744"/>
          </a:xfrm>
          <a:prstGeom prst="rect">
            <a:avLst/>
          </a:prstGeom>
          <a:noFill/>
        </p:spPr>
        <p:txBody>
          <a:bodyPr wrap="square" lIns="0" tIns="0" rIns="0" bIns="0">
            <a:spAutoFit/>
          </a:bodyPr>
          <a:lstStyle/>
          <a:p>
            <a:pPr algn="l">
              <a:spcBef>
                <a:spcPts val="0"/>
              </a:spcBef>
              <a:spcAft>
                <a:spcPts val="0"/>
              </a:spcAft>
            </a:pPr>
            <a:r>
              <a:rPr sz="1050" b="1">
                <a:solidFill>
                  <a:srgbClr val="13EF93"/>
                </a:solidFill>
                <a:latin typeface="Calibri"/>
              </a:rPr>
              <a:t>STEP 0  ·  THE ONLY BLOCK WHERE YOU TALK</a:t>
            </a:r>
          </a:p>
        </p:txBody>
      </p:sp>
      <p:sp>
        <p:nvSpPr>
          <p:cNvPr id="3" name="TextBox 2"/>
          <p:cNvSpPr txBox="1"/>
          <p:nvPr/>
        </p:nvSpPr>
        <p:spPr>
          <a:xfrm>
            <a:off x="640080" y="786384"/>
            <a:ext cx="10911809" cy="548640"/>
          </a:xfrm>
          <a:prstGeom prst="rect">
            <a:avLst/>
          </a:prstGeom>
          <a:noFill/>
        </p:spPr>
        <p:txBody>
          <a:bodyPr wrap="square" lIns="0" tIns="0" rIns="0" bIns="0">
            <a:spAutoFit/>
          </a:bodyPr>
          <a:lstStyle/>
          <a:p>
            <a:pPr algn="l">
              <a:spcBef>
                <a:spcPts val="0"/>
              </a:spcBef>
              <a:spcAft>
                <a:spcPts val="0"/>
              </a:spcAft>
            </a:pPr>
            <a:r>
              <a:rPr sz="3100" b="1">
                <a:solidFill>
                  <a:srgbClr val="E9EFF6"/>
                </a:solidFill>
                <a:latin typeface="Calibri"/>
              </a:rPr>
              <a:t>A voice agent is three models in a loop</a:t>
            </a:r>
          </a:p>
        </p:txBody>
      </p:sp>
      <p:sp>
        <p:nvSpPr>
          <p:cNvPr id="4" name="TextBox 3"/>
          <p:cNvSpPr txBox="1"/>
          <p:nvPr/>
        </p:nvSpPr>
        <p:spPr>
          <a:xfrm>
            <a:off x="640080" y="1499616"/>
            <a:ext cx="9692640" cy="548640"/>
          </a:xfrm>
          <a:prstGeom prst="rect">
            <a:avLst/>
          </a:prstGeom>
          <a:noFill/>
        </p:spPr>
        <p:txBody>
          <a:bodyPr wrap="square" lIns="0" tIns="0" rIns="0" bIns="0">
            <a:spAutoFit/>
          </a:bodyPr>
          <a:lstStyle/>
          <a:p>
            <a:pPr algn="l">
              <a:lnSpc>
                <a:spcPct val="128000"/>
              </a:lnSpc>
              <a:spcBef>
                <a:spcPts val="0"/>
              </a:spcBef>
              <a:spcAft>
                <a:spcPts val="0"/>
              </a:spcAft>
            </a:pPr>
            <a:r>
              <a:rPr sz="1450" b="0">
                <a:solidFill>
                  <a:srgbClr val="93A4B7"/>
                </a:solidFill>
                <a:latin typeface="Calibri"/>
              </a:rPr>
              <a:t>Audio comes in, audio goes out, and a model in the middle decides what to say.</a:t>
            </a:r>
          </a:p>
        </p:txBody>
      </p:sp>
      <p:sp>
        <p:nvSpPr>
          <p:cNvPr id="5" name="Rounded Rectangle 4"/>
          <p:cNvSpPr/>
          <p:nvPr/>
        </p:nvSpPr>
        <p:spPr>
          <a:xfrm>
            <a:off x="640080" y="2267712"/>
            <a:ext cx="3259317" cy="1700784"/>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96112" y="2505456"/>
            <a:ext cx="2747253" cy="1280160"/>
          </a:xfrm>
          <a:prstGeom prst="rect">
            <a:avLst/>
          </a:prstGeom>
          <a:noFill/>
        </p:spPr>
        <p:txBody>
          <a:bodyPr wrap="square" lIns="0" tIns="0" rIns="0" bIns="0">
            <a:spAutoFit/>
          </a:bodyPr>
          <a:lstStyle/>
          <a:p>
            <a:pPr algn="l">
              <a:spcBef>
                <a:spcPts val="0"/>
              </a:spcBef>
              <a:spcAft>
                <a:spcPts val="0"/>
              </a:spcAft>
            </a:pPr>
            <a:r>
              <a:rPr sz="1050" b="1">
                <a:solidFill>
                  <a:srgbClr val="5D6E80"/>
                </a:solidFill>
                <a:latin typeface="Calibri"/>
              </a:rPr>
              <a:t>SPEECH TO TEXT</a:t>
            </a:r>
          </a:p>
          <a:p>
            <a:pPr algn="l">
              <a:spcBef>
                <a:spcPts val="800"/>
              </a:spcBef>
              <a:spcAft>
                <a:spcPts val="0"/>
              </a:spcAft>
            </a:pPr>
            <a:r>
              <a:rPr sz="2500" b="1">
                <a:solidFill>
                  <a:srgbClr val="13EF93"/>
                </a:solidFill>
                <a:latin typeface="Courier New"/>
              </a:rPr>
              <a:t>Flux</a:t>
            </a:r>
          </a:p>
          <a:p>
            <a:pPr algn="l">
              <a:spcBef>
                <a:spcPts val="800"/>
              </a:spcBef>
              <a:spcAft>
                <a:spcPts val="0"/>
              </a:spcAft>
            </a:pPr>
            <a:r>
              <a:rPr sz="1400" b="0">
                <a:solidFill>
                  <a:srgbClr val="93A4B7"/>
                </a:solidFill>
                <a:latin typeface="Calibri"/>
              </a:rPr>
              <a:t>hears you</a:t>
            </a:r>
          </a:p>
        </p:txBody>
      </p:sp>
      <p:sp>
        <p:nvSpPr>
          <p:cNvPr id="7" name="Rectangle 6"/>
          <p:cNvSpPr/>
          <p:nvPr/>
        </p:nvSpPr>
        <p:spPr>
          <a:xfrm>
            <a:off x="3999981" y="3090672"/>
            <a:ext cx="365760" cy="41148"/>
          </a:xfrm>
          <a:prstGeom prst="rect">
            <a:avLst/>
          </a:prstGeom>
          <a:solidFill>
            <a:srgbClr val="0D6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Isosceles Triangle 7"/>
          <p:cNvSpPr/>
          <p:nvPr/>
        </p:nvSpPr>
        <p:spPr>
          <a:xfrm rot="5400000">
            <a:off x="4292589" y="2990088"/>
            <a:ext cx="155448" cy="237744"/>
          </a:xfrm>
          <a:prstGeom prst="triangle">
            <a:avLst/>
          </a:prstGeom>
          <a:solidFill>
            <a:srgbClr val="0D6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466325" y="2267712"/>
            <a:ext cx="3259317" cy="1700784"/>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22357" y="2505456"/>
            <a:ext cx="2747253" cy="1280160"/>
          </a:xfrm>
          <a:prstGeom prst="rect">
            <a:avLst/>
          </a:prstGeom>
          <a:noFill/>
        </p:spPr>
        <p:txBody>
          <a:bodyPr wrap="square" lIns="0" tIns="0" rIns="0" bIns="0">
            <a:spAutoFit/>
          </a:bodyPr>
          <a:lstStyle/>
          <a:p>
            <a:pPr algn="l">
              <a:spcBef>
                <a:spcPts val="0"/>
              </a:spcBef>
              <a:spcAft>
                <a:spcPts val="0"/>
              </a:spcAft>
            </a:pPr>
            <a:r>
              <a:rPr sz="1050" b="1">
                <a:solidFill>
                  <a:srgbClr val="5D6E80"/>
                </a:solidFill>
                <a:latin typeface="Calibri"/>
              </a:rPr>
              <a:t>THE BRAIN</a:t>
            </a:r>
          </a:p>
          <a:p>
            <a:pPr algn="l">
              <a:spcBef>
                <a:spcPts val="800"/>
              </a:spcBef>
              <a:spcAft>
                <a:spcPts val="0"/>
              </a:spcAft>
            </a:pPr>
            <a:r>
              <a:rPr sz="2500" b="1">
                <a:solidFill>
                  <a:srgbClr val="E9EFF6"/>
                </a:solidFill>
                <a:latin typeface="Courier New"/>
              </a:rPr>
              <a:t>gpt-4o-mini</a:t>
            </a:r>
          </a:p>
          <a:p>
            <a:pPr algn="l">
              <a:spcBef>
                <a:spcPts val="800"/>
              </a:spcBef>
              <a:spcAft>
                <a:spcPts val="0"/>
              </a:spcAft>
            </a:pPr>
            <a:r>
              <a:rPr sz="1400" b="0">
                <a:solidFill>
                  <a:srgbClr val="93A4B7"/>
                </a:solidFill>
                <a:latin typeface="Calibri"/>
              </a:rPr>
              <a:t>decides what to say</a:t>
            </a:r>
          </a:p>
        </p:txBody>
      </p:sp>
      <p:sp>
        <p:nvSpPr>
          <p:cNvPr id="11" name="Rectangle 10"/>
          <p:cNvSpPr/>
          <p:nvPr/>
        </p:nvSpPr>
        <p:spPr>
          <a:xfrm>
            <a:off x="7826227" y="3090672"/>
            <a:ext cx="365760" cy="41148"/>
          </a:xfrm>
          <a:prstGeom prst="rect">
            <a:avLst/>
          </a:prstGeom>
          <a:solidFill>
            <a:srgbClr val="0D6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Isosceles Triangle 11"/>
          <p:cNvSpPr/>
          <p:nvPr/>
        </p:nvSpPr>
        <p:spPr>
          <a:xfrm rot="5400000">
            <a:off x="8118835" y="2990088"/>
            <a:ext cx="155448" cy="237744"/>
          </a:xfrm>
          <a:prstGeom prst="triangle">
            <a:avLst/>
          </a:prstGeom>
          <a:solidFill>
            <a:srgbClr val="0D6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292571" y="2267712"/>
            <a:ext cx="3259317" cy="1700784"/>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548603" y="2505456"/>
            <a:ext cx="2747253" cy="1280160"/>
          </a:xfrm>
          <a:prstGeom prst="rect">
            <a:avLst/>
          </a:prstGeom>
          <a:noFill/>
        </p:spPr>
        <p:txBody>
          <a:bodyPr wrap="square" lIns="0" tIns="0" rIns="0" bIns="0">
            <a:spAutoFit/>
          </a:bodyPr>
          <a:lstStyle/>
          <a:p>
            <a:pPr algn="l">
              <a:spcBef>
                <a:spcPts val="0"/>
              </a:spcBef>
              <a:spcAft>
                <a:spcPts val="0"/>
              </a:spcAft>
            </a:pPr>
            <a:r>
              <a:rPr sz="1050" b="1">
                <a:solidFill>
                  <a:srgbClr val="5D6E80"/>
                </a:solidFill>
                <a:latin typeface="Calibri"/>
              </a:rPr>
              <a:t>TEXT TO SPEECH</a:t>
            </a:r>
          </a:p>
          <a:p>
            <a:pPr algn="l">
              <a:spcBef>
                <a:spcPts val="800"/>
              </a:spcBef>
              <a:spcAft>
                <a:spcPts val="0"/>
              </a:spcAft>
            </a:pPr>
            <a:r>
              <a:rPr sz="2500" b="1">
                <a:solidFill>
                  <a:srgbClr val="13EF93"/>
                </a:solidFill>
                <a:latin typeface="Courier New"/>
              </a:rPr>
              <a:t>Flux TTS</a:t>
            </a:r>
          </a:p>
          <a:p>
            <a:pPr algn="l">
              <a:spcBef>
                <a:spcPts val="800"/>
              </a:spcBef>
              <a:spcAft>
                <a:spcPts val="0"/>
              </a:spcAft>
            </a:pPr>
            <a:r>
              <a:rPr sz="1400" b="0">
                <a:solidFill>
                  <a:srgbClr val="93A4B7"/>
                </a:solidFill>
                <a:latin typeface="Calibri"/>
              </a:rPr>
              <a:t>says it</a:t>
            </a:r>
          </a:p>
        </p:txBody>
      </p:sp>
      <p:sp>
        <p:nvSpPr>
          <p:cNvPr id="15" name="TextBox 14"/>
          <p:cNvSpPr txBox="1"/>
          <p:nvPr/>
        </p:nvSpPr>
        <p:spPr>
          <a:xfrm>
            <a:off x="640080" y="4133087"/>
            <a:ext cx="3259317" cy="274320"/>
          </a:xfrm>
          <a:prstGeom prst="rect">
            <a:avLst/>
          </a:prstGeom>
          <a:noFill/>
        </p:spPr>
        <p:txBody>
          <a:bodyPr wrap="square" lIns="0" tIns="0" rIns="0" bIns="0">
            <a:spAutoFit/>
          </a:bodyPr>
          <a:lstStyle/>
          <a:p>
            <a:pPr algn="l">
              <a:spcBef>
                <a:spcPts val="0"/>
              </a:spcBef>
              <a:spcAft>
                <a:spcPts val="0"/>
              </a:spcAft>
            </a:pPr>
            <a:r>
              <a:rPr sz="1100" b="0">
                <a:solidFill>
                  <a:srgbClr val="5D6E80"/>
                </a:solidFill>
                <a:latin typeface="Calibri"/>
              </a:rPr>
              <a:t>YOUR MICROPHONE</a:t>
            </a:r>
          </a:p>
        </p:txBody>
      </p:sp>
      <p:sp>
        <p:nvSpPr>
          <p:cNvPr id="16" name="TextBox 15"/>
          <p:cNvSpPr txBox="1"/>
          <p:nvPr/>
        </p:nvSpPr>
        <p:spPr>
          <a:xfrm>
            <a:off x="8292571" y="4133087"/>
            <a:ext cx="3259317" cy="274320"/>
          </a:xfrm>
          <a:prstGeom prst="rect">
            <a:avLst/>
          </a:prstGeom>
          <a:noFill/>
        </p:spPr>
        <p:txBody>
          <a:bodyPr wrap="square" lIns="0" tIns="0" rIns="0" bIns="0">
            <a:spAutoFit/>
          </a:bodyPr>
          <a:lstStyle/>
          <a:p>
            <a:pPr algn="r">
              <a:spcBef>
                <a:spcPts val="0"/>
              </a:spcBef>
              <a:spcAft>
                <a:spcPts val="0"/>
              </a:spcAft>
            </a:pPr>
            <a:r>
              <a:rPr sz="1100" b="0">
                <a:solidFill>
                  <a:srgbClr val="5D6E80"/>
                </a:solidFill>
                <a:latin typeface="Calibri"/>
              </a:rPr>
              <a:t>YOUR SPEAKER</a:t>
            </a:r>
          </a:p>
        </p:txBody>
      </p:sp>
      <p:sp>
        <p:nvSpPr>
          <p:cNvPr id="17" name="Rounded Rectangle 16"/>
          <p:cNvSpPr/>
          <p:nvPr/>
        </p:nvSpPr>
        <p:spPr>
          <a:xfrm>
            <a:off x="640080" y="4572000"/>
            <a:ext cx="10911809" cy="1097280"/>
          </a:xfrm>
          <a:prstGeom prst="roundRect">
            <a:avLst>
              <a:gd name="adj" fmla="val 3500"/>
            </a:avLst>
          </a:prstGeom>
          <a:solidFill>
            <a:srgbClr val="081F18"/>
          </a:solidFill>
          <a:ln w="12700">
            <a:solidFill>
              <a:srgbClr val="0D6B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50976" y="4754880"/>
            <a:ext cx="10290017" cy="786384"/>
          </a:xfrm>
          <a:prstGeom prst="rect">
            <a:avLst/>
          </a:prstGeom>
          <a:noFill/>
        </p:spPr>
        <p:txBody>
          <a:bodyPr wrap="square" lIns="0" tIns="0" rIns="0" bIns="0">
            <a:spAutoFit/>
          </a:bodyPr>
          <a:lstStyle/>
          <a:p>
            <a:pPr algn="l">
              <a:spcBef>
                <a:spcPts val="0"/>
              </a:spcBef>
              <a:spcAft>
                <a:spcPts val="0"/>
              </a:spcAft>
            </a:pPr>
            <a:r>
              <a:rPr sz="1600" b="1">
                <a:solidFill>
                  <a:srgbClr val="13EF93"/>
                </a:solidFill>
                <a:latin typeface="Calibri"/>
              </a:rPr>
              <a:t>One WebSocket carries all of it.</a:t>
            </a:r>
          </a:p>
          <a:p>
            <a:pPr algn="l">
              <a:lnSpc>
                <a:spcPct val="128000"/>
              </a:lnSpc>
              <a:spcBef>
                <a:spcPts val="500"/>
              </a:spcBef>
              <a:spcAft>
                <a:spcPts val="0"/>
              </a:spcAft>
            </a:pPr>
            <a:r>
              <a:rPr sz="1300" b="0">
                <a:solidFill>
                  <a:srgbClr val="93A4B7"/>
                </a:solidFill>
                <a:latin typeface="Calibri"/>
              </a:rPr>
              <a:t>You could wire the three together yourself — your STT call, piped into your LLM call, piped into your TTS call. You'd spend your time on plumbing and latency, and very little on what the agent actually does.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70B10"/>
        </a:solidFill>
        <a:effectLst/>
      </p:bgPr>
    </p:bg>
    <p:spTree>
      <p:nvGrpSpPr>
        <p:cNvPr id="1" name=""/>
        <p:cNvGrpSpPr/>
        <p:nvPr/>
      </p:nvGrpSpPr>
      <p:grpSpPr>
        <a:xfrm>
          <a:off x="0" y="0"/>
          <a:ext cx="0" cy="0"/>
          <a:chOff x="0" y="0"/>
          <a:chExt cx="0" cy="0"/>
        </a:xfrm>
      </p:grpSpPr>
      <p:sp>
        <p:nvSpPr>
          <p:cNvPr id="2" name="TextBox 1"/>
          <p:cNvSpPr txBox="1"/>
          <p:nvPr/>
        </p:nvSpPr>
        <p:spPr>
          <a:xfrm>
            <a:off x="640080" y="475488"/>
            <a:ext cx="10911809" cy="237744"/>
          </a:xfrm>
          <a:prstGeom prst="rect">
            <a:avLst/>
          </a:prstGeom>
          <a:noFill/>
        </p:spPr>
        <p:txBody>
          <a:bodyPr wrap="square" lIns="0" tIns="0" rIns="0" bIns="0">
            <a:spAutoFit/>
          </a:bodyPr>
          <a:lstStyle/>
          <a:p>
            <a:pPr algn="l">
              <a:spcBef>
                <a:spcPts val="0"/>
              </a:spcBef>
              <a:spcAft>
                <a:spcPts val="0"/>
              </a:spcAft>
            </a:pPr>
            <a:r>
              <a:rPr sz="1050" b="1">
                <a:solidFill>
                  <a:srgbClr val="13EF93"/>
                </a:solidFill>
                <a:latin typeface="Calibri"/>
              </a:rPr>
              <a:t>STEP 0</a:t>
            </a:r>
          </a:p>
        </p:txBody>
      </p:sp>
      <p:sp>
        <p:nvSpPr>
          <p:cNvPr id="3" name="TextBox 2"/>
          <p:cNvSpPr txBox="1"/>
          <p:nvPr/>
        </p:nvSpPr>
        <p:spPr>
          <a:xfrm>
            <a:off x="640080" y="786384"/>
            <a:ext cx="10911809" cy="548640"/>
          </a:xfrm>
          <a:prstGeom prst="rect">
            <a:avLst/>
          </a:prstGeom>
          <a:noFill/>
        </p:spPr>
        <p:txBody>
          <a:bodyPr wrap="square" lIns="0" tIns="0" rIns="0" bIns="0">
            <a:spAutoFit/>
          </a:bodyPr>
          <a:lstStyle/>
          <a:p>
            <a:pPr algn="l">
              <a:spcBef>
                <a:spcPts val="0"/>
              </a:spcBef>
              <a:spcAft>
                <a:spcPts val="0"/>
              </a:spcAft>
            </a:pPr>
            <a:r>
              <a:rPr sz="3100" b="1">
                <a:solidFill>
                  <a:srgbClr val="E9EFF6"/>
                </a:solidFill>
                <a:latin typeface="Calibri"/>
              </a:rPr>
              <a:t>Where the pieces actually run</a:t>
            </a:r>
          </a:p>
        </p:txBody>
      </p:sp>
      <p:sp>
        <p:nvSpPr>
          <p:cNvPr id="4" name="TextBox 3"/>
          <p:cNvSpPr txBox="1"/>
          <p:nvPr/>
        </p:nvSpPr>
        <p:spPr>
          <a:xfrm>
            <a:off x="640080" y="1499616"/>
            <a:ext cx="9692640" cy="548640"/>
          </a:xfrm>
          <a:prstGeom prst="rect">
            <a:avLst/>
          </a:prstGeom>
          <a:noFill/>
        </p:spPr>
        <p:txBody>
          <a:bodyPr wrap="square" lIns="0" tIns="0" rIns="0" bIns="0">
            <a:spAutoFit/>
          </a:bodyPr>
          <a:lstStyle/>
          <a:p>
            <a:pPr algn="l">
              <a:lnSpc>
                <a:spcPct val="128000"/>
              </a:lnSpc>
              <a:spcBef>
                <a:spcPts val="0"/>
              </a:spcBef>
              <a:spcAft>
                <a:spcPts val="0"/>
              </a:spcAft>
            </a:pPr>
            <a:r>
              <a:rPr sz="1450" b="0">
                <a:solidFill>
                  <a:srgbClr val="93A4B7"/>
                </a:solidFill>
                <a:latin typeface="Calibri"/>
              </a:rPr>
              <a:t>The agent runs on your machine. Deepgram runs the real-time speech path. Nothing is deployed anywhere.</a:t>
            </a:r>
          </a:p>
        </p:txBody>
      </p:sp>
      <p:sp>
        <p:nvSpPr>
          <p:cNvPr id="5" name="Rounded Rectangle 4"/>
          <p:cNvSpPr/>
          <p:nvPr/>
        </p:nvSpPr>
        <p:spPr>
          <a:xfrm>
            <a:off x="640080" y="2267712"/>
            <a:ext cx="3877056" cy="2834640"/>
          </a:xfrm>
          <a:prstGeom prst="roundRect">
            <a:avLst>
              <a:gd name="adj" fmla="val 3500"/>
            </a:avLst>
          </a:prstGeom>
          <a:no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7" y="2432304"/>
            <a:ext cx="3474720" cy="237744"/>
          </a:xfrm>
          <a:prstGeom prst="rect">
            <a:avLst/>
          </a:prstGeom>
          <a:noFill/>
        </p:spPr>
        <p:txBody>
          <a:bodyPr wrap="square" lIns="0" tIns="0" rIns="0" bIns="0">
            <a:spAutoFit/>
          </a:bodyPr>
          <a:lstStyle/>
          <a:p>
            <a:pPr algn="l">
              <a:spcBef>
                <a:spcPts val="0"/>
              </a:spcBef>
              <a:spcAft>
                <a:spcPts val="0"/>
              </a:spcAft>
            </a:pPr>
            <a:r>
              <a:rPr sz="950" b="1">
                <a:solidFill>
                  <a:srgbClr val="13EF93"/>
                </a:solidFill>
                <a:latin typeface="Calibri"/>
              </a:rPr>
              <a:t>YOUR MACHINE</a:t>
            </a:r>
          </a:p>
        </p:txBody>
      </p:sp>
      <p:sp>
        <p:nvSpPr>
          <p:cNvPr id="7" name="Rounded Rectangle 6"/>
          <p:cNvSpPr/>
          <p:nvPr/>
        </p:nvSpPr>
        <p:spPr>
          <a:xfrm>
            <a:off x="822959" y="2779776"/>
            <a:ext cx="3511296" cy="1005840"/>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24127" y="2944368"/>
            <a:ext cx="3108960" cy="731520"/>
          </a:xfrm>
          <a:prstGeom prst="rect">
            <a:avLst/>
          </a:prstGeom>
          <a:noFill/>
        </p:spPr>
        <p:txBody>
          <a:bodyPr wrap="square" lIns="0" tIns="0" rIns="0" bIns="0">
            <a:spAutoFit/>
          </a:bodyPr>
          <a:lstStyle/>
          <a:p>
            <a:pPr algn="l">
              <a:spcBef>
                <a:spcPts val="0"/>
              </a:spcBef>
              <a:spcAft>
                <a:spcPts val="0"/>
              </a:spcAft>
            </a:pPr>
            <a:r>
              <a:rPr sz="1350" b="1">
                <a:solidFill>
                  <a:srgbClr val="E9EFF6"/>
                </a:solidFill>
                <a:latin typeface="Calibri"/>
              </a:rPr>
              <a:t>Web browser</a:t>
            </a:r>
          </a:p>
          <a:p>
            <a:pPr algn="l">
              <a:lnSpc>
                <a:spcPct val="122000"/>
              </a:lnSpc>
              <a:spcBef>
                <a:spcPts val="400"/>
              </a:spcBef>
              <a:spcAft>
                <a:spcPts val="0"/>
              </a:spcAft>
            </a:pPr>
            <a:r>
              <a:rPr sz="1100" b="0">
                <a:solidFill>
                  <a:srgbClr val="93A4B7"/>
                </a:solidFill>
                <a:latin typeface="Calibri"/>
              </a:rPr>
              <a:t>Microphone and speaker, echo cancellation
getUserMedia + AudioWorklet</a:t>
            </a:r>
          </a:p>
        </p:txBody>
      </p:sp>
      <p:sp>
        <p:nvSpPr>
          <p:cNvPr id="9" name="Rounded Rectangle 8"/>
          <p:cNvSpPr/>
          <p:nvPr/>
        </p:nvSpPr>
        <p:spPr>
          <a:xfrm>
            <a:off x="822959" y="3931920"/>
            <a:ext cx="3511296" cy="1005840"/>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24127" y="4096511"/>
            <a:ext cx="3108960" cy="731520"/>
          </a:xfrm>
          <a:prstGeom prst="rect">
            <a:avLst/>
          </a:prstGeom>
          <a:noFill/>
        </p:spPr>
        <p:txBody>
          <a:bodyPr wrap="square" lIns="0" tIns="0" rIns="0" bIns="0">
            <a:spAutoFit/>
          </a:bodyPr>
          <a:lstStyle/>
          <a:p>
            <a:pPr algn="l">
              <a:spcBef>
                <a:spcPts val="0"/>
              </a:spcBef>
              <a:spcAft>
                <a:spcPts val="0"/>
              </a:spcAft>
            </a:pPr>
            <a:r>
              <a:rPr sz="1350" b="1">
                <a:solidFill>
                  <a:srgbClr val="E9EFF6"/>
                </a:solidFill>
                <a:latin typeface="Calibri"/>
              </a:rPr>
              <a:t>Local Python agent</a:t>
            </a:r>
          </a:p>
          <a:p>
            <a:pPr algn="l">
              <a:lnSpc>
                <a:spcPct val="122000"/>
              </a:lnSpc>
              <a:spcBef>
                <a:spcPts val="400"/>
              </a:spcBef>
              <a:spcAft>
                <a:spcPts val="0"/>
              </a:spcAft>
            </a:pPr>
            <a:r>
              <a:rPr sz="1100" b="0">
                <a:solidFill>
                  <a:srgbClr val="93A4B7"/>
                </a:solidFill>
                <a:latin typeface="Calibri"/>
              </a:rPr>
              <a:t>FastAPI audio bridge, your function code
127.0.0.1:8000</a:t>
            </a:r>
          </a:p>
        </p:txBody>
      </p:sp>
      <p:sp>
        <p:nvSpPr>
          <p:cNvPr id="11" name="Rounded Rectangle 10"/>
          <p:cNvSpPr/>
          <p:nvPr/>
        </p:nvSpPr>
        <p:spPr>
          <a:xfrm>
            <a:off x="4773168" y="2267712"/>
            <a:ext cx="3877056" cy="2834640"/>
          </a:xfrm>
          <a:prstGeom prst="roundRect">
            <a:avLst>
              <a:gd name="adj" fmla="val 3500"/>
            </a:avLst>
          </a:prstGeom>
          <a:no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974336" y="2432304"/>
            <a:ext cx="3474720" cy="237744"/>
          </a:xfrm>
          <a:prstGeom prst="rect">
            <a:avLst/>
          </a:prstGeom>
          <a:noFill/>
        </p:spPr>
        <p:txBody>
          <a:bodyPr wrap="square" lIns="0" tIns="0" rIns="0" bIns="0">
            <a:spAutoFit/>
          </a:bodyPr>
          <a:lstStyle/>
          <a:p>
            <a:pPr algn="l">
              <a:spcBef>
                <a:spcPts val="0"/>
              </a:spcBef>
              <a:spcAft>
                <a:spcPts val="0"/>
              </a:spcAft>
            </a:pPr>
            <a:r>
              <a:rPr sz="950" b="1">
                <a:solidFill>
                  <a:srgbClr val="13EF93"/>
                </a:solidFill>
                <a:latin typeface="Calibri"/>
              </a:rPr>
              <a:t>DEEPGRAM VOICE AGENT API</a:t>
            </a:r>
          </a:p>
        </p:txBody>
      </p:sp>
      <p:sp>
        <p:nvSpPr>
          <p:cNvPr id="13" name="Rounded Rectangle 12"/>
          <p:cNvSpPr/>
          <p:nvPr/>
        </p:nvSpPr>
        <p:spPr>
          <a:xfrm>
            <a:off x="4956048" y="2779776"/>
            <a:ext cx="3511296" cy="1005840"/>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157216" y="2944368"/>
            <a:ext cx="3108960" cy="731520"/>
          </a:xfrm>
          <a:prstGeom prst="rect">
            <a:avLst/>
          </a:prstGeom>
          <a:noFill/>
        </p:spPr>
        <p:txBody>
          <a:bodyPr wrap="square" lIns="0" tIns="0" rIns="0" bIns="0">
            <a:spAutoFit/>
          </a:bodyPr>
          <a:lstStyle/>
          <a:p>
            <a:pPr algn="l">
              <a:spcBef>
                <a:spcPts val="0"/>
              </a:spcBef>
              <a:spcAft>
                <a:spcPts val="0"/>
              </a:spcAft>
            </a:pPr>
            <a:r>
              <a:rPr sz="1350" b="1">
                <a:solidFill>
                  <a:srgbClr val="E9EFF6"/>
                </a:solidFill>
                <a:latin typeface="Calibri"/>
              </a:rPr>
              <a:t>Agent orchestrator</a:t>
            </a:r>
          </a:p>
          <a:p>
            <a:pPr algn="l">
              <a:lnSpc>
                <a:spcPct val="122000"/>
              </a:lnSpc>
              <a:spcBef>
                <a:spcPts val="400"/>
              </a:spcBef>
              <a:spcAft>
                <a:spcPts val="0"/>
              </a:spcAft>
            </a:pPr>
            <a:r>
              <a:rPr sz="1100" b="0">
                <a:solidFill>
                  <a:srgbClr val="93A4B7"/>
                </a:solidFill>
                <a:latin typeface="Calibri"/>
              </a:rPr>
              <a:t>One socket carries listen, think,
speak, and function calls</a:t>
            </a:r>
          </a:p>
        </p:txBody>
      </p:sp>
      <p:sp>
        <p:nvSpPr>
          <p:cNvPr id="15" name="Rounded Rectangle 14"/>
          <p:cNvSpPr/>
          <p:nvPr/>
        </p:nvSpPr>
        <p:spPr>
          <a:xfrm>
            <a:off x="4956048" y="3931920"/>
            <a:ext cx="3511296" cy="1005840"/>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157216" y="4096511"/>
            <a:ext cx="3108960" cy="731520"/>
          </a:xfrm>
          <a:prstGeom prst="rect">
            <a:avLst/>
          </a:prstGeom>
          <a:noFill/>
        </p:spPr>
        <p:txBody>
          <a:bodyPr wrap="square" lIns="0" tIns="0" rIns="0" bIns="0">
            <a:spAutoFit/>
          </a:bodyPr>
          <a:lstStyle/>
          <a:p>
            <a:pPr algn="l">
              <a:spcBef>
                <a:spcPts val="0"/>
              </a:spcBef>
              <a:spcAft>
                <a:spcPts val="0"/>
              </a:spcAft>
            </a:pPr>
            <a:r>
              <a:rPr sz="1350" b="1">
                <a:solidFill>
                  <a:srgbClr val="E9EFF6"/>
                </a:solidFill>
                <a:latin typeface="Calibri"/>
              </a:rPr>
              <a:t>Flux STT  +  Flux TTS</a:t>
            </a:r>
          </a:p>
          <a:p>
            <a:pPr algn="l">
              <a:lnSpc>
                <a:spcPct val="122000"/>
              </a:lnSpc>
              <a:spcBef>
                <a:spcPts val="400"/>
              </a:spcBef>
              <a:spcAft>
                <a:spcPts val="0"/>
              </a:spcAft>
            </a:pPr>
            <a:r>
              <a:rPr sz="1100" b="0">
                <a:solidFill>
                  <a:srgbClr val="93A4B7"/>
                </a:solidFill>
                <a:latin typeface="Calibri"/>
              </a:rPr>
              <a:t>Turn detection server-side,
synthesis as the reply arrives</a:t>
            </a:r>
          </a:p>
        </p:txBody>
      </p:sp>
      <p:sp>
        <p:nvSpPr>
          <p:cNvPr id="17" name="Rounded Rectangle 16"/>
          <p:cNvSpPr/>
          <p:nvPr/>
        </p:nvSpPr>
        <p:spPr>
          <a:xfrm>
            <a:off x="8906256" y="2267712"/>
            <a:ext cx="2645633" cy="2834640"/>
          </a:xfrm>
          <a:prstGeom prst="roundRect">
            <a:avLst>
              <a:gd name="adj" fmla="val 3500"/>
            </a:avLst>
          </a:prstGeom>
          <a:noFill/>
          <a:ln w="12700">
            <a:solidFill>
              <a:srgbClr val="FFB4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07424" y="2432304"/>
            <a:ext cx="2243297" cy="237744"/>
          </a:xfrm>
          <a:prstGeom prst="rect">
            <a:avLst/>
          </a:prstGeom>
          <a:noFill/>
        </p:spPr>
        <p:txBody>
          <a:bodyPr wrap="square" lIns="0" tIns="0" rIns="0" bIns="0">
            <a:spAutoFit/>
          </a:bodyPr>
          <a:lstStyle/>
          <a:p>
            <a:pPr algn="l">
              <a:spcBef>
                <a:spcPts val="0"/>
              </a:spcBef>
              <a:spcAft>
                <a:spcPts val="0"/>
              </a:spcAft>
            </a:pPr>
            <a:r>
              <a:rPr sz="950" b="1">
                <a:solidFill>
                  <a:srgbClr val="FFB454"/>
                </a:solidFill>
                <a:latin typeface="Calibri"/>
              </a:rPr>
              <a:t>YOUR AWS ACCOUNT  ·  STEP 6B ONLY</a:t>
            </a:r>
          </a:p>
        </p:txBody>
      </p:sp>
      <p:sp>
        <p:nvSpPr>
          <p:cNvPr id="19" name="Rounded Rectangle 18"/>
          <p:cNvSpPr/>
          <p:nvPr/>
        </p:nvSpPr>
        <p:spPr>
          <a:xfrm>
            <a:off x="9089136" y="2779776"/>
            <a:ext cx="2279873" cy="1481328"/>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290304" y="2944368"/>
            <a:ext cx="1877537" cy="1207008"/>
          </a:xfrm>
          <a:prstGeom prst="rect">
            <a:avLst/>
          </a:prstGeom>
          <a:noFill/>
        </p:spPr>
        <p:txBody>
          <a:bodyPr wrap="square" lIns="0" tIns="0" rIns="0" bIns="0">
            <a:spAutoFit/>
          </a:bodyPr>
          <a:lstStyle/>
          <a:p>
            <a:pPr algn="l">
              <a:spcBef>
                <a:spcPts val="0"/>
              </a:spcBef>
              <a:spcAft>
                <a:spcPts val="0"/>
              </a:spcAft>
            </a:pPr>
            <a:r>
              <a:rPr sz="1350" b="1">
                <a:solidFill>
                  <a:srgbClr val="E9EFF6"/>
                </a:solidFill>
                <a:latin typeface="Calibri"/>
              </a:rPr>
              <a:t>Amazon Bedrock Runtime</a:t>
            </a:r>
          </a:p>
          <a:p>
            <a:pPr algn="l">
              <a:lnSpc>
                <a:spcPct val="122000"/>
              </a:lnSpc>
              <a:spcBef>
                <a:spcPts val="400"/>
              </a:spcBef>
              <a:spcAft>
                <a:spcPts val="0"/>
              </a:spcAft>
            </a:pPr>
            <a:r>
              <a:rPr sz="1100" b="0">
                <a:solidFill>
                  <a:srgbClr val="93A4B7"/>
                </a:solidFill>
                <a:latin typeface="Calibri"/>
              </a:rPr>
              <a:t>Your model, your bill.
Called as you, with your credentials</a:t>
            </a:r>
          </a:p>
        </p:txBody>
      </p:sp>
      <p:sp>
        <p:nvSpPr>
          <p:cNvPr id="21" name="Rounded Rectangle 20"/>
          <p:cNvSpPr/>
          <p:nvPr/>
        </p:nvSpPr>
        <p:spPr>
          <a:xfrm>
            <a:off x="640080" y="5340096"/>
            <a:ext cx="1464777" cy="621792"/>
          </a:xfrm>
          <a:prstGeom prst="roundRect">
            <a:avLst>
              <a:gd name="adj" fmla="val 3500"/>
            </a:avLst>
          </a:prstGeom>
          <a:solidFill>
            <a:srgbClr val="17222E"/>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68096" y="5431536"/>
            <a:ext cx="1208745" cy="219456"/>
          </a:xfrm>
          <a:prstGeom prst="rect">
            <a:avLst/>
          </a:prstGeom>
          <a:noFill/>
        </p:spPr>
        <p:txBody>
          <a:bodyPr wrap="square" lIns="0" tIns="0" rIns="0" bIns="0">
            <a:spAutoFit/>
          </a:bodyPr>
          <a:lstStyle/>
          <a:p>
            <a:pPr algn="l">
              <a:spcBef>
                <a:spcPts val="0"/>
              </a:spcBef>
              <a:spcAft>
                <a:spcPts val="0"/>
              </a:spcAft>
            </a:pPr>
            <a:r>
              <a:rPr sz="1100" b="1">
                <a:solidFill>
                  <a:srgbClr val="13EF93"/>
                </a:solidFill>
                <a:latin typeface="Calibri"/>
              </a:rPr>
              <a:t>1</a:t>
            </a:r>
          </a:p>
        </p:txBody>
      </p:sp>
      <p:sp>
        <p:nvSpPr>
          <p:cNvPr id="23" name="TextBox 22"/>
          <p:cNvSpPr txBox="1"/>
          <p:nvPr/>
        </p:nvSpPr>
        <p:spPr>
          <a:xfrm>
            <a:off x="768096" y="5641848"/>
            <a:ext cx="1208745" cy="274320"/>
          </a:xfrm>
          <a:prstGeom prst="rect">
            <a:avLst/>
          </a:prstGeom>
          <a:noFill/>
        </p:spPr>
        <p:txBody>
          <a:bodyPr wrap="square" lIns="0" tIns="0" rIns="0" bIns="0">
            <a:spAutoFit/>
          </a:bodyPr>
          <a:lstStyle/>
          <a:p>
            <a:pPr algn="l">
              <a:lnSpc>
                <a:spcPct val="114000"/>
              </a:lnSpc>
              <a:spcBef>
                <a:spcPts val="0"/>
              </a:spcBef>
              <a:spcAft>
                <a:spcPts val="0"/>
              </a:spcAft>
            </a:pPr>
            <a:r>
              <a:rPr sz="1050" b="0">
                <a:solidFill>
                  <a:srgbClr val="93A4B7"/>
                </a:solidFill>
                <a:latin typeface="Calibri"/>
              </a:rPr>
              <a:t>mic in</a:t>
            </a:r>
          </a:p>
        </p:txBody>
      </p:sp>
      <p:sp>
        <p:nvSpPr>
          <p:cNvPr id="24" name="Rounded Rectangle 23"/>
          <p:cNvSpPr/>
          <p:nvPr/>
        </p:nvSpPr>
        <p:spPr>
          <a:xfrm>
            <a:off x="2214585" y="5340096"/>
            <a:ext cx="1464777" cy="621792"/>
          </a:xfrm>
          <a:prstGeom prst="roundRect">
            <a:avLst>
              <a:gd name="adj" fmla="val 3500"/>
            </a:avLst>
          </a:prstGeom>
          <a:solidFill>
            <a:srgbClr val="17222E"/>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342601" y="5431536"/>
            <a:ext cx="1208745" cy="219456"/>
          </a:xfrm>
          <a:prstGeom prst="rect">
            <a:avLst/>
          </a:prstGeom>
          <a:noFill/>
        </p:spPr>
        <p:txBody>
          <a:bodyPr wrap="square" lIns="0" tIns="0" rIns="0" bIns="0">
            <a:spAutoFit/>
          </a:bodyPr>
          <a:lstStyle/>
          <a:p>
            <a:pPr algn="l">
              <a:spcBef>
                <a:spcPts val="0"/>
              </a:spcBef>
              <a:spcAft>
                <a:spcPts val="0"/>
              </a:spcAft>
            </a:pPr>
            <a:r>
              <a:rPr sz="1100" b="1">
                <a:solidFill>
                  <a:srgbClr val="13EF93"/>
                </a:solidFill>
                <a:latin typeface="Calibri"/>
              </a:rPr>
              <a:t>2</a:t>
            </a:r>
          </a:p>
        </p:txBody>
      </p:sp>
      <p:sp>
        <p:nvSpPr>
          <p:cNvPr id="26" name="TextBox 25"/>
          <p:cNvSpPr txBox="1"/>
          <p:nvPr/>
        </p:nvSpPr>
        <p:spPr>
          <a:xfrm>
            <a:off x="2342601" y="5641848"/>
            <a:ext cx="1208745" cy="274320"/>
          </a:xfrm>
          <a:prstGeom prst="rect">
            <a:avLst/>
          </a:prstGeom>
          <a:noFill/>
        </p:spPr>
        <p:txBody>
          <a:bodyPr wrap="square" lIns="0" tIns="0" rIns="0" bIns="0">
            <a:spAutoFit/>
          </a:bodyPr>
          <a:lstStyle/>
          <a:p>
            <a:pPr algn="l">
              <a:lnSpc>
                <a:spcPct val="114000"/>
              </a:lnSpc>
              <a:spcBef>
                <a:spcPts val="0"/>
              </a:spcBef>
              <a:spcAft>
                <a:spcPts val="0"/>
              </a:spcAft>
            </a:pPr>
            <a:r>
              <a:rPr sz="1050" b="0">
                <a:solidFill>
                  <a:srgbClr val="93A4B7"/>
                </a:solidFill>
                <a:latin typeface="Calibri"/>
              </a:rPr>
              <a:t>audio up</a:t>
            </a:r>
          </a:p>
        </p:txBody>
      </p:sp>
      <p:sp>
        <p:nvSpPr>
          <p:cNvPr id="27" name="Rounded Rectangle 26"/>
          <p:cNvSpPr/>
          <p:nvPr/>
        </p:nvSpPr>
        <p:spPr>
          <a:xfrm>
            <a:off x="3789090" y="5340096"/>
            <a:ext cx="1464777" cy="621792"/>
          </a:xfrm>
          <a:prstGeom prst="roundRect">
            <a:avLst>
              <a:gd name="adj" fmla="val 3500"/>
            </a:avLst>
          </a:prstGeom>
          <a:solidFill>
            <a:srgbClr val="17222E"/>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3917106" y="5431536"/>
            <a:ext cx="1208745" cy="219456"/>
          </a:xfrm>
          <a:prstGeom prst="rect">
            <a:avLst/>
          </a:prstGeom>
          <a:noFill/>
        </p:spPr>
        <p:txBody>
          <a:bodyPr wrap="square" lIns="0" tIns="0" rIns="0" bIns="0">
            <a:spAutoFit/>
          </a:bodyPr>
          <a:lstStyle/>
          <a:p>
            <a:pPr algn="l">
              <a:spcBef>
                <a:spcPts val="0"/>
              </a:spcBef>
              <a:spcAft>
                <a:spcPts val="0"/>
              </a:spcAft>
            </a:pPr>
            <a:r>
              <a:rPr sz="1100" b="1">
                <a:solidFill>
                  <a:srgbClr val="13EF93"/>
                </a:solidFill>
                <a:latin typeface="Calibri"/>
              </a:rPr>
              <a:t>3</a:t>
            </a:r>
          </a:p>
        </p:txBody>
      </p:sp>
      <p:sp>
        <p:nvSpPr>
          <p:cNvPr id="29" name="TextBox 28"/>
          <p:cNvSpPr txBox="1"/>
          <p:nvPr/>
        </p:nvSpPr>
        <p:spPr>
          <a:xfrm>
            <a:off x="3917106" y="5641848"/>
            <a:ext cx="1208745" cy="274320"/>
          </a:xfrm>
          <a:prstGeom prst="rect">
            <a:avLst/>
          </a:prstGeom>
          <a:noFill/>
        </p:spPr>
        <p:txBody>
          <a:bodyPr wrap="square" lIns="0" tIns="0" rIns="0" bIns="0">
            <a:spAutoFit/>
          </a:bodyPr>
          <a:lstStyle/>
          <a:p>
            <a:pPr algn="l">
              <a:lnSpc>
                <a:spcPct val="114000"/>
              </a:lnSpc>
              <a:spcBef>
                <a:spcPts val="0"/>
              </a:spcBef>
              <a:spcAft>
                <a:spcPts val="0"/>
              </a:spcAft>
            </a:pPr>
            <a:r>
              <a:rPr sz="1050" b="0">
                <a:solidFill>
                  <a:srgbClr val="93A4B7"/>
                </a:solidFill>
                <a:latin typeface="Calibri"/>
              </a:rPr>
              <a:t>transcript + turn end</a:t>
            </a:r>
          </a:p>
        </p:txBody>
      </p:sp>
      <p:sp>
        <p:nvSpPr>
          <p:cNvPr id="30" name="Rounded Rectangle 29"/>
          <p:cNvSpPr/>
          <p:nvPr/>
        </p:nvSpPr>
        <p:spPr>
          <a:xfrm>
            <a:off x="5363596" y="5340096"/>
            <a:ext cx="1464777" cy="621792"/>
          </a:xfrm>
          <a:prstGeom prst="roundRect">
            <a:avLst>
              <a:gd name="adj" fmla="val 3500"/>
            </a:avLst>
          </a:prstGeom>
          <a:solidFill>
            <a:srgbClr val="17222E"/>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491612" y="5431536"/>
            <a:ext cx="1208745" cy="219456"/>
          </a:xfrm>
          <a:prstGeom prst="rect">
            <a:avLst/>
          </a:prstGeom>
          <a:noFill/>
        </p:spPr>
        <p:txBody>
          <a:bodyPr wrap="square" lIns="0" tIns="0" rIns="0" bIns="0">
            <a:spAutoFit/>
          </a:bodyPr>
          <a:lstStyle/>
          <a:p>
            <a:pPr algn="l">
              <a:spcBef>
                <a:spcPts val="0"/>
              </a:spcBef>
              <a:spcAft>
                <a:spcPts val="0"/>
              </a:spcAft>
            </a:pPr>
            <a:r>
              <a:rPr sz="1100" b="1">
                <a:solidFill>
                  <a:srgbClr val="FFB454"/>
                </a:solidFill>
                <a:latin typeface="Calibri"/>
              </a:rPr>
              <a:t>4</a:t>
            </a:r>
          </a:p>
        </p:txBody>
      </p:sp>
      <p:sp>
        <p:nvSpPr>
          <p:cNvPr id="32" name="TextBox 31"/>
          <p:cNvSpPr txBox="1"/>
          <p:nvPr/>
        </p:nvSpPr>
        <p:spPr>
          <a:xfrm>
            <a:off x="5491612" y="5641848"/>
            <a:ext cx="1208745" cy="274320"/>
          </a:xfrm>
          <a:prstGeom prst="rect">
            <a:avLst/>
          </a:prstGeom>
          <a:noFill/>
        </p:spPr>
        <p:txBody>
          <a:bodyPr wrap="square" lIns="0" tIns="0" rIns="0" bIns="0">
            <a:spAutoFit/>
          </a:bodyPr>
          <a:lstStyle/>
          <a:p>
            <a:pPr algn="l">
              <a:lnSpc>
                <a:spcPct val="114000"/>
              </a:lnSpc>
              <a:spcBef>
                <a:spcPts val="0"/>
              </a:spcBef>
              <a:spcAft>
                <a:spcPts val="0"/>
              </a:spcAft>
            </a:pPr>
            <a:r>
              <a:rPr sz="1050" b="0">
                <a:solidFill>
                  <a:srgbClr val="93A4B7"/>
                </a:solidFill>
                <a:latin typeface="Calibri"/>
              </a:rPr>
              <a:t>completion, signed as you</a:t>
            </a:r>
          </a:p>
        </p:txBody>
      </p:sp>
      <p:sp>
        <p:nvSpPr>
          <p:cNvPr id="33" name="Rounded Rectangle 32"/>
          <p:cNvSpPr/>
          <p:nvPr/>
        </p:nvSpPr>
        <p:spPr>
          <a:xfrm>
            <a:off x="6938101" y="5340096"/>
            <a:ext cx="1464777" cy="621792"/>
          </a:xfrm>
          <a:prstGeom prst="roundRect">
            <a:avLst>
              <a:gd name="adj" fmla="val 3500"/>
            </a:avLst>
          </a:prstGeom>
          <a:solidFill>
            <a:srgbClr val="17222E"/>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066117" y="5431536"/>
            <a:ext cx="1208745" cy="219456"/>
          </a:xfrm>
          <a:prstGeom prst="rect">
            <a:avLst/>
          </a:prstGeom>
          <a:noFill/>
        </p:spPr>
        <p:txBody>
          <a:bodyPr wrap="square" lIns="0" tIns="0" rIns="0" bIns="0">
            <a:spAutoFit/>
          </a:bodyPr>
          <a:lstStyle/>
          <a:p>
            <a:pPr algn="l">
              <a:spcBef>
                <a:spcPts val="0"/>
              </a:spcBef>
              <a:spcAft>
                <a:spcPts val="0"/>
              </a:spcAft>
            </a:pPr>
            <a:r>
              <a:rPr sz="1100" b="1">
                <a:solidFill>
                  <a:srgbClr val="FFB454"/>
                </a:solidFill>
                <a:latin typeface="Calibri"/>
              </a:rPr>
              <a:t>5</a:t>
            </a:r>
          </a:p>
        </p:txBody>
      </p:sp>
      <p:sp>
        <p:nvSpPr>
          <p:cNvPr id="35" name="TextBox 34"/>
          <p:cNvSpPr txBox="1"/>
          <p:nvPr/>
        </p:nvSpPr>
        <p:spPr>
          <a:xfrm>
            <a:off x="7066117" y="5641848"/>
            <a:ext cx="1208745" cy="274320"/>
          </a:xfrm>
          <a:prstGeom prst="rect">
            <a:avLst/>
          </a:prstGeom>
          <a:noFill/>
        </p:spPr>
        <p:txBody>
          <a:bodyPr wrap="square" lIns="0" tIns="0" rIns="0" bIns="0">
            <a:spAutoFit/>
          </a:bodyPr>
          <a:lstStyle/>
          <a:p>
            <a:pPr algn="l">
              <a:lnSpc>
                <a:spcPct val="114000"/>
              </a:lnSpc>
              <a:spcBef>
                <a:spcPts val="0"/>
              </a:spcBef>
              <a:spcAft>
                <a:spcPts val="0"/>
              </a:spcAft>
            </a:pPr>
            <a:r>
              <a:rPr sz="1050" b="0">
                <a:solidFill>
                  <a:srgbClr val="93A4B7"/>
                </a:solidFill>
                <a:latin typeface="Calibri"/>
              </a:rPr>
              <a:t>tokens back</a:t>
            </a:r>
          </a:p>
        </p:txBody>
      </p:sp>
      <p:sp>
        <p:nvSpPr>
          <p:cNvPr id="36" name="Rounded Rectangle 35"/>
          <p:cNvSpPr/>
          <p:nvPr/>
        </p:nvSpPr>
        <p:spPr>
          <a:xfrm>
            <a:off x="8512606" y="5340096"/>
            <a:ext cx="1464777" cy="621792"/>
          </a:xfrm>
          <a:prstGeom prst="roundRect">
            <a:avLst>
              <a:gd name="adj" fmla="val 3500"/>
            </a:avLst>
          </a:prstGeom>
          <a:solidFill>
            <a:srgbClr val="17222E"/>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640622" y="5431536"/>
            <a:ext cx="1208745" cy="219456"/>
          </a:xfrm>
          <a:prstGeom prst="rect">
            <a:avLst/>
          </a:prstGeom>
          <a:noFill/>
        </p:spPr>
        <p:txBody>
          <a:bodyPr wrap="square" lIns="0" tIns="0" rIns="0" bIns="0">
            <a:spAutoFit/>
          </a:bodyPr>
          <a:lstStyle/>
          <a:p>
            <a:pPr algn="l">
              <a:spcBef>
                <a:spcPts val="0"/>
              </a:spcBef>
              <a:spcAft>
                <a:spcPts val="0"/>
              </a:spcAft>
            </a:pPr>
            <a:r>
              <a:rPr sz="1100" b="1">
                <a:solidFill>
                  <a:srgbClr val="13EF93"/>
                </a:solidFill>
                <a:latin typeface="Calibri"/>
              </a:rPr>
              <a:t>6</a:t>
            </a:r>
          </a:p>
        </p:txBody>
      </p:sp>
      <p:sp>
        <p:nvSpPr>
          <p:cNvPr id="38" name="TextBox 37"/>
          <p:cNvSpPr txBox="1"/>
          <p:nvPr/>
        </p:nvSpPr>
        <p:spPr>
          <a:xfrm>
            <a:off x="8640622" y="5641848"/>
            <a:ext cx="1208745" cy="274320"/>
          </a:xfrm>
          <a:prstGeom prst="rect">
            <a:avLst/>
          </a:prstGeom>
          <a:noFill/>
        </p:spPr>
        <p:txBody>
          <a:bodyPr wrap="square" lIns="0" tIns="0" rIns="0" bIns="0">
            <a:spAutoFit/>
          </a:bodyPr>
          <a:lstStyle/>
          <a:p>
            <a:pPr algn="l">
              <a:lnSpc>
                <a:spcPct val="114000"/>
              </a:lnSpc>
              <a:spcBef>
                <a:spcPts val="0"/>
              </a:spcBef>
              <a:spcAft>
                <a:spcPts val="0"/>
              </a:spcAft>
            </a:pPr>
            <a:r>
              <a:rPr sz="1050" b="0">
                <a:solidFill>
                  <a:srgbClr val="93A4B7"/>
                </a:solidFill>
                <a:latin typeface="Calibri"/>
              </a:rPr>
              <a:t>synthesis</a:t>
            </a:r>
          </a:p>
        </p:txBody>
      </p:sp>
      <p:sp>
        <p:nvSpPr>
          <p:cNvPr id="39" name="Rounded Rectangle 38"/>
          <p:cNvSpPr/>
          <p:nvPr/>
        </p:nvSpPr>
        <p:spPr>
          <a:xfrm>
            <a:off x="10087112" y="5340096"/>
            <a:ext cx="1464777" cy="621792"/>
          </a:xfrm>
          <a:prstGeom prst="roundRect">
            <a:avLst>
              <a:gd name="adj" fmla="val 3500"/>
            </a:avLst>
          </a:prstGeom>
          <a:solidFill>
            <a:srgbClr val="17222E"/>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0215128" y="5431536"/>
            <a:ext cx="1208745" cy="219456"/>
          </a:xfrm>
          <a:prstGeom prst="rect">
            <a:avLst/>
          </a:prstGeom>
          <a:noFill/>
        </p:spPr>
        <p:txBody>
          <a:bodyPr wrap="square" lIns="0" tIns="0" rIns="0" bIns="0">
            <a:spAutoFit/>
          </a:bodyPr>
          <a:lstStyle/>
          <a:p>
            <a:pPr algn="l">
              <a:spcBef>
                <a:spcPts val="0"/>
              </a:spcBef>
              <a:spcAft>
                <a:spcPts val="0"/>
              </a:spcAft>
            </a:pPr>
            <a:r>
              <a:rPr sz="1100" b="1">
                <a:solidFill>
                  <a:srgbClr val="13EF93"/>
                </a:solidFill>
                <a:latin typeface="Calibri"/>
              </a:rPr>
              <a:t>7</a:t>
            </a:r>
          </a:p>
        </p:txBody>
      </p:sp>
      <p:sp>
        <p:nvSpPr>
          <p:cNvPr id="41" name="TextBox 40"/>
          <p:cNvSpPr txBox="1"/>
          <p:nvPr/>
        </p:nvSpPr>
        <p:spPr>
          <a:xfrm>
            <a:off x="10215128" y="5641848"/>
            <a:ext cx="1208745" cy="274320"/>
          </a:xfrm>
          <a:prstGeom prst="rect">
            <a:avLst/>
          </a:prstGeom>
          <a:noFill/>
        </p:spPr>
        <p:txBody>
          <a:bodyPr wrap="square" lIns="0" tIns="0" rIns="0" bIns="0">
            <a:spAutoFit/>
          </a:bodyPr>
          <a:lstStyle/>
          <a:p>
            <a:pPr algn="l">
              <a:lnSpc>
                <a:spcPct val="114000"/>
              </a:lnSpc>
              <a:spcBef>
                <a:spcPts val="0"/>
              </a:spcBef>
              <a:spcAft>
                <a:spcPts val="0"/>
              </a:spcAft>
            </a:pPr>
            <a:r>
              <a:rPr sz="1050" b="0">
                <a:solidFill>
                  <a:srgbClr val="93A4B7"/>
                </a:solidFill>
                <a:latin typeface="Calibri"/>
              </a:rPr>
              <a:t>audio down</a:t>
            </a:r>
          </a:p>
        </p:txBody>
      </p:sp>
      <p:sp>
        <p:nvSpPr>
          <p:cNvPr id="42" name="TextBox 41"/>
          <p:cNvSpPr txBox="1"/>
          <p:nvPr/>
        </p:nvSpPr>
        <p:spPr>
          <a:xfrm>
            <a:off x="640080" y="6126480"/>
            <a:ext cx="10911809" cy="457200"/>
          </a:xfrm>
          <a:prstGeom prst="rect">
            <a:avLst/>
          </a:prstGeom>
          <a:noFill/>
        </p:spPr>
        <p:txBody>
          <a:bodyPr wrap="square" lIns="0" tIns="0" rIns="0" bIns="0">
            <a:spAutoFit/>
          </a:bodyPr>
          <a:lstStyle/>
          <a:p>
            <a:pPr algn="l">
              <a:lnSpc>
                <a:spcPct val="125000"/>
              </a:lnSpc>
              <a:spcBef>
                <a:spcPts val="0"/>
              </a:spcBef>
              <a:spcAft>
                <a:spcPts val="0"/>
              </a:spcAft>
            </a:pPr>
            <a:r>
              <a:rPr sz="1200" b="0">
                <a:solidFill>
                  <a:srgbClr val="5D6E80"/>
                </a:solidFill>
                <a:latin typeface="Calibri"/>
              </a:rPr>
              <a:t>Hops 4 and 5 are Deepgram's brokered LLM in Steps 1 through 8. Only in optional Step 6b do they leave for your own AWS account.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70B10"/>
        </a:solidFill>
        <a:effectLst/>
      </p:bgPr>
    </p:bg>
    <p:spTree>
      <p:nvGrpSpPr>
        <p:cNvPr id="1" name=""/>
        <p:cNvGrpSpPr/>
        <p:nvPr/>
      </p:nvGrpSpPr>
      <p:grpSpPr>
        <a:xfrm>
          <a:off x="0" y="0"/>
          <a:ext cx="0" cy="0"/>
          <a:chOff x="0" y="0"/>
          <a:chExt cx="0" cy="0"/>
        </a:xfrm>
      </p:grpSpPr>
      <p:sp>
        <p:nvSpPr>
          <p:cNvPr id="2" name="TextBox 1"/>
          <p:cNvSpPr txBox="1"/>
          <p:nvPr/>
        </p:nvSpPr>
        <p:spPr>
          <a:xfrm>
            <a:off x="640080" y="475488"/>
            <a:ext cx="10911809" cy="237744"/>
          </a:xfrm>
          <a:prstGeom prst="rect">
            <a:avLst/>
          </a:prstGeom>
          <a:noFill/>
        </p:spPr>
        <p:txBody>
          <a:bodyPr wrap="square" lIns="0" tIns="0" rIns="0" bIns="0">
            <a:spAutoFit/>
          </a:bodyPr>
          <a:lstStyle/>
          <a:p>
            <a:pPr algn="l">
              <a:spcBef>
                <a:spcPts val="0"/>
              </a:spcBef>
              <a:spcAft>
                <a:spcPts val="0"/>
              </a:spcAft>
            </a:pPr>
            <a:r>
              <a:rPr sz="1050" b="1">
                <a:solidFill>
                  <a:srgbClr val="13EF93"/>
                </a:solidFill>
                <a:latin typeface="Calibri"/>
              </a:rPr>
              <a:t>STEP 0</a:t>
            </a:r>
          </a:p>
        </p:txBody>
      </p:sp>
      <p:sp>
        <p:nvSpPr>
          <p:cNvPr id="3" name="TextBox 2"/>
          <p:cNvSpPr txBox="1"/>
          <p:nvPr/>
        </p:nvSpPr>
        <p:spPr>
          <a:xfrm>
            <a:off x="640080" y="786384"/>
            <a:ext cx="10911809" cy="548640"/>
          </a:xfrm>
          <a:prstGeom prst="rect">
            <a:avLst/>
          </a:prstGeom>
          <a:noFill/>
        </p:spPr>
        <p:txBody>
          <a:bodyPr wrap="square" lIns="0" tIns="0" rIns="0" bIns="0">
            <a:spAutoFit/>
          </a:bodyPr>
          <a:lstStyle/>
          <a:p>
            <a:pPr algn="l">
              <a:spcBef>
                <a:spcPts val="0"/>
              </a:spcBef>
              <a:spcAft>
                <a:spcPts val="0"/>
              </a:spcAft>
            </a:pPr>
            <a:r>
              <a:rPr sz="3100" b="1">
                <a:solidFill>
                  <a:srgbClr val="E9EFF6"/>
                </a:solidFill>
                <a:latin typeface="Calibri"/>
              </a:rPr>
              <a:t>The API does the orchestration</a:t>
            </a:r>
          </a:p>
        </p:txBody>
      </p:sp>
      <p:sp>
        <p:nvSpPr>
          <p:cNvPr id="4" name="Rounded Rectangle 3"/>
          <p:cNvSpPr/>
          <p:nvPr/>
        </p:nvSpPr>
        <p:spPr>
          <a:xfrm>
            <a:off x="640080" y="1883664"/>
            <a:ext cx="5291312" cy="2651760"/>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50976" y="2139696"/>
            <a:ext cx="4669520" cy="2103120"/>
          </a:xfrm>
          <a:prstGeom prst="rect">
            <a:avLst/>
          </a:prstGeom>
          <a:noFill/>
        </p:spPr>
        <p:txBody>
          <a:bodyPr wrap="square" lIns="0" tIns="0" rIns="0" bIns="0">
            <a:spAutoFit/>
          </a:bodyPr>
          <a:lstStyle/>
          <a:p>
            <a:pPr algn="l">
              <a:spcBef>
                <a:spcPts val="0"/>
              </a:spcBef>
              <a:spcAft>
                <a:spcPts val="0"/>
              </a:spcAft>
            </a:pPr>
            <a:r>
              <a:rPr sz="1200" b="1">
                <a:solidFill>
                  <a:srgbClr val="5D6E80"/>
                </a:solidFill>
                <a:latin typeface="Calibri"/>
              </a:rPr>
              <a:t>WIRE IT YOURSELF</a:t>
            </a:r>
          </a:p>
          <a:p>
            <a:pPr algn="l">
              <a:lnSpc>
                <a:spcPct val="126000"/>
              </a:lnSpc>
              <a:spcBef>
                <a:spcPts val="1300"/>
              </a:spcBef>
              <a:spcAft>
                <a:spcPts val="0"/>
              </a:spcAft>
            </a:pPr>
            <a:r>
              <a:rPr sz="1400" b="0">
                <a:solidFill>
                  <a:srgbClr val="93A4B7"/>
                </a:solidFill>
                <a:latin typeface="Calibri"/>
              </a:rPr>
              <a:t>Three services, and all the glue between them</a:t>
            </a:r>
          </a:p>
          <a:p>
            <a:pPr algn="l">
              <a:lnSpc>
                <a:spcPct val="126000"/>
              </a:lnSpc>
              <a:spcBef>
                <a:spcPts val="1300"/>
              </a:spcBef>
              <a:spcAft>
                <a:spcPts val="0"/>
              </a:spcAft>
            </a:pPr>
            <a:r>
              <a:rPr sz="1400" b="0">
                <a:solidFill>
                  <a:srgbClr val="93A4B7"/>
                </a:solidFill>
                <a:latin typeface="Calibri"/>
              </a:rPr>
              <a:t>You own the handoffs and the buffering</a:t>
            </a:r>
          </a:p>
          <a:p>
            <a:pPr algn="l">
              <a:lnSpc>
                <a:spcPct val="126000"/>
              </a:lnSpc>
              <a:spcBef>
                <a:spcPts val="1300"/>
              </a:spcBef>
              <a:spcAft>
                <a:spcPts val="0"/>
              </a:spcAft>
            </a:pPr>
            <a:r>
              <a:rPr sz="1400" b="0">
                <a:solidFill>
                  <a:srgbClr val="93A4B7"/>
                </a:solidFill>
                <a:latin typeface="Calibri"/>
              </a:rPr>
              <a:t>You own every millisecond between hops</a:t>
            </a:r>
          </a:p>
          <a:p>
            <a:pPr algn="l">
              <a:lnSpc>
                <a:spcPct val="126000"/>
              </a:lnSpc>
              <a:spcBef>
                <a:spcPts val="1300"/>
              </a:spcBef>
              <a:spcAft>
                <a:spcPts val="0"/>
              </a:spcAft>
            </a:pPr>
            <a:r>
              <a:rPr sz="1400" b="0">
                <a:solidFill>
                  <a:srgbClr val="93A4B7"/>
                </a:solidFill>
                <a:latin typeface="Calibri"/>
              </a:rPr>
              <a:t>You own turn-taking, in your client</a:t>
            </a:r>
          </a:p>
        </p:txBody>
      </p:sp>
      <p:sp>
        <p:nvSpPr>
          <p:cNvPr id="6" name="Rounded Rectangle 5"/>
          <p:cNvSpPr/>
          <p:nvPr/>
        </p:nvSpPr>
        <p:spPr>
          <a:xfrm>
            <a:off x="6260576" y="1883664"/>
            <a:ext cx="5291312" cy="2651760"/>
          </a:xfrm>
          <a:prstGeom prst="roundRect">
            <a:avLst>
              <a:gd name="adj" fmla="val 3500"/>
            </a:avLst>
          </a:prstGeom>
          <a:solidFill>
            <a:srgbClr val="081F18"/>
          </a:solidFill>
          <a:ln w="12700">
            <a:solidFill>
              <a:srgbClr val="0D6B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71472" y="2139696"/>
            <a:ext cx="4669520" cy="2103120"/>
          </a:xfrm>
          <a:prstGeom prst="rect">
            <a:avLst/>
          </a:prstGeom>
          <a:noFill/>
        </p:spPr>
        <p:txBody>
          <a:bodyPr wrap="square" lIns="0" tIns="0" rIns="0" bIns="0">
            <a:spAutoFit/>
          </a:bodyPr>
          <a:lstStyle/>
          <a:p>
            <a:pPr algn="l">
              <a:spcBef>
                <a:spcPts val="0"/>
              </a:spcBef>
              <a:spcAft>
                <a:spcPts val="0"/>
              </a:spcAft>
            </a:pPr>
            <a:r>
              <a:rPr sz="1200" b="1">
                <a:solidFill>
                  <a:srgbClr val="13EF93"/>
                </a:solidFill>
                <a:latin typeface="Calibri"/>
              </a:rPr>
              <a:t>VOICE AGENT API</a:t>
            </a:r>
          </a:p>
          <a:p>
            <a:pPr algn="l">
              <a:lnSpc>
                <a:spcPct val="126000"/>
              </a:lnSpc>
              <a:spcBef>
                <a:spcPts val="1300"/>
              </a:spcBef>
              <a:spcAft>
                <a:spcPts val="0"/>
              </a:spcAft>
            </a:pPr>
            <a:r>
              <a:rPr sz="1400" b="0">
                <a:solidFill>
                  <a:srgbClr val="E9EFF6"/>
                </a:solidFill>
                <a:latin typeface="Calibri"/>
              </a:rPr>
              <a:t>One WebSocket, one settings message</a:t>
            </a:r>
          </a:p>
          <a:p>
            <a:pPr algn="l">
              <a:lnSpc>
                <a:spcPct val="126000"/>
              </a:lnSpc>
              <a:spcBef>
                <a:spcPts val="1300"/>
              </a:spcBef>
              <a:spcAft>
                <a:spcPts val="0"/>
              </a:spcAft>
            </a:pPr>
            <a:r>
              <a:rPr sz="1400" b="0">
                <a:solidFill>
                  <a:srgbClr val="E9EFF6"/>
                </a:solidFill>
                <a:latin typeface="Calibri"/>
              </a:rPr>
              <a:t>Deepgram runs the pipeline server-side</a:t>
            </a:r>
          </a:p>
          <a:p>
            <a:pPr algn="l">
              <a:lnSpc>
                <a:spcPct val="126000"/>
              </a:lnSpc>
              <a:spcBef>
                <a:spcPts val="1300"/>
              </a:spcBef>
              <a:spcAft>
                <a:spcPts val="0"/>
              </a:spcAft>
            </a:pPr>
            <a:r>
              <a:rPr sz="1400" b="0">
                <a:solidFill>
                  <a:srgbClr val="E9EFF6"/>
                </a:solidFill>
                <a:latin typeface="Calibri"/>
              </a:rPr>
              <a:t>Audio bytes in, audio bytes out</a:t>
            </a:r>
          </a:p>
          <a:p>
            <a:pPr algn="l">
              <a:lnSpc>
                <a:spcPct val="126000"/>
              </a:lnSpc>
              <a:spcBef>
                <a:spcPts val="1300"/>
              </a:spcBef>
              <a:spcAft>
                <a:spcPts val="0"/>
              </a:spcAft>
            </a:pPr>
            <a:r>
              <a:rPr sz="1400" b="0">
                <a:solidFill>
                  <a:srgbClr val="E9EFF6"/>
                </a:solidFill>
                <a:latin typeface="Calibri"/>
              </a:rPr>
              <a:t>Turn-taking happens inside the model</a:t>
            </a:r>
          </a:p>
        </p:txBody>
      </p:sp>
      <p:sp>
        <p:nvSpPr>
          <p:cNvPr id="8" name="Rounded Rectangle 7"/>
          <p:cNvSpPr/>
          <p:nvPr/>
        </p:nvSpPr>
        <p:spPr>
          <a:xfrm>
            <a:off x="640080" y="4846320"/>
            <a:ext cx="10911809" cy="1024128"/>
          </a:xfrm>
          <a:prstGeom prst="roundRect">
            <a:avLst>
              <a:gd name="adj" fmla="val 3500"/>
            </a:avLst>
          </a:prstGeom>
          <a:solidFill>
            <a:srgbClr val="17222E"/>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50976" y="5047488"/>
            <a:ext cx="10290017" cy="640080"/>
          </a:xfrm>
          <a:prstGeom prst="rect">
            <a:avLst/>
          </a:prstGeom>
          <a:noFill/>
        </p:spPr>
        <p:txBody>
          <a:bodyPr wrap="square" lIns="0" tIns="0" rIns="0" bIns="0">
            <a:spAutoFit/>
          </a:bodyPr>
          <a:lstStyle/>
          <a:p>
            <a:pPr algn="l">
              <a:spcBef>
                <a:spcPts val="0"/>
              </a:spcBef>
              <a:spcAft>
                <a:spcPts val="0"/>
              </a:spcAft>
            </a:pPr>
            <a:r>
              <a:rPr sz="1600" b="1">
                <a:solidFill>
                  <a:srgbClr val="E9EFF6"/>
                </a:solidFill>
                <a:latin typeface="Calibri"/>
              </a:rPr>
              <a:t>You describe what you want, and you get a socket.</a:t>
            </a:r>
          </a:p>
          <a:p>
            <a:pPr algn="l">
              <a:lnSpc>
                <a:spcPct val="128000"/>
              </a:lnSpc>
              <a:spcBef>
                <a:spcPts val="500"/>
              </a:spcBef>
              <a:spcAft>
                <a:spcPts val="0"/>
              </a:spcAft>
            </a:pPr>
            <a:r>
              <a:rPr sz="1300" b="0">
                <a:solidFill>
                  <a:srgbClr val="93A4B7"/>
                </a:solidFill>
                <a:latin typeface="Calibri"/>
              </a:rPr>
              <a:t>Which STT model, which LLM provider and model, which TTS voice, and the agent's personality and greeting. Over the next eight steps you configure that orchestrator and react to what it sends you. You will never reimplement it.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70B10"/>
        </a:solidFill>
        <a:effectLst/>
      </p:bgPr>
    </p:bg>
    <p:spTree>
      <p:nvGrpSpPr>
        <p:cNvPr id="1" name=""/>
        <p:cNvGrpSpPr/>
        <p:nvPr/>
      </p:nvGrpSpPr>
      <p:grpSpPr>
        <a:xfrm>
          <a:off x="0" y="0"/>
          <a:ext cx="0" cy="0"/>
          <a:chOff x="0" y="0"/>
          <a:chExt cx="0" cy="0"/>
        </a:xfrm>
      </p:grpSpPr>
      <p:sp>
        <p:nvSpPr>
          <p:cNvPr id="2" name="TextBox 1"/>
          <p:cNvSpPr txBox="1"/>
          <p:nvPr/>
        </p:nvSpPr>
        <p:spPr>
          <a:xfrm>
            <a:off x="640080" y="475488"/>
            <a:ext cx="10911809" cy="237744"/>
          </a:xfrm>
          <a:prstGeom prst="rect">
            <a:avLst/>
          </a:prstGeom>
          <a:noFill/>
        </p:spPr>
        <p:txBody>
          <a:bodyPr wrap="square" lIns="0" tIns="0" rIns="0" bIns="0">
            <a:spAutoFit/>
          </a:bodyPr>
          <a:lstStyle/>
          <a:p>
            <a:pPr algn="l">
              <a:spcBef>
                <a:spcPts val="0"/>
              </a:spcBef>
              <a:spcAft>
                <a:spcPts val="0"/>
              </a:spcAft>
            </a:pPr>
            <a:r>
              <a:rPr sz="1050" b="1">
                <a:solidFill>
                  <a:srgbClr val="13EF93"/>
                </a:solidFill>
                <a:latin typeface="Calibri"/>
              </a:rPr>
              <a:t>STEP 0  ·  SLOW DOWN HERE</a:t>
            </a:r>
          </a:p>
        </p:txBody>
      </p:sp>
      <p:sp>
        <p:nvSpPr>
          <p:cNvPr id="3" name="TextBox 2"/>
          <p:cNvSpPr txBox="1"/>
          <p:nvPr/>
        </p:nvSpPr>
        <p:spPr>
          <a:xfrm>
            <a:off x="640080" y="786384"/>
            <a:ext cx="10911809" cy="548640"/>
          </a:xfrm>
          <a:prstGeom prst="rect">
            <a:avLst/>
          </a:prstGeom>
          <a:noFill/>
        </p:spPr>
        <p:txBody>
          <a:bodyPr wrap="square" lIns="0" tIns="0" rIns="0" bIns="0">
            <a:spAutoFit/>
          </a:bodyPr>
          <a:lstStyle/>
          <a:p>
            <a:pPr algn="l">
              <a:spcBef>
                <a:spcPts val="0"/>
              </a:spcBef>
              <a:spcAft>
                <a:spcPts val="0"/>
              </a:spcAft>
            </a:pPr>
            <a:r>
              <a:rPr sz="3100" b="1">
                <a:solidFill>
                  <a:srgbClr val="E9EFF6"/>
                </a:solidFill>
                <a:latin typeface="Calibri"/>
              </a:rPr>
              <a:t>What Flux changes</a:t>
            </a:r>
          </a:p>
        </p:txBody>
      </p:sp>
      <p:sp>
        <p:nvSpPr>
          <p:cNvPr id="4" name="TextBox 3"/>
          <p:cNvSpPr txBox="1"/>
          <p:nvPr/>
        </p:nvSpPr>
        <p:spPr>
          <a:xfrm>
            <a:off x="640080" y="1499616"/>
            <a:ext cx="9692640" cy="548640"/>
          </a:xfrm>
          <a:prstGeom prst="rect">
            <a:avLst/>
          </a:prstGeom>
          <a:noFill/>
        </p:spPr>
        <p:txBody>
          <a:bodyPr wrap="square" lIns="0" tIns="0" rIns="0" bIns="0">
            <a:spAutoFit/>
          </a:bodyPr>
          <a:lstStyle/>
          <a:p>
            <a:pPr algn="l">
              <a:lnSpc>
                <a:spcPct val="128000"/>
              </a:lnSpc>
              <a:spcBef>
                <a:spcPts val="0"/>
              </a:spcBef>
              <a:spcAft>
                <a:spcPts val="0"/>
              </a:spcAft>
            </a:pPr>
            <a:r>
              <a:rPr sz="1450" b="0">
                <a:solidFill>
                  <a:srgbClr val="93A4B7"/>
                </a:solidFill>
                <a:latin typeface="Calibri"/>
              </a:rPr>
              <a:t>This is where voice agents differ most from what you'd expect.</a:t>
            </a:r>
          </a:p>
        </p:txBody>
      </p:sp>
      <p:sp>
        <p:nvSpPr>
          <p:cNvPr id="5" name="Rounded Rectangle 4"/>
          <p:cNvSpPr/>
          <p:nvPr/>
        </p:nvSpPr>
        <p:spPr>
          <a:xfrm>
            <a:off x="640080" y="2267712"/>
            <a:ext cx="5291312" cy="2286000"/>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50976" y="2523744"/>
            <a:ext cx="4669520" cy="1737360"/>
          </a:xfrm>
          <a:prstGeom prst="rect">
            <a:avLst/>
          </a:prstGeom>
          <a:noFill/>
        </p:spPr>
        <p:txBody>
          <a:bodyPr wrap="square" lIns="0" tIns="0" rIns="0" bIns="0">
            <a:spAutoFit/>
          </a:bodyPr>
          <a:lstStyle/>
          <a:p>
            <a:pPr algn="l">
              <a:spcBef>
                <a:spcPts val="0"/>
              </a:spcBef>
              <a:spcAft>
                <a:spcPts val="0"/>
              </a:spcAft>
            </a:pPr>
            <a:r>
              <a:rPr sz="1200" b="1">
                <a:solidFill>
                  <a:srgbClr val="5D6E80"/>
                </a:solidFill>
                <a:latin typeface="Calibri"/>
              </a:rPr>
              <a:t>TRADITIONAL PIPELINE</a:t>
            </a:r>
          </a:p>
          <a:p>
            <a:pPr algn="l">
              <a:lnSpc>
                <a:spcPct val="116000"/>
              </a:lnSpc>
              <a:spcBef>
                <a:spcPts val="900"/>
              </a:spcBef>
              <a:spcAft>
                <a:spcPts val="0"/>
              </a:spcAft>
            </a:pPr>
            <a:r>
              <a:rPr sz="1650" b="1">
                <a:solidFill>
                  <a:srgbClr val="E9EFF6"/>
                </a:solidFill>
                <a:latin typeface="Calibri"/>
              </a:rPr>
              <a:t>Your client decides when the user has stopped talking.</a:t>
            </a:r>
          </a:p>
          <a:p>
            <a:pPr algn="l">
              <a:lnSpc>
                <a:spcPct val="130000"/>
              </a:lnSpc>
              <a:spcBef>
                <a:spcPts val="800"/>
              </a:spcBef>
              <a:spcAft>
                <a:spcPts val="0"/>
              </a:spcAft>
            </a:pPr>
            <a:r>
              <a:rPr sz="1300" b="0">
                <a:solidFill>
                  <a:srgbClr val="93A4B7"/>
                </a:solidFill>
                <a:latin typeface="Calibri"/>
              </a:rPr>
              <a:t>You measure audio energy. You set a silence threshold. You write voice activity detection — and you get it slightly wrong forever. Turn-taking lives in your code.</a:t>
            </a:r>
          </a:p>
        </p:txBody>
      </p:sp>
      <p:sp>
        <p:nvSpPr>
          <p:cNvPr id="7" name="Rounded Rectangle 6"/>
          <p:cNvSpPr/>
          <p:nvPr/>
        </p:nvSpPr>
        <p:spPr>
          <a:xfrm>
            <a:off x="6260576" y="2267712"/>
            <a:ext cx="5291312" cy="2286000"/>
          </a:xfrm>
          <a:prstGeom prst="roundRect">
            <a:avLst>
              <a:gd name="adj" fmla="val 3500"/>
            </a:avLst>
          </a:prstGeom>
          <a:solidFill>
            <a:srgbClr val="081F18"/>
          </a:solidFill>
          <a:ln w="12700">
            <a:solidFill>
              <a:srgbClr val="0D6B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71472" y="2523744"/>
            <a:ext cx="4669520" cy="1737360"/>
          </a:xfrm>
          <a:prstGeom prst="rect">
            <a:avLst/>
          </a:prstGeom>
          <a:noFill/>
        </p:spPr>
        <p:txBody>
          <a:bodyPr wrap="square" lIns="0" tIns="0" rIns="0" bIns="0">
            <a:spAutoFit/>
          </a:bodyPr>
          <a:lstStyle/>
          <a:p>
            <a:pPr algn="l">
              <a:spcBef>
                <a:spcPts val="0"/>
              </a:spcBef>
              <a:spcAft>
                <a:spcPts val="0"/>
              </a:spcAft>
            </a:pPr>
            <a:r>
              <a:rPr sz="1200" b="1">
                <a:solidFill>
                  <a:srgbClr val="13EF93"/>
                </a:solidFill>
                <a:latin typeface="Calibri"/>
              </a:rPr>
              <a:t>WITH FLUX</a:t>
            </a:r>
          </a:p>
          <a:p>
            <a:pPr algn="l">
              <a:lnSpc>
                <a:spcPct val="116000"/>
              </a:lnSpc>
              <a:spcBef>
                <a:spcPts val="900"/>
              </a:spcBef>
              <a:spcAft>
                <a:spcPts val="0"/>
              </a:spcAft>
            </a:pPr>
            <a:r>
              <a:rPr sz="1650" b="1">
                <a:solidFill>
                  <a:srgbClr val="E9EFF6"/>
                </a:solidFill>
                <a:latin typeface="Calibri"/>
              </a:rPr>
              <a:t>Turn detection happens inside the model.</a:t>
            </a:r>
          </a:p>
          <a:p>
            <a:pPr algn="l">
              <a:lnSpc>
                <a:spcPct val="130000"/>
              </a:lnSpc>
              <a:spcBef>
                <a:spcPts val="800"/>
              </a:spcBef>
              <a:spcAft>
                <a:spcPts val="0"/>
              </a:spcAft>
            </a:pPr>
            <a:r>
              <a:rPr sz="1300" b="0">
                <a:solidFill>
                  <a:srgbClr val="93A4B7"/>
                </a:solidFill>
                <a:latin typeface="Calibri"/>
              </a:rPr>
              <a:t>Flux scores every turn for end-of-turn confidence as the audio streams in, and tells you what it concluded. You tune it with a number instead of maintaining a heuristic.</a:t>
            </a:r>
          </a:p>
        </p:txBody>
      </p:sp>
      <p:sp>
        <p:nvSpPr>
          <p:cNvPr id="9" name="Rounded Rectangle 8"/>
          <p:cNvSpPr/>
          <p:nvPr/>
        </p:nvSpPr>
        <p:spPr>
          <a:xfrm>
            <a:off x="640080" y="4882896"/>
            <a:ext cx="10911809" cy="1060704"/>
          </a:xfrm>
          <a:prstGeom prst="roundRect">
            <a:avLst>
              <a:gd name="adj" fmla="val 3500"/>
            </a:avLst>
          </a:prstGeom>
          <a:solidFill>
            <a:srgbClr val="04070A"/>
          </a:solidFill>
          <a:ln w="12700">
            <a:solidFill>
              <a:srgbClr val="0D6B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05840" y="5157216"/>
            <a:ext cx="10180289" cy="548640"/>
          </a:xfrm>
          <a:prstGeom prst="rect">
            <a:avLst/>
          </a:prstGeom>
          <a:noFill/>
        </p:spPr>
        <p:txBody>
          <a:bodyPr wrap="square" lIns="0" tIns="0" rIns="0" bIns="0">
            <a:spAutoFit/>
          </a:bodyPr>
          <a:lstStyle/>
          <a:p>
            <a:pPr algn="ctr">
              <a:spcBef>
                <a:spcPts val="0"/>
              </a:spcBef>
              <a:spcAft>
                <a:spcPts val="0"/>
              </a:spcAft>
            </a:pPr>
            <a:r>
              <a:rPr sz="2200" b="1">
                <a:solidFill>
                  <a:srgbClr val="13EF93"/>
                </a:solidFill>
                <a:latin typeface="Calibri"/>
              </a:rPr>
              <a:t>You will not write a silence threshold anywhere in this workshop.</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70B10"/>
        </a:solidFill>
        <a:effectLst/>
      </p:bgPr>
    </p:bg>
    <p:spTree>
      <p:nvGrpSpPr>
        <p:cNvPr id="1" name=""/>
        <p:cNvGrpSpPr/>
        <p:nvPr/>
      </p:nvGrpSpPr>
      <p:grpSpPr>
        <a:xfrm>
          <a:off x="0" y="0"/>
          <a:ext cx="0" cy="0"/>
          <a:chOff x="0" y="0"/>
          <a:chExt cx="0" cy="0"/>
        </a:xfrm>
      </p:grpSpPr>
      <p:sp>
        <p:nvSpPr>
          <p:cNvPr id="2" name="TextBox 1"/>
          <p:cNvSpPr txBox="1"/>
          <p:nvPr/>
        </p:nvSpPr>
        <p:spPr>
          <a:xfrm>
            <a:off x="640080" y="786384"/>
            <a:ext cx="10911809" cy="274320"/>
          </a:xfrm>
          <a:prstGeom prst="rect">
            <a:avLst/>
          </a:prstGeom>
          <a:noFill/>
        </p:spPr>
        <p:txBody>
          <a:bodyPr wrap="square" lIns="0" tIns="0" rIns="0" bIns="0">
            <a:spAutoFit/>
          </a:bodyPr>
          <a:lstStyle/>
          <a:p>
            <a:pPr algn="l">
              <a:spcBef>
                <a:spcPts val="0"/>
              </a:spcBef>
              <a:spcAft>
                <a:spcPts val="0"/>
              </a:spcAft>
            </a:pPr>
            <a:r>
              <a:rPr sz="1100" b="1">
                <a:solidFill>
                  <a:srgbClr val="13EF93"/>
                </a:solidFill>
                <a:latin typeface="Calibri"/>
              </a:rPr>
              <a:t>STEP 0  ·  WHAT THAT LEAVES YOU</a:t>
            </a:r>
          </a:p>
        </p:txBody>
      </p:sp>
      <p:sp>
        <p:nvSpPr>
          <p:cNvPr id="3" name="TextBox 2"/>
          <p:cNvSpPr txBox="1"/>
          <p:nvPr/>
        </p:nvSpPr>
        <p:spPr>
          <a:xfrm>
            <a:off x="640080" y="1225296"/>
            <a:ext cx="10515600" cy="1920240"/>
          </a:xfrm>
          <a:prstGeom prst="rect">
            <a:avLst/>
          </a:prstGeom>
          <a:noFill/>
        </p:spPr>
        <p:txBody>
          <a:bodyPr wrap="square" lIns="0" tIns="0" rIns="0" bIns="0">
            <a:spAutoFit/>
          </a:bodyPr>
          <a:lstStyle/>
          <a:p>
            <a:pPr algn="l">
              <a:lnSpc>
                <a:spcPct val="110000"/>
              </a:lnSpc>
              <a:spcBef>
                <a:spcPts val="0"/>
              </a:spcBef>
              <a:spcAft>
                <a:spcPts val="0"/>
              </a:spcAft>
            </a:pPr>
            <a:r>
              <a:rPr sz="3800" b="1">
                <a:solidFill>
                  <a:srgbClr val="E9EFF6"/>
                </a:solidFill>
                <a:latin typeface="Calibri"/>
              </a:rPr>
              <a:t>When Flux says the user started talking,</a:t>
            </a:r>
          </a:p>
          <a:p>
            <a:pPr algn="l">
              <a:lnSpc>
                <a:spcPct val="110000"/>
              </a:lnSpc>
              <a:spcBef>
                <a:spcPts val="0"/>
              </a:spcBef>
              <a:spcAft>
                <a:spcPts val="0"/>
              </a:spcAft>
            </a:pPr>
            <a:r>
              <a:rPr sz="3800" b="1">
                <a:solidFill>
                  <a:srgbClr val="13EF93"/>
                </a:solidFill>
                <a:latin typeface="Calibri"/>
              </a:rPr>
              <a:t>stop your speaker immediately.</a:t>
            </a:r>
          </a:p>
        </p:txBody>
      </p:sp>
      <p:sp>
        <p:nvSpPr>
          <p:cNvPr id="4" name="TextBox 3"/>
          <p:cNvSpPr txBox="1"/>
          <p:nvPr/>
        </p:nvSpPr>
        <p:spPr>
          <a:xfrm>
            <a:off x="640080" y="3401568"/>
            <a:ext cx="9326880" cy="1280160"/>
          </a:xfrm>
          <a:prstGeom prst="rect">
            <a:avLst/>
          </a:prstGeom>
          <a:noFill/>
        </p:spPr>
        <p:txBody>
          <a:bodyPr wrap="square" lIns="0" tIns="0" rIns="0" bIns="0">
            <a:spAutoFit/>
          </a:bodyPr>
          <a:lstStyle/>
          <a:p>
            <a:pPr algn="l">
              <a:lnSpc>
                <a:spcPct val="134000"/>
              </a:lnSpc>
              <a:spcBef>
                <a:spcPts val="0"/>
              </a:spcBef>
              <a:spcAft>
                <a:spcPts val="0"/>
              </a:spcAft>
            </a:pPr>
            <a:r>
              <a:rPr sz="1600" b="0">
                <a:solidFill>
                  <a:srgbClr val="93A4B7"/>
                </a:solidFill>
                <a:latin typeface="Calibri"/>
              </a:rPr>
              <a:t>The agent stops generating the moment it knows. But whatever it already sent is sitting in your playback buffer — easily a second or two of speech — and it will keep talking over the user until you clear it.</a:t>
            </a:r>
          </a:p>
        </p:txBody>
      </p:sp>
      <p:sp>
        <p:nvSpPr>
          <p:cNvPr id="5" name="Rounded Rectangle 4"/>
          <p:cNvSpPr/>
          <p:nvPr/>
        </p:nvSpPr>
        <p:spPr>
          <a:xfrm>
            <a:off x="640080" y="4956048"/>
            <a:ext cx="10911809" cy="932688"/>
          </a:xfrm>
          <a:prstGeom prst="roundRect">
            <a:avLst>
              <a:gd name="adj" fmla="val 3500"/>
            </a:avLst>
          </a:prstGeom>
          <a:solidFill>
            <a:srgbClr val="2A1F0D"/>
          </a:solidFill>
          <a:ln w="12700">
            <a:solidFill>
              <a:srgbClr val="FFB4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950976" y="5294376"/>
            <a:ext cx="71323" cy="237744"/>
          </a:xfrm>
          <a:prstGeom prst="roundRect">
            <a:avLst>
              <a:gd name="adj" fmla="val 40000"/>
            </a:avLst>
          </a:prstGeom>
          <a:solidFill>
            <a:srgbClr val="FF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1093622" y="5294376"/>
            <a:ext cx="71323" cy="237744"/>
          </a:xfrm>
          <a:prstGeom prst="roundRect">
            <a:avLst>
              <a:gd name="adj" fmla="val 40000"/>
            </a:avLst>
          </a:prstGeom>
          <a:solidFill>
            <a:srgbClr val="FF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572768" y="5138928"/>
            <a:ext cx="9631649" cy="585216"/>
          </a:xfrm>
          <a:prstGeom prst="rect">
            <a:avLst/>
          </a:prstGeom>
          <a:noFill/>
        </p:spPr>
        <p:txBody>
          <a:bodyPr wrap="square" lIns="0" tIns="0" rIns="0" bIns="0">
            <a:spAutoFit/>
          </a:bodyPr>
          <a:lstStyle/>
          <a:p>
            <a:pPr algn="l">
              <a:spcBef>
                <a:spcPts val="0"/>
              </a:spcBef>
              <a:spcAft>
                <a:spcPts val="0"/>
              </a:spcAft>
            </a:pPr>
            <a:r>
              <a:rPr sz="1550" b="1">
                <a:solidFill>
                  <a:srgbClr val="E9EFF6"/>
                </a:solidFill>
                <a:latin typeface="Calibri"/>
              </a:rPr>
              <a:t>That single responsibility gets its own step.</a:t>
            </a:r>
          </a:p>
          <a:p>
            <a:pPr algn="l">
              <a:lnSpc>
                <a:spcPct val="126000"/>
              </a:lnSpc>
              <a:spcBef>
                <a:spcPts val="400"/>
              </a:spcBef>
              <a:spcAft>
                <a:spcPts val="0"/>
              </a:spcAft>
            </a:pPr>
            <a:r>
              <a:rPr sz="1300" b="0">
                <a:solidFill>
                  <a:srgbClr val="FFB454"/>
                </a:solidFill>
                <a:latin typeface="Calibri"/>
              </a:rPr>
              <a:t>Step 5, at 1:50. It is the difference between a demo and something a person would willingly talk to, and it is the one step we never cut.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70B10"/>
        </a:solidFill>
        <a:effectLst/>
      </p:bgPr>
    </p:bg>
    <p:spTree>
      <p:nvGrpSpPr>
        <p:cNvPr id="1" name=""/>
        <p:cNvGrpSpPr/>
        <p:nvPr/>
      </p:nvGrpSpPr>
      <p:grpSpPr>
        <a:xfrm>
          <a:off x="0" y="0"/>
          <a:ext cx="0" cy="0"/>
          <a:chOff x="0" y="0"/>
          <a:chExt cx="0" cy="0"/>
        </a:xfrm>
      </p:grpSpPr>
      <p:sp>
        <p:nvSpPr>
          <p:cNvPr id="2" name="TextBox 1"/>
          <p:cNvSpPr txBox="1"/>
          <p:nvPr/>
        </p:nvSpPr>
        <p:spPr>
          <a:xfrm>
            <a:off x="640080" y="475488"/>
            <a:ext cx="10911809" cy="237744"/>
          </a:xfrm>
          <a:prstGeom prst="rect">
            <a:avLst/>
          </a:prstGeom>
          <a:noFill/>
        </p:spPr>
        <p:txBody>
          <a:bodyPr wrap="square" lIns="0" tIns="0" rIns="0" bIns="0">
            <a:spAutoFit/>
          </a:bodyPr>
          <a:lstStyle/>
          <a:p>
            <a:pPr algn="l">
              <a:spcBef>
                <a:spcPts val="0"/>
              </a:spcBef>
              <a:spcAft>
                <a:spcPts val="0"/>
              </a:spcAft>
            </a:pPr>
            <a:r>
              <a:rPr sz="1050" b="1">
                <a:solidFill>
                  <a:srgbClr val="13EF93"/>
                </a:solidFill>
                <a:latin typeface="Calibri"/>
              </a:rPr>
              <a:t>STEP 0</a:t>
            </a:r>
          </a:p>
        </p:txBody>
      </p:sp>
      <p:sp>
        <p:nvSpPr>
          <p:cNvPr id="3" name="TextBox 2"/>
          <p:cNvSpPr txBox="1"/>
          <p:nvPr/>
        </p:nvSpPr>
        <p:spPr>
          <a:xfrm>
            <a:off x="640080" y="786384"/>
            <a:ext cx="10911809" cy="548640"/>
          </a:xfrm>
          <a:prstGeom prst="rect">
            <a:avLst/>
          </a:prstGeom>
          <a:noFill/>
        </p:spPr>
        <p:txBody>
          <a:bodyPr wrap="square" lIns="0" tIns="0" rIns="0" bIns="0">
            <a:spAutoFit/>
          </a:bodyPr>
          <a:lstStyle/>
          <a:p>
            <a:pPr algn="l">
              <a:spcBef>
                <a:spcPts val="0"/>
              </a:spcBef>
              <a:spcAft>
                <a:spcPts val="0"/>
              </a:spcAft>
            </a:pPr>
            <a:r>
              <a:rPr sz="3100" b="1">
                <a:solidFill>
                  <a:srgbClr val="E9EFF6"/>
                </a:solidFill>
                <a:latin typeface="Calibri"/>
              </a:rPr>
              <a:t>How the workshop is laid out</a:t>
            </a:r>
          </a:p>
        </p:txBody>
      </p:sp>
      <p:sp>
        <p:nvSpPr>
          <p:cNvPr id="4" name="TextBox 3"/>
          <p:cNvSpPr txBox="1"/>
          <p:nvPr/>
        </p:nvSpPr>
        <p:spPr>
          <a:xfrm>
            <a:off x="640080" y="1499616"/>
            <a:ext cx="9692640" cy="548640"/>
          </a:xfrm>
          <a:prstGeom prst="rect">
            <a:avLst/>
          </a:prstGeom>
          <a:noFill/>
        </p:spPr>
        <p:txBody>
          <a:bodyPr wrap="square" lIns="0" tIns="0" rIns="0" bIns="0">
            <a:spAutoFit/>
          </a:bodyPr>
          <a:lstStyle/>
          <a:p>
            <a:pPr algn="l">
              <a:lnSpc>
                <a:spcPct val="128000"/>
              </a:lnSpc>
              <a:spcBef>
                <a:spcPts val="0"/>
              </a:spcBef>
              <a:spcAft>
                <a:spcPts val="0"/>
              </a:spcAft>
            </a:pPr>
            <a:r>
              <a:rPr sz="1450" b="0">
                <a:solidFill>
                  <a:srgbClr val="93A4B7"/>
                </a:solidFill>
                <a:latin typeface="Calibri"/>
              </a:rPr>
              <a:t>Every step folder holds the finished state of the step before it. Two useful things follow from that.</a:t>
            </a:r>
          </a:p>
        </p:txBody>
      </p:sp>
      <p:sp>
        <p:nvSpPr>
          <p:cNvPr id="5" name="Rounded Rectangle 4"/>
          <p:cNvSpPr/>
          <p:nvPr/>
        </p:nvSpPr>
        <p:spPr>
          <a:xfrm>
            <a:off x="640080" y="2267712"/>
            <a:ext cx="3503157" cy="1847088"/>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9536" y="2468880"/>
            <a:ext cx="3064245" cy="1444752"/>
          </a:xfrm>
          <a:prstGeom prst="rect">
            <a:avLst/>
          </a:prstGeom>
          <a:noFill/>
        </p:spPr>
        <p:txBody>
          <a:bodyPr wrap="square" lIns="0" tIns="0" rIns="0" bIns="0">
            <a:spAutoFit/>
          </a:bodyPr>
          <a:lstStyle/>
          <a:p>
            <a:pPr algn="l">
              <a:spcBef>
                <a:spcPts val="0"/>
              </a:spcBef>
              <a:spcAft>
                <a:spcPts val="0"/>
              </a:spcAft>
            </a:pPr>
            <a:r>
              <a:rPr sz="1500" b="1">
                <a:solidFill>
                  <a:srgbClr val="13EF93"/>
                </a:solidFill>
                <a:latin typeface="Calibri"/>
              </a:rPr>
              <a:t>Every step is a complete program</a:t>
            </a:r>
          </a:p>
          <a:p>
            <a:pPr algn="l">
              <a:lnSpc>
                <a:spcPct val="130000"/>
              </a:lnSpc>
              <a:spcBef>
                <a:spcPts val="700"/>
              </a:spcBef>
              <a:spcAft>
                <a:spcPts val="0"/>
              </a:spcAft>
            </a:pPr>
            <a:r>
              <a:rPr sz="1300" b="0">
                <a:solidFill>
                  <a:srgbClr val="93A4B7"/>
                </a:solidFill>
                <a:latin typeface="Calibri"/>
              </a:rPr>
              <a:t>steps/03-hear-the-agent/main.py already does everything Steps 1 and 2 built. You open it, run it, and add the piece that step is about.</a:t>
            </a:r>
          </a:p>
        </p:txBody>
      </p:sp>
      <p:sp>
        <p:nvSpPr>
          <p:cNvPr id="7" name="Rounded Rectangle 6"/>
          <p:cNvSpPr/>
          <p:nvPr/>
        </p:nvSpPr>
        <p:spPr>
          <a:xfrm>
            <a:off x="4344405" y="2267712"/>
            <a:ext cx="3503157" cy="1847088"/>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63861" y="2468880"/>
            <a:ext cx="3064245" cy="1444752"/>
          </a:xfrm>
          <a:prstGeom prst="rect">
            <a:avLst/>
          </a:prstGeom>
          <a:noFill/>
        </p:spPr>
        <p:txBody>
          <a:bodyPr wrap="square" lIns="0" tIns="0" rIns="0" bIns="0">
            <a:spAutoFit/>
          </a:bodyPr>
          <a:lstStyle/>
          <a:p>
            <a:pPr algn="l">
              <a:spcBef>
                <a:spcPts val="0"/>
              </a:spcBef>
              <a:spcAft>
                <a:spcPts val="0"/>
              </a:spcAft>
            </a:pPr>
            <a:r>
              <a:rPr sz="1500" b="1">
                <a:solidFill>
                  <a:srgbClr val="13EF93"/>
                </a:solidFill>
                <a:latin typeface="Calibri"/>
              </a:rPr>
              <a:t>The next folder is the answer key</a:t>
            </a:r>
          </a:p>
          <a:p>
            <a:pPr algn="l">
              <a:lnSpc>
                <a:spcPct val="130000"/>
              </a:lnSpc>
              <a:spcBef>
                <a:spcPts val="700"/>
              </a:spcBef>
              <a:spcAft>
                <a:spcPts val="0"/>
              </a:spcAft>
            </a:pPr>
            <a:r>
              <a:rPr sz="1300" b="0">
                <a:solidFill>
                  <a:srgbClr val="93A4B7"/>
                </a:solidFill>
                <a:latin typeface="Calibri"/>
              </a:rPr>
              <a:t>Stuck on a detail in Step 3? steps/04-talk-to-the-agent/main.py is Step 3, finished. Read it rather than waiting for a helper.</a:t>
            </a:r>
          </a:p>
        </p:txBody>
      </p:sp>
      <p:sp>
        <p:nvSpPr>
          <p:cNvPr id="9" name="Rounded Rectangle 8"/>
          <p:cNvSpPr/>
          <p:nvPr/>
        </p:nvSpPr>
        <p:spPr>
          <a:xfrm>
            <a:off x="8048731" y="2267712"/>
            <a:ext cx="3503157" cy="1847088"/>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68187" y="2468880"/>
            <a:ext cx="3064245" cy="1444752"/>
          </a:xfrm>
          <a:prstGeom prst="rect">
            <a:avLst/>
          </a:prstGeom>
          <a:noFill/>
        </p:spPr>
        <p:txBody>
          <a:bodyPr wrap="square" lIns="0" tIns="0" rIns="0" bIns="0">
            <a:spAutoFit/>
          </a:bodyPr>
          <a:lstStyle/>
          <a:p>
            <a:pPr algn="l">
              <a:spcBef>
                <a:spcPts val="0"/>
              </a:spcBef>
              <a:spcAft>
                <a:spcPts val="0"/>
              </a:spcAft>
            </a:pPr>
            <a:r>
              <a:rPr sz="1500" b="1">
                <a:solidFill>
                  <a:srgbClr val="13EF93"/>
                </a:solidFill>
                <a:latin typeface="Calibri"/>
              </a:rPr>
              <a:t>Falling behind is survivable</a:t>
            </a:r>
          </a:p>
          <a:p>
            <a:pPr algn="l">
              <a:lnSpc>
                <a:spcPct val="130000"/>
              </a:lnSpc>
              <a:spcBef>
                <a:spcPts val="700"/>
              </a:spcBef>
              <a:spcAft>
                <a:spcPts val="0"/>
              </a:spcAft>
            </a:pPr>
            <a:r>
              <a:rPr sz="1300" b="0">
                <a:solidFill>
                  <a:srgbClr val="93A4B7"/>
                </a:solidFill>
                <a:latin typeface="Calibri"/>
              </a:rPr>
              <a:t>On Step 3 when the room hits Step 5? Skip to steps/05-barge-in/ and keep going. You lose the typing, not the workshop.</a:t>
            </a:r>
          </a:p>
        </p:txBody>
      </p:sp>
      <p:sp>
        <p:nvSpPr>
          <p:cNvPr id="11" name="Rounded Rectangle 10"/>
          <p:cNvSpPr/>
          <p:nvPr/>
        </p:nvSpPr>
        <p:spPr>
          <a:xfrm>
            <a:off x="640080" y="4407408"/>
            <a:ext cx="10911809" cy="1042035"/>
          </a:xfrm>
          <a:prstGeom prst="roundRect">
            <a:avLst>
              <a:gd name="adj" fmla="val 3500"/>
            </a:avLst>
          </a:prstGeom>
          <a:solidFill>
            <a:srgbClr val="04070A"/>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59" y="4572000"/>
            <a:ext cx="10546049" cy="676275"/>
          </a:xfrm>
          <a:prstGeom prst="rect">
            <a:avLst/>
          </a:prstGeom>
          <a:noFill/>
        </p:spPr>
        <p:txBody>
          <a:bodyPr wrap="square" lIns="0" tIns="0" rIns="0" bIns="0">
            <a:spAutoFit/>
          </a:bodyPr>
          <a:lstStyle/>
          <a:p>
            <a:pPr algn="l">
              <a:lnSpc>
                <a:spcPct val="118000"/>
              </a:lnSpc>
              <a:spcBef>
                <a:spcPts val="0"/>
              </a:spcBef>
              <a:spcAft>
                <a:spcPts val="0"/>
              </a:spcAft>
            </a:pPr>
            <a:r>
              <a:rPr sz="1250" b="0">
                <a:solidFill>
                  <a:srgbClr val="5D6E80"/>
                </a:solidFill>
                <a:latin typeface="Courier New"/>
              </a:rPr>
              <a:t>    # TODO (Step 3.1): route the agent's audio to your speaker</a:t>
            </a:r>
          </a:p>
          <a:p>
            <a:pPr algn="l">
              <a:lnSpc>
                <a:spcPct val="118000"/>
              </a:lnSpc>
              <a:spcBef>
                <a:spcPts val="0"/>
              </a:spcBef>
              <a:spcAft>
                <a:spcPts val="0"/>
              </a:spcAft>
            </a:pPr>
            <a:r>
              <a:rPr sz="1250" b="0">
                <a:solidFill>
                  <a:srgbClr val="13EF93"/>
                </a:solidFill>
                <a:latin typeface="Courier New"/>
              </a:rPr>
              <a:t>    #: player.send() hands raw PCM to the playback queue.</a:t>
            </a:r>
          </a:p>
          <a:p>
            <a:pPr algn="l">
              <a:lnSpc>
                <a:spcPct val="118000"/>
              </a:lnSpc>
              <a:spcBef>
                <a:spcPts val="0"/>
              </a:spcBef>
              <a:spcAft>
                <a:spcPts val="0"/>
              </a:spcAft>
            </a:pPr>
            <a:r>
              <a:rPr sz="1250" b="0">
                <a:solidFill>
                  <a:srgbClr val="93A4B7"/>
                </a:solidFill>
                <a:latin typeface="Courier New"/>
              </a:rPr>
              <a:t>    # player.send(audio)</a:t>
            </a:r>
          </a:p>
        </p:txBody>
      </p:sp>
      <p:sp>
        <p:nvSpPr>
          <p:cNvPr id="13" name="TextBox 12"/>
          <p:cNvSpPr txBox="1"/>
          <p:nvPr/>
        </p:nvSpPr>
        <p:spPr>
          <a:xfrm>
            <a:off x="640080" y="5632323"/>
            <a:ext cx="10911809" cy="457200"/>
          </a:xfrm>
          <a:prstGeom prst="rect">
            <a:avLst/>
          </a:prstGeom>
          <a:noFill/>
        </p:spPr>
        <p:txBody>
          <a:bodyPr wrap="square" lIns="0" tIns="0" rIns="0" bIns="0">
            <a:spAutoFit/>
          </a:bodyPr>
          <a:lstStyle/>
          <a:p>
            <a:pPr algn="l">
              <a:lnSpc>
                <a:spcPct val="125000"/>
              </a:lnSpc>
              <a:spcBef>
                <a:spcPts val="0"/>
              </a:spcBef>
              <a:spcAft>
                <a:spcPts val="0"/>
              </a:spcAft>
            </a:pPr>
            <a:r>
              <a:rPr sz="1250" b="0">
                <a:solidFill>
                  <a:srgbClr val="93A4B7"/>
                </a:solidFill>
                <a:latin typeface="Calibri"/>
              </a:rPr>
              <a:t>Work the TODO (Step N.x) blocks in order. Inside a block, #: marks the instructions — everything else is code, commented out at the indentation it belongs at. Select those lines and press Cmd+/ (Ctrl+/ on Windows and Linux) to uncomment them where they sit.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70B10"/>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5669280" cy="274320"/>
          </a:xfrm>
          <a:prstGeom prst="rect">
            <a:avLst/>
          </a:prstGeom>
          <a:noFill/>
        </p:spPr>
        <p:txBody>
          <a:bodyPr wrap="square" lIns="0" tIns="0" rIns="0" bIns="0">
            <a:spAutoFit/>
          </a:bodyPr>
          <a:lstStyle/>
          <a:p>
            <a:pPr algn="l">
              <a:spcBef>
                <a:spcPts val="0"/>
              </a:spcBef>
              <a:spcAft>
                <a:spcPts val="0"/>
              </a:spcAft>
            </a:pPr>
            <a:r>
              <a:rPr sz="1300" b="1">
                <a:solidFill>
                  <a:srgbClr val="13EF93"/>
                </a:solidFill>
                <a:latin typeface="Calibri"/>
              </a:rPr>
              <a:t>0:10   ·   15 MIN</a:t>
            </a:r>
          </a:p>
        </p:txBody>
      </p:sp>
      <p:sp>
        <p:nvSpPr>
          <p:cNvPr id="3" name="TextBox 2"/>
          <p:cNvSpPr txBox="1"/>
          <p:nvPr/>
        </p:nvSpPr>
        <p:spPr>
          <a:xfrm>
            <a:off x="6400800" y="457200"/>
            <a:ext cx="5151089" cy="274320"/>
          </a:xfrm>
          <a:prstGeom prst="rect">
            <a:avLst/>
          </a:prstGeom>
          <a:noFill/>
        </p:spPr>
        <p:txBody>
          <a:bodyPr wrap="square" lIns="0" tIns="0" rIns="0" bIns="0">
            <a:spAutoFit/>
          </a:bodyPr>
          <a:lstStyle/>
          <a:p>
            <a:pPr algn="r">
              <a:spcBef>
                <a:spcPts val="0"/>
              </a:spcBef>
              <a:spcAft>
                <a:spcPts val="0"/>
              </a:spcAft>
            </a:pPr>
            <a:r>
              <a:rPr sz="1100" b="1">
                <a:solidFill>
                  <a:srgbClr val="5D6E80"/>
                </a:solidFill>
                <a:latin typeface="Calibri"/>
              </a:rPr>
              <a:t>EASY MODE — LAB 1</a:t>
            </a:r>
          </a:p>
        </p:txBody>
      </p:sp>
      <p:sp>
        <p:nvSpPr>
          <p:cNvPr id="4" name="TextBox 3"/>
          <p:cNvSpPr txBox="1"/>
          <p:nvPr/>
        </p:nvSpPr>
        <p:spPr>
          <a:xfrm>
            <a:off x="585215" y="804672"/>
            <a:ext cx="2743200" cy="1371600"/>
          </a:xfrm>
          <a:prstGeom prst="rect">
            <a:avLst/>
          </a:prstGeom>
          <a:noFill/>
        </p:spPr>
        <p:txBody>
          <a:bodyPr wrap="square" lIns="0" tIns="0" rIns="0" bIns="0">
            <a:spAutoFit/>
          </a:bodyPr>
          <a:lstStyle/>
          <a:p>
            <a:pPr algn="l">
              <a:spcBef>
                <a:spcPts val="0"/>
              </a:spcBef>
              <a:spcAft>
                <a:spcPts val="0"/>
              </a:spcAft>
            </a:pPr>
            <a:r>
              <a:rPr sz="9600" b="1">
                <a:solidFill>
                  <a:srgbClr val="0D6B49"/>
                </a:solidFill>
                <a:latin typeface="Calibri"/>
              </a:rPr>
              <a:t>01</a:t>
            </a:r>
          </a:p>
        </p:txBody>
      </p:sp>
      <p:sp>
        <p:nvSpPr>
          <p:cNvPr id="5" name="TextBox 4"/>
          <p:cNvSpPr txBox="1"/>
          <p:nvPr/>
        </p:nvSpPr>
        <p:spPr>
          <a:xfrm>
            <a:off x="640080" y="2084831"/>
            <a:ext cx="5577840" cy="603504"/>
          </a:xfrm>
          <a:prstGeom prst="rect">
            <a:avLst/>
          </a:prstGeom>
          <a:noFill/>
        </p:spPr>
        <p:txBody>
          <a:bodyPr wrap="square" lIns="0" tIns="0" rIns="0" bIns="0">
            <a:spAutoFit/>
          </a:bodyPr>
          <a:lstStyle/>
          <a:p>
            <a:pPr algn="l">
              <a:spcBef>
                <a:spcPts val="0"/>
              </a:spcBef>
              <a:spcAft>
                <a:spcPts val="0"/>
              </a:spcAft>
            </a:pPr>
            <a:r>
              <a:rPr sz="3700" b="1">
                <a:solidFill>
                  <a:srgbClr val="E9EFF6"/>
                </a:solidFill>
                <a:latin typeface="Calibri"/>
              </a:rPr>
              <a:t>Setup</a:t>
            </a:r>
          </a:p>
        </p:txBody>
      </p:sp>
      <p:sp>
        <p:nvSpPr>
          <p:cNvPr id="6" name="TextBox 5"/>
          <p:cNvSpPr txBox="1"/>
          <p:nvPr/>
        </p:nvSpPr>
        <p:spPr>
          <a:xfrm>
            <a:off x="640080" y="2871216"/>
            <a:ext cx="5394960" cy="914400"/>
          </a:xfrm>
          <a:prstGeom prst="rect">
            <a:avLst/>
          </a:prstGeom>
          <a:noFill/>
        </p:spPr>
        <p:txBody>
          <a:bodyPr wrap="square" lIns="0" tIns="0" rIns="0" bIns="0">
            <a:spAutoFit/>
          </a:bodyPr>
          <a:lstStyle/>
          <a:p>
            <a:pPr algn="l">
              <a:lnSpc>
                <a:spcPct val="130000"/>
              </a:lnSpc>
              <a:spcBef>
                <a:spcPts val="0"/>
              </a:spcBef>
              <a:spcAft>
                <a:spcPts val="0"/>
              </a:spcAft>
            </a:pPr>
            <a:r>
              <a:rPr sz="1500" b="0">
                <a:solidFill>
                  <a:srgbClr val="93A4B7"/>
                </a:solidFill>
                <a:latin typeface="Calibri"/>
              </a:rPr>
              <a:t>Prove this machine can reach Deepgram and move audio in both directions, before any of it matters.</a:t>
            </a:r>
          </a:p>
        </p:txBody>
      </p:sp>
      <p:sp>
        <p:nvSpPr>
          <p:cNvPr id="7" name="Rounded Rectangle 6"/>
          <p:cNvSpPr/>
          <p:nvPr/>
        </p:nvSpPr>
        <p:spPr>
          <a:xfrm>
            <a:off x="640080" y="3858768"/>
            <a:ext cx="5394960" cy="1014983"/>
          </a:xfrm>
          <a:prstGeom prst="roundRect">
            <a:avLst>
              <a:gd name="adj" fmla="val 3500"/>
            </a:avLst>
          </a:prstGeom>
          <a:solidFill>
            <a:srgbClr val="04070A"/>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59" y="4023360"/>
            <a:ext cx="5029200" cy="649223"/>
          </a:xfrm>
          <a:prstGeom prst="rect">
            <a:avLst/>
          </a:prstGeom>
          <a:noFill/>
        </p:spPr>
        <p:txBody>
          <a:bodyPr wrap="square" lIns="0" tIns="0" rIns="0" bIns="0">
            <a:spAutoFit/>
          </a:bodyPr>
          <a:lstStyle/>
          <a:p>
            <a:pPr algn="l">
              <a:lnSpc>
                <a:spcPct val="118000"/>
              </a:lnSpc>
              <a:spcBef>
                <a:spcPts val="0"/>
              </a:spcBef>
              <a:spcAft>
                <a:spcPts val="0"/>
              </a:spcAft>
            </a:pPr>
            <a:r>
              <a:rPr sz="1200" b="0">
                <a:solidFill>
                  <a:srgbClr val="13EF93"/>
                </a:solidFill>
                <a:latin typeface="Courier New"/>
              </a:rPr>
              <a:t>uv sync</a:t>
            </a:r>
          </a:p>
          <a:p>
            <a:pPr algn="l">
              <a:lnSpc>
                <a:spcPct val="118000"/>
              </a:lnSpc>
              <a:spcBef>
                <a:spcPts val="0"/>
              </a:spcBef>
              <a:spcAft>
                <a:spcPts val="0"/>
              </a:spcAft>
            </a:pPr>
            <a:r>
              <a:rPr sz="1200" b="0">
                <a:solidFill>
                  <a:srgbClr val="13EF93"/>
                </a:solidFill>
                <a:latin typeface="Courier New"/>
              </a:rPr>
              <a:t>cp .env.example .env</a:t>
            </a:r>
          </a:p>
          <a:p>
            <a:pPr algn="l">
              <a:lnSpc>
                <a:spcPct val="118000"/>
              </a:lnSpc>
              <a:spcBef>
                <a:spcPts val="0"/>
              </a:spcBef>
              <a:spcAft>
                <a:spcPts val="0"/>
              </a:spcAft>
            </a:pPr>
            <a:r>
              <a:rPr sz="1200" b="0">
                <a:solidFill>
                  <a:srgbClr val="13EF93"/>
                </a:solidFill>
                <a:latin typeface="Courier New"/>
              </a:rPr>
              <a:t>uv run steps/01-setup/main.py</a:t>
            </a:r>
          </a:p>
        </p:txBody>
      </p:sp>
      <p:sp>
        <p:nvSpPr>
          <p:cNvPr id="9" name="TextBox 8"/>
          <p:cNvSpPr txBox="1"/>
          <p:nvPr/>
        </p:nvSpPr>
        <p:spPr>
          <a:xfrm>
            <a:off x="640080" y="5001768"/>
            <a:ext cx="5394960" cy="365760"/>
          </a:xfrm>
          <a:prstGeom prst="rect">
            <a:avLst/>
          </a:prstGeom>
          <a:noFill/>
        </p:spPr>
        <p:txBody>
          <a:bodyPr wrap="square" lIns="0" tIns="0" rIns="0" bIns="0">
            <a:spAutoFit/>
          </a:bodyPr>
          <a:lstStyle/>
          <a:p>
            <a:pPr algn="l">
              <a:lnSpc>
                <a:spcPct val="125000"/>
              </a:lnSpc>
              <a:spcBef>
                <a:spcPts val="0"/>
              </a:spcBef>
              <a:spcAft>
                <a:spcPts val="0"/>
              </a:spcAft>
            </a:pPr>
            <a:r>
              <a:rPr sz="1100" b="0">
                <a:solidFill>
                  <a:srgbClr val="5D6E80"/>
                </a:solidFill>
                <a:latin typeface="Calibri"/>
              </a:rPr>
              <a:t>One virtual environment serves every step. You run uv sync once.</a:t>
            </a:r>
          </a:p>
        </p:txBody>
      </p:sp>
      <p:sp>
        <p:nvSpPr>
          <p:cNvPr id="10" name="Rounded Rectangle 9"/>
          <p:cNvSpPr/>
          <p:nvPr/>
        </p:nvSpPr>
        <p:spPr>
          <a:xfrm>
            <a:off x="6400800" y="804672"/>
            <a:ext cx="5151089" cy="3313785"/>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675120" y="1024128"/>
            <a:ext cx="4602449" cy="2856585"/>
          </a:xfrm>
          <a:prstGeom prst="rect">
            <a:avLst/>
          </a:prstGeom>
          <a:noFill/>
        </p:spPr>
        <p:txBody>
          <a:bodyPr wrap="square" lIns="0" tIns="0" rIns="0" bIns="0">
            <a:spAutoFit/>
          </a:bodyPr>
          <a:lstStyle/>
          <a:p>
            <a:pPr algn="l">
              <a:spcBef>
                <a:spcPts val="0"/>
              </a:spcBef>
              <a:spcAft>
                <a:spcPts val="0"/>
              </a:spcAft>
            </a:pPr>
            <a:r>
              <a:rPr sz="1100" b="1">
                <a:solidFill>
                  <a:srgbClr val="13EF93"/>
                </a:solidFill>
                <a:latin typeface="Calibri"/>
              </a:rPr>
              <a:t>WHAT IT ACTUALLY CHECKS</a:t>
            </a:r>
          </a:p>
          <a:p>
            <a:pPr algn="l">
              <a:lnSpc>
                <a:spcPct val="132000"/>
              </a:lnSpc>
              <a:spcBef>
                <a:spcPts val="1100"/>
              </a:spcBef>
              <a:spcAft>
                <a:spcPts val="0"/>
              </a:spcAft>
            </a:pPr>
            <a:r>
              <a:rPr sz="1350" b="0">
                <a:solidFill>
                  <a:srgbClr val="93A4B7"/>
                </a:solidFill>
                <a:latin typeface="Calibri"/>
              </a:rPr>
              <a:t>The key — with a real authenticated call, not a check that the string is non-empty</a:t>
            </a:r>
          </a:p>
          <a:p>
            <a:pPr algn="l">
              <a:lnSpc>
                <a:spcPct val="132000"/>
              </a:lnSpc>
              <a:spcBef>
                <a:spcPts val="1100"/>
              </a:spcBef>
              <a:spcAft>
                <a:spcPts val="0"/>
              </a:spcAft>
            </a:pPr>
            <a:r>
              <a:rPr sz="1350" b="0">
                <a:solidFill>
                  <a:srgbClr val="93A4B7"/>
                </a:solidFill>
                <a:latin typeface="Calibri"/>
              </a:rPr>
              <a:t>The region — and whether that endpoint serves all three models</a:t>
            </a:r>
          </a:p>
          <a:p>
            <a:pPr algn="l">
              <a:lnSpc>
                <a:spcPct val="132000"/>
              </a:lnSpc>
              <a:spcBef>
                <a:spcPts val="1100"/>
              </a:spcBef>
              <a:spcAft>
                <a:spcPts val="0"/>
              </a:spcAft>
            </a:pPr>
            <a:r>
              <a:rPr sz="1350" b="0">
                <a:solidFill>
                  <a:srgbClr val="93A4B7"/>
                </a:solidFill>
                <a:latin typeface="Calibri"/>
              </a:rPr>
              <a:t>Microphone permission, and your actual input level</a:t>
            </a:r>
          </a:p>
          <a:p>
            <a:pPr algn="l">
              <a:lnSpc>
                <a:spcPct val="132000"/>
              </a:lnSpc>
              <a:spcBef>
                <a:spcPts val="1100"/>
              </a:spcBef>
              <a:spcAft>
                <a:spcPts val="0"/>
              </a:spcAft>
            </a:pPr>
            <a:r>
              <a:rPr sz="1350" b="0">
                <a:solidFill>
                  <a:srgbClr val="93A4B7"/>
                </a:solidFill>
                <a:latin typeface="Calibri"/>
              </a:rPr>
              <a:t>The audio APIs, and whether the browser granted echo cancellation</a:t>
            </a:r>
          </a:p>
          <a:p>
            <a:pPr algn="l">
              <a:lnSpc>
                <a:spcPct val="132000"/>
              </a:lnSpc>
              <a:spcBef>
                <a:spcPts val="1100"/>
              </a:spcBef>
              <a:spcAft>
                <a:spcPts val="0"/>
              </a:spcAft>
            </a:pPr>
            <a:r>
              <a:rPr sz="1350" b="0">
                <a:solidFill>
                  <a:srgbClr val="93A4B7"/>
                </a:solidFill>
                <a:latin typeface="Calibri"/>
              </a:rPr>
              <a:t>Speaker output, with a test tone</a:t>
            </a:r>
          </a:p>
        </p:txBody>
      </p:sp>
      <p:sp>
        <p:nvSpPr>
          <p:cNvPr id="12" name="Rounded Rectangle 11"/>
          <p:cNvSpPr/>
          <p:nvPr/>
        </p:nvSpPr>
        <p:spPr>
          <a:xfrm>
            <a:off x="640080" y="5541264"/>
            <a:ext cx="10911809" cy="694944"/>
          </a:xfrm>
          <a:prstGeom prst="roundRect">
            <a:avLst>
              <a:gd name="adj" fmla="val 3500"/>
            </a:avLst>
          </a:prstGeom>
          <a:solidFill>
            <a:srgbClr val="2A1F0D"/>
          </a:solidFill>
          <a:ln w="12700">
            <a:solidFill>
              <a:srgbClr val="FFB4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914400" y="5788151"/>
            <a:ext cx="60350" cy="201168"/>
          </a:xfrm>
          <a:prstGeom prst="roundRect">
            <a:avLst>
              <a:gd name="adj" fmla="val 40000"/>
            </a:avLst>
          </a:prstGeom>
          <a:solidFill>
            <a:srgbClr val="FF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1035100" y="5788151"/>
            <a:ext cx="60350" cy="201168"/>
          </a:xfrm>
          <a:prstGeom prst="roundRect">
            <a:avLst>
              <a:gd name="adj" fmla="val 40000"/>
            </a:avLst>
          </a:prstGeom>
          <a:solidFill>
            <a:srgbClr val="FF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508760" y="5669279"/>
            <a:ext cx="9723089" cy="438912"/>
          </a:xfrm>
          <a:prstGeom prst="rect">
            <a:avLst/>
          </a:prstGeom>
          <a:noFill/>
        </p:spPr>
        <p:txBody>
          <a:bodyPr wrap="square" lIns="0" tIns="0" rIns="0" bIns="0">
            <a:spAutoFit/>
          </a:bodyPr>
          <a:lstStyle/>
          <a:p>
            <a:pPr algn="l">
              <a:spcBef>
                <a:spcPts val="0"/>
              </a:spcBef>
              <a:spcAft>
                <a:spcPts val="0"/>
              </a:spcAft>
            </a:pPr>
            <a:r>
              <a:rPr sz="950" b="1">
                <a:solidFill>
                  <a:srgbClr val="FFB454"/>
                </a:solidFill>
                <a:latin typeface="Calibri"/>
              </a:rPr>
              <a:t>BEFORE WE MOVE ON</a:t>
            </a:r>
          </a:p>
          <a:p>
            <a:pPr algn="l">
              <a:spcBef>
                <a:spcPts val="300"/>
              </a:spcBef>
              <a:spcAft>
                <a:spcPts val="0"/>
              </a:spcAft>
            </a:pPr>
            <a:r>
              <a:rPr sz="1400" b="1">
                <a:solidFill>
                  <a:srgbClr val="E9EFF6"/>
                </a:solidFill>
                <a:latin typeface="Calibri"/>
              </a:rPr>
              <a:t>Nobody proceeds without a green key line and a green Agent started.</a:t>
            </a:r>
          </a:p>
        </p:txBody>
      </p:sp>
      <p:sp>
        <p:nvSpPr>
          <p:cNvPr id="16" name="Rounded Rectangle 15"/>
          <p:cNvSpPr/>
          <p:nvPr/>
        </p:nvSpPr>
        <p:spPr>
          <a:xfrm>
            <a:off x="640080" y="6428232"/>
            <a:ext cx="137160" cy="137160"/>
          </a:xfrm>
          <a:prstGeom prst="roundRect">
            <a:avLst>
              <a:gd name="adj" fmla="val 30000"/>
            </a:avLst>
          </a:prstGeom>
          <a:solidFill>
            <a:srgbClr val="13EF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868680" y="6428232"/>
            <a:ext cx="137160" cy="137160"/>
          </a:xfrm>
          <a:prstGeom prst="roundRect">
            <a:avLst>
              <a:gd name="adj" fmla="val 30000"/>
            </a:avLst>
          </a:prstGeom>
          <a:no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1097280" y="6428232"/>
            <a:ext cx="137160" cy="137160"/>
          </a:xfrm>
          <a:prstGeom prst="roundRect">
            <a:avLst>
              <a:gd name="adj" fmla="val 30000"/>
            </a:avLst>
          </a:prstGeom>
          <a:no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1325880" y="6428232"/>
            <a:ext cx="137160" cy="137160"/>
          </a:xfrm>
          <a:prstGeom prst="roundRect">
            <a:avLst>
              <a:gd name="adj" fmla="val 30000"/>
            </a:avLst>
          </a:prstGeom>
          <a:no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1554480" y="6428232"/>
            <a:ext cx="137160" cy="137160"/>
          </a:xfrm>
          <a:prstGeom prst="roundRect">
            <a:avLst>
              <a:gd name="adj" fmla="val 30000"/>
            </a:avLst>
          </a:prstGeom>
          <a:no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1783080" y="6428232"/>
            <a:ext cx="137160" cy="137160"/>
          </a:xfrm>
          <a:prstGeom prst="roundRect">
            <a:avLst>
              <a:gd name="adj" fmla="val 30000"/>
            </a:avLst>
          </a:prstGeom>
          <a:no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2011680" y="6428232"/>
            <a:ext cx="137160" cy="137160"/>
          </a:xfrm>
          <a:prstGeom prst="roundRect">
            <a:avLst>
              <a:gd name="adj" fmla="val 30000"/>
            </a:avLst>
          </a:prstGeom>
          <a:no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2240280" y="6428232"/>
            <a:ext cx="137160" cy="137160"/>
          </a:xfrm>
          <a:prstGeom prst="roundRect">
            <a:avLst>
              <a:gd name="adj" fmla="val 30000"/>
            </a:avLst>
          </a:prstGeom>
          <a:no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578608" y="6391656"/>
            <a:ext cx="3108960" cy="256032"/>
          </a:xfrm>
          <a:prstGeom prst="rect">
            <a:avLst/>
          </a:prstGeom>
          <a:noFill/>
        </p:spPr>
        <p:txBody>
          <a:bodyPr wrap="square" lIns="0" tIns="0" rIns="0" bIns="0">
            <a:spAutoFit/>
          </a:bodyPr>
          <a:lstStyle/>
          <a:p>
            <a:pPr algn="l">
              <a:spcBef>
                <a:spcPts val="0"/>
              </a:spcBef>
              <a:spcAft>
                <a:spcPts val="0"/>
              </a:spcAft>
            </a:pPr>
            <a:r>
              <a:rPr sz="950" b="0">
                <a:solidFill>
                  <a:srgbClr val="5D6E80"/>
                </a:solidFill>
                <a:latin typeface="Calibri"/>
              </a:rPr>
              <a:t>STEP 1 OF 8</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70B10"/>
        </a:solidFill>
        <a:effectLst/>
      </p:bgPr>
    </p:bg>
    <p:spTree>
      <p:nvGrpSpPr>
        <p:cNvPr id="1" name=""/>
        <p:cNvGrpSpPr/>
        <p:nvPr/>
      </p:nvGrpSpPr>
      <p:grpSpPr>
        <a:xfrm>
          <a:off x="0" y="0"/>
          <a:ext cx="0" cy="0"/>
          <a:chOff x="0" y="0"/>
          <a:chExt cx="0" cy="0"/>
        </a:xfrm>
      </p:grpSpPr>
      <p:sp>
        <p:nvSpPr>
          <p:cNvPr id="2" name="TextBox 1"/>
          <p:cNvSpPr txBox="1"/>
          <p:nvPr/>
        </p:nvSpPr>
        <p:spPr>
          <a:xfrm>
            <a:off x="640080" y="475488"/>
            <a:ext cx="10911809" cy="548640"/>
          </a:xfrm>
          <a:prstGeom prst="rect">
            <a:avLst/>
          </a:prstGeom>
          <a:noFill/>
        </p:spPr>
        <p:txBody>
          <a:bodyPr wrap="square" lIns="0" tIns="0" rIns="0" bIns="0">
            <a:spAutoFit/>
          </a:bodyPr>
          <a:lstStyle/>
          <a:p>
            <a:pPr algn="l">
              <a:spcBef>
                <a:spcPts val="0"/>
              </a:spcBef>
              <a:spcAft>
                <a:spcPts val="0"/>
              </a:spcAft>
            </a:pPr>
            <a:r>
              <a:rPr sz="3100" b="1">
                <a:solidFill>
                  <a:srgbClr val="E9EFF6"/>
                </a:solidFill>
                <a:latin typeface="Calibri"/>
              </a:rPr>
              <a:t>Step 1 — what "working" looks like</a:t>
            </a:r>
          </a:p>
        </p:txBody>
      </p:sp>
      <p:sp>
        <p:nvSpPr>
          <p:cNvPr id="3" name="TextBox 2"/>
          <p:cNvSpPr txBox="1"/>
          <p:nvPr/>
        </p:nvSpPr>
        <p:spPr>
          <a:xfrm>
            <a:off x="640080" y="1188720"/>
            <a:ext cx="9692640" cy="548640"/>
          </a:xfrm>
          <a:prstGeom prst="rect">
            <a:avLst/>
          </a:prstGeom>
          <a:noFill/>
        </p:spPr>
        <p:txBody>
          <a:bodyPr wrap="square" lIns="0" tIns="0" rIns="0" bIns="0">
            <a:spAutoFit/>
          </a:bodyPr>
          <a:lstStyle/>
          <a:p>
            <a:pPr algn="l">
              <a:lnSpc>
                <a:spcPct val="128000"/>
              </a:lnSpc>
              <a:spcBef>
                <a:spcPts val="0"/>
              </a:spcBef>
              <a:spcAft>
                <a:spcPts val="0"/>
              </a:spcAft>
            </a:pPr>
            <a:r>
              <a:rPr sz="1450" b="0">
                <a:solidFill>
                  <a:srgbClr val="93A4B7"/>
                </a:solidFill>
                <a:latin typeface="Calibri"/>
              </a:rPr>
              <a:t>Both halves have to be green. The terminal checks the account; the browser page checks the machine.</a:t>
            </a:r>
          </a:p>
        </p:txBody>
      </p:sp>
      <p:sp>
        <p:nvSpPr>
          <p:cNvPr id="4" name="TextBox 3"/>
          <p:cNvSpPr txBox="1"/>
          <p:nvPr/>
        </p:nvSpPr>
        <p:spPr>
          <a:xfrm>
            <a:off x="640080" y="1901952"/>
            <a:ext cx="5300456" cy="274320"/>
          </a:xfrm>
          <a:prstGeom prst="rect">
            <a:avLst/>
          </a:prstGeom>
          <a:noFill/>
        </p:spPr>
        <p:txBody>
          <a:bodyPr wrap="square" lIns="0" tIns="0" rIns="0" bIns="0">
            <a:spAutoFit/>
          </a:bodyPr>
          <a:lstStyle/>
          <a:p>
            <a:pPr algn="l">
              <a:spcBef>
                <a:spcPts val="0"/>
              </a:spcBef>
              <a:spcAft>
                <a:spcPts val="0"/>
              </a:spcAft>
            </a:pPr>
            <a:r>
              <a:rPr sz="1050" b="1">
                <a:solidFill>
                  <a:srgbClr val="13EF93"/>
                </a:solidFill>
                <a:latin typeface="Calibri"/>
              </a:rPr>
              <a:t>IN THE TERMINAL</a:t>
            </a:r>
          </a:p>
        </p:txBody>
      </p:sp>
      <p:sp>
        <p:nvSpPr>
          <p:cNvPr id="5" name="Rounded Rectangle 4"/>
          <p:cNvSpPr/>
          <p:nvPr/>
        </p:nvSpPr>
        <p:spPr>
          <a:xfrm>
            <a:off x="640080" y="2231136"/>
            <a:ext cx="5300456" cy="2169160"/>
          </a:xfrm>
          <a:prstGeom prst="roundRect">
            <a:avLst>
              <a:gd name="adj" fmla="val 3500"/>
            </a:avLst>
          </a:prstGeom>
          <a:solidFill>
            <a:srgbClr val="04070A"/>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59" y="2395728"/>
            <a:ext cx="4934696" cy="1803400"/>
          </a:xfrm>
          <a:prstGeom prst="rect">
            <a:avLst/>
          </a:prstGeom>
          <a:noFill/>
        </p:spPr>
        <p:txBody>
          <a:bodyPr wrap="square" lIns="0" tIns="0" rIns="0" bIns="0">
            <a:spAutoFit/>
          </a:bodyPr>
          <a:lstStyle/>
          <a:p>
            <a:pPr algn="l">
              <a:lnSpc>
                <a:spcPct val="118000"/>
              </a:lnSpc>
              <a:spcBef>
                <a:spcPts val="0"/>
              </a:spcBef>
              <a:spcAft>
                <a:spcPts val="0"/>
              </a:spcAft>
            </a:pPr>
            <a:r>
              <a:rPr sz="1250" b="0">
                <a:solidFill>
                  <a:srgbClr val="13EF93"/>
                </a:solidFill>
                <a:latin typeface="Courier New"/>
              </a:rPr>
              <a:t>[  OK  ] DEEPGRAM_API_KEY found (84de...c2db)</a:t>
            </a:r>
          </a:p>
          <a:p>
            <a:pPr algn="l">
              <a:lnSpc>
                <a:spcPct val="118000"/>
              </a:lnSpc>
              <a:spcBef>
                <a:spcPts val="0"/>
              </a:spcBef>
              <a:spcAft>
                <a:spcPts val="0"/>
              </a:spcAft>
            </a:pPr>
            <a:r>
              <a:rPr sz="1250" b="0">
                <a:solidFill>
                  <a:srgbClr val="13EF93"/>
                </a:solidFill>
                <a:latin typeface="Courier New"/>
              </a:rPr>
              <a:t>[  OK  ] Deepgram accepted the key</a:t>
            </a:r>
          </a:p>
          <a:p>
            <a:pPr algn="l">
              <a:lnSpc>
                <a:spcPct val="118000"/>
              </a:lnSpc>
              <a:spcBef>
                <a:spcPts val="0"/>
              </a:spcBef>
              <a:spcAft>
                <a:spcPts val="0"/>
              </a:spcAft>
            </a:pPr>
            <a:r>
              <a:rPr sz="1250" b="0">
                <a:solidFill>
                  <a:srgbClr val="13EF93"/>
                </a:solidFill>
                <a:latin typeface="Courier New"/>
              </a:rPr>
              <a:t>[  OK  ] Region: global</a:t>
            </a:r>
          </a:p>
          <a:p>
            <a:pPr algn="l">
              <a:lnSpc>
                <a:spcPct val="118000"/>
              </a:lnSpc>
              <a:spcBef>
                <a:spcPts val="0"/>
              </a:spcBef>
              <a:spcAft>
                <a:spcPts val="0"/>
              </a:spcAft>
            </a:pPr>
            <a:r>
              <a:rPr sz="1250" b="0">
                <a:solidFill>
                  <a:srgbClr val="13EF93"/>
                </a:solidFill>
                <a:latin typeface="Courier New"/>
              </a:rPr>
              <a:t>[  OK  ] Agent started</a:t>
            </a:r>
          </a:p>
          <a:p>
            <a:pPr algn="l">
              <a:lnSpc>
                <a:spcPct val="118000"/>
              </a:lnSpc>
              <a:spcBef>
                <a:spcPts val="0"/>
              </a:spcBef>
              <a:spcAft>
                <a:spcPts val="0"/>
              </a:spcAft>
            </a:pPr>
            <a:r>
              <a:rPr sz="1250" b="0">
                <a:solidFill>
                  <a:srgbClr val="93A4B7"/>
                </a:solidFill>
                <a:latin typeface="Courier New"/>
              </a:rPr>
              <a:t>         flux-general-en + gpt-4o-mini</a:t>
            </a:r>
          </a:p>
          <a:p>
            <a:pPr algn="l">
              <a:lnSpc>
                <a:spcPct val="118000"/>
              </a:lnSpc>
              <a:spcBef>
                <a:spcPts val="0"/>
              </a:spcBef>
              <a:spcAft>
                <a:spcPts val="0"/>
              </a:spcAft>
            </a:pPr>
            <a:r>
              <a:rPr sz="1250" b="0">
                <a:solidFill>
                  <a:srgbClr val="93A4B7"/>
                </a:solidFill>
                <a:latin typeface="Courier New"/>
              </a:rPr>
              <a:t>         + flux-alexis-en</a:t>
            </a:r>
          </a:p>
          <a:p>
            <a:pPr algn="l">
              <a:lnSpc>
                <a:spcPct val="118000"/>
              </a:lnSpc>
              <a:spcBef>
                <a:spcPts val="0"/>
              </a:spcBef>
              <a:spcAft>
                <a:spcPts val="0"/>
              </a:spcAft>
            </a:pPr>
            <a:endParaRPr sz="1250" b="0">
              <a:solidFill>
                <a:srgbClr val="93A4B7"/>
              </a:solidFill>
              <a:latin typeface="Courier New"/>
            </a:endParaRPr>
          </a:p>
          <a:p>
            <a:pPr algn="l">
              <a:lnSpc>
                <a:spcPct val="118000"/>
              </a:lnSpc>
              <a:spcBef>
                <a:spcPts val="0"/>
              </a:spcBef>
              <a:spcAft>
                <a:spcPts val="0"/>
              </a:spcAft>
            </a:pPr>
            <a:r>
              <a:rPr sz="1250" b="0">
                <a:solidFill>
                  <a:srgbClr val="E9EFF6"/>
                </a:solidFill>
                <a:latin typeface="Courier New"/>
              </a:rPr>
              <a:t>Open http://127.0.0.1:8000</a:t>
            </a:r>
          </a:p>
        </p:txBody>
      </p:sp>
      <p:sp>
        <p:nvSpPr>
          <p:cNvPr id="7" name="TextBox 6"/>
          <p:cNvSpPr txBox="1"/>
          <p:nvPr/>
        </p:nvSpPr>
        <p:spPr>
          <a:xfrm>
            <a:off x="6251432" y="1901952"/>
            <a:ext cx="5300456" cy="274320"/>
          </a:xfrm>
          <a:prstGeom prst="rect">
            <a:avLst/>
          </a:prstGeom>
          <a:noFill/>
        </p:spPr>
        <p:txBody>
          <a:bodyPr wrap="square" lIns="0" tIns="0" rIns="0" bIns="0">
            <a:spAutoFit/>
          </a:bodyPr>
          <a:lstStyle/>
          <a:p>
            <a:pPr algn="l">
              <a:spcBef>
                <a:spcPts val="0"/>
              </a:spcBef>
              <a:spcAft>
                <a:spcPts val="0"/>
              </a:spcAft>
            </a:pPr>
            <a:r>
              <a:rPr sz="1050" b="1">
                <a:solidFill>
                  <a:srgbClr val="13EF93"/>
                </a:solidFill>
                <a:latin typeface="Calibri"/>
              </a:rPr>
              <a:t>IN THE BROWSER PAGE</a:t>
            </a:r>
          </a:p>
        </p:txBody>
      </p:sp>
      <p:sp>
        <p:nvSpPr>
          <p:cNvPr id="8" name="Rounded Rectangle 7"/>
          <p:cNvSpPr/>
          <p:nvPr/>
        </p:nvSpPr>
        <p:spPr>
          <a:xfrm>
            <a:off x="6251432" y="2231136"/>
            <a:ext cx="5300456" cy="2169160"/>
          </a:xfrm>
          <a:prstGeom prst="roundRect">
            <a:avLst>
              <a:gd name="adj" fmla="val 3500"/>
            </a:avLst>
          </a:prstGeom>
          <a:solidFill>
            <a:srgbClr val="04070A"/>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34312" y="2395728"/>
            <a:ext cx="4934696" cy="1803400"/>
          </a:xfrm>
          <a:prstGeom prst="rect">
            <a:avLst/>
          </a:prstGeom>
          <a:noFill/>
        </p:spPr>
        <p:txBody>
          <a:bodyPr wrap="square" lIns="0" tIns="0" rIns="0" bIns="0">
            <a:spAutoFit/>
          </a:bodyPr>
          <a:lstStyle/>
          <a:p>
            <a:pPr algn="l">
              <a:lnSpc>
                <a:spcPct val="118000"/>
              </a:lnSpc>
              <a:spcBef>
                <a:spcPts val="0"/>
              </a:spcBef>
              <a:spcAft>
                <a:spcPts val="0"/>
              </a:spcAft>
            </a:pPr>
            <a:r>
              <a:rPr sz="1250" b="0">
                <a:solidFill>
                  <a:srgbClr val="13EF93"/>
                </a:solidFill>
                <a:latin typeface="Courier New"/>
              </a:rPr>
              <a:t>OK   Secure context</a:t>
            </a:r>
          </a:p>
          <a:p>
            <a:pPr algn="l">
              <a:lnSpc>
                <a:spcPct val="118000"/>
              </a:lnSpc>
              <a:spcBef>
                <a:spcPts val="0"/>
              </a:spcBef>
              <a:spcAft>
                <a:spcPts val="0"/>
              </a:spcAft>
            </a:pPr>
            <a:r>
              <a:rPr sz="1250" b="0">
                <a:solidFill>
                  <a:srgbClr val="13EF93"/>
                </a:solidFill>
                <a:latin typeface="Courier New"/>
              </a:rPr>
              <a:t>OK   Audio support</a:t>
            </a:r>
          </a:p>
          <a:p>
            <a:pPr algn="l">
              <a:lnSpc>
                <a:spcPct val="118000"/>
              </a:lnSpc>
              <a:spcBef>
                <a:spcPts val="0"/>
              </a:spcBef>
              <a:spcAft>
                <a:spcPts val="0"/>
              </a:spcAft>
            </a:pPr>
            <a:r>
              <a:rPr sz="1250" b="0">
                <a:solidFill>
                  <a:srgbClr val="13EF93"/>
                </a:solidFill>
                <a:latin typeface="Courier New"/>
              </a:rPr>
              <a:t>OK   Deepgram API key</a:t>
            </a:r>
          </a:p>
          <a:p>
            <a:pPr algn="l">
              <a:lnSpc>
                <a:spcPct val="118000"/>
              </a:lnSpc>
              <a:spcBef>
                <a:spcPts val="0"/>
              </a:spcBef>
              <a:spcAft>
                <a:spcPts val="0"/>
              </a:spcAft>
            </a:pPr>
            <a:r>
              <a:rPr sz="1250" b="0">
                <a:solidFill>
                  <a:srgbClr val="13EF93"/>
                </a:solidFill>
                <a:latin typeface="Courier New"/>
              </a:rPr>
              <a:t>OK   Microphone      (peak 0.34)</a:t>
            </a:r>
          </a:p>
          <a:p>
            <a:pPr algn="l">
              <a:lnSpc>
                <a:spcPct val="118000"/>
              </a:lnSpc>
              <a:spcBef>
                <a:spcPts val="0"/>
              </a:spcBef>
              <a:spcAft>
                <a:spcPts val="0"/>
              </a:spcAft>
            </a:pPr>
            <a:r>
              <a:rPr sz="1250" b="0">
                <a:solidFill>
                  <a:srgbClr val="13EF93"/>
                </a:solidFill>
                <a:latin typeface="Courier New"/>
              </a:rPr>
              <a:t>OK   Echo cancellation granted</a:t>
            </a:r>
          </a:p>
          <a:p>
            <a:pPr algn="l">
              <a:lnSpc>
                <a:spcPct val="118000"/>
              </a:lnSpc>
              <a:spcBef>
                <a:spcPts val="0"/>
              </a:spcBef>
              <a:spcAft>
                <a:spcPts val="0"/>
              </a:spcAft>
            </a:pPr>
            <a:r>
              <a:rPr sz="1250" b="0">
                <a:solidFill>
                  <a:srgbClr val="13EF93"/>
                </a:solidFill>
                <a:latin typeface="Courier New"/>
              </a:rPr>
              <a:t>OK   Speaker         tone played</a:t>
            </a:r>
          </a:p>
          <a:p>
            <a:pPr algn="l">
              <a:lnSpc>
                <a:spcPct val="118000"/>
              </a:lnSpc>
              <a:spcBef>
                <a:spcPts val="0"/>
              </a:spcBef>
              <a:spcAft>
                <a:spcPts val="0"/>
              </a:spcAft>
            </a:pPr>
            <a:endParaRPr sz="1250" b="0">
              <a:solidFill>
                <a:srgbClr val="13EF93"/>
              </a:solidFill>
              <a:latin typeface="Courier New"/>
            </a:endParaRPr>
          </a:p>
          <a:p>
            <a:pPr algn="l">
              <a:lnSpc>
                <a:spcPct val="118000"/>
              </a:lnSpc>
              <a:spcBef>
                <a:spcPts val="0"/>
              </a:spcBef>
              <a:spcAft>
                <a:spcPts val="0"/>
              </a:spcAft>
            </a:pPr>
            <a:r>
              <a:rPr sz="1250" b="0">
                <a:solidFill>
                  <a:srgbClr val="E9EFF6"/>
                </a:solidFill>
                <a:latin typeface="Courier New"/>
              </a:rPr>
              <a:t>Ready for Step 2.</a:t>
            </a:r>
          </a:p>
        </p:txBody>
      </p:sp>
      <p:sp>
        <p:nvSpPr>
          <p:cNvPr id="10" name="Rounded Rectangle 9"/>
          <p:cNvSpPr/>
          <p:nvPr/>
        </p:nvSpPr>
        <p:spPr>
          <a:xfrm>
            <a:off x="640080" y="5120640"/>
            <a:ext cx="10911809" cy="1133856"/>
          </a:xfrm>
          <a:prstGeom prst="roundRect">
            <a:avLst>
              <a:gd name="adj" fmla="val 3500"/>
            </a:avLst>
          </a:prstGeom>
          <a:solidFill>
            <a:srgbClr val="2A1F0D"/>
          </a:solidFill>
          <a:ln w="12700">
            <a:solidFill>
              <a:srgbClr val="FFB4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50976" y="5303520"/>
            <a:ext cx="10290017" cy="822960"/>
          </a:xfrm>
          <a:prstGeom prst="rect">
            <a:avLst/>
          </a:prstGeom>
          <a:noFill/>
        </p:spPr>
        <p:txBody>
          <a:bodyPr wrap="square" lIns="0" tIns="0" rIns="0" bIns="0">
            <a:spAutoFit/>
          </a:bodyPr>
          <a:lstStyle/>
          <a:p>
            <a:pPr algn="l">
              <a:spcBef>
                <a:spcPts val="0"/>
              </a:spcBef>
              <a:spcAft>
                <a:spcPts val="0"/>
              </a:spcAft>
            </a:pPr>
            <a:r>
              <a:rPr sz="1500" b="1">
                <a:solidFill>
                  <a:srgbClr val="FFB454"/>
                </a:solidFill>
                <a:latin typeface="Calibri"/>
              </a:rPr>
              <a:t>"The agent refused these settings" is not a broken machine.</a:t>
            </a:r>
          </a:p>
          <a:p>
            <a:pPr algn="l">
              <a:lnSpc>
                <a:spcPct val="128000"/>
              </a:lnSpc>
              <a:spcBef>
                <a:spcPts val="500"/>
              </a:spcBef>
              <a:spcAft>
                <a:spcPts val="0"/>
              </a:spcAft>
            </a:pPr>
            <a:r>
              <a:rPr sz="1300" b="0">
                <a:solidFill>
                  <a:srgbClr val="93A4B7"/>
                </a:solidFill>
                <a:latin typeface="Calibri"/>
              </a:rPr>
              <a:t>A model isn't served where that person is connecting, and Step 1 names which one. Same fix for the whole room: DEEPGRAM_REGION=global, or change the named model everywhere. Appendix has the detail.</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70B10"/>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5669280" cy="274320"/>
          </a:xfrm>
          <a:prstGeom prst="rect">
            <a:avLst/>
          </a:prstGeom>
          <a:noFill/>
        </p:spPr>
        <p:txBody>
          <a:bodyPr wrap="square" lIns="0" tIns="0" rIns="0" bIns="0">
            <a:spAutoFit/>
          </a:bodyPr>
          <a:lstStyle/>
          <a:p>
            <a:pPr algn="l">
              <a:spcBef>
                <a:spcPts val="0"/>
              </a:spcBef>
              <a:spcAft>
                <a:spcPts val="0"/>
              </a:spcAft>
            </a:pPr>
            <a:r>
              <a:rPr sz="1300" b="1">
                <a:solidFill>
                  <a:srgbClr val="13EF93"/>
                </a:solidFill>
                <a:latin typeface="Calibri"/>
              </a:rPr>
              <a:t>0:25   ·   20 MIN</a:t>
            </a:r>
          </a:p>
        </p:txBody>
      </p:sp>
      <p:sp>
        <p:nvSpPr>
          <p:cNvPr id="3" name="TextBox 2"/>
          <p:cNvSpPr txBox="1"/>
          <p:nvPr/>
        </p:nvSpPr>
        <p:spPr>
          <a:xfrm>
            <a:off x="6400800" y="457200"/>
            <a:ext cx="5151089" cy="274320"/>
          </a:xfrm>
          <a:prstGeom prst="rect">
            <a:avLst/>
          </a:prstGeom>
          <a:noFill/>
        </p:spPr>
        <p:txBody>
          <a:bodyPr wrap="square" lIns="0" tIns="0" rIns="0" bIns="0">
            <a:spAutoFit/>
          </a:bodyPr>
          <a:lstStyle/>
          <a:p>
            <a:pPr algn="r">
              <a:spcBef>
                <a:spcPts val="0"/>
              </a:spcBef>
              <a:spcAft>
                <a:spcPts val="0"/>
              </a:spcAft>
            </a:pPr>
            <a:r>
              <a:rPr sz="1100" b="1">
                <a:solidFill>
                  <a:srgbClr val="5D6E80"/>
                </a:solidFill>
                <a:latin typeface="Calibri"/>
              </a:rPr>
              <a:t>EASY MODE — LAB 1</a:t>
            </a:r>
          </a:p>
        </p:txBody>
      </p:sp>
      <p:sp>
        <p:nvSpPr>
          <p:cNvPr id="4" name="TextBox 3"/>
          <p:cNvSpPr txBox="1"/>
          <p:nvPr/>
        </p:nvSpPr>
        <p:spPr>
          <a:xfrm>
            <a:off x="585215" y="804672"/>
            <a:ext cx="2743200" cy="1371600"/>
          </a:xfrm>
          <a:prstGeom prst="rect">
            <a:avLst/>
          </a:prstGeom>
          <a:noFill/>
        </p:spPr>
        <p:txBody>
          <a:bodyPr wrap="square" lIns="0" tIns="0" rIns="0" bIns="0">
            <a:spAutoFit/>
          </a:bodyPr>
          <a:lstStyle/>
          <a:p>
            <a:pPr algn="l">
              <a:spcBef>
                <a:spcPts val="0"/>
              </a:spcBef>
              <a:spcAft>
                <a:spcPts val="0"/>
              </a:spcAft>
            </a:pPr>
            <a:r>
              <a:rPr sz="9600" b="1">
                <a:solidFill>
                  <a:srgbClr val="0D6B49"/>
                </a:solidFill>
                <a:latin typeface="Calibri"/>
              </a:rPr>
              <a:t>02</a:t>
            </a:r>
          </a:p>
        </p:txBody>
      </p:sp>
      <p:sp>
        <p:nvSpPr>
          <p:cNvPr id="5" name="TextBox 4"/>
          <p:cNvSpPr txBox="1"/>
          <p:nvPr/>
        </p:nvSpPr>
        <p:spPr>
          <a:xfrm>
            <a:off x="640080" y="2084831"/>
            <a:ext cx="5577840" cy="603504"/>
          </a:xfrm>
          <a:prstGeom prst="rect">
            <a:avLst/>
          </a:prstGeom>
          <a:noFill/>
        </p:spPr>
        <p:txBody>
          <a:bodyPr wrap="square" lIns="0" tIns="0" rIns="0" bIns="0">
            <a:spAutoFit/>
          </a:bodyPr>
          <a:lstStyle/>
          <a:p>
            <a:pPr algn="l">
              <a:spcBef>
                <a:spcPts val="0"/>
              </a:spcBef>
              <a:spcAft>
                <a:spcPts val="0"/>
              </a:spcAft>
            </a:pPr>
            <a:r>
              <a:rPr sz="3700" b="1">
                <a:solidFill>
                  <a:srgbClr val="E9EFF6"/>
                </a:solidFill>
                <a:latin typeface="Calibri"/>
              </a:rPr>
              <a:t>Connect</a:t>
            </a:r>
          </a:p>
        </p:txBody>
      </p:sp>
      <p:sp>
        <p:nvSpPr>
          <p:cNvPr id="6" name="TextBox 5"/>
          <p:cNvSpPr txBox="1"/>
          <p:nvPr/>
        </p:nvSpPr>
        <p:spPr>
          <a:xfrm>
            <a:off x="640080" y="2871216"/>
            <a:ext cx="5394960" cy="914400"/>
          </a:xfrm>
          <a:prstGeom prst="rect">
            <a:avLst/>
          </a:prstGeom>
          <a:noFill/>
        </p:spPr>
        <p:txBody>
          <a:bodyPr wrap="square" lIns="0" tIns="0" rIns="0" bIns="0">
            <a:spAutoFit/>
          </a:bodyPr>
          <a:lstStyle/>
          <a:p>
            <a:pPr algn="l">
              <a:lnSpc>
                <a:spcPct val="130000"/>
              </a:lnSpc>
              <a:spcBef>
                <a:spcPts val="0"/>
              </a:spcBef>
              <a:spcAft>
                <a:spcPts val="0"/>
              </a:spcAft>
            </a:pPr>
            <a:r>
              <a:rPr sz="1500" b="0">
                <a:solidFill>
                  <a:srgbClr val="93A4B7"/>
                </a:solidFill>
                <a:latin typeface="Calibri"/>
              </a:rPr>
              <a:t>Open a WebSocket, describe the agent you want, and confirm the server accepted it.</a:t>
            </a:r>
          </a:p>
        </p:txBody>
      </p:sp>
      <p:sp>
        <p:nvSpPr>
          <p:cNvPr id="7" name="Rounded Rectangle 6"/>
          <p:cNvSpPr/>
          <p:nvPr/>
        </p:nvSpPr>
        <p:spPr>
          <a:xfrm>
            <a:off x="640080" y="3858768"/>
            <a:ext cx="5394960" cy="582168"/>
          </a:xfrm>
          <a:prstGeom prst="roundRect">
            <a:avLst>
              <a:gd name="adj" fmla="val 3500"/>
            </a:avLst>
          </a:prstGeom>
          <a:solidFill>
            <a:srgbClr val="04070A"/>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59" y="4023360"/>
            <a:ext cx="5029200" cy="216408"/>
          </a:xfrm>
          <a:prstGeom prst="rect">
            <a:avLst/>
          </a:prstGeom>
          <a:noFill/>
        </p:spPr>
        <p:txBody>
          <a:bodyPr wrap="square" lIns="0" tIns="0" rIns="0" bIns="0">
            <a:spAutoFit/>
          </a:bodyPr>
          <a:lstStyle/>
          <a:p>
            <a:pPr algn="l">
              <a:lnSpc>
                <a:spcPct val="118000"/>
              </a:lnSpc>
              <a:spcBef>
                <a:spcPts val="0"/>
              </a:spcBef>
              <a:spcAft>
                <a:spcPts val="0"/>
              </a:spcAft>
            </a:pPr>
            <a:r>
              <a:rPr sz="1200" b="0">
                <a:solidFill>
                  <a:srgbClr val="13EF93"/>
                </a:solidFill>
                <a:latin typeface="Courier New"/>
              </a:rPr>
              <a:t>uv run steps/02-connect/main.py</a:t>
            </a:r>
          </a:p>
        </p:txBody>
      </p:sp>
      <p:sp>
        <p:nvSpPr>
          <p:cNvPr id="9" name="TextBox 8"/>
          <p:cNvSpPr txBox="1"/>
          <p:nvPr/>
        </p:nvSpPr>
        <p:spPr>
          <a:xfrm>
            <a:off x="640080" y="4568951"/>
            <a:ext cx="5394960" cy="365760"/>
          </a:xfrm>
          <a:prstGeom prst="rect">
            <a:avLst/>
          </a:prstGeom>
          <a:noFill/>
        </p:spPr>
        <p:txBody>
          <a:bodyPr wrap="square" lIns="0" tIns="0" rIns="0" bIns="0">
            <a:spAutoFit/>
          </a:bodyPr>
          <a:lstStyle/>
          <a:p>
            <a:pPr algn="l">
              <a:lnSpc>
                <a:spcPct val="125000"/>
              </a:lnSpc>
              <a:spcBef>
                <a:spcPts val="0"/>
              </a:spcBef>
              <a:spcAft>
                <a:spcPts val="0"/>
              </a:spcAft>
            </a:pPr>
            <a:r>
              <a:rPr sz="1100" b="0">
                <a:solidFill>
                  <a:srgbClr val="5D6E80"/>
                </a:solidFill>
                <a:latin typeface="Calibri"/>
              </a:rPr>
              <a:t>No audio yet. This step ends with a handshake, not a conversation.</a:t>
            </a:r>
          </a:p>
        </p:txBody>
      </p:sp>
      <p:sp>
        <p:nvSpPr>
          <p:cNvPr id="10" name="Rounded Rectangle 9"/>
          <p:cNvSpPr/>
          <p:nvPr/>
        </p:nvSpPr>
        <p:spPr>
          <a:xfrm>
            <a:off x="6400800" y="804672"/>
            <a:ext cx="5151089" cy="3167481"/>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675120" y="1024128"/>
            <a:ext cx="4602449" cy="2710281"/>
          </a:xfrm>
          <a:prstGeom prst="rect">
            <a:avLst/>
          </a:prstGeom>
          <a:noFill/>
        </p:spPr>
        <p:txBody>
          <a:bodyPr wrap="square" lIns="0" tIns="0" rIns="0" bIns="0">
            <a:spAutoFit/>
          </a:bodyPr>
          <a:lstStyle/>
          <a:p>
            <a:pPr algn="l">
              <a:spcBef>
                <a:spcPts val="0"/>
              </a:spcBef>
              <a:spcAft>
                <a:spcPts val="0"/>
              </a:spcAft>
            </a:pPr>
            <a:r>
              <a:rPr sz="1100" b="1">
                <a:solidFill>
                  <a:srgbClr val="13EF93"/>
                </a:solidFill>
                <a:latin typeface="Calibri"/>
              </a:rPr>
              <a:t>ONE OBJECT CONFIGURES ALL THREE</a:t>
            </a:r>
          </a:p>
          <a:p>
            <a:pPr algn="l">
              <a:lnSpc>
                <a:spcPct val="132000"/>
              </a:lnSpc>
              <a:spcBef>
                <a:spcPts val="1100"/>
              </a:spcBef>
              <a:spcAft>
                <a:spcPts val="0"/>
              </a:spcAft>
            </a:pPr>
            <a:r>
              <a:rPr sz="1350" b="0">
                <a:solidFill>
                  <a:srgbClr val="93A4B7"/>
                </a:solidFill>
                <a:latin typeface="Calibri"/>
              </a:rPr>
              <a:t>listen — Flux. Turn detection lives inside the model.</a:t>
            </a:r>
          </a:p>
          <a:p>
            <a:pPr algn="l">
              <a:lnSpc>
                <a:spcPct val="132000"/>
              </a:lnSpc>
              <a:spcBef>
                <a:spcPts val="1100"/>
              </a:spcBef>
              <a:spcAft>
                <a:spcPts val="0"/>
              </a:spcAft>
            </a:pPr>
            <a:r>
              <a:rPr sz="1350" b="0">
                <a:solidFill>
                  <a:srgbClr val="93A4B7"/>
                </a:solidFill>
                <a:latin typeface="Calibri"/>
              </a:rPr>
              <a:t>think — the LLM. Brokered by Deepgram, so your key covers it.</a:t>
            </a:r>
          </a:p>
          <a:p>
            <a:pPr algn="l">
              <a:lnSpc>
                <a:spcPct val="132000"/>
              </a:lnSpc>
              <a:spcBef>
                <a:spcPts val="1100"/>
              </a:spcBef>
              <a:spcAft>
                <a:spcPts val="0"/>
              </a:spcAft>
            </a:pPr>
            <a:r>
              <a:rPr sz="1350" b="0">
                <a:solidFill>
                  <a:srgbClr val="93A4B7"/>
                </a:solidFill>
                <a:latin typeface="Calibri"/>
              </a:rPr>
              <a:t>speak — Flux TTS. The flux- prefix routes to v2 Speak.</a:t>
            </a:r>
          </a:p>
          <a:p>
            <a:pPr algn="l">
              <a:lnSpc>
                <a:spcPct val="132000"/>
              </a:lnSpc>
              <a:spcBef>
                <a:spcPts val="1100"/>
              </a:spcBef>
              <a:spcAft>
                <a:spcPts val="0"/>
              </a:spcAft>
            </a:pPr>
            <a:r>
              <a:rPr sz="1350" b="0">
                <a:solidFill>
                  <a:srgbClr val="93A4B7"/>
                </a:solidFill>
                <a:latin typeface="Calibri"/>
              </a:rPr>
              <a:t>greeting — what it says first. Leave it out and the agent waits for the user, which is right more often than people expect.</a:t>
            </a:r>
          </a:p>
        </p:txBody>
      </p:sp>
      <p:sp>
        <p:nvSpPr>
          <p:cNvPr id="12" name="Rounded Rectangle 11"/>
          <p:cNvSpPr/>
          <p:nvPr/>
        </p:nvSpPr>
        <p:spPr>
          <a:xfrm>
            <a:off x="640080" y="5541264"/>
            <a:ext cx="10911809" cy="694944"/>
          </a:xfrm>
          <a:prstGeom prst="roundRect">
            <a:avLst>
              <a:gd name="adj" fmla="val 3500"/>
            </a:avLst>
          </a:prstGeom>
          <a:solidFill>
            <a:srgbClr val="2A1F0D"/>
          </a:solidFill>
          <a:ln w="12700">
            <a:solidFill>
              <a:srgbClr val="FFB4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914400" y="5788151"/>
            <a:ext cx="60350" cy="201168"/>
          </a:xfrm>
          <a:prstGeom prst="roundRect">
            <a:avLst>
              <a:gd name="adj" fmla="val 40000"/>
            </a:avLst>
          </a:prstGeom>
          <a:solidFill>
            <a:srgbClr val="FF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1035100" y="5788151"/>
            <a:ext cx="60350" cy="201168"/>
          </a:xfrm>
          <a:prstGeom prst="roundRect">
            <a:avLst>
              <a:gd name="adj" fmla="val 40000"/>
            </a:avLst>
          </a:prstGeom>
          <a:solidFill>
            <a:srgbClr val="FF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508760" y="5669279"/>
            <a:ext cx="9723089" cy="438912"/>
          </a:xfrm>
          <a:prstGeom prst="rect">
            <a:avLst/>
          </a:prstGeom>
          <a:noFill/>
        </p:spPr>
        <p:txBody>
          <a:bodyPr wrap="square" lIns="0" tIns="0" rIns="0" bIns="0">
            <a:spAutoFit/>
          </a:bodyPr>
          <a:lstStyle/>
          <a:p>
            <a:pPr algn="l">
              <a:spcBef>
                <a:spcPts val="0"/>
              </a:spcBef>
              <a:spcAft>
                <a:spcPts val="0"/>
              </a:spcAft>
            </a:pPr>
            <a:r>
              <a:rPr sz="950" b="1">
                <a:solidFill>
                  <a:srgbClr val="FFB454"/>
                </a:solidFill>
                <a:latin typeface="Calibri"/>
              </a:rPr>
              <a:t>BEFORE WE MOVE ON</a:t>
            </a:r>
          </a:p>
          <a:p>
            <a:pPr algn="l">
              <a:spcBef>
                <a:spcPts val="300"/>
              </a:spcBef>
              <a:spcAft>
                <a:spcPts val="0"/>
              </a:spcAft>
            </a:pPr>
            <a:r>
              <a:rPr sz="1400" b="1">
                <a:solidFill>
                  <a:srgbClr val="E9EFF6"/>
                </a:solidFill>
                <a:latin typeface="Calibri"/>
              </a:rPr>
              <a:t>Everyone sees &gt;&gt; Settings applied.</a:t>
            </a:r>
          </a:p>
        </p:txBody>
      </p:sp>
      <p:sp>
        <p:nvSpPr>
          <p:cNvPr id="16" name="Rounded Rectangle 15"/>
          <p:cNvSpPr/>
          <p:nvPr/>
        </p:nvSpPr>
        <p:spPr>
          <a:xfrm>
            <a:off x="640080" y="6428232"/>
            <a:ext cx="137160" cy="137160"/>
          </a:xfrm>
          <a:prstGeom prst="roundRect">
            <a:avLst>
              <a:gd name="adj" fmla="val 30000"/>
            </a:avLst>
          </a:prstGeom>
          <a:solidFill>
            <a:srgbClr val="0D6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868680" y="6428232"/>
            <a:ext cx="137160" cy="137160"/>
          </a:xfrm>
          <a:prstGeom prst="roundRect">
            <a:avLst>
              <a:gd name="adj" fmla="val 30000"/>
            </a:avLst>
          </a:prstGeom>
          <a:solidFill>
            <a:srgbClr val="13EF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1097280" y="6428232"/>
            <a:ext cx="137160" cy="137160"/>
          </a:xfrm>
          <a:prstGeom prst="roundRect">
            <a:avLst>
              <a:gd name="adj" fmla="val 30000"/>
            </a:avLst>
          </a:prstGeom>
          <a:no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1325880" y="6428232"/>
            <a:ext cx="137160" cy="137160"/>
          </a:xfrm>
          <a:prstGeom prst="roundRect">
            <a:avLst>
              <a:gd name="adj" fmla="val 30000"/>
            </a:avLst>
          </a:prstGeom>
          <a:no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1554480" y="6428232"/>
            <a:ext cx="137160" cy="137160"/>
          </a:xfrm>
          <a:prstGeom prst="roundRect">
            <a:avLst>
              <a:gd name="adj" fmla="val 30000"/>
            </a:avLst>
          </a:prstGeom>
          <a:no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1783080" y="6428232"/>
            <a:ext cx="137160" cy="137160"/>
          </a:xfrm>
          <a:prstGeom prst="roundRect">
            <a:avLst>
              <a:gd name="adj" fmla="val 30000"/>
            </a:avLst>
          </a:prstGeom>
          <a:no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2011680" y="6428232"/>
            <a:ext cx="137160" cy="137160"/>
          </a:xfrm>
          <a:prstGeom prst="roundRect">
            <a:avLst>
              <a:gd name="adj" fmla="val 30000"/>
            </a:avLst>
          </a:prstGeom>
          <a:no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2240280" y="6428232"/>
            <a:ext cx="137160" cy="137160"/>
          </a:xfrm>
          <a:prstGeom prst="roundRect">
            <a:avLst>
              <a:gd name="adj" fmla="val 30000"/>
            </a:avLst>
          </a:prstGeom>
          <a:no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578608" y="6391656"/>
            <a:ext cx="3108960" cy="256032"/>
          </a:xfrm>
          <a:prstGeom prst="rect">
            <a:avLst/>
          </a:prstGeom>
          <a:noFill/>
        </p:spPr>
        <p:txBody>
          <a:bodyPr wrap="square" lIns="0" tIns="0" rIns="0" bIns="0">
            <a:spAutoFit/>
          </a:bodyPr>
          <a:lstStyle/>
          <a:p>
            <a:pPr algn="l">
              <a:spcBef>
                <a:spcPts val="0"/>
              </a:spcBef>
              <a:spcAft>
                <a:spcPts val="0"/>
              </a:spcAft>
            </a:pPr>
            <a:r>
              <a:rPr sz="950" b="0">
                <a:solidFill>
                  <a:srgbClr val="5D6E80"/>
                </a:solidFill>
                <a:latin typeface="Calibri"/>
              </a:rPr>
              <a:t>STEP 2 OF 8</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70B10"/>
        </a:solidFill>
        <a:effectLst/>
      </p:bgPr>
    </p:bg>
    <p:spTree>
      <p:nvGrpSpPr>
        <p:cNvPr id="1" name=""/>
        <p:cNvGrpSpPr/>
        <p:nvPr/>
      </p:nvGrpSpPr>
      <p:grpSpPr>
        <a:xfrm>
          <a:off x="0" y="0"/>
          <a:ext cx="0" cy="0"/>
          <a:chOff x="0" y="0"/>
          <a:chExt cx="0" cy="0"/>
        </a:xfrm>
      </p:grpSpPr>
      <p:sp>
        <p:nvSpPr>
          <p:cNvPr id="2" name="TextBox 1"/>
          <p:cNvSpPr txBox="1"/>
          <p:nvPr/>
        </p:nvSpPr>
        <p:spPr>
          <a:xfrm>
            <a:off x="640080" y="475488"/>
            <a:ext cx="10911809" cy="548640"/>
          </a:xfrm>
          <a:prstGeom prst="rect">
            <a:avLst/>
          </a:prstGeom>
          <a:noFill/>
        </p:spPr>
        <p:txBody>
          <a:bodyPr wrap="square" lIns="0" tIns="0" rIns="0" bIns="0">
            <a:spAutoFit/>
          </a:bodyPr>
          <a:lstStyle/>
          <a:p>
            <a:pPr algn="l">
              <a:spcBef>
                <a:spcPts val="0"/>
              </a:spcBef>
              <a:spcAft>
                <a:spcPts val="0"/>
              </a:spcAft>
            </a:pPr>
            <a:r>
              <a:rPr sz="3100" b="1">
                <a:solidFill>
                  <a:srgbClr val="E9EFF6"/>
                </a:solidFill>
                <a:latin typeface="Calibri"/>
              </a:rPr>
              <a:t>The ordering that everything else depends on</a:t>
            </a:r>
          </a:p>
        </p:txBody>
      </p:sp>
      <p:sp>
        <p:nvSpPr>
          <p:cNvPr id="3" name="TextBox 2"/>
          <p:cNvSpPr txBox="1"/>
          <p:nvPr/>
        </p:nvSpPr>
        <p:spPr>
          <a:xfrm>
            <a:off x="640080" y="1188720"/>
            <a:ext cx="9692640" cy="548640"/>
          </a:xfrm>
          <a:prstGeom prst="rect">
            <a:avLst/>
          </a:prstGeom>
          <a:noFill/>
        </p:spPr>
        <p:txBody>
          <a:bodyPr wrap="square" lIns="0" tIns="0" rIns="0" bIns="0">
            <a:spAutoFit/>
          </a:bodyPr>
          <a:lstStyle/>
          <a:p>
            <a:pPr algn="l">
              <a:lnSpc>
                <a:spcPct val="128000"/>
              </a:lnSpc>
              <a:spcBef>
                <a:spcPts val="0"/>
              </a:spcBef>
              <a:spcAft>
                <a:spcPts val="0"/>
              </a:spcAft>
            </a:pPr>
            <a:r>
              <a:rPr sz="1450" b="0">
                <a:solidFill>
                  <a:srgbClr val="93A4B7"/>
                </a:solidFill>
                <a:latin typeface="Calibri"/>
              </a:rPr>
              <a:t>Inside web/session.py, _run() is six lines long. You never edit it, and every later step leans on it.</a:t>
            </a:r>
          </a:p>
        </p:txBody>
      </p:sp>
      <p:sp>
        <p:nvSpPr>
          <p:cNvPr id="4" name="Rounded Rectangle 3"/>
          <p:cNvSpPr/>
          <p:nvPr/>
        </p:nvSpPr>
        <p:spPr>
          <a:xfrm>
            <a:off x="640080" y="1956816"/>
            <a:ext cx="1696714" cy="2231136"/>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04671" y="2139696"/>
            <a:ext cx="1367530" cy="457200"/>
          </a:xfrm>
          <a:prstGeom prst="rect">
            <a:avLst/>
          </a:prstGeom>
          <a:noFill/>
        </p:spPr>
        <p:txBody>
          <a:bodyPr wrap="square" lIns="0" tIns="0" rIns="0" bIns="0">
            <a:spAutoFit/>
          </a:bodyPr>
          <a:lstStyle/>
          <a:p>
            <a:pPr algn="l">
              <a:spcBef>
                <a:spcPts val="0"/>
              </a:spcBef>
              <a:spcAft>
                <a:spcPts val="0"/>
              </a:spcAft>
            </a:pPr>
            <a:r>
              <a:rPr sz="3000" b="1">
                <a:solidFill>
                  <a:srgbClr val="0D6B49"/>
                </a:solidFill>
                <a:latin typeface="Calibri"/>
              </a:rPr>
              <a:t>1</a:t>
            </a:r>
          </a:p>
        </p:txBody>
      </p:sp>
      <p:sp>
        <p:nvSpPr>
          <p:cNvPr id="6" name="TextBox 5"/>
          <p:cNvSpPr txBox="1"/>
          <p:nvPr/>
        </p:nvSpPr>
        <p:spPr>
          <a:xfrm>
            <a:off x="804671" y="2670048"/>
            <a:ext cx="1404106" cy="1371600"/>
          </a:xfrm>
          <a:prstGeom prst="rect">
            <a:avLst/>
          </a:prstGeom>
          <a:noFill/>
        </p:spPr>
        <p:txBody>
          <a:bodyPr wrap="square" lIns="0" tIns="0" rIns="0" bIns="0">
            <a:spAutoFit/>
          </a:bodyPr>
          <a:lstStyle/>
          <a:p>
            <a:pPr algn="l">
              <a:lnSpc>
                <a:spcPct val="118000"/>
              </a:lnSpc>
              <a:spcBef>
                <a:spcPts val="0"/>
              </a:spcBef>
              <a:spcAft>
                <a:spcPts val="0"/>
              </a:spcAft>
            </a:pPr>
            <a:r>
              <a:rPr sz="1150" b="1">
                <a:solidFill>
                  <a:srgbClr val="E9EFF6"/>
                </a:solidFill>
                <a:latin typeface="Courier New"/>
              </a:rPr>
              <a:t>open the socket</a:t>
            </a:r>
          </a:p>
        </p:txBody>
      </p:sp>
      <p:sp>
        <p:nvSpPr>
          <p:cNvPr id="7" name="Rounded Rectangle 6"/>
          <p:cNvSpPr/>
          <p:nvPr/>
        </p:nvSpPr>
        <p:spPr>
          <a:xfrm>
            <a:off x="2483098" y="1956816"/>
            <a:ext cx="1696714" cy="2231136"/>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647690" y="2139696"/>
            <a:ext cx="1367530" cy="457200"/>
          </a:xfrm>
          <a:prstGeom prst="rect">
            <a:avLst/>
          </a:prstGeom>
          <a:noFill/>
        </p:spPr>
        <p:txBody>
          <a:bodyPr wrap="square" lIns="0" tIns="0" rIns="0" bIns="0">
            <a:spAutoFit/>
          </a:bodyPr>
          <a:lstStyle/>
          <a:p>
            <a:pPr algn="l">
              <a:spcBef>
                <a:spcPts val="0"/>
              </a:spcBef>
              <a:spcAft>
                <a:spcPts val="0"/>
              </a:spcAft>
            </a:pPr>
            <a:r>
              <a:rPr sz="3000" b="1">
                <a:solidFill>
                  <a:srgbClr val="0D6B49"/>
                </a:solidFill>
                <a:latin typeface="Calibri"/>
              </a:rPr>
              <a:t>2</a:t>
            </a:r>
          </a:p>
        </p:txBody>
      </p:sp>
      <p:sp>
        <p:nvSpPr>
          <p:cNvPr id="9" name="TextBox 8"/>
          <p:cNvSpPr txBox="1"/>
          <p:nvPr/>
        </p:nvSpPr>
        <p:spPr>
          <a:xfrm>
            <a:off x="2647690" y="2670048"/>
            <a:ext cx="1404106" cy="1371600"/>
          </a:xfrm>
          <a:prstGeom prst="rect">
            <a:avLst/>
          </a:prstGeom>
          <a:noFill/>
        </p:spPr>
        <p:txBody>
          <a:bodyPr wrap="square" lIns="0" tIns="0" rIns="0" bIns="0">
            <a:spAutoFit/>
          </a:bodyPr>
          <a:lstStyle/>
          <a:p>
            <a:pPr algn="l">
              <a:lnSpc>
                <a:spcPct val="118000"/>
              </a:lnSpc>
              <a:spcBef>
                <a:spcPts val="0"/>
              </a:spcBef>
              <a:spcAft>
                <a:spcPts val="0"/>
              </a:spcAft>
            </a:pPr>
            <a:r>
              <a:rPr sz="1150" b="1">
                <a:solidFill>
                  <a:srgbClr val="E9EFF6"/>
                </a:solidFill>
                <a:latin typeface="Courier New"/>
              </a:rPr>
              <a:t>register handlers</a:t>
            </a:r>
          </a:p>
          <a:p>
            <a:pPr algn="l">
              <a:lnSpc>
                <a:spcPct val="124000"/>
              </a:lnSpc>
              <a:spcBef>
                <a:spcPts val="600"/>
              </a:spcBef>
              <a:spcAft>
                <a:spcPts val="0"/>
              </a:spcAft>
            </a:pPr>
            <a:r>
              <a:rPr sz="1100" b="0">
                <a:solidFill>
                  <a:srgbClr val="93A4B7"/>
                </a:solidFill>
                <a:latin typeface="Calibri"/>
              </a:rPr>
              <a:t>before listening, or the first events go nowhere</a:t>
            </a:r>
          </a:p>
        </p:txBody>
      </p:sp>
      <p:sp>
        <p:nvSpPr>
          <p:cNvPr id="10" name="Rounded Rectangle 9"/>
          <p:cNvSpPr/>
          <p:nvPr/>
        </p:nvSpPr>
        <p:spPr>
          <a:xfrm>
            <a:off x="4326117" y="1956816"/>
            <a:ext cx="1696714" cy="2231136"/>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90709" y="2139696"/>
            <a:ext cx="1367530" cy="457200"/>
          </a:xfrm>
          <a:prstGeom prst="rect">
            <a:avLst/>
          </a:prstGeom>
          <a:noFill/>
        </p:spPr>
        <p:txBody>
          <a:bodyPr wrap="square" lIns="0" tIns="0" rIns="0" bIns="0">
            <a:spAutoFit/>
          </a:bodyPr>
          <a:lstStyle/>
          <a:p>
            <a:pPr algn="l">
              <a:spcBef>
                <a:spcPts val="0"/>
              </a:spcBef>
              <a:spcAft>
                <a:spcPts val="0"/>
              </a:spcAft>
            </a:pPr>
            <a:r>
              <a:rPr sz="3000" b="1">
                <a:solidFill>
                  <a:srgbClr val="0D6B49"/>
                </a:solidFill>
                <a:latin typeface="Calibri"/>
              </a:rPr>
              <a:t>3</a:t>
            </a:r>
          </a:p>
        </p:txBody>
      </p:sp>
      <p:sp>
        <p:nvSpPr>
          <p:cNvPr id="12" name="TextBox 11"/>
          <p:cNvSpPr txBox="1"/>
          <p:nvPr/>
        </p:nvSpPr>
        <p:spPr>
          <a:xfrm>
            <a:off x="4490709" y="2670048"/>
            <a:ext cx="1404106" cy="1371600"/>
          </a:xfrm>
          <a:prstGeom prst="rect">
            <a:avLst/>
          </a:prstGeom>
          <a:noFill/>
        </p:spPr>
        <p:txBody>
          <a:bodyPr wrap="square" lIns="0" tIns="0" rIns="0" bIns="0">
            <a:spAutoFit/>
          </a:bodyPr>
          <a:lstStyle/>
          <a:p>
            <a:pPr algn="l">
              <a:lnSpc>
                <a:spcPct val="118000"/>
              </a:lnSpc>
              <a:spcBef>
                <a:spcPts val="0"/>
              </a:spcBef>
              <a:spcAft>
                <a:spcPts val="0"/>
              </a:spcAft>
            </a:pPr>
            <a:r>
              <a:rPr sz="1150" b="1">
                <a:solidFill>
                  <a:srgbClr val="E9EFF6"/>
                </a:solidFill>
                <a:latin typeface="Courier New"/>
              </a:rPr>
              <a:t>start the listener</a:t>
            </a:r>
          </a:p>
          <a:p>
            <a:pPr algn="l">
              <a:lnSpc>
                <a:spcPct val="124000"/>
              </a:lnSpc>
              <a:spcBef>
                <a:spcPts val="600"/>
              </a:spcBef>
              <a:spcAft>
                <a:spcPts val="0"/>
              </a:spcAft>
            </a:pPr>
            <a:r>
              <a:rPr sz="1100" b="0">
                <a:solidFill>
                  <a:srgbClr val="93A4B7"/>
                </a:solidFill>
                <a:latin typeface="Calibri"/>
              </a:rPr>
              <a:t>the receive loop blocks, so it gets its own thread</a:t>
            </a:r>
          </a:p>
        </p:txBody>
      </p:sp>
      <p:sp>
        <p:nvSpPr>
          <p:cNvPr id="13" name="Rounded Rectangle 12"/>
          <p:cNvSpPr/>
          <p:nvPr/>
        </p:nvSpPr>
        <p:spPr>
          <a:xfrm>
            <a:off x="6169136" y="1956816"/>
            <a:ext cx="1696714" cy="2231136"/>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33728" y="2139696"/>
            <a:ext cx="1367530" cy="457200"/>
          </a:xfrm>
          <a:prstGeom prst="rect">
            <a:avLst/>
          </a:prstGeom>
          <a:noFill/>
        </p:spPr>
        <p:txBody>
          <a:bodyPr wrap="square" lIns="0" tIns="0" rIns="0" bIns="0">
            <a:spAutoFit/>
          </a:bodyPr>
          <a:lstStyle/>
          <a:p>
            <a:pPr algn="l">
              <a:spcBef>
                <a:spcPts val="0"/>
              </a:spcBef>
              <a:spcAft>
                <a:spcPts val="0"/>
              </a:spcAft>
            </a:pPr>
            <a:r>
              <a:rPr sz="3000" b="1">
                <a:solidFill>
                  <a:srgbClr val="0D6B49"/>
                </a:solidFill>
                <a:latin typeface="Calibri"/>
              </a:rPr>
              <a:t>4</a:t>
            </a:r>
          </a:p>
        </p:txBody>
      </p:sp>
      <p:sp>
        <p:nvSpPr>
          <p:cNvPr id="15" name="TextBox 14"/>
          <p:cNvSpPr txBox="1"/>
          <p:nvPr/>
        </p:nvSpPr>
        <p:spPr>
          <a:xfrm>
            <a:off x="6333728" y="2670048"/>
            <a:ext cx="1404106" cy="1371600"/>
          </a:xfrm>
          <a:prstGeom prst="rect">
            <a:avLst/>
          </a:prstGeom>
          <a:noFill/>
        </p:spPr>
        <p:txBody>
          <a:bodyPr wrap="square" lIns="0" tIns="0" rIns="0" bIns="0">
            <a:spAutoFit/>
          </a:bodyPr>
          <a:lstStyle/>
          <a:p>
            <a:pPr algn="l">
              <a:lnSpc>
                <a:spcPct val="118000"/>
              </a:lnSpc>
              <a:spcBef>
                <a:spcPts val="0"/>
              </a:spcBef>
              <a:spcAft>
                <a:spcPts val="0"/>
              </a:spcAft>
            </a:pPr>
            <a:r>
              <a:rPr sz="1150" b="1">
                <a:solidFill>
                  <a:srgbClr val="E9EFF6"/>
                </a:solidFill>
                <a:latin typeface="Courier New"/>
              </a:rPr>
              <a:t>send SETTINGS</a:t>
            </a:r>
          </a:p>
        </p:txBody>
      </p:sp>
      <p:sp>
        <p:nvSpPr>
          <p:cNvPr id="16" name="Rounded Rectangle 15"/>
          <p:cNvSpPr/>
          <p:nvPr/>
        </p:nvSpPr>
        <p:spPr>
          <a:xfrm>
            <a:off x="8012155" y="1956816"/>
            <a:ext cx="1696714" cy="2231136"/>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76747" y="2139696"/>
            <a:ext cx="1367530" cy="457200"/>
          </a:xfrm>
          <a:prstGeom prst="rect">
            <a:avLst/>
          </a:prstGeom>
          <a:noFill/>
        </p:spPr>
        <p:txBody>
          <a:bodyPr wrap="square" lIns="0" tIns="0" rIns="0" bIns="0">
            <a:spAutoFit/>
          </a:bodyPr>
          <a:lstStyle/>
          <a:p>
            <a:pPr algn="l">
              <a:spcBef>
                <a:spcPts val="0"/>
              </a:spcBef>
              <a:spcAft>
                <a:spcPts val="0"/>
              </a:spcAft>
            </a:pPr>
            <a:r>
              <a:rPr sz="3000" b="1">
                <a:solidFill>
                  <a:srgbClr val="0D6B49"/>
                </a:solidFill>
                <a:latin typeface="Calibri"/>
              </a:rPr>
              <a:t>5</a:t>
            </a:r>
          </a:p>
        </p:txBody>
      </p:sp>
      <p:sp>
        <p:nvSpPr>
          <p:cNvPr id="18" name="TextBox 17"/>
          <p:cNvSpPr txBox="1"/>
          <p:nvPr/>
        </p:nvSpPr>
        <p:spPr>
          <a:xfrm>
            <a:off x="8176747" y="2670048"/>
            <a:ext cx="1404106" cy="1371600"/>
          </a:xfrm>
          <a:prstGeom prst="rect">
            <a:avLst/>
          </a:prstGeom>
          <a:noFill/>
        </p:spPr>
        <p:txBody>
          <a:bodyPr wrap="square" lIns="0" tIns="0" rIns="0" bIns="0">
            <a:spAutoFit/>
          </a:bodyPr>
          <a:lstStyle/>
          <a:p>
            <a:pPr algn="l">
              <a:lnSpc>
                <a:spcPct val="118000"/>
              </a:lnSpc>
              <a:spcBef>
                <a:spcPts val="0"/>
              </a:spcBef>
              <a:spcAft>
                <a:spcPts val="0"/>
              </a:spcAft>
            </a:pPr>
            <a:r>
              <a:rPr sz="1150" b="1">
                <a:solidFill>
                  <a:srgbClr val="E9EFF6"/>
                </a:solidFill>
                <a:latin typeface="Courier New"/>
              </a:rPr>
              <a:t>wait for SettingsApplied</a:t>
            </a:r>
          </a:p>
          <a:p>
            <a:pPr algn="l">
              <a:lnSpc>
                <a:spcPct val="124000"/>
              </a:lnSpc>
              <a:spcBef>
                <a:spcPts val="600"/>
              </a:spcBef>
              <a:spcAft>
                <a:spcPts val="0"/>
              </a:spcAft>
            </a:pPr>
            <a:r>
              <a:rPr sz="1100" b="0">
                <a:solidFill>
                  <a:srgbClr val="93A4B7"/>
                </a:solidFill>
                <a:latin typeface="Calibri"/>
              </a:rPr>
              <a:t>up to ten seconds — it is not instant</a:t>
            </a:r>
          </a:p>
        </p:txBody>
      </p:sp>
      <p:sp>
        <p:nvSpPr>
          <p:cNvPr id="19" name="Rounded Rectangle 18"/>
          <p:cNvSpPr/>
          <p:nvPr/>
        </p:nvSpPr>
        <p:spPr>
          <a:xfrm>
            <a:off x="9855174" y="1956816"/>
            <a:ext cx="1696714" cy="2231136"/>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019766" y="2139696"/>
            <a:ext cx="1367530" cy="457200"/>
          </a:xfrm>
          <a:prstGeom prst="rect">
            <a:avLst/>
          </a:prstGeom>
          <a:noFill/>
        </p:spPr>
        <p:txBody>
          <a:bodyPr wrap="square" lIns="0" tIns="0" rIns="0" bIns="0">
            <a:spAutoFit/>
          </a:bodyPr>
          <a:lstStyle/>
          <a:p>
            <a:pPr algn="l">
              <a:spcBef>
                <a:spcPts val="0"/>
              </a:spcBef>
              <a:spcAft>
                <a:spcPts val="0"/>
              </a:spcAft>
            </a:pPr>
            <a:r>
              <a:rPr sz="3000" b="1">
                <a:solidFill>
                  <a:srgbClr val="0D6B49"/>
                </a:solidFill>
                <a:latin typeface="Calibri"/>
              </a:rPr>
              <a:t>6</a:t>
            </a:r>
          </a:p>
        </p:txBody>
      </p:sp>
      <p:sp>
        <p:nvSpPr>
          <p:cNvPr id="21" name="TextBox 20"/>
          <p:cNvSpPr txBox="1"/>
          <p:nvPr/>
        </p:nvSpPr>
        <p:spPr>
          <a:xfrm>
            <a:off x="10019766" y="2670048"/>
            <a:ext cx="1404106" cy="1371600"/>
          </a:xfrm>
          <a:prstGeom prst="rect">
            <a:avLst/>
          </a:prstGeom>
          <a:noFill/>
        </p:spPr>
        <p:txBody>
          <a:bodyPr wrap="square" lIns="0" tIns="0" rIns="0" bIns="0">
            <a:spAutoFit/>
          </a:bodyPr>
          <a:lstStyle/>
          <a:p>
            <a:pPr algn="l">
              <a:lnSpc>
                <a:spcPct val="118000"/>
              </a:lnSpc>
              <a:spcBef>
                <a:spcPts val="0"/>
              </a:spcBef>
              <a:spcAft>
                <a:spcPts val="0"/>
              </a:spcAft>
            </a:pPr>
            <a:r>
              <a:rPr sz="1150" b="1">
                <a:solidFill>
                  <a:srgbClr val="E9EFF6"/>
                </a:solidFill>
                <a:latin typeface="Courier New"/>
              </a:rPr>
              <a:t>stream media</a:t>
            </a:r>
          </a:p>
          <a:p>
            <a:pPr algn="l">
              <a:lnSpc>
                <a:spcPct val="124000"/>
              </a:lnSpc>
              <a:spcBef>
                <a:spcPts val="600"/>
              </a:spcBef>
              <a:spcAft>
                <a:spcPts val="0"/>
              </a:spcAft>
            </a:pPr>
            <a:r>
              <a:rPr sz="1100" b="0">
                <a:solidFill>
                  <a:srgbClr val="93A4B7"/>
                </a:solidFill>
                <a:latin typeface="Calibri"/>
              </a:rPr>
              <a:t>and not one byte before</a:t>
            </a:r>
          </a:p>
        </p:txBody>
      </p:sp>
      <p:sp>
        <p:nvSpPr>
          <p:cNvPr id="22" name="Rounded Rectangle 21"/>
          <p:cNvSpPr/>
          <p:nvPr/>
        </p:nvSpPr>
        <p:spPr>
          <a:xfrm>
            <a:off x="640080" y="4498848"/>
            <a:ext cx="10911809" cy="1133856"/>
          </a:xfrm>
          <a:prstGeom prst="roundRect">
            <a:avLst>
              <a:gd name="adj" fmla="val 3500"/>
            </a:avLst>
          </a:prstGeom>
          <a:solidFill>
            <a:srgbClr val="17222E"/>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50976" y="4700016"/>
            <a:ext cx="10290017" cy="822960"/>
          </a:xfrm>
          <a:prstGeom prst="rect">
            <a:avLst/>
          </a:prstGeom>
          <a:noFill/>
        </p:spPr>
        <p:txBody>
          <a:bodyPr wrap="square" lIns="0" tIns="0" rIns="0" bIns="0">
            <a:spAutoFit/>
          </a:bodyPr>
          <a:lstStyle/>
          <a:p>
            <a:pPr algn="l">
              <a:spcBef>
                <a:spcPts val="0"/>
              </a:spcBef>
              <a:spcAft>
                <a:spcPts val="0"/>
              </a:spcAft>
            </a:pPr>
            <a:r>
              <a:rPr sz="1550" b="1">
                <a:solidFill>
                  <a:srgbClr val="E9EFF6"/>
                </a:solidFill>
                <a:latin typeface="Calibri"/>
              </a:rPr>
              <a:t>Two of these six are the ones that bite.</a:t>
            </a:r>
          </a:p>
          <a:p>
            <a:pPr algn="l">
              <a:lnSpc>
                <a:spcPct val="130000"/>
              </a:lnSpc>
              <a:spcBef>
                <a:spcPts val="500"/>
              </a:spcBef>
              <a:spcAft>
                <a:spcPts val="0"/>
              </a:spcAft>
            </a:pPr>
            <a:r>
              <a:rPr sz="1300" b="0">
                <a:solidFill>
                  <a:srgbClr val="93A4B7"/>
                </a:solidFill>
                <a:latin typeface="Calibri"/>
              </a:rPr>
              <a:t>Handlers registered after the listener starts miss the first events, and they are the events you most want to see. And media sent before SettingsApplied is thrown away, silently — which is why the bridge waits for the browser to say its speaker is live before it opens the Deepgram socket at all.</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70B10"/>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5669280" cy="274320"/>
          </a:xfrm>
          <a:prstGeom prst="rect">
            <a:avLst/>
          </a:prstGeom>
          <a:noFill/>
        </p:spPr>
        <p:txBody>
          <a:bodyPr wrap="square" lIns="0" tIns="0" rIns="0" bIns="0">
            <a:spAutoFit/>
          </a:bodyPr>
          <a:lstStyle/>
          <a:p>
            <a:pPr algn="l">
              <a:spcBef>
                <a:spcPts val="0"/>
              </a:spcBef>
              <a:spcAft>
                <a:spcPts val="0"/>
              </a:spcAft>
            </a:pPr>
            <a:r>
              <a:rPr sz="1300" b="1">
                <a:solidFill>
                  <a:srgbClr val="13EF93"/>
                </a:solidFill>
                <a:latin typeface="Calibri"/>
              </a:rPr>
              <a:t>0:45   ·   25 MIN</a:t>
            </a:r>
          </a:p>
        </p:txBody>
      </p:sp>
      <p:sp>
        <p:nvSpPr>
          <p:cNvPr id="3" name="TextBox 2"/>
          <p:cNvSpPr txBox="1"/>
          <p:nvPr/>
        </p:nvSpPr>
        <p:spPr>
          <a:xfrm>
            <a:off x="6400800" y="457200"/>
            <a:ext cx="5151089" cy="274320"/>
          </a:xfrm>
          <a:prstGeom prst="rect">
            <a:avLst/>
          </a:prstGeom>
          <a:noFill/>
        </p:spPr>
        <p:txBody>
          <a:bodyPr wrap="square" lIns="0" tIns="0" rIns="0" bIns="0">
            <a:spAutoFit/>
          </a:bodyPr>
          <a:lstStyle/>
          <a:p>
            <a:pPr algn="r">
              <a:spcBef>
                <a:spcPts val="0"/>
              </a:spcBef>
              <a:spcAft>
                <a:spcPts val="0"/>
              </a:spcAft>
            </a:pPr>
            <a:r>
              <a:rPr sz="1100" b="1">
                <a:solidFill>
                  <a:srgbClr val="5D6E80"/>
                </a:solidFill>
                <a:latin typeface="Calibri"/>
              </a:rPr>
              <a:t>EASY MODE — LAB 1</a:t>
            </a:r>
          </a:p>
        </p:txBody>
      </p:sp>
      <p:sp>
        <p:nvSpPr>
          <p:cNvPr id="4" name="TextBox 3"/>
          <p:cNvSpPr txBox="1"/>
          <p:nvPr/>
        </p:nvSpPr>
        <p:spPr>
          <a:xfrm>
            <a:off x="585215" y="804672"/>
            <a:ext cx="2743200" cy="1371600"/>
          </a:xfrm>
          <a:prstGeom prst="rect">
            <a:avLst/>
          </a:prstGeom>
          <a:noFill/>
        </p:spPr>
        <p:txBody>
          <a:bodyPr wrap="square" lIns="0" tIns="0" rIns="0" bIns="0">
            <a:spAutoFit/>
          </a:bodyPr>
          <a:lstStyle/>
          <a:p>
            <a:pPr algn="l">
              <a:spcBef>
                <a:spcPts val="0"/>
              </a:spcBef>
              <a:spcAft>
                <a:spcPts val="0"/>
              </a:spcAft>
            </a:pPr>
            <a:r>
              <a:rPr sz="9600" b="1">
                <a:solidFill>
                  <a:srgbClr val="0D6B49"/>
                </a:solidFill>
                <a:latin typeface="Calibri"/>
              </a:rPr>
              <a:t>03</a:t>
            </a:r>
          </a:p>
        </p:txBody>
      </p:sp>
      <p:sp>
        <p:nvSpPr>
          <p:cNvPr id="5" name="TextBox 4"/>
          <p:cNvSpPr txBox="1"/>
          <p:nvPr/>
        </p:nvSpPr>
        <p:spPr>
          <a:xfrm>
            <a:off x="640080" y="2084831"/>
            <a:ext cx="5577840" cy="603504"/>
          </a:xfrm>
          <a:prstGeom prst="rect">
            <a:avLst/>
          </a:prstGeom>
          <a:noFill/>
        </p:spPr>
        <p:txBody>
          <a:bodyPr wrap="square" lIns="0" tIns="0" rIns="0" bIns="0">
            <a:spAutoFit/>
          </a:bodyPr>
          <a:lstStyle/>
          <a:p>
            <a:pPr algn="l">
              <a:spcBef>
                <a:spcPts val="0"/>
              </a:spcBef>
              <a:spcAft>
                <a:spcPts val="0"/>
              </a:spcAft>
            </a:pPr>
            <a:r>
              <a:rPr sz="3700" b="1">
                <a:solidFill>
                  <a:srgbClr val="E9EFF6"/>
                </a:solidFill>
                <a:latin typeface="Calibri"/>
              </a:rPr>
              <a:t>Hear the agent</a:t>
            </a:r>
          </a:p>
        </p:txBody>
      </p:sp>
      <p:sp>
        <p:nvSpPr>
          <p:cNvPr id="6" name="TextBox 5"/>
          <p:cNvSpPr txBox="1"/>
          <p:nvPr/>
        </p:nvSpPr>
        <p:spPr>
          <a:xfrm>
            <a:off x="640080" y="2871216"/>
            <a:ext cx="5394960" cy="914400"/>
          </a:xfrm>
          <a:prstGeom prst="rect">
            <a:avLst/>
          </a:prstGeom>
          <a:noFill/>
        </p:spPr>
        <p:txBody>
          <a:bodyPr wrap="square" lIns="0" tIns="0" rIns="0" bIns="0">
            <a:spAutoFit/>
          </a:bodyPr>
          <a:lstStyle/>
          <a:p>
            <a:pPr algn="l">
              <a:lnSpc>
                <a:spcPct val="130000"/>
              </a:lnSpc>
              <a:spcBef>
                <a:spcPts val="0"/>
              </a:spcBef>
              <a:spcAft>
                <a:spcPts val="0"/>
              </a:spcAft>
            </a:pPr>
            <a:r>
              <a:rPr sz="1500" b="0">
                <a:solidFill>
                  <a:srgbClr val="93A4B7"/>
                </a:solidFill>
                <a:latin typeface="Calibri"/>
              </a:rPr>
              <a:t>Route the agent's Flux TTS audio to your speaker, and hear the greeting out loud.</a:t>
            </a:r>
          </a:p>
        </p:txBody>
      </p:sp>
      <p:sp>
        <p:nvSpPr>
          <p:cNvPr id="7" name="Rounded Rectangle 6"/>
          <p:cNvSpPr/>
          <p:nvPr/>
        </p:nvSpPr>
        <p:spPr>
          <a:xfrm>
            <a:off x="640080" y="3858768"/>
            <a:ext cx="5394960" cy="582168"/>
          </a:xfrm>
          <a:prstGeom prst="roundRect">
            <a:avLst>
              <a:gd name="adj" fmla="val 3500"/>
            </a:avLst>
          </a:prstGeom>
          <a:solidFill>
            <a:srgbClr val="04070A"/>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59" y="4023360"/>
            <a:ext cx="5029200" cy="216408"/>
          </a:xfrm>
          <a:prstGeom prst="rect">
            <a:avLst/>
          </a:prstGeom>
          <a:noFill/>
        </p:spPr>
        <p:txBody>
          <a:bodyPr wrap="square" lIns="0" tIns="0" rIns="0" bIns="0">
            <a:spAutoFit/>
          </a:bodyPr>
          <a:lstStyle/>
          <a:p>
            <a:pPr algn="l">
              <a:lnSpc>
                <a:spcPct val="118000"/>
              </a:lnSpc>
              <a:spcBef>
                <a:spcPts val="0"/>
              </a:spcBef>
              <a:spcAft>
                <a:spcPts val="0"/>
              </a:spcAft>
            </a:pPr>
            <a:r>
              <a:rPr sz="1200" b="0">
                <a:solidFill>
                  <a:srgbClr val="13EF93"/>
                </a:solidFill>
                <a:latin typeface="Courier New"/>
              </a:rPr>
              <a:t>uv run steps/03-hear-the-agent/main.py</a:t>
            </a:r>
          </a:p>
        </p:txBody>
      </p:sp>
      <p:sp>
        <p:nvSpPr>
          <p:cNvPr id="9" name="TextBox 8"/>
          <p:cNvSpPr txBox="1"/>
          <p:nvPr/>
        </p:nvSpPr>
        <p:spPr>
          <a:xfrm>
            <a:off x="640080" y="4568951"/>
            <a:ext cx="5394960" cy="365760"/>
          </a:xfrm>
          <a:prstGeom prst="rect">
            <a:avLst/>
          </a:prstGeom>
          <a:noFill/>
        </p:spPr>
        <p:txBody>
          <a:bodyPr wrap="square" lIns="0" tIns="0" rIns="0" bIns="0">
            <a:spAutoFit/>
          </a:bodyPr>
          <a:lstStyle/>
          <a:p>
            <a:pPr algn="l">
              <a:lnSpc>
                <a:spcPct val="125000"/>
              </a:lnSpc>
              <a:spcBef>
                <a:spcPts val="0"/>
              </a:spcBef>
              <a:spcAft>
                <a:spcPts val="0"/>
              </a:spcAft>
            </a:pPr>
            <a:r>
              <a:rPr sz="1100" b="0">
                <a:solidFill>
                  <a:srgbClr val="5D6E80"/>
                </a:solidFill>
                <a:latin typeface="Calibri"/>
              </a:rPr>
              <a:t>TODO 3.1 — one line, in the binary branch: player.send(audio)</a:t>
            </a:r>
          </a:p>
        </p:txBody>
      </p:sp>
      <p:sp>
        <p:nvSpPr>
          <p:cNvPr id="10" name="Rounded Rectangle 9"/>
          <p:cNvSpPr/>
          <p:nvPr/>
        </p:nvSpPr>
        <p:spPr>
          <a:xfrm>
            <a:off x="6400800" y="804672"/>
            <a:ext cx="5151089" cy="2834640"/>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675120" y="1024128"/>
            <a:ext cx="4602449" cy="2377440"/>
          </a:xfrm>
          <a:prstGeom prst="rect">
            <a:avLst/>
          </a:prstGeom>
          <a:noFill/>
        </p:spPr>
        <p:txBody>
          <a:bodyPr wrap="square" lIns="0" tIns="0" rIns="0" bIns="0">
            <a:spAutoFit/>
          </a:bodyPr>
          <a:lstStyle/>
          <a:p>
            <a:pPr algn="l">
              <a:spcBef>
                <a:spcPts val="0"/>
              </a:spcBef>
              <a:spcAft>
                <a:spcPts val="0"/>
              </a:spcAft>
            </a:pPr>
            <a:r>
              <a:rPr sz="1100" b="1">
                <a:solidFill>
                  <a:srgbClr val="13EF93"/>
                </a:solidFill>
                <a:latin typeface="Calibri"/>
              </a:rPr>
              <a:t>THE MENTAL MODEL</a:t>
            </a:r>
          </a:p>
          <a:p>
            <a:pPr algn="l">
              <a:lnSpc>
                <a:spcPct val="132000"/>
              </a:lnSpc>
              <a:spcBef>
                <a:spcPts val="1100"/>
              </a:spcBef>
              <a:spcAft>
                <a:spcPts val="0"/>
              </a:spcAft>
            </a:pPr>
            <a:r>
              <a:rPr sz="1350" b="0">
                <a:solidFill>
                  <a:srgbClr val="E9EFF6"/>
                </a:solidFill>
                <a:latin typeface="Calibri"/>
              </a:rPr>
              <a:t>Audio arrives from the network in bursts — a few hundred milliseconds whenever Flux finishes a chunk.</a:t>
            </a:r>
          </a:p>
          <a:p>
            <a:pPr algn="l">
              <a:lnSpc>
                <a:spcPct val="132000"/>
              </a:lnSpc>
              <a:spcBef>
                <a:spcPts val="1100"/>
              </a:spcBef>
              <a:spcAft>
                <a:spcPts val="0"/>
              </a:spcAft>
            </a:pPr>
            <a:r>
              <a:rPr sz="1350" b="0">
                <a:solidFill>
                  <a:srgbClr val="93A4B7"/>
                </a:solidFill>
                <a:latin typeface="Calibri"/>
              </a:rPr>
              <a:t>Your sound hardware consumes it at a constant rate, asking for exactly 128 samples at a time.</a:t>
            </a:r>
          </a:p>
          <a:p>
            <a:pPr algn="l">
              <a:lnSpc>
                <a:spcPct val="132000"/>
              </a:lnSpc>
              <a:spcBef>
                <a:spcPts val="1100"/>
              </a:spcBef>
              <a:spcAft>
                <a:spcPts val="0"/>
              </a:spcAft>
            </a:pPr>
            <a:r>
              <a:rPr sz="1350" b="0">
                <a:solidFill>
                  <a:srgbClr val="93A4B7"/>
                </a:solidFill>
                <a:latin typeface="Calibri"/>
              </a:rPr>
              <a:t>A queue sits between the two. This step is that queue, and Step 5 is what happens when you need to throw it away.</a:t>
            </a:r>
          </a:p>
        </p:txBody>
      </p:sp>
      <p:sp>
        <p:nvSpPr>
          <p:cNvPr id="12" name="Rounded Rectangle 11"/>
          <p:cNvSpPr/>
          <p:nvPr/>
        </p:nvSpPr>
        <p:spPr>
          <a:xfrm>
            <a:off x="640080" y="5541264"/>
            <a:ext cx="10911809" cy="694944"/>
          </a:xfrm>
          <a:prstGeom prst="roundRect">
            <a:avLst>
              <a:gd name="adj" fmla="val 3500"/>
            </a:avLst>
          </a:prstGeom>
          <a:solidFill>
            <a:srgbClr val="2A1F0D"/>
          </a:solidFill>
          <a:ln w="12700">
            <a:solidFill>
              <a:srgbClr val="FFB4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914400" y="5788151"/>
            <a:ext cx="60350" cy="201168"/>
          </a:xfrm>
          <a:prstGeom prst="roundRect">
            <a:avLst>
              <a:gd name="adj" fmla="val 40000"/>
            </a:avLst>
          </a:prstGeom>
          <a:solidFill>
            <a:srgbClr val="FF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1035100" y="5788151"/>
            <a:ext cx="60350" cy="201168"/>
          </a:xfrm>
          <a:prstGeom prst="roundRect">
            <a:avLst>
              <a:gd name="adj" fmla="val 40000"/>
            </a:avLst>
          </a:prstGeom>
          <a:solidFill>
            <a:srgbClr val="FF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508760" y="5669279"/>
            <a:ext cx="9723089" cy="438912"/>
          </a:xfrm>
          <a:prstGeom prst="rect">
            <a:avLst/>
          </a:prstGeom>
          <a:noFill/>
        </p:spPr>
        <p:txBody>
          <a:bodyPr wrap="square" lIns="0" tIns="0" rIns="0" bIns="0">
            <a:spAutoFit/>
          </a:bodyPr>
          <a:lstStyle/>
          <a:p>
            <a:pPr algn="l">
              <a:spcBef>
                <a:spcPts val="0"/>
              </a:spcBef>
              <a:spcAft>
                <a:spcPts val="0"/>
              </a:spcAft>
            </a:pPr>
            <a:r>
              <a:rPr sz="950" b="1">
                <a:solidFill>
                  <a:srgbClr val="FFB454"/>
                </a:solidFill>
                <a:latin typeface="Calibri"/>
              </a:rPr>
              <a:t>BEFORE WE MOVE ON</a:t>
            </a:r>
          </a:p>
          <a:p>
            <a:pPr algn="l">
              <a:spcBef>
                <a:spcPts val="300"/>
              </a:spcBef>
              <a:spcAft>
                <a:spcPts val="0"/>
              </a:spcAft>
            </a:pPr>
            <a:r>
              <a:rPr sz="1400" b="1">
                <a:solidFill>
                  <a:srgbClr val="E9EFF6"/>
                </a:solidFill>
                <a:latin typeface="Calibri"/>
              </a:rPr>
              <a:t>Everyone hears the greeting.</a:t>
            </a:r>
          </a:p>
        </p:txBody>
      </p:sp>
      <p:sp>
        <p:nvSpPr>
          <p:cNvPr id="16" name="Rounded Rectangle 15"/>
          <p:cNvSpPr/>
          <p:nvPr/>
        </p:nvSpPr>
        <p:spPr>
          <a:xfrm>
            <a:off x="640080" y="6428232"/>
            <a:ext cx="137160" cy="137160"/>
          </a:xfrm>
          <a:prstGeom prst="roundRect">
            <a:avLst>
              <a:gd name="adj" fmla="val 30000"/>
            </a:avLst>
          </a:prstGeom>
          <a:solidFill>
            <a:srgbClr val="0D6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868680" y="6428232"/>
            <a:ext cx="137160" cy="137160"/>
          </a:xfrm>
          <a:prstGeom prst="roundRect">
            <a:avLst>
              <a:gd name="adj" fmla="val 30000"/>
            </a:avLst>
          </a:prstGeom>
          <a:solidFill>
            <a:srgbClr val="0D6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1097280" y="6428232"/>
            <a:ext cx="137160" cy="137160"/>
          </a:xfrm>
          <a:prstGeom prst="roundRect">
            <a:avLst>
              <a:gd name="adj" fmla="val 30000"/>
            </a:avLst>
          </a:prstGeom>
          <a:solidFill>
            <a:srgbClr val="13EF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1325880" y="6428232"/>
            <a:ext cx="137160" cy="137160"/>
          </a:xfrm>
          <a:prstGeom prst="roundRect">
            <a:avLst>
              <a:gd name="adj" fmla="val 30000"/>
            </a:avLst>
          </a:prstGeom>
          <a:no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1554480" y="6428232"/>
            <a:ext cx="137160" cy="137160"/>
          </a:xfrm>
          <a:prstGeom prst="roundRect">
            <a:avLst>
              <a:gd name="adj" fmla="val 30000"/>
            </a:avLst>
          </a:prstGeom>
          <a:no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1783080" y="6428232"/>
            <a:ext cx="137160" cy="137160"/>
          </a:xfrm>
          <a:prstGeom prst="roundRect">
            <a:avLst>
              <a:gd name="adj" fmla="val 30000"/>
            </a:avLst>
          </a:prstGeom>
          <a:no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2011680" y="6428232"/>
            <a:ext cx="137160" cy="137160"/>
          </a:xfrm>
          <a:prstGeom prst="roundRect">
            <a:avLst>
              <a:gd name="adj" fmla="val 30000"/>
            </a:avLst>
          </a:prstGeom>
          <a:no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2240280" y="6428232"/>
            <a:ext cx="137160" cy="137160"/>
          </a:xfrm>
          <a:prstGeom prst="roundRect">
            <a:avLst>
              <a:gd name="adj" fmla="val 30000"/>
            </a:avLst>
          </a:prstGeom>
          <a:no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578608" y="6391656"/>
            <a:ext cx="3108960" cy="256032"/>
          </a:xfrm>
          <a:prstGeom prst="rect">
            <a:avLst/>
          </a:prstGeom>
          <a:noFill/>
        </p:spPr>
        <p:txBody>
          <a:bodyPr wrap="square" lIns="0" tIns="0" rIns="0" bIns="0">
            <a:spAutoFit/>
          </a:bodyPr>
          <a:lstStyle/>
          <a:p>
            <a:pPr algn="l">
              <a:spcBef>
                <a:spcPts val="0"/>
              </a:spcBef>
              <a:spcAft>
                <a:spcPts val="0"/>
              </a:spcAft>
            </a:pPr>
            <a:r>
              <a:rPr sz="950" b="0">
                <a:solidFill>
                  <a:srgbClr val="5D6E80"/>
                </a:solidFill>
                <a:latin typeface="Calibri"/>
              </a:rPr>
              <a:t>STEP 3 OF 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70B10"/>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5669280" cy="274320"/>
          </a:xfrm>
          <a:prstGeom prst="rect">
            <a:avLst/>
          </a:prstGeom>
          <a:noFill/>
        </p:spPr>
        <p:txBody>
          <a:bodyPr wrap="square" lIns="0" tIns="0" rIns="0" bIns="0">
            <a:spAutoFit/>
          </a:bodyPr>
          <a:lstStyle/>
          <a:p>
            <a:pPr algn="l">
              <a:spcBef>
                <a:spcPts val="0"/>
              </a:spcBef>
              <a:spcAft>
                <a:spcPts val="0"/>
              </a:spcAft>
            </a:pPr>
            <a:r>
              <a:rPr sz="1300" b="1">
                <a:solidFill>
                  <a:srgbClr val="13EF93"/>
                </a:solidFill>
                <a:latin typeface="Calibri"/>
              </a:rPr>
              <a:t>1:10   ·   30 MIN</a:t>
            </a:r>
          </a:p>
        </p:txBody>
      </p:sp>
      <p:sp>
        <p:nvSpPr>
          <p:cNvPr id="3" name="TextBox 2"/>
          <p:cNvSpPr txBox="1"/>
          <p:nvPr/>
        </p:nvSpPr>
        <p:spPr>
          <a:xfrm>
            <a:off x="6400800" y="457200"/>
            <a:ext cx="5151089" cy="274320"/>
          </a:xfrm>
          <a:prstGeom prst="rect">
            <a:avLst/>
          </a:prstGeom>
          <a:noFill/>
        </p:spPr>
        <p:txBody>
          <a:bodyPr wrap="square" lIns="0" tIns="0" rIns="0" bIns="0">
            <a:spAutoFit/>
          </a:bodyPr>
          <a:lstStyle/>
          <a:p>
            <a:pPr algn="r">
              <a:spcBef>
                <a:spcPts val="0"/>
              </a:spcBef>
              <a:spcAft>
                <a:spcPts val="0"/>
              </a:spcAft>
            </a:pPr>
            <a:r>
              <a:rPr sz="1100" b="1">
                <a:solidFill>
                  <a:srgbClr val="5D6E80"/>
                </a:solidFill>
                <a:latin typeface="Calibri"/>
              </a:rPr>
              <a:t>EASY MODE — LAB 1</a:t>
            </a:r>
          </a:p>
        </p:txBody>
      </p:sp>
      <p:sp>
        <p:nvSpPr>
          <p:cNvPr id="4" name="TextBox 3"/>
          <p:cNvSpPr txBox="1"/>
          <p:nvPr/>
        </p:nvSpPr>
        <p:spPr>
          <a:xfrm>
            <a:off x="585215" y="804672"/>
            <a:ext cx="2743200" cy="1371600"/>
          </a:xfrm>
          <a:prstGeom prst="rect">
            <a:avLst/>
          </a:prstGeom>
          <a:noFill/>
        </p:spPr>
        <p:txBody>
          <a:bodyPr wrap="square" lIns="0" tIns="0" rIns="0" bIns="0">
            <a:spAutoFit/>
          </a:bodyPr>
          <a:lstStyle/>
          <a:p>
            <a:pPr algn="l">
              <a:spcBef>
                <a:spcPts val="0"/>
              </a:spcBef>
              <a:spcAft>
                <a:spcPts val="0"/>
              </a:spcAft>
            </a:pPr>
            <a:r>
              <a:rPr sz="9600" b="1">
                <a:solidFill>
                  <a:srgbClr val="0D6B49"/>
                </a:solidFill>
                <a:latin typeface="Calibri"/>
              </a:rPr>
              <a:t>04</a:t>
            </a:r>
          </a:p>
        </p:txBody>
      </p:sp>
      <p:sp>
        <p:nvSpPr>
          <p:cNvPr id="5" name="TextBox 4"/>
          <p:cNvSpPr txBox="1"/>
          <p:nvPr/>
        </p:nvSpPr>
        <p:spPr>
          <a:xfrm>
            <a:off x="640080" y="2084831"/>
            <a:ext cx="5577840" cy="603504"/>
          </a:xfrm>
          <a:prstGeom prst="rect">
            <a:avLst/>
          </a:prstGeom>
          <a:noFill/>
        </p:spPr>
        <p:txBody>
          <a:bodyPr wrap="square" lIns="0" tIns="0" rIns="0" bIns="0">
            <a:spAutoFit/>
          </a:bodyPr>
          <a:lstStyle/>
          <a:p>
            <a:pPr algn="l">
              <a:spcBef>
                <a:spcPts val="0"/>
              </a:spcBef>
              <a:spcAft>
                <a:spcPts val="0"/>
              </a:spcAft>
            </a:pPr>
            <a:r>
              <a:rPr sz="3700" b="1">
                <a:solidFill>
                  <a:srgbClr val="E9EFF6"/>
                </a:solidFill>
                <a:latin typeface="Calibri"/>
              </a:rPr>
              <a:t>Talk to the agent</a:t>
            </a:r>
          </a:p>
        </p:txBody>
      </p:sp>
      <p:sp>
        <p:nvSpPr>
          <p:cNvPr id="6" name="TextBox 5"/>
          <p:cNvSpPr txBox="1"/>
          <p:nvPr/>
        </p:nvSpPr>
        <p:spPr>
          <a:xfrm>
            <a:off x="640080" y="2871216"/>
            <a:ext cx="5394960" cy="914400"/>
          </a:xfrm>
          <a:prstGeom prst="rect">
            <a:avLst/>
          </a:prstGeom>
          <a:noFill/>
        </p:spPr>
        <p:txBody>
          <a:bodyPr wrap="square" lIns="0" tIns="0" rIns="0" bIns="0">
            <a:spAutoFit/>
          </a:bodyPr>
          <a:lstStyle/>
          <a:p>
            <a:pPr algn="l">
              <a:lnSpc>
                <a:spcPct val="130000"/>
              </a:lnSpc>
              <a:spcBef>
                <a:spcPts val="0"/>
              </a:spcBef>
              <a:spcAft>
                <a:spcPts val="0"/>
              </a:spcAft>
            </a:pPr>
            <a:r>
              <a:rPr sz="1500" b="0">
                <a:solidFill>
                  <a:srgbClr val="93A4B7"/>
                </a:solidFill>
                <a:latin typeface="Calibri"/>
              </a:rPr>
              <a:t>Stream microphone audio to the agent and hold an actual conversation. This is the step where it becomes a voice agent.</a:t>
            </a:r>
          </a:p>
        </p:txBody>
      </p:sp>
      <p:sp>
        <p:nvSpPr>
          <p:cNvPr id="7" name="Rounded Rectangle 6"/>
          <p:cNvSpPr/>
          <p:nvPr/>
        </p:nvSpPr>
        <p:spPr>
          <a:xfrm>
            <a:off x="640080" y="3858768"/>
            <a:ext cx="5394960" cy="582168"/>
          </a:xfrm>
          <a:prstGeom prst="roundRect">
            <a:avLst>
              <a:gd name="adj" fmla="val 3500"/>
            </a:avLst>
          </a:prstGeom>
          <a:solidFill>
            <a:srgbClr val="04070A"/>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59" y="4023360"/>
            <a:ext cx="5029200" cy="216408"/>
          </a:xfrm>
          <a:prstGeom prst="rect">
            <a:avLst/>
          </a:prstGeom>
          <a:noFill/>
        </p:spPr>
        <p:txBody>
          <a:bodyPr wrap="square" lIns="0" tIns="0" rIns="0" bIns="0">
            <a:spAutoFit/>
          </a:bodyPr>
          <a:lstStyle/>
          <a:p>
            <a:pPr algn="l">
              <a:lnSpc>
                <a:spcPct val="118000"/>
              </a:lnSpc>
              <a:spcBef>
                <a:spcPts val="0"/>
              </a:spcBef>
              <a:spcAft>
                <a:spcPts val="0"/>
              </a:spcAft>
            </a:pPr>
            <a:r>
              <a:rPr sz="1200" b="0">
                <a:solidFill>
                  <a:srgbClr val="13EF93"/>
                </a:solidFill>
                <a:latin typeface="Courier New"/>
              </a:rPr>
              <a:t>uv run steps/04-talk-to-the-agent/main.py</a:t>
            </a:r>
          </a:p>
        </p:txBody>
      </p:sp>
      <p:sp>
        <p:nvSpPr>
          <p:cNvPr id="9" name="TextBox 8"/>
          <p:cNvSpPr txBox="1"/>
          <p:nvPr/>
        </p:nvSpPr>
        <p:spPr>
          <a:xfrm>
            <a:off x="640080" y="4568951"/>
            <a:ext cx="5394960" cy="365760"/>
          </a:xfrm>
          <a:prstGeom prst="rect">
            <a:avLst/>
          </a:prstGeom>
          <a:noFill/>
        </p:spPr>
        <p:txBody>
          <a:bodyPr wrap="square" lIns="0" tIns="0" rIns="0" bIns="0">
            <a:spAutoFit/>
          </a:bodyPr>
          <a:lstStyle/>
          <a:p>
            <a:pPr algn="l">
              <a:lnSpc>
                <a:spcPct val="125000"/>
              </a:lnSpc>
              <a:spcBef>
                <a:spcPts val="0"/>
              </a:spcBef>
              <a:spcAft>
                <a:spcPts val="0"/>
              </a:spcAft>
            </a:pPr>
            <a:r>
              <a:rPr sz="1100" b="0">
                <a:solidFill>
                  <a:srgbClr val="5D6E80"/>
                </a:solidFill>
                <a:latin typeface="Calibri"/>
              </a:rPr>
              <a:t>TODO 4.1 — the entire outbound side: agent.send_media(audio)</a:t>
            </a:r>
          </a:p>
        </p:txBody>
      </p:sp>
      <p:sp>
        <p:nvSpPr>
          <p:cNvPr id="10" name="Rounded Rectangle 9"/>
          <p:cNvSpPr/>
          <p:nvPr/>
        </p:nvSpPr>
        <p:spPr>
          <a:xfrm>
            <a:off x="6400800" y="804672"/>
            <a:ext cx="5151089" cy="2834640"/>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675120" y="1024128"/>
            <a:ext cx="4602449" cy="2377440"/>
          </a:xfrm>
          <a:prstGeom prst="rect">
            <a:avLst/>
          </a:prstGeom>
          <a:noFill/>
        </p:spPr>
        <p:txBody>
          <a:bodyPr wrap="square" lIns="0" tIns="0" rIns="0" bIns="0">
            <a:spAutoFit/>
          </a:bodyPr>
          <a:lstStyle/>
          <a:p>
            <a:pPr algn="l">
              <a:spcBef>
                <a:spcPts val="0"/>
              </a:spcBef>
              <a:spcAft>
                <a:spcPts val="0"/>
              </a:spcAft>
            </a:pPr>
            <a:r>
              <a:rPr sz="1100" b="1">
                <a:solidFill>
                  <a:srgbClr val="13EF93"/>
                </a:solidFill>
                <a:latin typeface="Calibri"/>
              </a:rPr>
              <a:t>THE SHORTNESS IS THE LESSON</a:t>
            </a:r>
          </a:p>
          <a:p>
            <a:pPr algn="l">
              <a:lnSpc>
                <a:spcPct val="132000"/>
              </a:lnSpc>
              <a:spcBef>
                <a:spcPts val="1100"/>
              </a:spcBef>
              <a:spcAft>
                <a:spcPts val="0"/>
              </a:spcAft>
            </a:pPr>
            <a:r>
              <a:rPr sz="1350" b="0">
                <a:solidFill>
                  <a:srgbClr val="E9EFF6"/>
                </a:solidFill>
                <a:latin typeface="Calibri"/>
              </a:rPr>
              <a:t>No voice activity detection. No silence trimming. No energy threshold. No “has the user finished” heuristic.</a:t>
            </a:r>
          </a:p>
          <a:p>
            <a:pPr algn="l">
              <a:lnSpc>
                <a:spcPct val="132000"/>
              </a:lnSpc>
              <a:spcBef>
                <a:spcPts val="1100"/>
              </a:spcBef>
              <a:spcAft>
                <a:spcPts val="0"/>
              </a:spcAft>
            </a:pPr>
            <a:r>
              <a:rPr sz="1350" b="0">
                <a:solidFill>
                  <a:srgbClr val="93A4B7"/>
                </a:solidFill>
                <a:latin typeface="Calibri"/>
              </a:rPr>
              <a:t>Flux does turn detection inside the model, so there is nothing for client-side VAD to do. You forward bytes and get out of the way.</a:t>
            </a:r>
          </a:p>
        </p:txBody>
      </p:sp>
      <p:sp>
        <p:nvSpPr>
          <p:cNvPr id="12" name="Rounded Rectangle 11"/>
          <p:cNvSpPr/>
          <p:nvPr/>
        </p:nvSpPr>
        <p:spPr>
          <a:xfrm>
            <a:off x="640080" y="5541264"/>
            <a:ext cx="10911809" cy="694944"/>
          </a:xfrm>
          <a:prstGeom prst="roundRect">
            <a:avLst>
              <a:gd name="adj" fmla="val 3500"/>
            </a:avLst>
          </a:prstGeom>
          <a:solidFill>
            <a:srgbClr val="2A1F0D"/>
          </a:solidFill>
          <a:ln w="12700">
            <a:solidFill>
              <a:srgbClr val="FFB4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914400" y="5788151"/>
            <a:ext cx="60350" cy="201168"/>
          </a:xfrm>
          <a:prstGeom prst="roundRect">
            <a:avLst>
              <a:gd name="adj" fmla="val 40000"/>
            </a:avLst>
          </a:prstGeom>
          <a:solidFill>
            <a:srgbClr val="FF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1035100" y="5788151"/>
            <a:ext cx="60350" cy="201168"/>
          </a:xfrm>
          <a:prstGeom prst="roundRect">
            <a:avLst>
              <a:gd name="adj" fmla="val 40000"/>
            </a:avLst>
          </a:prstGeom>
          <a:solidFill>
            <a:srgbClr val="FF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508760" y="5669279"/>
            <a:ext cx="9723089" cy="438912"/>
          </a:xfrm>
          <a:prstGeom prst="rect">
            <a:avLst/>
          </a:prstGeom>
          <a:noFill/>
        </p:spPr>
        <p:txBody>
          <a:bodyPr wrap="square" lIns="0" tIns="0" rIns="0" bIns="0">
            <a:spAutoFit/>
          </a:bodyPr>
          <a:lstStyle/>
          <a:p>
            <a:pPr algn="l">
              <a:spcBef>
                <a:spcPts val="0"/>
              </a:spcBef>
              <a:spcAft>
                <a:spcPts val="0"/>
              </a:spcAft>
            </a:pPr>
            <a:r>
              <a:rPr sz="950" b="1">
                <a:solidFill>
                  <a:srgbClr val="FFB454"/>
                </a:solidFill>
                <a:latin typeface="Calibri"/>
              </a:rPr>
              <a:t>BEFORE WE MOVE ON</a:t>
            </a:r>
          </a:p>
          <a:p>
            <a:pPr algn="l">
              <a:spcBef>
                <a:spcPts val="300"/>
              </a:spcBef>
              <a:spcAft>
                <a:spcPts val="0"/>
              </a:spcAft>
            </a:pPr>
            <a:r>
              <a:rPr sz="1400" b="1">
                <a:solidFill>
                  <a:srgbClr val="E9EFF6"/>
                </a:solidFill>
                <a:latin typeface="Calibri"/>
              </a:rPr>
              <a:t>Everyone holds a conversation. High point of the workshop — let it breathe.</a:t>
            </a:r>
          </a:p>
        </p:txBody>
      </p:sp>
      <p:sp>
        <p:nvSpPr>
          <p:cNvPr id="16" name="Rounded Rectangle 15"/>
          <p:cNvSpPr/>
          <p:nvPr/>
        </p:nvSpPr>
        <p:spPr>
          <a:xfrm>
            <a:off x="640080" y="6428232"/>
            <a:ext cx="137160" cy="137160"/>
          </a:xfrm>
          <a:prstGeom prst="roundRect">
            <a:avLst>
              <a:gd name="adj" fmla="val 30000"/>
            </a:avLst>
          </a:prstGeom>
          <a:solidFill>
            <a:srgbClr val="0D6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868680" y="6428232"/>
            <a:ext cx="137160" cy="137160"/>
          </a:xfrm>
          <a:prstGeom prst="roundRect">
            <a:avLst>
              <a:gd name="adj" fmla="val 30000"/>
            </a:avLst>
          </a:prstGeom>
          <a:solidFill>
            <a:srgbClr val="0D6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1097280" y="6428232"/>
            <a:ext cx="137160" cy="137160"/>
          </a:xfrm>
          <a:prstGeom prst="roundRect">
            <a:avLst>
              <a:gd name="adj" fmla="val 30000"/>
            </a:avLst>
          </a:prstGeom>
          <a:solidFill>
            <a:srgbClr val="0D6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1325880" y="6428232"/>
            <a:ext cx="137160" cy="137160"/>
          </a:xfrm>
          <a:prstGeom prst="roundRect">
            <a:avLst>
              <a:gd name="adj" fmla="val 30000"/>
            </a:avLst>
          </a:prstGeom>
          <a:solidFill>
            <a:srgbClr val="13EF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1554480" y="6428232"/>
            <a:ext cx="137160" cy="137160"/>
          </a:xfrm>
          <a:prstGeom prst="roundRect">
            <a:avLst>
              <a:gd name="adj" fmla="val 30000"/>
            </a:avLst>
          </a:prstGeom>
          <a:no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1783080" y="6428232"/>
            <a:ext cx="137160" cy="137160"/>
          </a:xfrm>
          <a:prstGeom prst="roundRect">
            <a:avLst>
              <a:gd name="adj" fmla="val 30000"/>
            </a:avLst>
          </a:prstGeom>
          <a:no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2011680" y="6428232"/>
            <a:ext cx="137160" cy="137160"/>
          </a:xfrm>
          <a:prstGeom prst="roundRect">
            <a:avLst>
              <a:gd name="adj" fmla="val 30000"/>
            </a:avLst>
          </a:prstGeom>
          <a:no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2240280" y="6428232"/>
            <a:ext cx="137160" cy="137160"/>
          </a:xfrm>
          <a:prstGeom prst="roundRect">
            <a:avLst>
              <a:gd name="adj" fmla="val 30000"/>
            </a:avLst>
          </a:prstGeom>
          <a:no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578608" y="6391656"/>
            <a:ext cx="3108960" cy="256032"/>
          </a:xfrm>
          <a:prstGeom prst="rect">
            <a:avLst/>
          </a:prstGeom>
          <a:noFill/>
        </p:spPr>
        <p:txBody>
          <a:bodyPr wrap="square" lIns="0" tIns="0" rIns="0" bIns="0">
            <a:spAutoFit/>
          </a:bodyPr>
          <a:lstStyle/>
          <a:p>
            <a:pPr algn="l">
              <a:spcBef>
                <a:spcPts val="0"/>
              </a:spcBef>
              <a:spcAft>
                <a:spcPts val="0"/>
              </a:spcAft>
            </a:pPr>
            <a:r>
              <a:rPr sz="950" b="0">
                <a:solidFill>
                  <a:srgbClr val="5D6E80"/>
                </a:solidFill>
                <a:latin typeface="Calibri"/>
              </a:rPr>
              <a:t>STEP 4 OF 8</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70B10"/>
        </a:solidFill>
        <a:effectLst/>
      </p:bgPr>
    </p:bg>
    <p:spTree>
      <p:nvGrpSpPr>
        <p:cNvPr id="1" name=""/>
        <p:cNvGrpSpPr/>
        <p:nvPr/>
      </p:nvGrpSpPr>
      <p:grpSpPr>
        <a:xfrm>
          <a:off x="0" y="0"/>
          <a:ext cx="0" cy="0"/>
          <a:chOff x="0" y="0"/>
          <a:chExt cx="0" cy="0"/>
        </a:xfrm>
      </p:grpSpPr>
      <p:sp>
        <p:nvSpPr>
          <p:cNvPr id="2" name="TextBox 1"/>
          <p:cNvSpPr txBox="1"/>
          <p:nvPr/>
        </p:nvSpPr>
        <p:spPr>
          <a:xfrm>
            <a:off x="640080" y="1371600"/>
            <a:ext cx="7315200" cy="1737360"/>
          </a:xfrm>
          <a:prstGeom prst="rect">
            <a:avLst/>
          </a:prstGeom>
          <a:noFill/>
        </p:spPr>
        <p:txBody>
          <a:bodyPr wrap="square" lIns="0" tIns="0" rIns="0" bIns="0">
            <a:spAutoFit/>
          </a:bodyPr>
          <a:lstStyle/>
          <a:p>
            <a:pPr algn="l">
              <a:spcBef>
                <a:spcPts val="0"/>
              </a:spcBef>
              <a:spcAft>
                <a:spcPts val="0"/>
              </a:spcAft>
            </a:pPr>
            <a:r>
              <a:rPr sz="2600" b="1">
                <a:solidFill>
                  <a:srgbClr val="13EF93"/>
                </a:solidFill>
                <a:latin typeface="Courier New"/>
              </a:rPr>
              <a:t>1:40</a:t>
            </a:r>
          </a:p>
          <a:p>
            <a:pPr algn="l">
              <a:lnSpc>
                <a:spcPct val="102000"/>
              </a:lnSpc>
              <a:spcBef>
                <a:spcPts val="400"/>
              </a:spcBef>
              <a:spcAft>
                <a:spcPts val="0"/>
              </a:spcAft>
            </a:pPr>
            <a:r>
              <a:rPr sz="6400" b="1">
                <a:solidFill>
                  <a:srgbClr val="E9EFF6"/>
                </a:solidFill>
                <a:latin typeface="Calibri"/>
              </a:rPr>
              <a:t>Break</a:t>
            </a:r>
          </a:p>
        </p:txBody>
      </p:sp>
      <p:sp>
        <p:nvSpPr>
          <p:cNvPr id="3" name="TextBox 2"/>
          <p:cNvSpPr txBox="1"/>
          <p:nvPr/>
        </p:nvSpPr>
        <p:spPr>
          <a:xfrm>
            <a:off x="640080" y="3383280"/>
            <a:ext cx="8046720" cy="1097280"/>
          </a:xfrm>
          <a:prstGeom prst="rect">
            <a:avLst/>
          </a:prstGeom>
          <a:noFill/>
        </p:spPr>
        <p:txBody>
          <a:bodyPr wrap="square" lIns="0" tIns="0" rIns="0" bIns="0">
            <a:spAutoFit/>
          </a:bodyPr>
          <a:lstStyle/>
          <a:p>
            <a:pPr algn="l">
              <a:spcBef>
                <a:spcPts val="0"/>
              </a:spcBef>
              <a:spcAft>
                <a:spcPts val="0"/>
              </a:spcAft>
            </a:pPr>
            <a:r>
              <a:rPr sz="2000" b="1">
                <a:solidFill>
                  <a:srgbClr val="E9EFF6"/>
                </a:solidFill>
                <a:latin typeface="Calibri"/>
              </a:rPr>
              <a:t>Ten minutes.</a:t>
            </a:r>
          </a:p>
          <a:p>
            <a:pPr algn="l">
              <a:lnSpc>
                <a:spcPct val="130000"/>
              </a:lnSpc>
              <a:spcBef>
                <a:spcPts val="600"/>
              </a:spcBef>
              <a:spcAft>
                <a:spcPts val="0"/>
              </a:spcAft>
            </a:pPr>
            <a:r>
              <a:rPr sz="1600" b="0">
                <a:solidFill>
                  <a:srgbClr val="93A4B7"/>
                </a:solidFill>
                <a:latin typeface="Calibri"/>
              </a:rPr>
              <a:t>You have a working voice agent. After the break we break it — on purpose — and then fix it.</a:t>
            </a:r>
          </a:p>
        </p:txBody>
      </p:sp>
      <p:sp>
        <p:nvSpPr>
          <p:cNvPr id="4" name="Rounded Rectangle 3"/>
          <p:cNvSpPr/>
          <p:nvPr/>
        </p:nvSpPr>
        <p:spPr>
          <a:xfrm>
            <a:off x="640080" y="4901184"/>
            <a:ext cx="10911809" cy="969264"/>
          </a:xfrm>
          <a:prstGeom prst="roundRect">
            <a:avLst>
              <a:gd name="adj" fmla="val 3500"/>
            </a:avLst>
          </a:prstGeom>
          <a:solidFill>
            <a:srgbClr val="2A1F0D"/>
          </a:solidFill>
          <a:ln w="12700">
            <a:solidFill>
              <a:srgbClr val="FFB4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950976" y="5257800"/>
            <a:ext cx="65836" cy="219456"/>
          </a:xfrm>
          <a:prstGeom prst="roundRect">
            <a:avLst>
              <a:gd name="adj" fmla="val 40000"/>
            </a:avLst>
          </a:prstGeom>
          <a:solidFill>
            <a:srgbClr val="FF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082649" y="5257800"/>
            <a:ext cx="65836" cy="219456"/>
          </a:xfrm>
          <a:prstGeom prst="roundRect">
            <a:avLst>
              <a:gd name="adj" fmla="val 40000"/>
            </a:avLst>
          </a:prstGeom>
          <a:solidFill>
            <a:srgbClr val="FF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572768" y="5084064"/>
            <a:ext cx="9631649" cy="621792"/>
          </a:xfrm>
          <a:prstGeom prst="rect">
            <a:avLst/>
          </a:prstGeom>
          <a:noFill/>
        </p:spPr>
        <p:txBody>
          <a:bodyPr wrap="square" lIns="0" tIns="0" rIns="0" bIns="0">
            <a:spAutoFit/>
          </a:bodyPr>
          <a:lstStyle/>
          <a:p>
            <a:pPr algn="l">
              <a:spcBef>
                <a:spcPts val="0"/>
              </a:spcBef>
              <a:spcAft>
                <a:spcPts val="0"/>
              </a:spcAft>
            </a:pPr>
            <a:r>
              <a:rPr sz="1500" b="1">
                <a:solidFill>
                  <a:srgbClr val="E9EFF6"/>
                </a:solidFill>
                <a:latin typeface="Calibri"/>
              </a:rPr>
              <a:t>Behind? Open steps/05-barge-in/ now.</a:t>
            </a:r>
          </a:p>
          <a:p>
            <a:pPr algn="l">
              <a:lnSpc>
                <a:spcPct val="126000"/>
              </a:lnSpc>
              <a:spcBef>
                <a:spcPts val="400"/>
              </a:spcBef>
              <a:spcAft>
                <a:spcPts val="0"/>
              </a:spcAft>
            </a:pPr>
            <a:r>
              <a:rPr sz="1300" b="0">
                <a:solidFill>
                  <a:srgbClr val="FFB454"/>
                </a:solidFill>
                <a:latin typeface="Calibri"/>
              </a:rPr>
              <a:t>That folder already contains a complete, working Steps 1 through 4. Start there when we come back and you lose nothing but the typing.</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70B10"/>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5669280" cy="274320"/>
          </a:xfrm>
          <a:prstGeom prst="rect">
            <a:avLst/>
          </a:prstGeom>
          <a:noFill/>
        </p:spPr>
        <p:txBody>
          <a:bodyPr wrap="square" lIns="0" tIns="0" rIns="0" bIns="0">
            <a:spAutoFit/>
          </a:bodyPr>
          <a:lstStyle/>
          <a:p>
            <a:pPr algn="l">
              <a:spcBef>
                <a:spcPts val="0"/>
              </a:spcBef>
              <a:spcAft>
                <a:spcPts val="0"/>
              </a:spcAft>
            </a:pPr>
            <a:r>
              <a:rPr sz="1300" b="1">
                <a:solidFill>
                  <a:srgbClr val="13EF93"/>
                </a:solidFill>
                <a:latin typeface="Calibri"/>
              </a:rPr>
              <a:t>1:50   ·   25 MIN</a:t>
            </a:r>
          </a:p>
        </p:txBody>
      </p:sp>
      <p:sp>
        <p:nvSpPr>
          <p:cNvPr id="3" name="TextBox 2"/>
          <p:cNvSpPr txBox="1"/>
          <p:nvPr/>
        </p:nvSpPr>
        <p:spPr>
          <a:xfrm>
            <a:off x="6400800" y="457200"/>
            <a:ext cx="5151089" cy="274320"/>
          </a:xfrm>
          <a:prstGeom prst="rect">
            <a:avLst/>
          </a:prstGeom>
          <a:noFill/>
        </p:spPr>
        <p:txBody>
          <a:bodyPr wrap="square" lIns="0" tIns="0" rIns="0" bIns="0">
            <a:spAutoFit/>
          </a:bodyPr>
          <a:lstStyle/>
          <a:p>
            <a:pPr algn="r">
              <a:spcBef>
                <a:spcPts val="0"/>
              </a:spcBef>
              <a:spcAft>
                <a:spcPts val="0"/>
              </a:spcAft>
            </a:pPr>
            <a:r>
              <a:rPr sz="1100" b="1">
                <a:solidFill>
                  <a:srgbClr val="5D6E80"/>
                </a:solidFill>
                <a:latin typeface="Calibri"/>
              </a:rPr>
              <a:t>EASY MODE — LAB 2</a:t>
            </a:r>
          </a:p>
        </p:txBody>
      </p:sp>
      <p:sp>
        <p:nvSpPr>
          <p:cNvPr id="4" name="TextBox 3"/>
          <p:cNvSpPr txBox="1"/>
          <p:nvPr/>
        </p:nvSpPr>
        <p:spPr>
          <a:xfrm>
            <a:off x="585215" y="804672"/>
            <a:ext cx="2743200" cy="1371600"/>
          </a:xfrm>
          <a:prstGeom prst="rect">
            <a:avLst/>
          </a:prstGeom>
          <a:noFill/>
        </p:spPr>
        <p:txBody>
          <a:bodyPr wrap="square" lIns="0" tIns="0" rIns="0" bIns="0">
            <a:spAutoFit/>
          </a:bodyPr>
          <a:lstStyle/>
          <a:p>
            <a:pPr algn="l">
              <a:spcBef>
                <a:spcPts val="0"/>
              </a:spcBef>
              <a:spcAft>
                <a:spcPts val="0"/>
              </a:spcAft>
            </a:pPr>
            <a:r>
              <a:rPr sz="9600" b="1">
                <a:solidFill>
                  <a:srgbClr val="0D6B49"/>
                </a:solidFill>
                <a:latin typeface="Calibri"/>
              </a:rPr>
              <a:t>05</a:t>
            </a:r>
          </a:p>
        </p:txBody>
      </p:sp>
      <p:sp>
        <p:nvSpPr>
          <p:cNvPr id="5" name="TextBox 4"/>
          <p:cNvSpPr txBox="1"/>
          <p:nvPr/>
        </p:nvSpPr>
        <p:spPr>
          <a:xfrm>
            <a:off x="640080" y="2084831"/>
            <a:ext cx="5577840" cy="603504"/>
          </a:xfrm>
          <a:prstGeom prst="rect">
            <a:avLst/>
          </a:prstGeom>
          <a:noFill/>
        </p:spPr>
        <p:txBody>
          <a:bodyPr wrap="square" lIns="0" tIns="0" rIns="0" bIns="0">
            <a:spAutoFit/>
          </a:bodyPr>
          <a:lstStyle/>
          <a:p>
            <a:pPr algn="l">
              <a:spcBef>
                <a:spcPts val="0"/>
              </a:spcBef>
              <a:spcAft>
                <a:spcPts val="0"/>
              </a:spcAft>
            </a:pPr>
            <a:r>
              <a:rPr sz="3700" b="1">
                <a:solidFill>
                  <a:srgbClr val="E9EFF6"/>
                </a:solidFill>
                <a:latin typeface="Calibri"/>
              </a:rPr>
              <a:t>Barge-in — run it first</a:t>
            </a:r>
          </a:p>
        </p:txBody>
      </p:sp>
      <p:sp>
        <p:nvSpPr>
          <p:cNvPr id="6" name="Rounded Rectangle 5"/>
          <p:cNvSpPr/>
          <p:nvPr/>
        </p:nvSpPr>
        <p:spPr>
          <a:xfrm>
            <a:off x="640080" y="2798064"/>
            <a:ext cx="859536" cy="292608"/>
          </a:xfrm>
          <a:prstGeom prst="roundRect">
            <a:avLst>
              <a:gd name="adj" fmla="val 40000"/>
            </a:avLst>
          </a:prstGeom>
          <a:noFill/>
          <a:ln w="12700">
            <a:solidFill>
              <a:srgbClr val="FF7A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2862072"/>
            <a:ext cx="859536" cy="219456"/>
          </a:xfrm>
          <a:prstGeom prst="rect">
            <a:avLst/>
          </a:prstGeom>
          <a:noFill/>
        </p:spPr>
        <p:txBody>
          <a:bodyPr wrap="square" lIns="0" tIns="0" rIns="0" bIns="0">
            <a:spAutoFit/>
          </a:bodyPr>
          <a:lstStyle/>
          <a:p>
            <a:pPr algn="ctr">
              <a:spcBef>
                <a:spcPts val="0"/>
              </a:spcBef>
              <a:spcAft>
                <a:spcPts val="0"/>
              </a:spcAft>
            </a:pPr>
            <a:r>
              <a:rPr sz="1000" b="1">
                <a:solidFill>
                  <a:srgbClr val="FF7A6B"/>
                </a:solidFill>
                <a:latin typeface="Calibri"/>
              </a:rPr>
              <a:t>DO NOT CUT</a:t>
            </a:r>
          </a:p>
        </p:txBody>
      </p:sp>
      <p:sp>
        <p:nvSpPr>
          <p:cNvPr id="8" name="TextBox 7"/>
          <p:cNvSpPr txBox="1"/>
          <p:nvPr/>
        </p:nvSpPr>
        <p:spPr>
          <a:xfrm>
            <a:off x="640080" y="3255264"/>
            <a:ext cx="5394960" cy="914400"/>
          </a:xfrm>
          <a:prstGeom prst="rect">
            <a:avLst/>
          </a:prstGeom>
          <a:noFill/>
        </p:spPr>
        <p:txBody>
          <a:bodyPr wrap="square" lIns="0" tIns="0" rIns="0" bIns="0">
            <a:spAutoFit/>
          </a:bodyPr>
          <a:lstStyle/>
          <a:p>
            <a:pPr algn="l">
              <a:lnSpc>
                <a:spcPct val="130000"/>
              </a:lnSpc>
              <a:spcBef>
                <a:spcPts val="0"/>
              </a:spcBef>
              <a:spcAft>
                <a:spcPts val="0"/>
              </a:spcAft>
            </a:pPr>
            <a:r>
              <a:rPr sz="1500" b="0">
                <a:solidFill>
                  <a:srgbClr val="93A4B7"/>
                </a:solidFill>
                <a:latin typeface="Calibri"/>
              </a:rPr>
              <a:t>Don't write anything yet. Interrupt it.</a:t>
            </a:r>
          </a:p>
        </p:txBody>
      </p:sp>
      <p:sp>
        <p:nvSpPr>
          <p:cNvPr id="9" name="Rounded Rectangle 8"/>
          <p:cNvSpPr/>
          <p:nvPr/>
        </p:nvSpPr>
        <p:spPr>
          <a:xfrm>
            <a:off x="640080" y="4114800"/>
            <a:ext cx="5394960" cy="582168"/>
          </a:xfrm>
          <a:prstGeom prst="roundRect">
            <a:avLst>
              <a:gd name="adj" fmla="val 3500"/>
            </a:avLst>
          </a:prstGeom>
          <a:solidFill>
            <a:srgbClr val="04070A"/>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59" y="4279392"/>
            <a:ext cx="5029200" cy="216408"/>
          </a:xfrm>
          <a:prstGeom prst="rect">
            <a:avLst/>
          </a:prstGeom>
          <a:noFill/>
        </p:spPr>
        <p:txBody>
          <a:bodyPr wrap="square" lIns="0" tIns="0" rIns="0" bIns="0">
            <a:spAutoFit/>
          </a:bodyPr>
          <a:lstStyle/>
          <a:p>
            <a:pPr algn="l">
              <a:lnSpc>
                <a:spcPct val="118000"/>
              </a:lnSpc>
              <a:spcBef>
                <a:spcPts val="0"/>
              </a:spcBef>
              <a:spcAft>
                <a:spcPts val="0"/>
              </a:spcAft>
            </a:pPr>
            <a:r>
              <a:rPr sz="1200" b="0">
                <a:solidFill>
                  <a:srgbClr val="13EF93"/>
                </a:solidFill>
                <a:latin typeface="Courier New"/>
              </a:rPr>
              <a:t>uv run steps/05-barge-in/main.py</a:t>
            </a:r>
          </a:p>
        </p:txBody>
      </p:sp>
      <p:sp>
        <p:nvSpPr>
          <p:cNvPr id="11" name="TextBox 10"/>
          <p:cNvSpPr txBox="1"/>
          <p:nvPr/>
        </p:nvSpPr>
        <p:spPr>
          <a:xfrm>
            <a:off x="640080" y="4824984"/>
            <a:ext cx="5394960" cy="365760"/>
          </a:xfrm>
          <a:prstGeom prst="rect">
            <a:avLst/>
          </a:prstGeom>
          <a:noFill/>
        </p:spPr>
        <p:txBody>
          <a:bodyPr wrap="square" lIns="0" tIns="0" rIns="0" bIns="0">
            <a:spAutoFit/>
          </a:bodyPr>
          <a:lstStyle/>
          <a:p>
            <a:pPr algn="l">
              <a:lnSpc>
                <a:spcPct val="125000"/>
              </a:lnSpc>
              <a:spcBef>
                <a:spcPts val="0"/>
              </a:spcBef>
              <a:spcAft>
                <a:spcPts val="0"/>
              </a:spcAft>
            </a:pPr>
            <a:r>
              <a:rPr sz="1100" b="0">
                <a:solidFill>
                  <a:srgbClr val="5D6E80"/>
                </a:solidFill>
                <a:latin typeface="Calibri"/>
              </a:rPr>
              <a:t>Then: ask it something open-ended, wait for it to really get going, and talk over it.</a:t>
            </a:r>
          </a:p>
        </p:txBody>
      </p:sp>
      <p:sp>
        <p:nvSpPr>
          <p:cNvPr id="12" name="Rounded Rectangle 11"/>
          <p:cNvSpPr/>
          <p:nvPr/>
        </p:nvSpPr>
        <p:spPr>
          <a:xfrm>
            <a:off x="6400800" y="804672"/>
            <a:ext cx="5151089" cy="2834640"/>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75120" y="1024128"/>
            <a:ext cx="4602449" cy="2377440"/>
          </a:xfrm>
          <a:prstGeom prst="rect">
            <a:avLst/>
          </a:prstGeom>
          <a:noFill/>
        </p:spPr>
        <p:txBody>
          <a:bodyPr wrap="square" lIns="0" tIns="0" rIns="0" bIns="0">
            <a:spAutoFit/>
          </a:bodyPr>
          <a:lstStyle/>
          <a:p>
            <a:pPr algn="l">
              <a:spcBef>
                <a:spcPts val="0"/>
              </a:spcBef>
              <a:spcAft>
                <a:spcPts val="0"/>
              </a:spcAft>
            </a:pPr>
            <a:r>
              <a:rPr sz="1100" b="1">
                <a:solidFill>
                  <a:srgbClr val="13EF93"/>
                </a:solidFill>
                <a:latin typeface="Calibri"/>
              </a:rPr>
              <a:t>WHAT HAPPENS</a:t>
            </a:r>
          </a:p>
          <a:p>
            <a:pPr algn="l">
              <a:lnSpc>
                <a:spcPct val="132000"/>
              </a:lnSpc>
              <a:spcBef>
                <a:spcPts val="1100"/>
              </a:spcBef>
              <a:spcAft>
                <a:spcPts val="0"/>
              </a:spcAft>
            </a:pPr>
            <a:r>
              <a:rPr sz="1350" b="0">
                <a:solidFill>
                  <a:srgbClr val="93A4B7"/>
                </a:solidFill>
                <a:latin typeface="Calibri"/>
              </a:rPr>
              <a:t>It keeps going. Cheerfully, right across you, while the console prints &gt;&gt; UserStartedSpeaking.</a:t>
            </a:r>
          </a:p>
          <a:p>
            <a:pPr algn="l">
              <a:lnSpc>
                <a:spcPct val="132000"/>
              </a:lnSpc>
              <a:spcBef>
                <a:spcPts val="1100"/>
              </a:spcBef>
              <a:spcAft>
                <a:spcPts val="0"/>
              </a:spcAft>
            </a:pPr>
            <a:r>
              <a:rPr sz="1350" b="0">
                <a:solidFill>
                  <a:srgbClr val="93A4B7"/>
                </a:solidFill>
                <a:latin typeface="Calibri"/>
              </a:rPr>
              <a:t>The server knew you had started talking. Your speaker did not care — it still had two seconds of speech in hand, and it played every byte of it.</a:t>
            </a:r>
          </a:p>
          <a:p>
            <a:pPr algn="l">
              <a:lnSpc>
                <a:spcPct val="132000"/>
              </a:lnSpc>
              <a:spcBef>
                <a:spcPts val="1100"/>
              </a:spcBef>
              <a:spcAft>
                <a:spcPts val="0"/>
              </a:spcAft>
            </a:pPr>
            <a:r>
              <a:rPr sz="1350" b="0">
                <a:solidFill>
                  <a:srgbClr val="93A4B7"/>
                </a:solidFill>
                <a:latin typeface="Calibri"/>
              </a:rPr>
              <a:t>That gap between what the server knows and what your ears get is the whole step.</a:t>
            </a:r>
          </a:p>
        </p:txBody>
      </p:sp>
      <p:sp>
        <p:nvSpPr>
          <p:cNvPr id="14" name="Rounded Rectangle 13"/>
          <p:cNvSpPr/>
          <p:nvPr/>
        </p:nvSpPr>
        <p:spPr>
          <a:xfrm>
            <a:off x="640080" y="5541264"/>
            <a:ext cx="10911809" cy="694944"/>
          </a:xfrm>
          <a:prstGeom prst="roundRect">
            <a:avLst>
              <a:gd name="adj" fmla="val 3500"/>
            </a:avLst>
          </a:prstGeom>
          <a:solidFill>
            <a:srgbClr val="2A1F0D"/>
          </a:solidFill>
          <a:ln w="12700">
            <a:solidFill>
              <a:srgbClr val="FFB4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914400" y="5788151"/>
            <a:ext cx="60350" cy="201168"/>
          </a:xfrm>
          <a:prstGeom prst="roundRect">
            <a:avLst>
              <a:gd name="adj" fmla="val 40000"/>
            </a:avLst>
          </a:prstGeom>
          <a:solidFill>
            <a:srgbClr val="FF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1035100" y="5788151"/>
            <a:ext cx="60350" cy="201168"/>
          </a:xfrm>
          <a:prstGeom prst="roundRect">
            <a:avLst>
              <a:gd name="adj" fmla="val 40000"/>
            </a:avLst>
          </a:prstGeom>
          <a:solidFill>
            <a:srgbClr val="FF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508760" y="5669279"/>
            <a:ext cx="9723089" cy="438912"/>
          </a:xfrm>
          <a:prstGeom prst="rect">
            <a:avLst/>
          </a:prstGeom>
          <a:noFill/>
        </p:spPr>
        <p:txBody>
          <a:bodyPr wrap="square" lIns="0" tIns="0" rIns="0" bIns="0">
            <a:spAutoFit/>
          </a:bodyPr>
          <a:lstStyle/>
          <a:p>
            <a:pPr algn="l">
              <a:spcBef>
                <a:spcPts val="0"/>
              </a:spcBef>
              <a:spcAft>
                <a:spcPts val="0"/>
              </a:spcAft>
            </a:pPr>
            <a:r>
              <a:rPr sz="950" b="1">
                <a:solidFill>
                  <a:srgbClr val="FFB454"/>
                </a:solidFill>
                <a:latin typeface="Calibri"/>
              </a:rPr>
              <a:t>BEFORE WE MOVE ON</a:t>
            </a:r>
          </a:p>
          <a:p>
            <a:pPr algn="l">
              <a:spcBef>
                <a:spcPts val="300"/>
              </a:spcBef>
              <a:spcAft>
                <a:spcPts val="0"/>
              </a:spcAft>
            </a:pPr>
            <a:r>
              <a:rPr sz="1400" b="1">
                <a:solidFill>
                  <a:srgbClr val="E9EFF6"/>
                </a:solidFill>
                <a:latin typeface="Calibri"/>
              </a:rPr>
              <a:t>Everyone experiences the bug before fixing it.</a:t>
            </a:r>
          </a:p>
        </p:txBody>
      </p:sp>
      <p:sp>
        <p:nvSpPr>
          <p:cNvPr id="18" name="Rounded Rectangle 17"/>
          <p:cNvSpPr/>
          <p:nvPr/>
        </p:nvSpPr>
        <p:spPr>
          <a:xfrm>
            <a:off x="640080" y="6428232"/>
            <a:ext cx="137160" cy="137160"/>
          </a:xfrm>
          <a:prstGeom prst="roundRect">
            <a:avLst>
              <a:gd name="adj" fmla="val 30000"/>
            </a:avLst>
          </a:prstGeom>
          <a:solidFill>
            <a:srgbClr val="0D6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68680" y="6428232"/>
            <a:ext cx="137160" cy="137160"/>
          </a:xfrm>
          <a:prstGeom prst="roundRect">
            <a:avLst>
              <a:gd name="adj" fmla="val 30000"/>
            </a:avLst>
          </a:prstGeom>
          <a:solidFill>
            <a:srgbClr val="0D6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1097280" y="6428232"/>
            <a:ext cx="137160" cy="137160"/>
          </a:xfrm>
          <a:prstGeom prst="roundRect">
            <a:avLst>
              <a:gd name="adj" fmla="val 30000"/>
            </a:avLst>
          </a:prstGeom>
          <a:solidFill>
            <a:srgbClr val="0D6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1325880" y="6428232"/>
            <a:ext cx="137160" cy="137160"/>
          </a:xfrm>
          <a:prstGeom prst="roundRect">
            <a:avLst>
              <a:gd name="adj" fmla="val 30000"/>
            </a:avLst>
          </a:prstGeom>
          <a:solidFill>
            <a:srgbClr val="0D6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1554480" y="6428232"/>
            <a:ext cx="137160" cy="137160"/>
          </a:xfrm>
          <a:prstGeom prst="roundRect">
            <a:avLst>
              <a:gd name="adj" fmla="val 30000"/>
            </a:avLst>
          </a:prstGeom>
          <a:solidFill>
            <a:srgbClr val="13EF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1783080" y="6428232"/>
            <a:ext cx="137160" cy="137160"/>
          </a:xfrm>
          <a:prstGeom prst="roundRect">
            <a:avLst>
              <a:gd name="adj" fmla="val 30000"/>
            </a:avLst>
          </a:prstGeom>
          <a:no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2011680" y="6428232"/>
            <a:ext cx="137160" cy="137160"/>
          </a:xfrm>
          <a:prstGeom prst="roundRect">
            <a:avLst>
              <a:gd name="adj" fmla="val 30000"/>
            </a:avLst>
          </a:prstGeom>
          <a:no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2240280" y="6428232"/>
            <a:ext cx="137160" cy="137160"/>
          </a:xfrm>
          <a:prstGeom prst="roundRect">
            <a:avLst>
              <a:gd name="adj" fmla="val 30000"/>
            </a:avLst>
          </a:prstGeom>
          <a:no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578608" y="6391656"/>
            <a:ext cx="3108960" cy="256032"/>
          </a:xfrm>
          <a:prstGeom prst="rect">
            <a:avLst/>
          </a:prstGeom>
          <a:noFill/>
        </p:spPr>
        <p:txBody>
          <a:bodyPr wrap="square" lIns="0" tIns="0" rIns="0" bIns="0">
            <a:spAutoFit/>
          </a:bodyPr>
          <a:lstStyle/>
          <a:p>
            <a:pPr algn="l">
              <a:spcBef>
                <a:spcPts val="0"/>
              </a:spcBef>
              <a:spcAft>
                <a:spcPts val="0"/>
              </a:spcAft>
            </a:pPr>
            <a:r>
              <a:rPr sz="950" b="0">
                <a:solidFill>
                  <a:srgbClr val="5D6E80"/>
                </a:solidFill>
                <a:latin typeface="Calibri"/>
              </a:rPr>
              <a:t>STEP 5 OF 8</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70B10"/>
        </a:solidFill>
        <a:effectLst/>
      </p:bgPr>
    </p:bg>
    <p:spTree>
      <p:nvGrpSpPr>
        <p:cNvPr id="1" name=""/>
        <p:cNvGrpSpPr/>
        <p:nvPr/>
      </p:nvGrpSpPr>
      <p:grpSpPr>
        <a:xfrm>
          <a:off x="0" y="0"/>
          <a:ext cx="0" cy="0"/>
          <a:chOff x="0" y="0"/>
          <a:chExt cx="0" cy="0"/>
        </a:xfrm>
      </p:grpSpPr>
      <p:sp>
        <p:nvSpPr>
          <p:cNvPr id="2" name="TextBox 1"/>
          <p:cNvSpPr txBox="1"/>
          <p:nvPr/>
        </p:nvSpPr>
        <p:spPr>
          <a:xfrm>
            <a:off x="640080" y="475488"/>
            <a:ext cx="10911809" cy="548640"/>
          </a:xfrm>
          <a:prstGeom prst="rect">
            <a:avLst/>
          </a:prstGeom>
          <a:noFill/>
        </p:spPr>
        <p:txBody>
          <a:bodyPr wrap="square" lIns="0" tIns="0" rIns="0" bIns="0">
            <a:spAutoFit/>
          </a:bodyPr>
          <a:lstStyle/>
          <a:p>
            <a:pPr algn="l">
              <a:spcBef>
                <a:spcPts val="0"/>
              </a:spcBef>
              <a:spcAft>
                <a:spcPts val="0"/>
              </a:spcAft>
            </a:pPr>
            <a:r>
              <a:rPr sz="3100" b="1">
                <a:solidFill>
                  <a:srgbClr val="E9EFF6"/>
                </a:solidFill>
                <a:latin typeface="Calibri"/>
              </a:rPr>
              <a:t>Two queues sit between the agent and your ears</a:t>
            </a:r>
          </a:p>
        </p:txBody>
      </p:sp>
      <p:sp>
        <p:nvSpPr>
          <p:cNvPr id="3" name="TextBox 2"/>
          <p:cNvSpPr txBox="1"/>
          <p:nvPr/>
        </p:nvSpPr>
        <p:spPr>
          <a:xfrm>
            <a:off x="640080" y="1188720"/>
            <a:ext cx="9692640" cy="548640"/>
          </a:xfrm>
          <a:prstGeom prst="rect">
            <a:avLst/>
          </a:prstGeom>
          <a:noFill/>
        </p:spPr>
        <p:txBody>
          <a:bodyPr wrap="square" lIns="0" tIns="0" rIns="0" bIns="0">
            <a:spAutoFit/>
          </a:bodyPr>
          <a:lstStyle/>
          <a:p>
            <a:pPr algn="l">
              <a:lnSpc>
                <a:spcPct val="128000"/>
              </a:lnSpc>
              <a:spcBef>
                <a:spcPts val="0"/>
              </a:spcBef>
              <a:spcAft>
                <a:spcPts val="0"/>
              </a:spcAft>
            </a:pPr>
            <a:r>
              <a:rPr sz="1450" b="0">
                <a:solidFill>
                  <a:srgbClr val="93A4B7"/>
                </a:solidFill>
                <a:latin typeface="Calibri"/>
              </a:rPr>
              <a:t>Clearing only one leaves the bug in place — the pump simply refills it.</a:t>
            </a:r>
          </a:p>
        </p:txBody>
      </p:sp>
      <p:sp>
        <p:nvSpPr>
          <p:cNvPr id="4" name="Rounded Rectangle 3"/>
          <p:cNvSpPr/>
          <p:nvPr/>
        </p:nvSpPr>
        <p:spPr>
          <a:xfrm>
            <a:off x="640080" y="1956816"/>
            <a:ext cx="2385052" cy="1335024"/>
          </a:xfrm>
          <a:prstGeom prst="roundRect">
            <a:avLst>
              <a:gd name="adj" fmla="val 3500"/>
            </a:avLst>
          </a:prstGeom>
          <a:no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59" y="2468880"/>
            <a:ext cx="2019292" cy="822960"/>
          </a:xfrm>
          <a:prstGeom prst="rect">
            <a:avLst/>
          </a:prstGeom>
          <a:noFill/>
        </p:spPr>
        <p:txBody>
          <a:bodyPr wrap="square" lIns="0" tIns="0" rIns="0" bIns="0">
            <a:spAutoFit/>
          </a:bodyPr>
          <a:lstStyle/>
          <a:p>
            <a:pPr algn="l">
              <a:lnSpc>
                <a:spcPct val="116000"/>
              </a:lnSpc>
              <a:spcBef>
                <a:spcPts val="0"/>
              </a:spcBef>
              <a:spcAft>
                <a:spcPts val="0"/>
              </a:spcAft>
            </a:pPr>
            <a:r>
              <a:rPr sz="1400" b="1">
                <a:solidFill>
                  <a:srgbClr val="93A4B7"/>
                </a:solidFill>
                <a:latin typeface="Calibri"/>
              </a:rPr>
              <a:t>Deepgram</a:t>
            </a:r>
          </a:p>
        </p:txBody>
      </p:sp>
      <p:sp>
        <p:nvSpPr>
          <p:cNvPr id="6" name="Rectangle 5"/>
          <p:cNvSpPr/>
          <p:nvPr/>
        </p:nvSpPr>
        <p:spPr>
          <a:xfrm>
            <a:off x="3107428" y="2606040"/>
            <a:ext cx="292608" cy="41148"/>
          </a:xfrm>
          <a:prstGeom prst="rect">
            <a:avLst/>
          </a:prstGeom>
          <a:solidFill>
            <a:srgbClr val="0D6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3482332" y="1956816"/>
            <a:ext cx="2385052" cy="1335024"/>
          </a:xfrm>
          <a:prstGeom prst="roundRect">
            <a:avLst>
              <a:gd name="adj" fmla="val 3500"/>
            </a:avLst>
          </a:prstGeom>
          <a:solidFill>
            <a:srgbClr val="111A24"/>
          </a:solidFill>
          <a:ln w="12700">
            <a:solidFill>
              <a:srgbClr val="0D6B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65212" y="2267712"/>
            <a:ext cx="2019292" cy="822960"/>
          </a:xfrm>
          <a:prstGeom prst="rect">
            <a:avLst/>
          </a:prstGeom>
          <a:noFill/>
        </p:spPr>
        <p:txBody>
          <a:bodyPr wrap="square" lIns="0" tIns="0" rIns="0" bIns="0">
            <a:spAutoFit/>
          </a:bodyPr>
          <a:lstStyle/>
          <a:p>
            <a:pPr algn="l">
              <a:lnSpc>
                <a:spcPct val="116000"/>
              </a:lnSpc>
              <a:spcBef>
                <a:spcPts val="0"/>
              </a:spcBef>
              <a:spcAft>
                <a:spcPts val="0"/>
              </a:spcAft>
            </a:pPr>
            <a:r>
              <a:rPr sz="1500" b="1">
                <a:solidFill>
                  <a:srgbClr val="E9EFF6"/>
                </a:solidFill>
                <a:latin typeface="Calibri"/>
              </a:rPr>
              <a:t>queue in Python</a:t>
            </a:r>
          </a:p>
          <a:p>
            <a:pPr algn="l">
              <a:lnSpc>
                <a:spcPct val="120000"/>
              </a:lnSpc>
              <a:spcBef>
                <a:spcPts val="600"/>
              </a:spcBef>
              <a:spcAft>
                <a:spcPts val="0"/>
              </a:spcAft>
            </a:pPr>
            <a:r>
              <a:rPr sz="1050" b="0">
                <a:solidFill>
                  <a:srgbClr val="93A4B7"/>
                </a:solidFill>
                <a:latin typeface="Courier New"/>
              </a:rPr>
              <a:t>Outbox · web/audio.py</a:t>
            </a:r>
          </a:p>
        </p:txBody>
      </p:sp>
      <p:sp>
        <p:nvSpPr>
          <p:cNvPr id="9" name="Rectangle 8"/>
          <p:cNvSpPr/>
          <p:nvPr/>
        </p:nvSpPr>
        <p:spPr>
          <a:xfrm>
            <a:off x="5949680" y="2606040"/>
            <a:ext cx="292608" cy="41148"/>
          </a:xfrm>
          <a:prstGeom prst="rect">
            <a:avLst/>
          </a:prstGeom>
          <a:solidFill>
            <a:srgbClr val="0D6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324584" y="1956816"/>
            <a:ext cx="2385052" cy="1335024"/>
          </a:xfrm>
          <a:prstGeom prst="roundRect">
            <a:avLst>
              <a:gd name="adj" fmla="val 3500"/>
            </a:avLst>
          </a:prstGeom>
          <a:solidFill>
            <a:srgbClr val="111A24"/>
          </a:solidFill>
          <a:ln w="12700">
            <a:solidFill>
              <a:srgbClr val="0D6B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07464" y="2267712"/>
            <a:ext cx="2019292" cy="822960"/>
          </a:xfrm>
          <a:prstGeom prst="rect">
            <a:avLst/>
          </a:prstGeom>
          <a:noFill/>
        </p:spPr>
        <p:txBody>
          <a:bodyPr wrap="square" lIns="0" tIns="0" rIns="0" bIns="0">
            <a:spAutoFit/>
          </a:bodyPr>
          <a:lstStyle/>
          <a:p>
            <a:pPr algn="l">
              <a:lnSpc>
                <a:spcPct val="116000"/>
              </a:lnSpc>
              <a:spcBef>
                <a:spcPts val="0"/>
              </a:spcBef>
              <a:spcAft>
                <a:spcPts val="0"/>
              </a:spcAft>
            </a:pPr>
            <a:r>
              <a:rPr sz="1500" b="1">
                <a:solidFill>
                  <a:srgbClr val="E9EFF6"/>
                </a:solidFill>
                <a:latin typeface="Calibri"/>
              </a:rPr>
              <a:t>queue in the browser</a:t>
            </a:r>
          </a:p>
          <a:p>
            <a:pPr algn="l">
              <a:lnSpc>
                <a:spcPct val="120000"/>
              </a:lnSpc>
              <a:spcBef>
                <a:spcPts val="600"/>
              </a:spcBef>
              <a:spcAft>
                <a:spcPts val="0"/>
              </a:spcAft>
            </a:pPr>
            <a:r>
              <a:rPr sz="1050" b="0">
                <a:solidFill>
                  <a:srgbClr val="93A4B7"/>
                </a:solidFill>
                <a:latin typeface="Courier New"/>
              </a:rPr>
              <a:t>PlaybackProcessor · worklets.js</a:t>
            </a:r>
          </a:p>
        </p:txBody>
      </p:sp>
      <p:sp>
        <p:nvSpPr>
          <p:cNvPr id="12" name="Rectangle 11"/>
          <p:cNvSpPr/>
          <p:nvPr/>
        </p:nvSpPr>
        <p:spPr>
          <a:xfrm>
            <a:off x="8791933" y="2606040"/>
            <a:ext cx="292608" cy="41148"/>
          </a:xfrm>
          <a:prstGeom prst="rect">
            <a:avLst/>
          </a:prstGeom>
          <a:solidFill>
            <a:srgbClr val="0D6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9166837" y="1956816"/>
            <a:ext cx="2385052" cy="1335024"/>
          </a:xfrm>
          <a:prstGeom prst="roundRect">
            <a:avLst>
              <a:gd name="adj" fmla="val 3500"/>
            </a:avLst>
          </a:prstGeom>
          <a:no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349717" y="2468880"/>
            <a:ext cx="2019292" cy="822960"/>
          </a:xfrm>
          <a:prstGeom prst="rect">
            <a:avLst/>
          </a:prstGeom>
          <a:noFill/>
        </p:spPr>
        <p:txBody>
          <a:bodyPr wrap="square" lIns="0" tIns="0" rIns="0" bIns="0">
            <a:spAutoFit/>
          </a:bodyPr>
          <a:lstStyle/>
          <a:p>
            <a:pPr algn="l">
              <a:lnSpc>
                <a:spcPct val="116000"/>
              </a:lnSpc>
              <a:spcBef>
                <a:spcPts val="0"/>
              </a:spcBef>
              <a:spcAft>
                <a:spcPts val="0"/>
              </a:spcAft>
            </a:pPr>
            <a:r>
              <a:rPr sz="1400" b="1">
                <a:solidFill>
                  <a:srgbClr val="93A4B7"/>
                </a:solidFill>
                <a:latin typeface="Calibri"/>
              </a:rPr>
              <a:t>your ears</a:t>
            </a:r>
          </a:p>
        </p:txBody>
      </p:sp>
      <p:sp>
        <p:nvSpPr>
          <p:cNvPr id="15" name="TextBox 14"/>
          <p:cNvSpPr txBox="1"/>
          <p:nvPr/>
        </p:nvSpPr>
        <p:spPr>
          <a:xfrm>
            <a:off x="640080" y="3438144"/>
            <a:ext cx="10911809" cy="274320"/>
          </a:xfrm>
          <a:prstGeom prst="rect">
            <a:avLst/>
          </a:prstGeom>
          <a:noFill/>
        </p:spPr>
        <p:txBody>
          <a:bodyPr wrap="square" lIns="0" tIns="0" rIns="0" bIns="0">
            <a:spAutoFit/>
          </a:bodyPr>
          <a:lstStyle/>
          <a:p>
            <a:pPr algn="l">
              <a:spcBef>
                <a:spcPts val="0"/>
              </a:spcBef>
              <a:spcAft>
                <a:spcPts val="0"/>
              </a:spcAft>
            </a:pPr>
            <a:r>
              <a:rPr sz="1050" b="1">
                <a:solidFill>
                  <a:srgbClr val="FFB454"/>
                </a:solidFill>
                <a:latin typeface="Calibri"/>
              </a:rPr>
              <a:t>CLEAR THIS ONE FIRST  ↓</a:t>
            </a:r>
          </a:p>
        </p:txBody>
      </p:sp>
      <p:sp>
        <p:nvSpPr>
          <p:cNvPr id="16" name="Rounded Rectangle 15"/>
          <p:cNvSpPr/>
          <p:nvPr/>
        </p:nvSpPr>
        <p:spPr>
          <a:xfrm>
            <a:off x="640080" y="3803904"/>
            <a:ext cx="5852160" cy="834644"/>
          </a:xfrm>
          <a:prstGeom prst="roundRect">
            <a:avLst>
              <a:gd name="adj" fmla="val 3500"/>
            </a:avLst>
          </a:prstGeom>
          <a:solidFill>
            <a:srgbClr val="04070A"/>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59" y="3968496"/>
            <a:ext cx="5486400" cy="468884"/>
          </a:xfrm>
          <a:prstGeom prst="rect">
            <a:avLst/>
          </a:prstGeom>
          <a:noFill/>
        </p:spPr>
        <p:txBody>
          <a:bodyPr wrap="square" lIns="0" tIns="0" rIns="0" bIns="0">
            <a:spAutoFit/>
          </a:bodyPr>
          <a:lstStyle/>
          <a:p>
            <a:pPr algn="l">
              <a:lnSpc>
                <a:spcPct val="118000"/>
              </a:lnSpc>
              <a:spcBef>
                <a:spcPts val="0"/>
              </a:spcBef>
              <a:spcAft>
                <a:spcPts val="0"/>
              </a:spcAft>
            </a:pPr>
            <a:r>
              <a:rPr sz="1300" b="0">
                <a:solidFill>
                  <a:srgbClr val="E9EFF6"/>
                </a:solidFill>
                <a:latin typeface="Courier New"/>
              </a:rPr>
              <a:t>elif message_type == "UserStartedSpeaking":</a:t>
            </a:r>
          </a:p>
          <a:p>
            <a:pPr algn="l">
              <a:lnSpc>
                <a:spcPct val="118000"/>
              </a:lnSpc>
              <a:spcBef>
                <a:spcPts val="0"/>
              </a:spcBef>
              <a:spcAft>
                <a:spcPts val="0"/>
              </a:spcAft>
            </a:pPr>
            <a:r>
              <a:rPr sz="1300" b="0">
                <a:solidFill>
                  <a:srgbClr val="13EF93"/>
                </a:solidFill>
                <a:latin typeface="Courier New"/>
              </a:rPr>
              <a:t>    player.clear()</a:t>
            </a:r>
          </a:p>
        </p:txBody>
      </p:sp>
      <p:sp>
        <p:nvSpPr>
          <p:cNvPr id="18" name="Rounded Rectangle 17"/>
          <p:cNvSpPr/>
          <p:nvPr/>
        </p:nvSpPr>
        <p:spPr>
          <a:xfrm>
            <a:off x="6858000" y="3803904"/>
            <a:ext cx="4693889" cy="1536192"/>
          </a:xfrm>
          <a:prstGeom prst="roundRect">
            <a:avLst>
              <a:gd name="adj" fmla="val 3500"/>
            </a:avLst>
          </a:prstGeom>
          <a:solidFill>
            <a:srgbClr val="17222E"/>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132320" y="3968496"/>
            <a:ext cx="4145249" cy="1225296"/>
          </a:xfrm>
          <a:prstGeom prst="rect">
            <a:avLst/>
          </a:prstGeom>
          <a:noFill/>
        </p:spPr>
        <p:txBody>
          <a:bodyPr wrap="square" lIns="0" tIns="0" rIns="0" bIns="0">
            <a:spAutoFit/>
          </a:bodyPr>
          <a:lstStyle/>
          <a:p>
            <a:pPr algn="l">
              <a:spcBef>
                <a:spcPts val="0"/>
              </a:spcBef>
              <a:spcAft>
                <a:spcPts val="0"/>
              </a:spcAft>
            </a:pPr>
            <a:r>
              <a:rPr sz="1350" b="1">
                <a:solidFill>
                  <a:srgbClr val="E9EFF6"/>
                </a:solidFill>
                <a:latin typeface="Calibri"/>
              </a:rPr>
              <a:t>clear() drops the Python side first,</a:t>
            </a:r>
          </a:p>
          <a:p>
            <a:pPr algn="l">
              <a:lnSpc>
                <a:spcPct val="126000"/>
              </a:lnSpc>
              <a:spcBef>
                <a:spcPts val="400"/>
              </a:spcBef>
              <a:spcAft>
                <a:spcPts val="0"/>
              </a:spcAft>
            </a:pPr>
            <a:r>
              <a:rPr sz="1200" b="0">
                <a:solidFill>
                  <a:srgbClr val="93A4B7"/>
                </a:solidFill>
                <a:latin typeface="Calibri"/>
              </a:rPr>
              <a:t>then tells the browser to flush. Both go through call_soon_threadsafe, which is FIFO, so that ordering holds. This is why Outbox is a deque and not a Queue — you cannot selectively drop from a queue.</a:t>
            </a:r>
          </a:p>
        </p:txBody>
      </p:sp>
      <p:sp>
        <p:nvSpPr>
          <p:cNvPr id="20" name="TextBox 19"/>
          <p:cNvSpPr txBox="1"/>
          <p:nvPr/>
        </p:nvSpPr>
        <p:spPr>
          <a:xfrm>
            <a:off x="640080" y="5559552"/>
            <a:ext cx="10911809" cy="457200"/>
          </a:xfrm>
          <a:prstGeom prst="rect">
            <a:avLst/>
          </a:prstGeom>
          <a:noFill/>
        </p:spPr>
        <p:txBody>
          <a:bodyPr wrap="square" lIns="0" tIns="0" rIns="0" bIns="0">
            <a:spAutoFit/>
          </a:bodyPr>
          <a:lstStyle/>
          <a:p>
            <a:pPr algn="l">
              <a:lnSpc>
                <a:spcPct val="125000"/>
              </a:lnSpc>
              <a:spcBef>
                <a:spcPts val="0"/>
              </a:spcBef>
              <a:spcAft>
                <a:spcPts val="0"/>
              </a:spcAft>
            </a:pPr>
            <a:r>
              <a:rPr sz="1300" b="0">
                <a:solidFill>
                  <a:srgbClr val="FFB454"/>
                </a:solidFill>
                <a:latin typeface="Calibri"/>
              </a:rPr>
              <a:t>Get the order backwards and the agent talks over the user a moment later instead of immediately. That is worse than not fixing it, because it looks like it nearly works.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70B10"/>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5669280" cy="274320"/>
          </a:xfrm>
          <a:prstGeom prst="rect">
            <a:avLst/>
          </a:prstGeom>
          <a:noFill/>
        </p:spPr>
        <p:txBody>
          <a:bodyPr wrap="square" lIns="0" tIns="0" rIns="0" bIns="0">
            <a:spAutoFit/>
          </a:bodyPr>
          <a:lstStyle/>
          <a:p>
            <a:pPr algn="l">
              <a:spcBef>
                <a:spcPts val="0"/>
              </a:spcBef>
              <a:spcAft>
                <a:spcPts val="0"/>
              </a:spcAft>
            </a:pPr>
            <a:r>
              <a:rPr sz="1300" b="1">
                <a:solidFill>
                  <a:srgbClr val="13EF93"/>
                </a:solidFill>
                <a:latin typeface="Calibri"/>
              </a:rPr>
              <a:t>2:15   ·   20 MIN</a:t>
            </a:r>
          </a:p>
        </p:txBody>
      </p:sp>
      <p:sp>
        <p:nvSpPr>
          <p:cNvPr id="3" name="TextBox 2"/>
          <p:cNvSpPr txBox="1"/>
          <p:nvPr/>
        </p:nvSpPr>
        <p:spPr>
          <a:xfrm>
            <a:off x="6400800" y="457200"/>
            <a:ext cx="5151089" cy="274320"/>
          </a:xfrm>
          <a:prstGeom prst="rect">
            <a:avLst/>
          </a:prstGeom>
          <a:noFill/>
        </p:spPr>
        <p:txBody>
          <a:bodyPr wrap="square" lIns="0" tIns="0" rIns="0" bIns="0">
            <a:spAutoFit/>
          </a:bodyPr>
          <a:lstStyle/>
          <a:p>
            <a:pPr algn="r">
              <a:spcBef>
                <a:spcPts val="0"/>
              </a:spcBef>
              <a:spcAft>
                <a:spcPts val="0"/>
              </a:spcAft>
            </a:pPr>
            <a:r>
              <a:rPr sz="1100" b="1">
                <a:solidFill>
                  <a:srgbClr val="5D6E80"/>
                </a:solidFill>
                <a:latin typeface="Calibri"/>
              </a:rPr>
              <a:t>EASY MODE — LAB 4</a:t>
            </a:r>
          </a:p>
        </p:txBody>
      </p:sp>
      <p:sp>
        <p:nvSpPr>
          <p:cNvPr id="4" name="TextBox 3"/>
          <p:cNvSpPr txBox="1"/>
          <p:nvPr/>
        </p:nvSpPr>
        <p:spPr>
          <a:xfrm>
            <a:off x="585215" y="804672"/>
            <a:ext cx="2743200" cy="1371600"/>
          </a:xfrm>
          <a:prstGeom prst="rect">
            <a:avLst/>
          </a:prstGeom>
          <a:noFill/>
        </p:spPr>
        <p:txBody>
          <a:bodyPr wrap="square" lIns="0" tIns="0" rIns="0" bIns="0">
            <a:spAutoFit/>
          </a:bodyPr>
          <a:lstStyle/>
          <a:p>
            <a:pPr algn="l">
              <a:spcBef>
                <a:spcPts val="0"/>
              </a:spcBef>
              <a:spcAft>
                <a:spcPts val="0"/>
              </a:spcAft>
            </a:pPr>
            <a:r>
              <a:rPr sz="9600" b="1">
                <a:solidFill>
                  <a:srgbClr val="0D6B49"/>
                </a:solidFill>
                <a:latin typeface="Calibri"/>
              </a:rPr>
              <a:t>06</a:t>
            </a:r>
          </a:p>
        </p:txBody>
      </p:sp>
      <p:sp>
        <p:nvSpPr>
          <p:cNvPr id="5" name="TextBox 4"/>
          <p:cNvSpPr txBox="1"/>
          <p:nvPr/>
        </p:nvSpPr>
        <p:spPr>
          <a:xfrm>
            <a:off x="640080" y="2084831"/>
            <a:ext cx="5577840" cy="603504"/>
          </a:xfrm>
          <a:prstGeom prst="rect">
            <a:avLst/>
          </a:prstGeom>
          <a:noFill/>
        </p:spPr>
        <p:txBody>
          <a:bodyPr wrap="square" lIns="0" tIns="0" rIns="0" bIns="0">
            <a:spAutoFit/>
          </a:bodyPr>
          <a:lstStyle/>
          <a:p>
            <a:pPr algn="l">
              <a:spcBef>
                <a:spcPts val="0"/>
              </a:spcBef>
              <a:spcAft>
                <a:spcPts val="0"/>
              </a:spcAft>
            </a:pPr>
            <a:r>
              <a:rPr sz="3700" b="1">
                <a:solidFill>
                  <a:srgbClr val="E9EFF6"/>
                </a:solidFill>
                <a:latin typeface="Calibri"/>
              </a:rPr>
              <a:t>Make it yours</a:t>
            </a:r>
          </a:p>
        </p:txBody>
      </p:sp>
      <p:sp>
        <p:nvSpPr>
          <p:cNvPr id="6" name="TextBox 5"/>
          <p:cNvSpPr txBox="1"/>
          <p:nvPr/>
        </p:nvSpPr>
        <p:spPr>
          <a:xfrm>
            <a:off x="640080" y="2871216"/>
            <a:ext cx="5394960" cy="914400"/>
          </a:xfrm>
          <a:prstGeom prst="rect">
            <a:avLst/>
          </a:prstGeom>
          <a:noFill/>
        </p:spPr>
        <p:txBody>
          <a:bodyPr wrap="square" lIns="0" tIns="0" rIns="0" bIns="0">
            <a:spAutoFit/>
          </a:bodyPr>
          <a:lstStyle/>
          <a:p>
            <a:pPr algn="l">
              <a:lnSpc>
                <a:spcPct val="130000"/>
              </a:lnSpc>
              <a:spcBef>
                <a:spcPts val="0"/>
              </a:spcBef>
              <a:spcAft>
                <a:spcPts val="0"/>
              </a:spcAft>
            </a:pPr>
            <a:r>
              <a:rPr sz="1500" b="0">
                <a:solidFill>
                  <a:srgbClr val="93A4B7"/>
                </a:solidFill>
                <a:latin typeface="Calibri"/>
              </a:rPr>
              <a:t>The least code in the workshop and the most to play with. Four fields, and only one of them changes what the agent says.</a:t>
            </a:r>
          </a:p>
        </p:txBody>
      </p:sp>
      <p:sp>
        <p:nvSpPr>
          <p:cNvPr id="7" name="Rounded Rectangle 6"/>
          <p:cNvSpPr/>
          <p:nvPr/>
        </p:nvSpPr>
        <p:spPr>
          <a:xfrm>
            <a:off x="640080" y="3858768"/>
            <a:ext cx="5394960" cy="582168"/>
          </a:xfrm>
          <a:prstGeom prst="roundRect">
            <a:avLst>
              <a:gd name="adj" fmla="val 3500"/>
            </a:avLst>
          </a:prstGeom>
          <a:solidFill>
            <a:srgbClr val="04070A"/>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59" y="4023360"/>
            <a:ext cx="5029200" cy="216408"/>
          </a:xfrm>
          <a:prstGeom prst="rect">
            <a:avLst/>
          </a:prstGeom>
          <a:noFill/>
        </p:spPr>
        <p:txBody>
          <a:bodyPr wrap="square" lIns="0" tIns="0" rIns="0" bIns="0">
            <a:spAutoFit/>
          </a:bodyPr>
          <a:lstStyle/>
          <a:p>
            <a:pPr algn="l">
              <a:lnSpc>
                <a:spcPct val="118000"/>
              </a:lnSpc>
              <a:spcBef>
                <a:spcPts val="0"/>
              </a:spcBef>
              <a:spcAft>
                <a:spcPts val="0"/>
              </a:spcAft>
            </a:pPr>
            <a:r>
              <a:rPr sz="1200" b="0">
                <a:solidFill>
                  <a:srgbClr val="13EF93"/>
                </a:solidFill>
                <a:latin typeface="Courier New"/>
              </a:rPr>
              <a:t>uv run steps/06-make-it-yours/main.py</a:t>
            </a:r>
          </a:p>
        </p:txBody>
      </p:sp>
      <p:sp>
        <p:nvSpPr>
          <p:cNvPr id="9" name="TextBox 8"/>
          <p:cNvSpPr txBox="1"/>
          <p:nvPr/>
        </p:nvSpPr>
        <p:spPr>
          <a:xfrm>
            <a:off x="640080" y="4568951"/>
            <a:ext cx="5394960" cy="365760"/>
          </a:xfrm>
          <a:prstGeom prst="rect">
            <a:avLst/>
          </a:prstGeom>
          <a:noFill/>
        </p:spPr>
        <p:txBody>
          <a:bodyPr wrap="square" lIns="0" tIns="0" rIns="0" bIns="0">
            <a:spAutoFit/>
          </a:bodyPr>
          <a:lstStyle/>
          <a:p>
            <a:pPr algn="l">
              <a:lnSpc>
                <a:spcPct val="125000"/>
              </a:lnSpc>
              <a:spcBef>
                <a:spcPts val="0"/>
              </a:spcBef>
              <a:spcAft>
                <a:spcPts val="0"/>
              </a:spcAft>
            </a:pPr>
            <a:r>
              <a:rPr sz="1100" b="0">
                <a:solidFill>
                  <a:srgbClr val="5D6E80"/>
                </a:solidFill>
                <a:latin typeface="Calibri"/>
              </a:rPr>
              <a:t>Change one thing at a time and run it again. That is the whole exercise.</a:t>
            </a:r>
          </a:p>
        </p:txBody>
      </p:sp>
      <p:sp>
        <p:nvSpPr>
          <p:cNvPr id="10" name="Rounded Rectangle 9"/>
          <p:cNvSpPr/>
          <p:nvPr/>
        </p:nvSpPr>
        <p:spPr>
          <a:xfrm>
            <a:off x="6400800" y="804672"/>
            <a:ext cx="5151089" cy="3364992"/>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675120" y="1024128"/>
            <a:ext cx="4602449" cy="2907792"/>
          </a:xfrm>
          <a:prstGeom prst="rect">
            <a:avLst/>
          </a:prstGeom>
          <a:noFill/>
        </p:spPr>
        <p:txBody>
          <a:bodyPr wrap="square" lIns="0" tIns="0" rIns="0" bIns="0">
            <a:spAutoFit/>
          </a:bodyPr>
          <a:lstStyle/>
          <a:p>
            <a:pPr algn="l">
              <a:spcBef>
                <a:spcPts val="0"/>
              </a:spcBef>
              <a:spcAft>
                <a:spcPts val="0"/>
              </a:spcAft>
            </a:pPr>
            <a:r>
              <a:rPr sz="1100" b="1">
                <a:solidFill>
                  <a:srgbClr val="13EF93"/>
                </a:solidFill>
                <a:latin typeface="Calibri"/>
              </a:rPr>
              <a:t>FOUR FIELDS</a:t>
            </a:r>
          </a:p>
          <a:p>
            <a:pPr algn="l">
              <a:lnSpc>
                <a:spcPct val="132000"/>
              </a:lnSpc>
              <a:spcBef>
                <a:spcPts val="1100"/>
              </a:spcBef>
              <a:spcAft>
                <a:spcPts val="0"/>
              </a:spcAft>
            </a:pPr>
            <a:r>
              <a:rPr sz="1350" b="0">
                <a:solidFill>
                  <a:srgbClr val="93A4B7"/>
                </a:solidFill>
                <a:latin typeface="Calibri"/>
              </a:rPr>
              <a:t>prompt — personality, job, boundaries. The standing instructions the model sees ahead of every turn.</a:t>
            </a:r>
          </a:p>
          <a:p>
            <a:pPr algn="l">
              <a:lnSpc>
                <a:spcPct val="132000"/>
              </a:lnSpc>
              <a:spcBef>
                <a:spcPts val="1100"/>
              </a:spcBef>
              <a:spcAft>
                <a:spcPts val="0"/>
              </a:spcAft>
            </a:pPr>
            <a:r>
              <a:rPr sz="1350" b="0">
                <a:solidFill>
                  <a:srgbClr val="93A4B7"/>
                </a:solidFill>
                <a:latin typeface="Calibri"/>
              </a:rPr>
              <a:t>speak.provider.model — the voice. Purely how it sounds; it changes nothing about what the agent says.</a:t>
            </a:r>
          </a:p>
          <a:p>
            <a:pPr algn="l">
              <a:lnSpc>
                <a:spcPct val="132000"/>
              </a:lnSpc>
              <a:spcBef>
                <a:spcPts val="1100"/>
              </a:spcBef>
              <a:spcAft>
                <a:spcPts val="0"/>
              </a:spcAft>
            </a:pPr>
            <a:r>
              <a:rPr sz="1350" b="0">
                <a:solidFill>
                  <a:srgbClr val="93A4B7"/>
                </a:solidFill>
                <a:latin typeface="Calibri"/>
              </a:rPr>
              <a:t>greeting — the opening line, and the only thing it says before you speak.</a:t>
            </a:r>
          </a:p>
          <a:p>
            <a:pPr algn="l">
              <a:lnSpc>
                <a:spcPct val="132000"/>
              </a:lnSpc>
              <a:spcBef>
                <a:spcPts val="1100"/>
              </a:spcBef>
              <a:spcAft>
                <a:spcPts val="0"/>
              </a:spcAft>
            </a:pPr>
            <a:r>
              <a:rPr sz="1350" b="0">
                <a:solidFill>
                  <a:srgbClr val="93A4B7"/>
                </a:solidFill>
                <a:latin typeface="Calibri"/>
              </a:rPr>
              <a:t>think.provider.model — the brain, and its temperature.</a:t>
            </a:r>
          </a:p>
        </p:txBody>
      </p:sp>
      <p:sp>
        <p:nvSpPr>
          <p:cNvPr id="12" name="Rounded Rectangle 11"/>
          <p:cNvSpPr/>
          <p:nvPr/>
        </p:nvSpPr>
        <p:spPr>
          <a:xfrm>
            <a:off x="6400800" y="4370832"/>
            <a:ext cx="5151089" cy="640080"/>
          </a:xfrm>
          <a:prstGeom prst="roundRect">
            <a:avLst>
              <a:gd name="adj" fmla="val 3500"/>
            </a:avLst>
          </a:prstGeom>
          <a:solidFill>
            <a:srgbClr val="081F18"/>
          </a:solidFill>
          <a:ln w="12700">
            <a:solidFill>
              <a:srgbClr val="0D6B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75120" y="4507992"/>
            <a:ext cx="4602449" cy="402336"/>
          </a:xfrm>
          <a:prstGeom prst="rect">
            <a:avLst/>
          </a:prstGeom>
          <a:noFill/>
        </p:spPr>
        <p:txBody>
          <a:bodyPr wrap="square" lIns="0" tIns="0" rIns="0" bIns="0">
            <a:spAutoFit/>
          </a:bodyPr>
          <a:lstStyle/>
          <a:p>
            <a:pPr algn="l">
              <a:spcBef>
                <a:spcPts val="0"/>
              </a:spcBef>
              <a:spcAft>
                <a:spcPts val="0"/>
              </a:spcAft>
            </a:pPr>
            <a:r>
              <a:rPr sz="1150" b="1">
                <a:solidFill>
                  <a:srgbClr val="13EF93"/>
                </a:solidFill>
                <a:latin typeface="Calibri"/>
              </a:rPr>
              <a:t>Take-home: Step 6b moves the brain to Amazon Bedrock, in your account. See the appendix.</a:t>
            </a:r>
          </a:p>
        </p:txBody>
      </p:sp>
      <p:sp>
        <p:nvSpPr>
          <p:cNvPr id="14" name="Rounded Rectangle 13"/>
          <p:cNvSpPr/>
          <p:nvPr/>
        </p:nvSpPr>
        <p:spPr>
          <a:xfrm>
            <a:off x="640080" y="5541264"/>
            <a:ext cx="10911809" cy="694944"/>
          </a:xfrm>
          <a:prstGeom prst="roundRect">
            <a:avLst>
              <a:gd name="adj" fmla="val 3500"/>
            </a:avLst>
          </a:prstGeom>
          <a:solidFill>
            <a:srgbClr val="2A1F0D"/>
          </a:solidFill>
          <a:ln w="12700">
            <a:solidFill>
              <a:srgbClr val="FFB4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914400" y="5788151"/>
            <a:ext cx="60350" cy="201168"/>
          </a:xfrm>
          <a:prstGeom prst="roundRect">
            <a:avLst>
              <a:gd name="adj" fmla="val 40000"/>
            </a:avLst>
          </a:prstGeom>
          <a:solidFill>
            <a:srgbClr val="FF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1035100" y="5788151"/>
            <a:ext cx="60350" cy="201168"/>
          </a:xfrm>
          <a:prstGeom prst="roundRect">
            <a:avLst>
              <a:gd name="adj" fmla="val 40000"/>
            </a:avLst>
          </a:prstGeom>
          <a:solidFill>
            <a:srgbClr val="FF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508760" y="5669279"/>
            <a:ext cx="9723089" cy="438912"/>
          </a:xfrm>
          <a:prstGeom prst="rect">
            <a:avLst/>
          </a:prstGeom>
          <a:noFill/>
        </p:spPr>
        <p:txBody>
          <a:bodyPr wrap="square" lIns="0" tIns="0" rIns="0" bIns="0">
            <a:spAutoFit/>
          </a:bodyPr>
          <a:lstStyle/>
          <a:p>
            <a:pPr algn="l">
              <a:spcBef>
                <a:spcPts val="0"/>
              </a:spcBef>
              <a:spcAft>
                <a:spcPts val="0"/>
              </a:spcAft>
            </a:pPr>
            <a:r>
              <a:rPr sz="950" b="1">
                <a:solidFill>
                  <a:srgbClr val="FFB454"/>
                </a:solidFill>
                <a:latin typeface="Calibri"/>
              </a:rPr>
              <a:t>BEFORE WE MOVE ON</a:t>
            </a:r>
          </a:p>
          <a:p>
            <a:pPr algn="l">
              <a:spcBef>
                <a:spcPts val="300"/>
              </a:spcBef>
              <a:spcAft>
                <a:spcPts val="0"/>
              </a:spcAft>
            </a:pPr>
            <a:r>
              <a:rPr sz="1400" b="1">
                <a:solidFill>
                  <a:srgbClr val="E9EFF6"/>
                </a:solidFill>
                <a:latin typeface="Calibri"/>
              </a:rPr>
              <a:t>Go around the room and demo a few.</a:t>
            </a:r>
          </a:p>
        </p:txBody>
      </p:sp>
      <p:sp>
        <p:nvSpPr>
          <p:cNvPr id="18" name="Rounded Rectangle 17"/>
          <p:cNvSpPr/>
          <p:nvPr/>
        </p:nvSpPr>
        <p:spPr>
          <a:xfrm>
            <a:off x="640080" y="6428232"/>
            <a:ext cx="137160" cy="137160"/>
          </a:xfrm>
          <a:prstGeom prst="roundRect">
            <a:avLst>
              <a:gd name="adj" fmla="val 30000"/>
            </a:avLst>
          </a:prstGeom>
          <a:solidFill>
            <a:srgbClr val="0D6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68680" y="6428232"/>
            <a:ext cx="137160" cy="137160"/>
          </a:xfrm>
          <a:prstGeom prst="roundRect">
            <a:avLst>
              <a:gd name="adj" fmla="val 30000"/>
            </a:avLst>
          </a:prstGeom>
          <a:solidFill>
            <a:srgbClr val="0D6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1097280" y="6428232"/>
            <a:ext cx="137160" cy="137160"/>
          </a:xfrm>
          <a:prstGeom prst="roundRect">
            <a:avLst>
              <a:gd name="adj" fmla="val 30000"/>
            </a:avLst>
          </a:prstGeom>
          <a:solidFill>
            <a:srgbClr val="0D6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1325880" y="6428232"/>
            <a:ext cx="137160" cy="137160"/>
          </a:xfrm>
          <a:prstGeom prst="roundRect">
            <a:avLst>
              <a:gd name="adj" fmla="val 30000"/>
            </a:avLst>
          </a:prstGeom>
          <a:solidFill>
            <a:srgbClr val="0D6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1554480" y="6428232"/>
            <a:ext cx="137160" cy="137160"/>
          </a:xfrm>
          <a:prstGeom prst="roundRect">
            <a:avLst>
              <a:gd name="adj" fmla="val 30000"/>
            </a:avLst>
          </a:prstGeom>
          <a:solidFill>
            <a:srgbClr val="0D6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1783080" y="6428232"/>
            <a:ext cx="137160" cy="137160"/>
          </a:xfrm>
          <a:prstGeom prst="roundRect">
            <a:avLst>
              <a:gd name="adj" fmla="val 30000"/>
            </a:avLst>
          </a:prstGeom>
          <a:solidFill>
            <a:srgbClr val="13EF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2011680" y="6428232"/>
            <a:ext cx="137160" cy="137160"/>
          </a:xfrm>
          <a:prstGeom prst="roundRect">
            <a:avLst>
              <a:gd name="adj" fmla="val 30000"/>
            </a:avLst>
          </a:prstGeom>
          <a:no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2240280" y="6428232"/>
            <a:ext cx="137160" cy="137160"/>
          </a:xfrm>
          <a:prstGeom prst="roundRect">
            <a:avLst>
              <a:gd name="adj" fmla="val 30000"/>
            </a:avLst>
          </a:prstGeom>
          <a:no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578608" y="6391656"/>
            <a:ext cx="3108960" cy="256032"/>
          </a:xfrm>
          <a:prstGeom prst="rect">
            <a:avLst/>
          </a:prstGeom>
          <a:noFill/>
        </p:spPr>
        <p:txBody>
          <a:bodyPr wrap="square" lIns="0" tIns="0" rIns="0" bIns="0">
            <a:spAutoFit/>
          </a:bodyPr>
          <a:lstStyle/>
          <a:p>
            <a:pPr algn="l">
              <a:spcBef>
                <a:spcPts val="0"/>
              </a:spcBef>
              <a:spcAft>
                <a:spcPts val="0"/>
              </a:spcAft>
            </a:pPr>
            <a:r>
              <a:rPr sz="950" b="0">
                <a:solidFill>
                  <a:srgbClr val="5D6E80"/>
                </a:solidFill>
                <a:latin typeface="Calibri"/>
              </a:rPr>
              <a:t>STEP 6 OF 8</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70B10"/>
        </a:solidFill>
        <a:effectLst/>
      </p:bgPr>
    </p:bg>
    <p:spTree>
      <p:nvGrpSpPr>
        <p:cNvPr id="1" name=""/>
        <p:cNvGrpSpPr/>
        <p:nvPr/>
      </p:nvGrpSpPr>
      <p:grpSpPr>
        <a:xfrm>
          <a:off x="0" y="0"/>
          <a:ext cx="0" cy="0"/>
          <a:chOff x="0" y="0"/>
          <a:chExt cx="0" cy="0"/>
        </a:xfrm>
      </p:grpSpPr>
      <p:sp>
        <p:nvSpPr>
          <p:cNvPr id="2" name="TextBox 1"/>
          <p:cNvSpPr txBox="1"/>
          <p:nvPr/>
        </p:nvSpPr>
        <p:spPr>
          <a:xfrm>
            <a:off x="640080" y="475488"/>
            <a:ext cx="10911809" cy="548640"/>
          </a:xfrm>
          <a:prstGeom prst="rect">
            <a:avLst/>
          </a:prstGeom>
          <a:noFill/>
        </p:spPr>
        <p:txBody>
          <a:bodyPr wrap="square" lIns="0" tIns="0" rIns="0" bIns="0">
            <a:spAutoFit/>
          </a:bodyPr>
          <a:lstStyle/>
          <a:p>
            <a:pPr algn="l">
              <a:spcBef>
                <a:spcPts val="0"/>
              </a:spcBef>
              <a:spcAft>
                <a:spcPts val="0"/>
              </a:spcAft>
            </a:pPr>
            <a:r>
              <a:rPr sz="3100" b="1">
                <a:solidFill>
                  <a:srgbClr val="E9EFF6"/>
                </a:solidFill>
                <a:latin typeface="Calibri"/>
              </a:rPr>
              <a:t>Writing a prompt for speech</a:t>
            </a:r>
          </a:p>
        </p:txBody>
      </p:sp>
      <p:sp>
        <p:nvSpPr>
          <p:cNvPr id="3" name="TextBox 2"/>
          <p:cNvSpPr txBox="1"/>
          <p:nvPr/>
        </p:nvSpPr>
        <p:spPr>
          <a:xfrm>
            <a:off x="640080" y="1188720"/>
            <a:ext cx="9692640" cy="548640"/>
          </a:xfrm>
          <a:prstGeom prst="rect">
            <a:avLst/>
          </a:prstGeom>
          <a:noFill/>
        </p:spPr>
        <p:txBody>
          <a:bodyPr wrap="square" lIns="0" tIns="0" rIns="0" bIns="0">
            <a:spAutoFit/>
          </a:bodyPr>
          <a:lstStyle/>
          <a:p>
            <a:pPr algn="l">
              <a:lnSpc>
                <a:spcPct val="128000"/>
              </a:lnSpc>
              <a:spcBef>
                <a:spcPts val="0"/>
              </a:spcBef>
              <a:spcAft>
                <a:spcPts val="0"/>
              </a:spcAft>
            </a:pPr>
            <a:r>
              <a:rPr sz="1450" b="0">
                <a:solidFill>
                  <a:srgbClr val="93A4B7"/>
                </a:solidFill>
                <a:latin typeface="Calibri"/>
              </a:rPr>
              <a:t>Prompting a voice agent differs from prompting a chatbot in two specific ways, and both bite immediately.</a:t>
            </a:r>
          </a:p>
        </p:txBody>
      </p:sp>
      <p:sp>
        <p:nvSpPr>
          <p:cNvPr id="4" name="Rounded Rectangle 3"/>
          <p:cNvSpPr/>
          <p:nvPr/>
        </p:nvSpPr>
        <p:spPr>
          <a:xfrm>
            <a:off x="640080" y="2212848"/>
            <a:ext cx="5300456" cy="1700784"/>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50976" y="2487168"/>
            <a:ext cx="4678664" cy="1280160"/>
          </a:xfrm>
          <a:prstGeom prst="rect">
            <a:avLst/>
          </a:prstGeom>
          <a:noFill/>
        </p:spPr>
        <p:txBody>
          <a:bodyPr wrap="square" lIns="0" tIns="0" rIns="0" bIns="0">
            <a:spAutoFit/>
          </a:bodyPr>
          <a:lstStyle/>
          <a:p>
            <a:pPr algn="l">
              <a:lnSpc>
                <a:spcPct val="114000"/>
              </a:lnSpc>
              <a:spcBef>
                <a:spcPts val="0"/>
              </a:spcBef>
              <a:spcAft>
                <a:spcPts val="0"/>
              </a:spcAft>
            </a:pPr>
            <a:r>
              <a:rPr sz="1800" b="1">
                <a:solidFill>
                  <a:srgbClr val="13EF93"/>
                </a:solidFill>
                <a:latin typeface="Calibri"/>
              </a:rPr>
              <a:t>Tell it that it's speaking.</a:t>
            </a:r>
          </a:p>
          <a:p>
            <a:pPr algn="l">
              <a:lnSpc>
                <a:spcPct val="130000"/>
              </a:lnSpc>
              <a:spcBef>
                <a:spcPts val="900"/>
              </a:spcBef>
              <a:spcAft>
                <a:spcPts val="0"/>
              </a:spcAft>
            </a:pPr>
            <a:r>
              <a:rPr sz="1300" b="0">
                <a:solidFill>
                  <a:srgbClr val="93A4B7"/>
                </a:solidFill>
                <a:latin typeface="Calibri"/>
              </a:rPr>
              <a:t>LLMs default to writing. Without an explicit instruction you get markdown, and text-to-speech reads it literally — **important** comes out as “star star important star star.”</a:t>
            </a:r>
          </a:p>
        </p:txBody>
      </p:sp>
      <p:sp>
        <p:nvSpPr>
          <p:cNvPr id="6" name="Rounded Rectangle 5"/>
          <p:cNvSpPr/>
          <p:nvPr/>
        </p:nvSpPr>
        <p:spPr>
          <a:xfrm>
            <a:off x="6251432" y="2212848"/>
            <a:ext cx="5300456" cy="1700784"/>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62328" y="2487168"/>
            <a:ext cx="4678664" cy="1280160"/>
          </a:xfrm>
          <a:prstGeom prst="rect">
            <a:avLst/>
          </a:prstGeom>
          <a:noFill/>
        </p:spPr>
        <p:txBody>
          <a:bodyPr wrap="square" lIns="0" tIns="0" rIns="0" bIns="0">
            <a:spAutoFit/>
          </a:bodyPr>
          <a:lstStyle/>
          <a:p>
            <a:pPr algn="l">
              <a:lnSpc>
                <a:spcPct val="114000"/>
              </a:lnSpc>
              <a:spcBef>
                <a:spcPts val="0"/>
              </a:spcBef>
              <a:spcAft>
                <a:spcPts val="0"/>
              </a:spcAft>
            </a:pPr>
            <a:r>
              <a:rPr sz="1800" b="1">
                <a:solidFill>
                  <a:srgbClr val="13EF93"/>
                </a:solidFill>
                <a:latin typeface="Calibri"/>
              </a:rPr>
              <a:t>Tell it to be brief.</a:t>
            </a:r>
          </a:p>
          <a:p>
            <a:pPr algn="l">
              <a:lnSpc>
                <a:spcPct val="130000"/>
              </a:lnSpc>
              <a:spcBef>
                <a:spcPts val="900"/>
              </a:spcBef>
              <a:spcAft>
                <a:spcPts val="0"/>
              </a:spcAft>
            </a:pPr>
            <a:r>
              <a:rPr sz="1300" b="0">
                <a:solidFill>
                  <a:srgbClr val="93A4B7"/>
                </a:solidFill>
                <a:latin typeface="Calibri"/>
              </a:rPr>
              <a:t>A four-sentence answer that scans fine in a chat window feels interminable when you have to sit through it. Voice punishes verbosity in a way text doesn't.</a:t>
            </a:r>
          </a:p>
        </p:txBody>
      </p:sp>
      <p:sp>
        <p:nvSpPr>
          <p:cNvPr id="8" name="Rounded Rectangle 7"/>
          <p:cNvSpPr/>
          <p:nvPr/>
        </p:nvSpPr>
        <p:spPr>
          <a:xfrm>
            <a:off x="640080" y="4023360"/>
            <a:ext cx="10911809" cy="1943735"/>
          </a:xfrm>
          <a:prstGeom prst="roundRect">
            <a:avLst>
              <a:gd name="adj" fmla="val 3500"/>
            </a:avLst>
          </a:prstGeom>
          <a:solidFill>
            <a:srgbClr val="04070A"/>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59" y="4187952"/>
            <a:ext cx="10546049" cy="1577975"/>
          </a:xfrm>
          <a:prstGeom prst="rect">
            <a:avLst/>
          </a:prstGeom>
          <a:noFill/>
        </p:spPr>
        <p:txBody>
          <a:bodyPr wrap="square" lIns="0" tIns="0" rIns="0" bIns="0">
            <a:spAutoFit/>
          </a:bodyPr>
          <a:lstStyle/>
          <a:p>
            <a:pPr algn="l">
              <a:lnSpc>
                <a:spcPct val="118000"/>
              </a:lnSpc>
              <a:spcBef>
                <a:spcPts val="0"/>
              </a:spcBef>
              <a:spcAft>
                <a:spcPts val="0"/>
              </a:spcAft>
            </a:pPr>
            <a:r>
              <a:rPr sz="1250" b="0">
                <a:solidFill>
                  <a:srgbClr val="E9EFF6"/>
                </a:solidFill>
                <a:latin typeface="Courier New"/>
              </a:rPr>
              <a:t>You are Sam, a barista at a small coffee shop. Your job is to take a</a:t>
            </a:r>
          </a:p>
          <a:p>
            <a:pPr algn="l">
              <a:lnSpc>
                <a:spcPct val="118000"/>
              </a:lnSpc>
              <a:spcBef>
                <a:spcPts val="0"/>
              </a:spcBef>
              <a:spcAft>
                <a:spcPts val="0"/>
              </a:spcAft>
            </a:pPr>
            <a:r>
              <a:rPr sz="1250" b="0">
                <a:solidFill>
                  <a:srgbClr val="E9EFF6"/>
                </a:solidFill>
                <a:latin typeface="Courier New"/>
              </a:rPr>
              <a:t>drink order: the drink, the size, and the name for the cup.</a:t>
            </a:r>
          </a:p>
          <a:p>
            <a:pPr algn="l">
              <a:lnSpc>
                <a:spcPct val="118000"/>
              </a:lnSpc>
              <a:spcBef>
                <a:spcPts val="0"/>
              </a:spcBef>
              <a:spcAft>
                <a:spcPts val="0"/>
              </a:spcAft>
            </a:pPr>
            <a:endParaRPr sz="1250" b="0">
              <a:solidFill>
                <a:srgbClr val="E9EFF6"/>
              </a:solidFill>
              <a:latin typeface="Courier New"/>
            </a:endParaRPr>
          </a:p>
          <a:p>
            <a:pPr algn="l">
              <a:lnSpc>
                <a:spcPct val="118000"/>
              </a:lnSpc>
              <a:spcBef>
                <a:spcPts val="0"/>
              </a:spcBef>
              <a:spcAft>
                <a:spcPts val="0"/>
              </a:spcAft>
            </a:pPr>
            <a:r>
              <a:rPr sz="1250" b="0">
                <a:solidFill>
                  <a:srgbClr val="13EF93"/>
                </a:solidFill>
                <a:latin typeface="Courier New"/>
              </a:rPr>
              <a:t>You are speaking out loud. Never use markdown, bullet points, lists,</a:t>
            </a:r>
          </a:p>
          <a:p>
            <a:pPr algn="l">
              <a:lnSpc>
                <a:spcPct val="118000"/>
              </a:lnSpc>
              <a:spcBef>
                <a:spcPts val="0"/>
              </a:spcBef>
              <a:spcAft>
                <a:spcPts val="0"/>
              </a:spcAft>
            </a:pPr>
            <a:r>
              <a:rPr sz="1250" b="0">
                <a:solidFill>
                  <a:srgbClr val="13EF93"/>
                </a:solidFill>
                <a:latin typeface="Courier New"/>
              </a:rPr>
              <a:t>or emoji. Keep every reply to one or two sentences.</a:t>
            </a:r>
          </a:p>
          <a:p>
            <a:pPr algn="l">
              <a:lnSpc>
                <a:spcPct val="118000"/>
              </a:lnSpc>
              <a:spcBef>
                <a:spcPts val="0"/>
              </a:spcBef>
              <a:spcAft>
                <a:spcPts val="0"/>
              </a:spcAft>
            </a:pPr>
            <a:endParaRPr sz="1250" b="0">
              <a:solidFill>
                <a:srgbClr val="13EF93"/>
              </a:solidFill>
              <a:latin typeface="Courier New"/>
            </a:endParaRPr>
          </a:p>
          <a:p>
            <a:pPr algn="l">
              <a:lnSpc>
                <a:spcPct val="118000"/>
              </a:lnSpc>
              <a:spcBef>
                <a:spcPts val="0"/>
              </a:spcBef>
              <a:spcAft>
                <a:spcPts val="0"/>
              </a:spcAft>
            </a:pPr>
            <a:r>
              <a:rPr sz="1250" b="0">
                <a:solidFill>
                  <a:srgbClr val="E9EFF6"/>
                </a:solidFill>
                <a:latin typeface="Courier New"/>
              </a:rPr>
              <a:t>Ask for one thing at a time, then read the order back and confirm it.</a:t>
            </a:r>
          </a:p>
        </p:txBody>
      </p:sp>
      <p:sp>
        <p:nvSpPr>
          <p:cNvPr id="10" name="TextBox 9"/>
          <p:cNvSpPr txBox="1"/>
          <p:nvPr/>
        </p:nvSpPr>
        <p:spPr>
          <a:xfrm>
            <a:off x="640080" y="6126480"/>
            <a:ext cx="10911809" cy="457200"/>
          </a:xfrm>
          <a:prstGeom prst="rect">
            <a:avLst/>
          </a:prstGeom>
          <a:noFill/>
        </p:spPr>
        <p:txBody>
          <a:bodyPr wrap="square" lIns="0" tIns="0" rIns="0" bIns="0">
            <a:spAutoFit/>
          </a:bodyPr>
          <a:lstStyle/>
          <a:p>
            <a:pPr algn="l">
              <a:lnSpc>
                <a:spcPct val="125000"/>
              </a:lnSpc>
              <a:spcBef>
                <a:spcPts val="0"/>
              </a:spcBef>
              <a:spcAft>
                <a:spcPts val="0"/>
              </a:spcAft>
            </a:pPr>
            <a:r>
              <a:rPr sz="1300" b="0">
                <a:solidFill>
                  <a:srgbClr val="93A4B7"/>
                </a:solidFill>
                <a:latin typeface="Calibri"/>
              </a:rPr>
              <a:t>And keep it short for a third reason: every token goes to the model on every turn, so a long prompt slows down the first reply.</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70B10"/>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5669280" cy="274320"/>
          </a:xfrm>
          <a:prstGeom prst="rect">
            <a:avLst/>
          </a:prstGeom>
          <a:noFill/>
        </p:spPr>
        <p:txBody>
          <a:bodyPr wrap="square" lIns="0" tIns="0" rIns="0" bIns="0">
            <a:spAutoFit/>
          </a:bodyPr>
          <a:lstStyle/>
          <a:p>
            <a:pPr algn="l">
              <a:spcBef>
                <a:spcPts val="0"/>
              </a:spcBef>
              <a:spcAft>
                <a:spcPts val="0"/>
              </a:spcAft>
            </a:pPr>
            <a:r>
              <a:rPr sz="1300" b="1">
                <a:solidFill>
                  <a:srgbClr val="13EF93"/>
                </a:solidFill>
                <a:latin typeface="Calibri"/>
              </a:rPr>
              <a:t>2:35   ·   30 MIN</a:t>
            </a:r>
          </a:p>
        </p:txBody>
      </p:sp>
      <p:sp>
        <p:nvSpPr>
          <p:cNvPr id="3" name="TextBox 2"/>
          <p:cNvSpPr txBox="1"/>
          <p:nvPr/>
        </p:nvSpPr>
        <p:spPr>
          <a:xfrm>
            <a:off x="6400800" y="457200"/>
            <a:ext cx="5151089" cy="274320"/>
          </a:xfrm>
          <a:prstGeom prst="rect">
            <a:avLst/>
          </a:prstGeom>
          <a:noFill/>
        </p:spPr>
        <p:txBody>
          <a:bodyPr wrap="square" lIns="0" tIns="0" rIns="0" bIns="0">
            <a:spAutoFit/>
          </a:bodyPr>
          <a:lstStyle/>
          <a:p>
            <a:pPr algn="r">
              <a:spcBef>
                <a:spcPts val="0"/>
              </a:spcBef>
              <a:spcAft>
                <a:spcPts val="0"/>
              </a:spcAft>
            </a:pPr>
            <a:r>
              <a:rPr sz="1100" b="1">
                <a:solidFill>
                  <a:srgbClr val="5D6E80"/>
                </a:solidFill>
                <a:latin typeface="Calibri"/>
              </a:rPr>
              <a:t>EASY MODE — LAB 5</a:t>
            </a:r>
          </a:p>
        </p:txBody>
      </p:sp>
      <p:sp>
        <p:nvSpPr>
          <p:cNvPr id="4" name="TextBox 3"/>
          <p:cNvSpPr txBox="1"/>
          <p:nvPr/>
        </p:nvSpPr>
        <p:spPr>
          <a:xfrm>
            <a:off x="585215" y="804672"/>
            <a:ext cx="2743200" cy="1371600"/>
          </a:xfrm>
          <a:prstGeom prst="rect">
            <a:avLst/>
          </a:prstGeom>
          <a:noFill/>
        </p:spPr>
        <p:txBody>
          <a:bodyPr wrap="square" lIns="0" tIns="0" rIns="0" bIns="0">
            <a:spAutoFit/>
          </a:bodyPr>
          <a:lstStyle/>
          <a:p>
            <a:pPr algn="l">
              <a:spcBef>
                <a:spcPts val="0"/>
              </a:spcBef>
              <a:spcAft>
                <a:spcPts val="0"/>
              </a:spcAft>
            </a:pPr>
            <a:r>
              <a:rPr sz="9600" b="1">
                <a:solidFill>
                  <a:srgbClr val="0D6B49"/>
                </a:solidFill>
                <a:latin typeface="Calibri"/>
              </a:rPr>
              <a:t>07</a:t>
            </a:r>
          </a:p>
        </p:txBody>
      </p:sp>
      <p:sp>
        <p:nvSpPr>
          <p:cNvPr id="5" name="TextBox 4"/>
          <p:cNvSpPr txBox="1"/>
          <p:nvPr/>
        </p:nvSpPr>
        <p:spPr>
          <a:xfrm>
            <a:off x="640080" y="2084831"/>
            <a:ext cx="5577840" cy="603504"/>
          </a:xfrm>
          <a:prstGeom prst="rect">
            <a:avLst/>
          </a:prstGeom>
          <a:noFill/>
        </p:spPr>
        <p:txBody>
          <a:bodyPr wrap="square" lIns="0" tIns="0" rIns="0" bIns="0">
            <a:spAutoFit/>
          </a:bodyPr>
          <a:lstStyle/>
          <a:p>
            <a:pPr algn="l">
              <a:spcBef>
                <a:spcPts val="0"/>
              </a:spcBef>
              <a:spcAft>
                <a:spcPts val="0"/>
              </a:spcAft>
            </a:pPr>
            <a:r>
              <a:rPr sz="3700" b="1">
                <a:solidFill>
                  <a:srgbClr val="E9EFF6"/>
                </a:solidFill>
                <a:latin typeface="Calibri"/>
              </a:rPr>
              <a:t>Function calling</a:t>
            </a:r>
          </a:p>
        </p:txBody>
      </p:sp>
      <p:sp>
        <p:nvSpPr>
          <p:cNvPr id="6" name="TextBox 5"/>
          <p:cNvSpPr txBox="1"/>
          <p:nvPr/>
        </p:nvSpPr>
        <p:spPr>
          <a:xfrm>
            <a:off x="640080" y="2871216"/>
            <a:ext cx="5394960" cy="914400"/>
          </a:xfrm>
          <a:prstGeom prst="rect">
            <a:avLst/>
          </a:prstGeom>
          <a:noFill/>
        </p:spPr>
        <p:txBody>
          <a:bodyPr wrap="square" lIns="0" tIns="0" rIns="0" bIns="0">
            <a:spAutoFit/>
          </a:bodyPr>
          <a:lstStyle/>
          <a:p>
            <a:pPr algn="l">
              <a:lnSpc>
                <a:spcPct val="130000"/>
              </a:lnSpc>
              <a:spcBef>
                <a:spcPts val="0"/>
              </a:spcBef>
              <a:spcAft>
                <a:spcPts val="0"/>
              </a:spcAft>
            </a:pPr>
            <a:r>
              <a:rPr sz="1500" b="0">
                <a:solidFill>
                  <a:srgbClr val="93A4B7"/>
                </a:solidFill>
                <a:latin typeface="Calibri"/>
              </a:rPr>
              <a:t>Ask it what time it is and it will confidently make something up, because an LLM has no clock. This step closes that gap and every gap like it.</a:t>
            </a:r>
          </a:p>
        </p:txBody>
      </p:sp>
      <p:sp>
        <p:nvSpPr>
          <p:cNvPr id="7" name="Rounded Rectangle 6"/>
          <p:cNvSpPr/>
          <p:nvPr/>
        </p:nvSpPr>
        <p:spPr>
          <a:xfrm>
            <a:off x="640080" y="3858768"/>
            <a:ext cx="5394960" cy="582168"/>
          </a:xfrm>
          <a:prstGeom prst="roundRect">
            <a:avLst>
              <a:gd name="adj" fmla="val 3500"/>
            </a:avLst>
          </a:prstGeom>
          <a:solidFill>
            <a:srgbClr val="04070A"/>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59" y="4023360"/>
            <a:ext cx="5029200" cy="216408"/>
          </a:xfrm>
          <a:prstGeom prst="rect">
            <a:avLst/>
          </a:prstGeom>
          <a:noFill/>
        </p:spPr>
        <p:txBody>
          <a:bodyPr wrap="square" lIns="0" tIns="0" rIns="0" bIns="0">
            <a:spAutoFit/>
          </a:bodyPr>
          <a:lstStyle/>
          <a:p>
            <a:pPr algn="l">
              <a:lnSpc>
                <a:spcPct val="118000"/>
              </a:lnSpc>
              <a:spcBef>
                <a:spcPts val="0"/>
              </a:spcBef>
              <a:spcAft>
                <a:spcPts val="0"/>
              </a:spcAft>
            </a:pPr>
            <a:r>
              <a:rPr sz="1200" b="0">
                <a:solidFill>
                  <a:srgbClr val="13EF93"/>
                </a:solidFill>
                <a:latin typeface="Courier New"/>
              </a:rPr>
              <a:t>uv run steps/07-function-calling/main.py</a:t>
            </a:r>
          </a:p>
        </p:txBody>
      </p:sp>
      <p:sp>
        <p:nvSpPr>
          <p:cNvPr id="9" name="TextBox 8"/>
          <p:cNvSpPr txBox="1"/>
          <p:nvPr/>
        </p:nvSpPr>
        <p:spPr>
          <a:xfrm>
            <a:off x="640080" y="4568951"/>
            <a:ext cx="5394960" cy="365760"/>
          </a:xfrm>
          <a:prstGeom prst="rect">
            <a:avLst/>
          </a:prstGeom>
          <a:noFill/>
        </p:spPr>
        <p:txBody>
          <a:bodyPr wrap="square" lIns="0" tIns="0" rIns="0" bIns="0">
            <a:spAutoFit/>
          </a:bodyPr>
          <a:lstStyle/>
          <a:p>
            <a:pPr algn="l">
              <a:lnSpc>
                <a:spcPct val="125000"/>
              </a:lnSpc>
              <a:spcBef>
                <a:spcPts val="0"/>
              </a:spcBef>
              <a:spcAft>
                <a:spcPts val="0"/>
              </a:spcAft>
            </a:pPr>
            <a:r>
              <a:rPr sz="1100" b="0">
                <a:solidFill>
                  <a:srgbClr val="5D6E80"/>
                </a:solidFill>
                <a:latin typeface="Calibri"/>
              </a:rPr>
              <a:t>A phone banking agent for Contoso Bank that answers from your data, not its imagination.</a:t>
            </a:r>
          </a:p>
        </p:txBody>
      </p:sp>
      <p:sp>
        <p:nvSpPr>
          <p:cNvPr id="10" name="Rounded Rectangle 9"/>
          <p:cNvSpPr/>
          <p:nvPr/>
        </p:nvSpPr>
        <p:spPr>
          <a:xfrm>
            <a:off x="6400800" y="804672"/>
            <a:ext cx="5151089" cy="3167481"/>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675120" y="1024128"/>
            <a:ext cx="4602449" cy="2710281"/>
          </a:xfrm>
          <a:prstGeom prst="rect">
            <a:avLst/>
          </a:prstGeom>
          <a:noFill/>
        </p:spPr>
        <p:txBody>
          <a:bodyPr wrap="square" lIns="0" tIns="0" rIns="0" bIns="0">
            <a:spAutoFit/>
          </a:bodyPr>
          <a:lstStyle/>
          <a:p>
            <a:pPr algn="l">
              <a:spcBef>
                <a:spcPts val="0"/>
              </a:spcBef>
              <a:spcAft>
                <a:spcPts val="0"/>
              </a:spcAft>
            </a:pPr>
            <a:r>
              <a:rPr sz="1100" b="1">
                <a:solidFill>
                  <a:srgbClr val="13EF93"/>
                </a:solidFill>
                <a:latin typeface="Calibri"/>
              </a:rPr>
              <a:t>FOUR HOPS</a:t>
            </a:r>
          </a:p>
          <a:p>
            <a:pPr algn="l">
              <a:lnSpc>
                <a:spcPct val="132000"/>
              </a:lnSpc>
              <a:spcBef>
                <a:spcPts val="1100"/>
              </a:spcBef>
              <a:spcAft>
                <a:spcPts val="0"/>
              </a:spcAft>
            </a:pPr>
            <a:r>
              <a:rPr sz="1350" b="0">
                <a:solidFill>
                  <a:srgbClr val="93A4B7"/>
                </a:solidFill>
                <a:latin typeface="Calibri"/>
              </a:rPr>
              <a:t>1  You advertise a function — name, description, and a JSON Schema for its parameters, in SETTINGS.</a:t>
            </a:r>
          </a:p>
          <a:p>
            <a:pPr algn="l">
              <a:lnSpc>
                <a:spcPct val="132000"/>
              </a:lnSpc>
              <a:spcBef>
                <a:spcPts val="1100"/>
              </a:spcBef>
              <a:spcAft>
                <a:spcPts val="0"/>
              </a:spcAft>
            </a:pPr>
            <a:r>
              <a:rPr sz="1350" b="0">
                <a:solidFill>
                  <a:srgbClr val="93A4B7"/>
                </a:solidFill>
                <a:latin typeface="Calibri"/>
              </a:rPr>
              <a:t>2  The LLM decides to call it, and Deepgram sends you a FunctionCallRequest with the arguments it chose.</a:t>
            </a:r>
          </a:p>
          <a:p>
            <a:pPr algn="l">
              <a:lnSpc>
                <a:spcPct val="132000"/>
              </a:lnSpc>
              <a:spcBef>
                <a:spcPts val="1100"/>
              </a:spcBef>
              <a:spcAft>
                <a:spcPts val="0"/>
              </a:spcAft>
            </a:pPr>
            <a:r>
              <a:rPr sz="1350" b="0">
                <a:solidFill>
                  <a:srgbClr val="93A4B7"/>
                </a:solidFill>
                <a:latin typeface="Calibri"/>
              </a:rPr>
              <a:t>3  Your Python runs and returns a result.</a:t>
            </a:r>
          </a:p>
          <a:p>
            <a:pPr algn="l">
              <a:lnSpc>
                <a:spcPct val="132000"/>
              </a:lnSpc>
              <a:spcBef>
                <a:spcPts val="1100"/>
              </a:spcBef>
              <a:spcAft>
                <a:spcPts val="0"/>
              </a:spcAft>
            </a:pPr>
            <a:r>
              <a:rPr sz="1350" b="0">
                <a:solidFill>
                  <a:srgbClr val="93A4B7"/>
                </a:solidFill>
                <a:latin typeface="Calibri"/>
              </a:rPr>
              <a:t>4  The model works that result into its reply, and the agent speaks it.</a:t>
            </a:r>
          </a:p>
        </p:txBody>
      </p:sp>
      <p:sp>
        <p:nvSpPr>
          <p:cNvPr id="12" name="Rounded Rectangle 11"/>
          <p:cNvSpPr/>
          <p:nvPr/>
        </p:nvSpPr>
        <p:spPr>
          <a:xfrm>
            <a:off x="6400800" y="4173321"/>
            <a:ext cx="5151089" cy="640080"/>
          </a:xfrm>
          <a:prstGeom prst="roundRect">
            <a:avLst>
              <a:gd name="adj" fmla="val 3500"/>
            </a:avLst>
          </a:prstGeom>
          <a:solidFill>
            <a:srgbClr val="081F18"/>
          </a:solidFill>
          <a:ln w="12700">
            <a:solidFill>
              <a:srgbClr val="0D6B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75120" y="4310481"/>
            <a:ext cx="4602449" cy="402336"/>
          </a:xfrm>
          <a:prstGeom prst="rect">
            <a:avLst/>
          </a:prstGeom>
          <a:noFill/>
        </p:spPr>
        <p:txBody>
          <a:bodyPr wrap="square" lIns="0" tIns="0" rIns="0" bIns="0">
            <a:spAutoFit/>
          </a:bodyPr>
          <a:lstStyle/>
          <a:p>
            <a:pPr algn="l">
              <a:spcBef>
                <a:spcPts val="0"/>
              </a:spcBef>
              <a:spcAft>
                <a:spcPts val="0"/>
              </a:spcAft>
            </a:pPr>
            <a:r>
              <a:rPr sz="1150" b="1">
                <a:solidFill>
                  <a:srgbClr val="13EF93"/>
                </a:solidFill>
                <a:latin typeface="Calibri"/>
              </a:rPr>
              <a:t>Take-home: Step 7b points the same machinery at a clinic. See the appendix.</a:t>
            </a:r>
          </a:p>
        </p:txBody>
      </p:sp>
      <p:sp>
        <p:nvSpPr>
          <p:cNvPr id="14" name="Rounded Rectangle 13"/>
          <p:cNvSpPr/>
          <p:nvPr/>
        </p:nvSpPr>
        <p:spPr>
          <a:xfrm>
            <a:off x="640080" y="5541264"/>
            <a:ext cx="10911809" cy="694944"/>
          </a:xfrm>
          <a:prstGeom prst="roundRect">
            <a:avLst>
              <a:gd name="adj" fmla="val 3500"/>
            </a:avLst>
          </a:prstGeom>
          <a:solidFill>
            <a:srgbClr val="2A1F0D"/>
          </a:solidFill>
          <a:ln w="12700">
            <a:solidFill>
              <a:srgbClr val="FFB4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914400" y="5788151"/>
            <a:ext cx="60350" cy="201168"/>
          </a:xfrm>
          <a:prstGeom prst="roundRect">
            <a:avLst>
              <a:gd name="adj" fmla="val 40000"/>
            </a:avLst>
          </a:prstGeom>
          <a:solidFill>
            <a:srgbClr val="FF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1035100" y="5788151"/>
            <a:ext cx="60350" cy="201168"/>
          </a:xfrm>
          <a:prstGeom prst="roundRect">
            <a:avLst>
              <a:gd name="adj" fmla="val 40000"/>
            </a:avLst>
          </a:prstGeom>
          <a:solidFill>
            <a:srgbClr val="FF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508760" y="5669279"/>
            <a:ext cx="9723089" cy="438912"/>
          </a:xfrm>
          <a:prstGeom prst="rect">
            <a:avLst/>
          </a:prstGeom>
          <a:noFill/>
        </p:spPr>
        <p:txBody>
          <a:bodyPr wrap="square" lIns="0" tIns="0" rIns="0" bIns="0">
            <a:spAutoFit/>
          </a:bodyPr>
          <a:lstStyle/>
          <a:p>
            <a:pPr algn="l">
              <a:spcBef>
                <a:spcPts val="0"/>
              </a:spcBef>
              <a:spcAft>
                <a:spcPts val="0"/>
              </a:spcAft>
            </a:pPr>
            <a:r>
              <a:rPr sz="950" b="1">
                <a:solidFill>
                  <a:srgbClr val="FFB454"/>
                </a:solidFill>
                <a:latin typeface="Calibri"/>
              </a:rPr>
              <a:t>BEFORE WE MOVE ON</a:t>
            </a:r>
          </a:p>
          <a:p>
            <a:pPr algn="l">
              <a:spcBef>
                <a:spcPts val="300"/>
              </a:spcBef>
              <a:spcAft>
                <a:spcPts val="0"/>
              </a:spcAft>
            </a:pPr>
            <a:r>
              <a:rPr sz="1400" b="1">
                <a:solidFill>
                  <a:srgbClr val="E9EFF6"/>
                </a:solidFill>
                <a:latin typeface="Calibri"/>
              </a:rPr>
              <a:t>Sketch a function for your own use case — the most useful two minutes in the workshop.</a:t>
            </a:r>
          </a:p>
        </p:txBody>
      </p:sp>
      <p:sp>
        <p:nvSpPr>
          <p:cNvPr id="18" name="Rounded Rectangle 17"/>
          <p:cNvSpPr/>
          <p:nvPr/>
        </p:nvSpPr>
        <p:spPr>
          <a:xfrm>
            <a:off x="640080" y="6428232"/>
            <a:ext cx="137160" cy="137160"/>
          </a:xfrm>
          <a:prstGeom prst="roundRect">
            <a:avLst>
              <a:gd name="adj" fmla="val 30000"/>
            </a:avLst>
          </a:prstGeom>
          <a:solidFill>
            <a:srgbClr val="0D6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68680" y="6428232"/>
            <a:ext cx="137160" cy="137160"/>
          </a:xfrm>
          <a:prstGeom prst="roundRect">
            <a:avLst>
              <a:gd name="adj" fmla="val 30000"/>
            </a:avLst>
          </a:prstGeom>
          <a:solidFill>
            <a:srgbClr val="0D6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1097280" y="6428232"/>
            <a:ext cx="137160" cy="137160"/>
          </a:xfrm>
          <a:prstGeom prst="roundRect">
            <a:avLst>
              <a:gd name="adj" fmla="val 30000"/>
            </a:avLst>
          </a:prstGeom>
          <a:solidFill>
            <a:srgbClr val="0D6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1325880" y="6428232"/>
            <a:ext cx="137160" cy="137160"/>
          </a:xfrm>
          <a:prstGeom prst="roundRect">
            <a:avLst>
              <a:gd name="adj" fmla="val 30000"/>
            </a:avLst>
          </a:prstGeom>
          <a:solidFill>
            <a:srgbClr val="0D6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1554480" y="6428232"/>
            <a:ext cx="137160" cy="137160"/>
          </a:xfrm>
          <a:prstGeom prst="roundRect">
            <a:avLst>
              <a:gd name="adj" fmla="val 30000"/>
            </a:avLst>
          </a:prstGeom>
          <a:solidFill>
            <a:srgbClr val="0D6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1783080" y="6428232"/>
            <a:ext cx="137160" cy="137160"/>
          </a:xfrm>
          <a:prstGeom prst="roundRect">
            <a:avLst>
              <a:gd name="adj" fmla="val 30000"/>
            </a:avLst>
          </a:prstGeom>
          <a:solidFill>
            <a:srgbClr val="0D6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2011680" y="6428232"/>
            <a:ext cx="137160" cy="137160"/>
          </a:xfrm>
          <a:prstGeom prst="roundRect">
            <a:avLst>
              <a:gd name="adj" fmla="val 30000"/>
            </a:avLst>
          </a:prstGeom>
          <a:solidFill>
            <a:srgbClr val="13EF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2240280" y="6428232"/>
            <a:ext cx="137160" cy="137160"/>
          </a:xfrm>
          <a:prstGeom prst="roundRect">
            <a:avLst>
              <a:gd name="adj" fmla="val 30000"/>
            </a:avLst>
          </a:prstGeom>
          <a:no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578608" y="6391656"/>
            <a:ext cx="3108960" cy="256032"/>
          </a:xfrm>
          <a:prstGeom prst="rect">
            <a:avLst/>
          </a:prstGeom>
          <a:noFill/>
        </p:spPr>
        <p:txBody>
          <a:bodyPr wrap="square" lIns="0" tIns="0" rIns="0" bIns="0">
            <a:spAutoFit/>
          </a:bodyPr>
          <a:lstStyle/>
          <a:p>
            <a:pPr algn="l">
              <a:spcBef>
                <a:spcPts val="0"/>
              </a:spcBef>
              <a:spcAft>
                <a:spcPts val="0"/>
              </a:spcAft>
            </a:pPr>
            <a:r>
              <a:rPr sz="950" b="0">
                <a:solidFill>
                  <a:srgbClr val="5D6E80"/>
                </a:solidFill>
                <a:latin typeface="Calibri"/>
              </a:rPr>
              <a:t>STEP 7 OF 8</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70B10"/>
        </a:solidFill>
        <a:effectLst/>
      </p:bgPr>
    </p:bg>
    <p:spTree>
      <p:nvGrpSpPr>
        <p:cNvPr id="1" name=""/>
        <p:cNvGrpSpPr/>
        <p:nvPr/>
      </p:nvGrpSpPr>
      <p:grpSpPr>
        <a:xfrm>
          <a:off x="0" y="0"/>
          <a:ext cx="0" cy="0"/>
          <a:chOff x="0" y="0"/>
          <a:chExt cx="0" cy="0"/>
        </a:xfrm>
      </p:grpSpPr>
      <p:sp>
        <p:nvSpPr>
          <p:cNvPr id="2" name="TextBox 1"/>
          <p:cNvSpPr txBox="1"/>
          <p:nvPr/>
        </p:nvSpPr>
        <p:spPr>
          <a:xfrm>
            <a:off x="640080" y="475488"/>
            <a:ext cx="10911809" cy="548640"/>
          </a:xfrm>
          <a:prstGeom prst="rect">
            <a:avLst/>
          </a:prstGeom>
          <a:noFill/>
        </p:spPr>
        <p:txBody>
          <a:bodyPr wrap="square" lIns="0" tIns="0" rIns="0" bIns="0">
            <a:spAutoFit/>
          </a:bodyPr>
          <a:lstStyle/>
          <a:p>
            <a:pPr algn="l">
              <a:spcBef>
                <a:spcPts val="0"/>
              </a:spcBef>
              <a:spcAft>
                <a:spcPts val="0"/>
              </a:spcAft>
            </a:pPr>
            <a:r>
              <a:rPr sz="3100" b="1">
                <a:solidFill>
                  <a:srgbClr val="E9EFF6"/>
                </a:solidFill>
                <a:latin typeface="Calibri"/>
              </a:rPr>
              <a:t>Three things that will bite you</a:t>
            </a:r>
          </a:p>
        </p:txBody>
      </p:sp>
      <p:sp>
        <p:nvSpPr>
          <p:cNvPr id="3" name="TextBox 2"/>
          <p:cNvSpPr txBox="1"/>
          <p:nvPr/>
        </p:nvSpPr>
        <p:spPr>
          <a:xfrm>
            <a:off x="640080" y="1188720"/>
            <a:ext cx="9692640" cy="548640"/>
          </a:xfrm>
          <a:prstGeom prst="rect">
            <a:avLst/>
          </a:prstGeom>
          <a:noFill/>
        </p:spPr>
        <p:txBody>
          <a:bodyPr wrap="square" lIns="0" tIns="0" rIns="0" bIns="0">
            <a:spAutoFit/>
          </a:bodyPr>
          <a:lstStyle/>
          <a:p>
            <a:pPr algn="l">
              <a:lnSpc>
                <a:spcPct val="128000"/>
              </a:lnSpc>
              <a:spcBef>
                <a:spcPts val="0"/>
              </a:spcBef>
              <a:spcAft>
                <a:spcPts val="0"/>
              </a:spcAft>
            </a:pPr>
            <a:r>
              <a:rPr sz="1450" b="0">
                <a:solidFill>
                  <a:srgbClr val="93A4B7"/>
                </a:solidFill>
                <a:latin typeface="Calibri"/>
              </a:rPr>
              <a:t>Show this before they start, not after they're stuck.</a:t>
            </a:r>
          </a:p>
        </p:txBody>
      </p:sp>
      <p:sp>
        <p:nvSpPr>
          <p:cNvPr id="4" name="Rounded Rectangle 3"/>
          <p:cNvSpPr/>
          <p:nvPr/>
        </p:nvSpPr>
        <p:spPr>
          <a:xfrm>
            <a:off x="640080" y="2167128"/>
            <a:ext cx="384048" cy="384048"/>
          </a:xfrm>
          <a:prstGeom prst="roundRect">
            <a:avLst>
              <a:gd name="adj" fmla="val 50000"/>
            </a:avLst>
          </a:prstGeom>
          <a:noFill/>
          <a:ln w="12700">
            <a:solidFill>
              <a:srgbClr val="13EF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2231136"/>
            <a:ext cx="384048" cy="274320"/>
          </a:xfrm>
          <a:prstGeom prst="rect">
            <a:avLst/>
          </a:prstGeom>
          <a:noFill/>
        </p:spPr>
        <p:txBody>
          <a:bodyPr wrap="square" lIns="0" tIns="0" rIns="0" bIns="0">
            <a:spAutoFit/>
          </a:bodyPr>
          <a:lstStyle/>
          <a:p>
            <a:pPr algn="ctr">
              <a:spcBef>
                <a:spcPts val="0"/>
              </a:spcBef>
              <a:spcAft>
                <a:spcPts val="0"/>
              </a:spcAft>
            </a:pPr>
            <a:r>
              <a:rPr sz="1250" b="1">
                <a:solidFill>
                  <a:srgbClr val="13EF93"/>
                </a:solidFill>
                <a:latin typeface="Calibri"/>
              </a:rPr>
              <a:t>1</a:t>
            </a:r>
          </a:p>
        </p:txBody>
      </p:sp>
      <p:sp>
        <p:nvSpPr>
          <p:cNvPr id="6" name="TextBox 5"/>
          <p:cNvSpPr txBox="1"/>
          <p:nvPr/>
        </p:nvSpPr>
        <p:spPr>
          <a:xfrm>
            <a:off x="1280160" y="1901952"/>
            <a:ext cx="10271729" cy="1207008"/>
          </a:xfrm>
          <a:prstGeom prst="rect">
            <a:avLst/>
          </a:prstGeom>
          <a:noFill/>
        </p:spPr>
        <p:txBody>
          <a:bodyPr wrap="square" lIns="0" tIns="0" rIns="0" bIns="0">
            <a:spAutoFit/>
          </a:bodyPr>
          <a:lstStyle/>
          <a:p>
            <a:pPr algn="l">
              <a:spcBef>
                <a:spcPts val="0"/>
              </a:spcBef>
              <a:spcAft>
                <a:spcPts val="0"/>
              </a:spcAft>
            </a:pPr>
            <a:r>
              <a:rPr sz="1600" b="1">
                <a:solidFill>
                  <a:srgbClr val="E9EFF6"/>
                </a:solidFill>
                <a:latin typeface="Calibri"/>
              </a:rPr>
              <a:t>Omitting endpoint is what makes a function client-side</a:t>
            </a:r>
          </a:p>
          <a:p>
            <a:pPr algn="l">
              <a:lnSpc>
                <a:spcPct val="128000"/>
              </a:lnSpc>
              <a:spcBef>
                <a:spcPts val="400"/>
              </a:spcBef>
              <a:spcAft>
                <a:spcPts val="0"/>
              </a:spcAft>
            </a:pPr>
            <a:r>
              <a:rPr sz="1300" b="0">
                <a:solidFill>
                  <a:srgbClr val="93A4B7"/>
                </a:solidFill>
                <a:latin typeface="Calibri"/>
              </a:rPr>
              <a:t>Leave it unset and Deepgram sends the call down the socket to you. Set it and Deepgram calls your HTTP API itself, and you never see it. Both are valid — client-side is what you want when the function touches local state or credentials you'd rather not put on a public URL.</a:t>
            </a:r>
          </a:p>
        </p:txBody>
      </p:sp>
      <p:sp>
        <p:nvSpPr>
          <p:cNvPr id="7" name="Rounded Rectangle 6"/>
          <p:cNvSpPr/>
          <p:nvPr/>
        </p:nvSpPr>
        <p:spPr>
          <a:xfrm>
            <a:off x="640080" y="3538728"/>
            <a:ext cx="384048" cy="384048"/>
          </a:xfrm>
          <a:prstGeom prst="roundRect">
            <a:avLst>
              <a:gd name="adj" fmla="val 50000"/>
            </a:avLst>
          </a:prstGeom>
          <a:noFill/>
          <a:ln w="12700">
            <a:solidFill>
              <a:srgbClr val="13EF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3602736"/>
            <a:ext cx="384048" cy="274320"/>
          </a:xfrm>
          <a:prstGeom prst="rect">
            <a:avLst/>
          </a:prstGeom>
          <a:noFill/>
        </p:spPr>
        <p:txBody>
          <a:bodyPr wrap="square" lIns="0" tIns="0" rIns="0" bIns="0">
            <a:spAutoFit/>
          </a:bodyPr>
          <a:lstStyle/>
          <a:p>
            <a:pPr algn="ctr">
              <a:spcBef>
                <a:spcPts val="0"/>
              </a:spcBef>
              <a:spcAft>
                <a:spcPts val="0"/>
              </a:spcAft>
            </a:pPr>
            <a:r>
              <a:rPr sz="1250" b="1">
                <a:solidFill>
                  <a:srgbClr val="13EF93"/>
                </a:solidFill>
                <a:latin typeface="Calibri"/>
              </a:rPr>
              <a:t>2</a:t>
            </a:r>
          </a:p>
        </p:txBody>
      </p:sp>
      <p:sp>
        <p:nvSpPr>
          <p:cNvPr id="9" name="TextBox 8"/>
          <p:cNvSpPr txBox="1"/>
          <p:nvPr/>
        </p:nvSpPr>
        <p:spPr>
          <a:xfrm>
            <a:off x="1280160" y="3273552"/>
            <a:ext cx="10271729" cy="1207008"/>
          </a:xfrm>
          <a:prstGeom prst="rect">
            <a:avLst/>
          </a:prstGeom>
          <a:noFill/>
        </p:spPr>
        <p:txBody>
          <a:bodyPr wrap="square" lIns="0" tIns="0" rIns="0" bIns="0">
            <a:spAutoFit/>
          </a:bodyPr>
          <a:lstStyle/>
          <a:p>
            <a:pPr algn="l">
              <a:spcBef>
                <a:spcPts val="0"/>
              </a:spcBef>
              <a:spcAft>
                <a:spcPts val="0"/>
              </a:spcAft>
            </a:pPr>
            <a:r>
              <a:rPr sz="1600" b="1">
                <a:solidFill>
                  <a:srgbClr val="E9EFF6"/>
                </a:solidFill>
                <a:latin typeface="Calibri"/>
              </a:rPr>
              <a:t>The description is a prompt</a:t>
            </a:r>
          </a:p>
          <a:p>
            <a:pPr algn="l">
              <a:lnSpc>
                <a:spcPct val="128000"/>
              </a:lnSpc>
              <a:spcBef>
                <a:spcPts val="400"/>
              </a:spcBef>
              <a:spcAft>
                <a:spcPts val="0"/>
              </a:spcAft>
            </a:pPr>
            <a:r>
              <a:rPr sz="1300" b="0">
                <a:solidFill>
                  <a:srgbClr val="93A4B7"/>
                </a:solidFill>
                <a:latin typeface="Calibri"/>
              </a:rPr>
              <a:t>It is the only thing the LLM reads when deciding whether to call your function. “Get the current time” is weak. “Get the current date and time in a given IANA timezone. Use this whenever the user asks what time it is” is one the model can act on. A function that never fires usually has a description problem, not a wiring problem.</a:t>
            </a:r>
          </a:p>
        </p:txBody>
      </p:sp>
      <p:sp>
        <p:nvSpPr>
          <p:cNvPr id="10" name="Rounded Rectangle 9"/>
          <p:cNvSpPr/>
          <p:nvPr/>
        </p:nvSpPr>
        <p:spPr>
          <a:xfrm>
            <a:off x="640080" y="4910328"/>
            <a:ext cx="384048" cy="384048"/>
          </a:xfrm>
          <a:prstGeom prst="roundRect">
            <a:avLst>
              <a:gd name="adj" fmla="val 50000"/>
            </a:avLst>
          </a:prstGeom>
          <a:noFill/>
          <a:ln w="12700">
            <a:solidFill>
              <a:srgbClr val="13EF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4974336"/>
            <a:ext cx="384048" cy="274320"/>
          </a:xfrm>
          <a:prstGeom prst="rect">
            <a:avLst/>
          </a:prstGeom>
          <a:noFill/>
        </p:spPr>
        <p:txBody>
          <a:bodyPr wrap="square" lIns="0" tIns="0" rIns="0" bIns="0">
            <a:spAutoFit/>
          </a:bodyPr>
          <a:lstStyle/>
          <a:p>
            <a:pPr algn="ctr">
              <a:spcBef>
                <a:spcPts val="0"/>
              </a:spcBef>
              <a:spcAft>
                <a:spcPts val="0"/>
              </a:spcAft>
            </a:pPr>
            <a:r>
              <a:rPr sz="1250" b="1">
                <a:solidFill>
                  <a:srgbClr val="13EF93"/>
                </a:solidFill>
                <a:latin typeface="Calibri"/>
              </a:rPr>
              <a:t>3</a:t>
            </a:r>
          </a:p>
        </p:txBody>
      </p:sp>
      <p:sp>
        <p:nvSpPr>
          <p:cNvPr id="12" name="TextBox 11"/>
          <p:cNvSpPr txBox="1"/>
          <p:nvPr/>
        </p:nvSpPr>
        <p:spPr>
          <a:xfrm>
            <a:off x="1280160" y="4645152"/>
            <a:ext cx="10271729" cy="1207008"/>
          </a:xfrm>
          <a:prstGeom prst="rect">
            <a:avLst/>
          </a:prstGeom>
          <a:noFill/>
        </p:spPr>
        <p:txBody>
          <a:bodyPr wrap="square" lIns="0" tIns="0" rIns="0" bIns="0">
            <a:spAutoFit/>
          </a:bodyPr>
          <a:lstStyle/>
          <a:p>
            <a:pPr algn="l">
              <a:spcBef>
                <a:spcPts val="0"/>
              </a:spcBef>
              <a:spcAft>
                <a:spcPts val="0"/>
              </a:spcAft>
            </a:pPr>
            <a:r>
              <a:rPr sz="1600" b="1">
                <a:solidFill>
                  <a:srgbClr val="E9EFF6"/>
                </a:solidFill>
                <a:latin typeface="Calibri"/>
              </a:rPr>
              <a:t>on_message may not block</a:t>
            </a:r>
          </a:p>
          <a:p>
            <a:pPr algn="l">
              <a:lnSpc>
                <a:spcPct val="128000"/>
              </a:lnSpc>
              <a:spcBef>
                <a:spcPts val="400"/>
              </a:spcBef>
              <a:spcAft>
                <a:spcPts val="0"/>
              </a:spcAft>
            </a:pPr>
            <a:r>
              <a:rPr sz="1300" b="0">
                <a:solidFill>
                  <a:srgbClr val="93A4B7"/>
                </a:solidFill>
                <a:latin typeface="Calibri"/>
              </a:rPr>
              <a:t>It runs on the SDK's receive loop, which is also the thread carrying audio. A slow database call there does not just delay the reply, it stalls the conversation. That is why handle_function_call looks the way it does, and it holds on both the browser and --local paths.</a:t>
            </a:r>
          </a:p>
        </p:txBody>
      </p:sp>
      <p:sp>
        <p:nvSpPr>
          <p:cNvPr id="13" name="TextBox 12"/>
          <p:cNvSpPr txBox="1"/>
          <p:nvPr/>
        </p:nvSpPr>
        <p:spPr>
          <a:xfrm>
            <a:off x="640080" y="6163056"/>
            <a:ext cx="10911809" cy="457200"/>
          </a:xfrm>
          <a:prstGeom prst="rect">
            <a:avLst/>
          </a:prstGeom>
          <a:noFill/>
        </p:spPr>
        <p:txBody>
          <a:bodyPr wrap="square" lIns="0" tIns="0" rIns="0" bIns="0">
            <a:spAutoFit/>
          </a:bodyPr>
          <a:lstStyle/>
          <a:p>
            <a:pPr algn="l">
              <a:lnSpc>
                <a:spcPct val="125000"/>
              </a:lnSpc>
              <a:spcBef>
                <a:spcPts val="0"/>
              </a:spcBef>
              <a:spcAft>
                <a:spcPts val="0"/>
              </a:spcAft>
            </a:pPr>
            <a:r>
              <a:rPr sz="1200" b="0">
                <a:solidFill>
                  <a:srgbClr val="5D6E80"/>
                </a:solidFill>
                <a:latin typeface="Calibri"/>
              </a:rPr>
              <a:t>The answer key for any of this is steps/99-final/main.py — the finished agent, every step applied.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70B10"/>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5669280" cy="274320"/>
          </a:xfrm>
          <a:prstGeom prst="rect">
            <a:avLst/>
          </a:prstGeom>
          <a:noFill/>
        </p:spPr>
        <p:txBody>
          <a:bodyPr wrap="square" lIns="0" tIns="0" rIns="0" bIns="0">
            <a:spAutoFit/>
          </a:bodyPr>
          <a:lstStyle/>
          <a:p>
            <a:pPr algn="l">
              <a:spcBef>
                <a:spcPts val="0"/>
              </a:spcBef>
              <a:spcAft>
                <a:spcPts val="0"/>
              </a:spcAft>
            </a:pPr>
            <a:r>
              <a:rPr sz="1300" b="1">
                <a:solidFill>
                  <a:srgbClr val="13EF93"/>
                </a:solidFill>
                <a:latin typeface="Calibri"/>
              </a:rPr>
              <a:t>3:05   ·   15 MIN</a:t>
            </a:r>
          </a:p>
        </p:txBody>
      </p:sp>
      <p:sp>
        <p:nvSpPr>
          <p:cNvPr id="3" name="TextBox 2"/>
          <p:cNvSpPr txBox="1"/>
          <p:nvPr/>
        </p:nvSpPr>
        <p:spPr>
          <a:xfrm>
            <a:off x="6400800" y="457200"/>
            <a:ext cx="5151089" cy="274320"/>
          </a:xfrm>
          <a:prstGeom prst="rect">
            <a:avLst/>
          </a:prstGeom>
          <a:noFill/>
        </p:spPr>
        <p:txBody>
          <a:bodyPr wrap="square" lIns="0" tIns="0" rIns="0" bIns="0">
            <a:spAutoFit/>
          </a:bodyPr>
          <a:lstStyle/>
          <a:p>
            <a:pPr algn="r">
              <a:spcBef>
                <a:spcPts val="0"/>
              </a:spcBef>
              <a:spcAft>
                <a:spcPts val="0"/>
              </a:spcAft>
            </a:pPr>
            <a:r>
              <a:rPr sz="1100" b="1">
                <a:solidFill>
                  <a:srgbClr val="5D6E80"/>
                </a:solidFill>
                <a:latin typeface="Calibri"/>
              </a:rPr>
              <a:t>EASY MODE — LAB 3</a:t>
            </a:r>
          </a:p>
        </p:txBody>
      </p:sp>
      <p:sp>
        <p:nvSpPr>
          <p:cNvPr id="4" name="TextBox 3"/>
          <p:cNvSpPr txBox="1"/>
          <p:nvPr/>
        </p:nvSpPr>
        <p:spPr>
          <a:xfrm>
            <a:off x="585215" y="804672"/>
            <a:ext cx="2743200" cy="1371600"/>
          </a:xfrm>
          <a:prstGeom prst="rect">
            <a:avLst/>
          </a:prstGeom>
          <a:noFill/>
        </p:spPr>
        <p:txBody>
          <a:bodyPr wrap="square" lIns="0" tIns="0" rIns="0" bIns="0">
            <a:spAutoFit/>
          </a:bodyPr>
          <a:lstStyle/>
          <a:p>
            <a:pPr algn="l">
              <a:spcBef>
                <a:spcPts val="0"/>
              </a:spcBef>
              <a:spcAft>
                <a:spcPts val="0"/>
              </a:spcAft>
            </a:pPr>
            <a:r>
              <a:rPr sz="9600" b="1">
                <a:solidFill>
                  <a:srgbClr val="0D6B49"/>
                </a:solidFill>
                <a:latin typeface="Calibri"/>
              </a:rPr>
              <a:t>08</a:t>
            </a:r>
          </a:p>
        </p:txBody>
      </p:sp>
      <p:sp>
        <p:nvSpPr>
          <p:cNvPr id="5" name="TextBox 4"/>
          <p:cNvSpPr txBox="1"/>
          <p:nvPr/>
        </p:nvSpPr>
        <p:spPr>
          <a:xfrm>
            <a:off x="640080" y="2084831"/>
            <a:ext cx="5577840" cy="603504"/>
          </a:xfrm>
          <a:prstGeom prst="rect">
            <a:avLst/>
          </a:prstGeom>
          <a:noFill/>
        </p:spPr>
        <p:txBody>
          <a:bodyPr wrap="square" lIns="0" tIns="0" rIns="0" bIns="0">
            <a:spAutoFit/>
          </a:bodyPr>
          <a:lstStyle/>
          <a:p>
            <a:pPr algn="l">
              <a:spcBef>
                <a:spcPts val="0"/>
              </a:spcBef>
              <a:spcAft>
                <a:spcPts val="0"/>
              </a:spcAft>
            </a:pPr>
            <a:r>
              <a:rPr sz="3700" b="1">
                <a:solidFill>
                  <a:srgbClr val="E9EFF6"/>
                </a:solidFill>
                <a:latin typeface="Calibri"/>
              </a:rPr>
              <a:t>Optimization</a:t>
            </a:r>
          </a:p>
        </p:txBody>
      </p:sp>
      <p:sp>
        <p:nvSpPr>
          <p:cNvPr id="6" name="Rounded Rectangle 5"/>
          <p:cNvSpPr/>
          <p:nvPr/>
        </p:nvSpPr>
        <p:spPr>
          <a:xfrm>
            <a:off x="640080" y="2798064"/>
            <a:ext cx="2227478" cy="292608"/>
          </a:xfrm>
          <a:prstGeom prst="roundRect">
            <a:avLst>
              <a:gd name="adj" fmla="val 40000"/>
            </a:avLst>
          </a:prstGeom>
          <a:noFill/>
          <a:ln w="12700">
            <a:solidFill>
              <a:srgbClr val="FFB4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2862072"/>
            <a:ext cx="2227478" cy="219456"/>
          </a:xfrm>
          <a:prstGeom prst="rect">
            <a:avLst/>
          </a:prstGeom>
          <a:noFill/>
        </p:spPr>
        <p:txBody>
          <a:bodyPr wrap="square" lIns="0" tIns="0" rIns="0" bIns="0">
            <a:spAutoFit/>
          </a:bodyPr>
          <a:lstStyle/>
          <a:p>
            <a:pPr algn="ctr">
              <a:spcBef>
                <a:spcPts val="0"/>
              </a:spcBef>
              <a:spcAft>
                <a:spcPts val="0"/>
              </a:spcAft>
            </a:pPr>
            <a:r>
              <a:rPr sz="1000" b="1">
                <a:solidFill>
                  <a:srgbClr val="FFB454"/>
                </a:solidFill>
                <a:latin typeface="Calibri"/>
              </a:rPr>
              <a:t>CUTTABLE  ·  GOOD TAKE-HOME</a:t>
            </a:r>
          </a:p>
        </p:txBody>
      </p:sp>
      <p:sp>
        <p:nvSpPr>
          <p:cNvPr id="8" name="TextBox 7"/>
          <p:cNvSpPr txBox="1"/>
          <p:nvPr/>
        </p:nvSpPr>
        <p:spPr>
          <a:xfrm>
            <a:off x="640080" y="3255264"/>
            <a:ext cx="5394960" cy="914400"/>
          </a:xfrm>
          <a:prstGeom prst="rect">
            <a:avLst/>
          </a:prstGeom>
          <a:noFill/>
        </p:spPr>
        <p:txBody>
          <a:bodyPr wrap="square" lIns="0" tIns="0" rIns="0" bIns="0">
            <a:spAutoFit/>
          </a:bodyPr>
          <a:lstStyle/>
          <a:p>
            <a:pPr algn="l">
              <a:lnSpc>
                <a:spcPct val="130000"/>
              </a:lnSpc>
              <a:spcBef>
                <a:spcPts val="0"/>
              </a:spcBef>
              <a:spcAft>
                <a:spcPts val="0"/>
              </a:spcAft>
            </a:pPr>
            <a:r>
              <a:rPr sz="1500" b="0">
                <a:solidFill>
                  <a:srgbClr val="93A4B7"/>
                </a:solidFill>
                <a:latin typeface="Calibri"/>
              </a:rPr>
              <a:t>Your agent is finished. Everything from here is how it feels — and this is what decides whether people enjoy talking to what you built.</a:t>
            </a:r>
          </a:p>
        </p:txBody>
      </p:sp>
      <p:sp>
        <p:nvSpPr>
          <p:cNvPr id="9" name="Rounded Rectangle 8"/>
          <p:cNvSpPr/>
          <p:nvPr/>
        </p:nvSpPr>
        <p:spPr>
          <a:xfrm>
            <a:off x="640080" y="4114800"/>
            <a:ext cx="5394960" cy="582168"/>
          </a:xfrm>
          <a:prstGeom prst="roundRect">
            <a:avLst>
              <a:gd name="adj" fmla="val 3500"/>
            </a:avLst>
          </a:prstGeom>
          <a:solidFill>
            <a:srgbClr val="04070A"/>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59" y="4279392"/>
            <a:ext cx="5029200" cy="216408"/>
          </a:xfrm>
          <a:prstGeom prst="rect">
            <a:avLst/>
          </a:prstGeom>
          <a:noFill/>
        </p:spPr>
        <p:txBody>
          <a:bodyPr wrap="square" lIns="0" tIns="0" rIns="0" bIns="0">
            <a:spAutoFit/>
          </a:bodyPr>
          <a:lstStyle/>
          <a:p>
            <a:pPr algn="l">
              <a:lnSpc>
                <a:spcPct val="118000"/>
              </a:lnSpc>
              <a:spcBef>
                <a:spcPts val="0"/>
              </a:spcBef>
              <a:spcAft>
                <a:spcPts val="0"/>
              </a:spcAft>
            </a:pPr>
            <a:r>
              <a:rPr sz="1200" b="0">
                <a:solidFill>
                  <a:srgbClr val="13EF93"/>
                </a:solidFill>
                <a:latin typeface="Courier New"/>
              </a:rPr>
              <a:t>uv run steps/08-optimize/main.py</a:t>
            </a:r>
          </a:p>
        </p:txBody>
      </p:sp>
      <p:sp>
        <p:nvSpPr>
          <p:cNvPr id="11" name="TextBox 10"/>
          <p:cNvSpPr txBox="1"/>
          <p:nvPr/>
        </p:nvSpPr>
        <p:spPr>
          <a:xfrm>
            <a:off x="640080" y="4824984"/>
            <a:ext cx="5394960" cy="365760"/>
          </a:xfrm>
          <a:prstGeom prst="rect">
            <a:avLst/>
          </a:prstGeom>
          <a:noFill/>
        </p:spPr>
        <p:txBody>
          <a:bodyPr wrap="square" lIns="0" tIns="0" rIns="0" bIns="0">
            <a:spAutoFit/>
          </a:bodyPr>
          <a:lstStyle/>
          <a:p>
            <a:pPr algn="l">
              <a:lnSpc>
                <a:spcPct val="125000"/>
              </a:lnSpc>
              <a:spcBef>
                <a:spcPts val="0"/>
              </a:spcBef>
              <a:spcAft>
                <a:spcPts val="0"/>
              </a:spcAft>
            </a:pPr>
            <a:r>
              <a:rPr sz="1100" b="0">
                <a:solidFill>
                  <a:srgbClr val="5D6E80"/>
                </a:solidFill>
                <a:latin typeface="Calibri"/>
              </a:rPr>
              <a:t>Dials rather than code, which is what makes it the clean take-home.</a:t>
            </a:r>
          </a:p>
        </p:txBody>
      </p:sp>
      <p:sp>
        <p:nvSpPr>
          <p:cNvPr id="12" name="Rounded Rectangle 11"/>
          <p:cNvSpPr/>
          <p:nvPr/>
        </p:nvSpPr>
        <p:spPr>
          <a:xfrm>
            <a:off x="6400800" y="804672"/>
            <a:ext cx="5151089" cy="3218688"/>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75120" y="1024128"/>
            <a:ext cx="4602449" cy="2761488"/>
          </a:xfrm>
          <a:prstGeom prst="rect">
            <a:avLst/>
          </a:prstGeom>
          <a:noFill/>
        </p:spPr>
        <p:txBody>
          <a:bodyPr wrap="square" lIns="0" tIns="0" rIns="0" bIns="0">
            <a:spAutoFit/>
          </a:bodyPr>
          <a:lstStyle/>
          <a:p>
            <a:pPr algn="l">
              <a:spcBef>
                <a:spcPts val="0"/>
              </a:spcBef>
              <a:spcAft>
                <a:spcPts val="0"/>
              </a:spcAft>
            </a:pPr>
            <a:r>
              <a:rPr sz="1100" b="1">
                <a:solidFill>
                  <a:srgbClr val="13EF93"/>
                </a:solidFill>
                <a:latin typeface="Calibri"/>
              </a:rPr>
              <a:t>THREE DIALS</a:t>
            </a:r>
          </a:p>
          <a:p>
            <a:pPr algn="l">
              <a:lnSpc>
                <a:spcPct val="132000"/>
              </a:lnSpc>
              <a:spcBef>
                <a:spcPts val="1100"/>
              </a:spcBef>
              <a:spcAft>
                <a:spcPts val="0"/>
              </a:spcAft>
            </a:pPr>
            <a:r>
              <a:rPr sz="1350" b="0">
                <a:solidFill>
                  <a:srgbClr val="93A4B7"/>
                </a:solidFill>
                <a:latin typeface="Calibri"/>
              </a:rPr>
              <a:t>eot_threshold — 0.5 to 0.9. How much confidence Flux needs before calling the turn over. Raise it and it stops interrupting people who pause to think.</a:t>
            </a:r>
          </a:p>
          <a:p>
            <a:pPr algn="l">
              <a:lnSpc>
                <a:spcPct val="132000"/>
              </a:lnSpc>
              <a:spcBef>
                <a:spcPts val="1100"/>
              </a:spcBef>
              <a:spcAft>
                <a:spcPts val="0"/>
              </a:spcAft>
            </a:pPr>
            <a:r>
              <a:rPr sz="1350" b="0">
                <a:solidFill>
                  <a:srgbClr val="93A4B7"/>
                </a:solidFill>
                <a:latin typeface="Calibri"/>
              </a:rPr>
              <a:t>eot_timeout_ms — ends the turn after this much silence regardless of confidence.</a:t>
            </a:r>
          </a:p>
          <a:p>
            <a:pPr algn="l">
              <a:lnSpc>
                <a:spcPct val="132000"/>
              </a:lnSpc>
              <a:spcBef>
                <a:spcPts val="1100"/>
              </a:spcBef>
              <a:spcAft>
                <a:spcPts val="0"/>
              </a:spcAft>
            </a:pPr>
            <a:r>
              <a:rPr sz="1350" b="0">
                <a:solidFill>
                  <a:srgbClr val="93A4B7"/>
                </a:solidFill>
                <a:latin typeface="Calibri"/>
              </a:rPr>
              <a:t>eager_eot_threshold — at or below eot_threshold. Starts the LLM on a probable turn end and discards the work if the user keeps talking. Lower latency, more LLM calls.</a:t>
            </a:r>
          </a:p>
        </p:txBody>
      </p:sp>
      <p:sp>
        <p:nvSpPr>
          <p:cNvPr id="14" name="Rounded Rectangle 13"/>
          <p:cNvSpPr/>
          <p:nvPr/>
        </p:nvSpPr>
        <p:spPr>
          <a:xfrm>
            <a:off x="640080" y="5541264"/>
            <a:ext cx="10911809" cy="694944"/>
          </a:xfrm>
          <a:prstGeom prst="roundRect">
            <a:avLst>
              <a:gd name="adj" fmla="val 3500"/>
            </a:avLst>
          </a:prstGeom>
          <a:solidFill>
            <a:srgbClr val="2A1F0D"/>
          </a:solidFill>
          <a:ln w="12700">
            <a:solidFill>
              <a:srgbClr val="FFB4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914400" y="5788151"/>
            <a:ext cx="60350" cy="201168"/>
          </a:xfrm>
          <a:prstGeom prst="roundRect">
            <a:avLst>
              <a:gd name="adj" fmla="val 40000"/>
            </a:avLst>
          </a:prstGeom>
          <a:solidFill>
            <a:srgbClr val="FF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1035100" y="5788151"/>
            <a:ext cx="60350" cy="201168"/>
          </a:xfrm>
          <a:prstGeom prst="roundRect">
            <a:avLst>
              <a:gd name="adj" fmla="val 40000"/>
            </a:avLst>
          </a:prstGeom>
          <a:solidFill>
            <a:srgbClr val="FFB4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508760" y="5669279"/>
            <a:ext cx="9723089" cy="438912"/>
          </a:xfrm>
          <a:prstGeom prst="rect">
            <a:avLst/>
          </a:prstGeom>
          <a:noFill/>
        </p:spPr>
        <p:txBody>
          <a:bodyPr wrap="square" lIns="0" tIns="0" rIns="0" bIns="0">
            <a:spAutoFit/>
          </a:bodyPr>
          <a:lstStyle/>
          <a:p>
            <a:pPr algn="l">
              <a:spcBef>
                <a:spcPts val="0"/>
              </a:spcBef>
              <a:spcAft>
                <a:spcPts val="0"/>
              </a:spcAft>
            </a:pPr>
            <a:r>
              <a:rPr sz="950" b="1">
                <a:solidFill>
                  <a:srgbClr val="FFB454"/>
                </a:solidFill>
                <a:latin typeface="Calibri"/>
              </a:rPr>
              <a:t>BEFORE WE MOVE ON</a:t>
            </a:r>
          </a:p>
          <a:p>
            <a:pPr algn="l">
              <a:spcBef>
                <a:spcPts val="300"/>
              </a:spcBef>
              <a:spcAft>
                <a:spcPts val="0"/>
              </a:spcAft>
            </a:pPr>
            <a:r>
              <a:rPr sz="1400" b="1">
                <a:solidFill>
                  <a:srgbClr val="E9EFF6"/>
                </a:solidFill>
                <a:latin typeface="Calibri"/>
              </a:rPr>
              <a:t>No gate. Stragglers catch up here, and this step sheds time cleanly.</a:t>
            </a:r>
          </a:p>
        </p:txBody>
      </p:sp>
      <p:sp>
        <p:nvSpPr>
          <p:cNvPr id="18" name="Rounded Rectangle 17"/>
          <p:cNvSpPr/>
          <p:nvPr/>
        </p:nvSpPr>
        <p:spPr>
          <a:xfrm>
            <a:off x="640080" y="6428232"/>
            <a:ext cx="137160" cy="137160"/>
          </a:xfrm>
          <a:prstGeom prst="roundRect">
            <a:avLst>
              <a:gd name="adj" fmla="val 30000"/>
            </a:avLst>
          </a:prstGeom>
          <a:solidFill>
            <a:srgbClr val="0D6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68680" y="6428232"/>
            <a:ext cx="137160" cy="137160"/>
          </a:xfrm>
          <a:prstGeom prst="roundRect">
            <a:avLst>
              <a:gd name="adj" fmla="val 30000"/>
            </a:avLst>
          </a:prstGeom>
          <a:solidFill>
            <a:srgbClr val="0D6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1097280" y="6428232"/>
            <a:ext cx="137160" cy="137160"/>
          </a:xfrm>
          <a:prstGeom prst="roundRect">
            <a:avLst>
              <a:gd name="adj" fmla="val 30000"/>
            </a:avLst>
          </a:prstGeom>
          <a:solidFill>
            <a:srgbClr val="0D6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1325880" y="6428232"/>
            <a:ext cx="137160" cy="137160"/>
          </a:xfrm>
          <a:prstGeom prst="roundRect">
            <a:avLst>
              <a:gd name="adj" fmla="val 30000"/>
            </a:avLst>
          </a:prstGeom>
          <a:solidFill>
            <a:srgbClr val="0D6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1554480" y="6428232"/>
            <a:ext cx="137160" cy="137160"/>
          </a:xfrm>
          <a:prstGeom prst="roundRect">
            <a:avLst>
              <a:gd name="adj" fmla="val 30000"/>
            </a:avLst>
          </a:prstGeom>
          <a:solidFill>
            <a:srgbClr val="0D6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1783080" y="6428232"/>
            <a:ext cx="137160" cy="137160"/>
          </a:xfrm>
          <a:prstGeom prst="roundRect">
            <a:avLst>
              <a:gd name="adj" fmla="val 30000"/>
            </a:avLst>
          </a:prstGeom>
          <a:solidFill>
            <a:srgbClr val="0D6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2011680" y="6428232"/>
            <a:ext cx="137160" cy="137160"/>
          </a:xfrm>
          <a:prstGeom prst="roundRect">
            <a:avLst>
              <a:gd name="adj" fmla="val 30000"/>
            </a:avLst>
          </a:prstGeom>
          <a:solidFill>
            <a:srgbClr val="0D6B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2240280" y="6428232"/>
            <a:ext cx="137160" cy="137160"/>
          </a:xfrm>
          <a:prstGeom prst="roundRect">
            <a:avLst>
              <a:gd name="adj" fmla="val 30000"/>
            </a:avLst>
          </a:prstGeom>
          <a:solidFill>
            <a:srgbClr val="13EF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578608" y="6391656"/>
            <a:ext cx="3108960" cy="256032"/>
          </a:xfrm>
          <a:prstGeom prst="rect">
            <a:avLst/>
          </a:prstGeom>
          <a:noFill/>
        </p:spPr>
        <p:txBody>
          <a:bodyPr wrap="square" lIns="0" tIns="0" rIns="0" bIns="0">
            <a:spAutoFit/>
          </a:bodyPr>
          <a:lstStyle/>
          <a:p>
            <a:pPr algn="l">
              <a:spcBef>
                <a:spcPts val="0"/>
              </a:spcBef>
              <a:spcAft>
                <a:spcPts val="0"/>
              </a:spcAft>
            </a:pPr>
            <a:r>
              <a:rPr sz="950" b="0">
                <a:solidFill>
                  <a:srgbClr val="5D6E80"/>
                </a:solidFill>
                <a:latin typeface="Calibri"/>
              </a:rPr>
              <a:t>STEP 8 OF 8</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70B10"/>
        </a:solidFill>
        <a:effectLst/>
      </p:bgPr>
    </p:bg>
    <p:spTree>
      <p:nvGrpSpPr>
        <p:cNvPr id="1" name=""/>
        <p:cNvGrpSpPr/>
        <p:nvPr/>
      </p:nvGrpSpPr>
      <p:grpSpPr>
        <a:xfrm>
          <a:off x="0" y="0"/>
          <a:ext cx="0" cy="0"/>
          <a:chOff x="0" y="0"/>
          <a:chExt cx="0" cy="0"/>
        </a:xfrm>
      </p:grpSpPr>
      <p:sp>
        <p:nvSpPr>
          <p:cNvPr id="2" name="TextBox 1"/>
          <p:cNvSpPr txBox="1"/>
          <p:nvPr/>
        </p:nvSpPr>
        <p:spPr>
          <a:xfrm>
            <a:off x="640080" y="475488"/>
            <a:ext cx="10911809" cy="548640"/>
          </a:xfrm>
          <a:prstGeom prst="rect">
            <a:avLst/>
          </a:prstGeom>
          <a:noFill/>
        </p:spPr>
        <p:txBody>
          <a:bodyPr wrap="square" lIns="0" tIns="0" rIns="0" bIns="0">
            <a:spAutoFit/>
          </a:bodyPr>
          <a:lstStyle/>
          <a:p>
            <a:pPr algn="l">
              <a:spcBef>
                <a:spcPts val="0"/>
              </a:spcBef>
              <a:spcAft>
                <a:spcPts val="0"/>
              </a:spcAft>
            </a:pPr>
            <a:r>
              <a:rPr sz="3100" b="1">
                <a:solidFill>
                  <a:srgbClr val="E9EFF6"/>
                </a:solidFill>
                <a:latin typeface="Calibri"/>
              </a:rPr>
              <a:t>Find your setting</a:t>
            </a:r>
          </a:p>
        </p:txBody>
      </p:sp>
      <p:sp>
        <p:nvSpPr>
          <p:cNvPr id="3" name="TextBox 2"/>
          <p:cNvSpPr txBox="1"/>
          <p:nvPr/>
        </p:nvSpPr>
        <p:spPr>
          <a:xfrm>
            <a:off x="640080" y="1188720"/>
            <a:ext cx="9692640" cy="548640"/>
          </a:xfrm>
          <a:prstGeom prst="rect">
            <a:avLst/>
          </a:prstGeom>
          <a:noFill/>
        </p:spPr>
        <p:txBody>
          <a:bodyPr wrap="square" lIns="0" tIns="0" rIns="0" bIns="0">
            <a:spAutoFit/>
          </a:bodyPr>
          <a:lstStyle/>
          <a:p>
            <a:pPr algn="l">
              <a:lnSpc>
                <a:spcPct val="128000"/>
              </a:lnSpc>
              <a:spcBef>
                <a:spcPts val="0"/>
              </a:spcBef>
              <a:spcAft>
                <a:spcPts val="0"/>
              </a:spcAft>
            </a:pPr>
            <a:r>
              <a:rPr sz="1450" b="0">
                <a:solidFill>
                  <a:srgbClr val="93A4B7"/>
                </a:solidFill>
                <a:latin typeface="Calibri"/>
              </a:rPr>
              <a:t>Run it four times, holding the same short conversation, and watch the latency line alongside.</a:t>
            </a:r>
          </a:p>
        </p:txBody>
      </p:sp>
      <p:sp>
        <p:nvSpPr>
          <p:cNvPr id="4" name="TextBox 3"/>
          <p:cNvSpPr txBox="1"/>
          <p:nvPr/>
        </p:nvSpPr>
        <p:spPr>
          <a:xfrm>
            <a:off x="859536" y="1956816"/>
            <a:ext cx="1792224" cy="274320"/>
          </a:xfrm>
          <a:prstGeom prst="rect">
            <a:avLst/>
          </a:prstGeom>
          <a:noFill/>
        </p:spPr>
        <p:txBody>
          <a:bodyPr wrap="square" lIns="0" tIns="0" rIns="0" bIns="0">
            <a:spAutoFit/>
          </a:bodyPr>
          <a:lstStyle/>
          <a:p>
            <a:pPr algn="l">
              <a:spcBef>
                <a:spcPts val="0"/>
              </a:spcBef>
              <a:spcAft>
                <a:spcPts val="0"/>
              </a:spcAft>
            </a:pPr>
            <a:r>
              <a:rPr sz="1050" b="1">
                <a:solidFill>
                  <a:srgbClr val="13EF93"/>
                </a:solidFill>
                <a:latin typeface="Courier New"/>
              </a:rPr>
              <a:t>EOT_THRESHOLD</a:t>
            </a:r>
          </a:p>
        </p:txBody>
      </p:sp>
      <p:sp>
        <p:nvSpPr>
          <p:cNvPr id="5" name="TextBox 4"/>
          <p:cNvSpPr txBox="1"/>
          <p:nvPr/>
        </p:nvSpPr>
        <p:spPr>
          <a:xfrm>
            <a:off x="3072384" y="1956816"/>
            <a:ext cx="1792224" cy="274320"/>
          </a:xfrm>
          <a:prstGeom prst="rect">
            <a:avLst/>
          </a:prstGeom>
          <a:noFill/>
        </p:spPr>
        <p:txBody>
          <a:bodyPr wrap="square" lIns="0" tIns="0" rIns="0" bIns="0">
            <a:spAutoFit/>
          </a:bodyPr>
          <a:lstStyle/>
          <a:p>
            <a:pPr algn="l">
              <a:spcBef>
                <a:spcPts val="0"/>
              </a:spcBef>
              <a:spcAft>
                <a:spcPts val="0"/>
              </a:spcAft>
            </a:pPr>
            <a:r>
              <a:rPr sz="1050" b="1">
                <a:solidFill>
                  <a:srgbClr val="13EF93"/>
                </a:solidFill>
                <a:latin typeface="Courier New"/>
              </a:rPr>
              <a:t>EOT_TIMEOUT_MS</a:t>
            </a:r>
          </a:p>
        </p:txBody>
      </p:sp>
      <p:sp>
        <p:nvSpPr>
          <p:cNvPr id="6" name="TextBox 5"/>
          <p:cNvSpPr txBox="1"/>
          <p:nvPr/>
        </p:nvSpPr>
        <p:spPr>
          <a:xfrm>
            <a:off x="5285232" y="1956816"/>
            <a:ext cx="6266657" cy="274320"/>
          </a:xfrm>
          <a:prstGeom prst="rect">
            <a:avLst/>
          </a:prstGeom>
          <a:noFill/>
        </p:spPr>
        <p:txBody>
          <a:bodyPr wrap="square" lIns="0" tIns="0" rIns="0" bIns="0">
            <a:spAutoFit/>
          </a:bodyPr>
          <a:lstStyle/>
          <a:p>
            <a:pPr algn="l">
              <a:spcBef>
                <a:spcPts val="0"/>
              </a:spcBef>
              <a:spcAft>
                <a:spcPts val="0"/>
              </a:spcAft>
            </a:pPr>
            <a:r>
              <a:rPr sz="1050" b="1">
                <a:solidFill>
                  <a:srgbClr val="13EF93"/>
                </a:solidFill>
                <a:latin typeface="Courier New"/>
              </a:rPr>
              <a:t>WHAT TO LISTEN FOR</a:t>
            </a:r>
          </a:p>
        </p:txBody>
      </p:sp>
      <p:sp>
        <p:nvSpPr>
          <p:cNvPr id="7" name="Rounded Rectangle 6"/>
          <p:cNvSpPr/>
          <p:nvPr/>
        </p:nvSpPr>
        <p:spPr>
          <a:xfrm>
            <a:off x="640080" y="2340864"/>
            <a:ext cx="10911809" cy="658368"/>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9536" y="2542032"/>
            <a:ext cx="1737360" cy="292608"/>
          </a:xfrm>
          <a:prstGeom prst="rect">
            <a:avLst/>
          </a:prstGeom>
          <a:noFill/>
        </p:spPr>
        <p:txBody>
          <a:bodyPr wrap="square" lIns="0" tIns="0" rIns="0" bIns="0">
            <a:spAutoFit/>
          </a:bodyPr>
          <a:lstStyle/>
          <a:p>
            <a:pPr algn="l">
              <a:spcBef>
                <a:spcPts val="0"/>
              </a:spcBef>
              <a:spcAft>
                <a:spcPts val="0"/>
              </a:spcAft>
            </a:pPr>
            <a:r>
              <a:rPr sz="1500" b="1">
                <a:solidFill>
                  <a:srgbClr val="E9EFF6"/>
                </a:solidFill>
                <a:latin typeface="Courier New"/>
              </a:rPr>
              <a:t>0.5</a:t>
            </a:r>
          </a:p>
        </p:txBody>
      </p:sp>
      <p:sp>
        <p:nvSpPr>
          <p:cNvPr id="9" name="TextBox 8"/>
          <p:cNvSpPr txBox="1"/>
          <p:nvPr/>
        </p:nvSpPr>
        <p:spPr>
          <a:xfrm>
            <a:off x="3072384" y="2542032"/>
            <a:ext cx="1737360" cy="292608"/>
          </a:xfrm>
          <a:prstGeom prst="rect">
            <a:avLst/>
          </a:prstGeom>
          <a:noFill/>
        </p:spPr>
        <p:txBody>
          <a:bodyPr wrap="square" lIns="0" tIns="0" rIns="0" bIns="0">
            <a:spAutoFit/>
          </a:bodyPr>
          <a:lstStyle/>
          <a:p>
            <a:pPr algn="l">
              <a:spcBef>
                <a:spcPts val="0"/>
              </a:spcBef>
              <a:spcAft>
                <a:spcPts val="0"/>
              </a:spcAft>
            </a:pPr>
            <a:r>
              <a:rPr sz="1500" b="1">
                <a:solidFill>
                  <a:srgbClr val="E9EFF6"/>
                </a:solidFill>
                <a:latin typeface="Courier New"/>
              </a:rPr>
              <a:t>5000</a:t>
            </a:r>
          </a:p>
        </p:txBody>
      </p:sp>
      <p:sp>
        <p:nvSpPr>
          <p:cNvPr id="10" name="TextBox 9"/>
          <p:cNvSpPr txBox="1"/>
          <p:nvPr/>
        </p:nvSpPr>
        <p:spPr>
          <a:xfrm>
            <a:off x="5285232" y="2542032"/>
            <a:ext cx="6211793" cy="292608"/>
          </a:xfrm>
          <a:prstGeom prst="rect">
            <a:avLst/>
          </a:prstGeom>
          <a:noFill/>
        </p:spPr>
        <p:txBody>
          <a:bodyPr wrap="square" lIns="0" tIns="0" rIns="0" bIns="0">
            <a:spAutoFit/>
          </a:bodyPr>
          <a:lstStyle/>
          <a:p>
            <a:pPr algn="l">
              <a:spcBef>
                <a:spcPts val="0"/>
              </a:spcBef>
              <a:spcAft>
                <a:spcPts val="0"/>
              </a:spcAft>
            </a:pPr>
            <a:r>
              <a:rPr sz="1350" b="0">
                <a:solidFill>
                  <a:srgbClr val="93A4B7"/>
                </a:solidFill>
                <a:latin typeface="Calibri"/>
              </a:rPr>
              <a:t>Snappy, and it interrupts you when you pause</a:t>
            </a:r>
          </a:p>
        </p:txBody>
      </p:sp>
      <p:sp>
        <p:nvSpPr>
          <p:cNvPr id="11" name="Rounded Rectangle 10"/>
          <p:cNvSpPr/>
          <p:nvPr/>
        </p:nvSpPr>
        <p:spPr>
          <a:xfrm>
            <a:off x="640080" y="3127248"/>
            <a:ext cx="10911809" cy="658368"/>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59536" y="3328415"/>
            <a:ext cx="1737360" cy="292608"/>
          </a:xfrm>
          <a:prstGeom prst="rect">
            <a:avLst/>
          </a:prstGeom>
          <a:noFill/>
        </p:spPr>
        <p:txBody>
          <a:bodyPr wrap="square" lIns="0" tIns="0" rIns="0" bIns="0">
            <a:spAutoFit/>
          </a:bodyPr>
          <a:lstStyle/>
          <a:p>
            <a:pPr algn="l">
              <a:spcBef>
                <a:spcPts val="0"/>
              </a:spcBef>
              <a:spcAft>
                <a:spcPts val="0"/>
              </a:spcAft>
            </a:pPr>
            <a:r>
              <a:rPr sz="1500" b="1">
                <a:solidFill>
                  <a:srgbClr val="E9EFF6"/>
                </a:solidFill>
                <a:latin typeface="Courier New"/>
              </a:rPr>
              <a:t>0.9</a:t>
            </a:r>
          </a:p>
        </p:txBody>
      </p:sp>
      <p:sp>
        <p:nvSpPr>
          <p:cNvPr id="13" name="TextBox 12"/>
          <p:cNvSpPr txBox="1"/>
          <p:nvPr/>
        </p:nvSpPr>
        <p:spPr>
          <a:xfrm>
            <a:off x="3072384" y="3328415"/>
            <a:ext cx="1737360" cy="292608"/>
          </a:xfrm>
          <a:prstGeom prst="rect">
            <a:avLst/>
          </a:prstGeom>
          <a:noFill/>
        </p:spPr>
        <p:txBody>
          <a:bodyPr wrap="square" lIns="0" tIns="0" rIns="0" bIns="0">
            <a:spAutoFit/>
          </a:bodyPr>
          <a:lstStyle/>
          <a:p>
            <a:pPr algn="l">
              <a:spcBef>
                <a:spcPts val="0"/>
              </a:spcBef>
              <a:spcAft>
                <a:spcPts val="0"/>
              </a:spcAft>
            </a:pPr>
            <a:r>
              <a:rPr sz="1500" b="1">
                <a:solidFill>
                  <a:srgbClr val="E9EFF6"/>
                </a:solidFill>
                <a:latin typeface="Courier New"/>
              </a:rPr>
              <a:t>5000</a:t>
            </a:r>
          </a:p>
        </p:txBody>
      </p:sp>
      <p:sp>
        <p:nvSpPr>
          <p:cNvPr id="14" name="TextBox 13"/>
          <p:cNvSpPr txBox="1"/>
          <p:nvPr/>
        </p:nvSpPr>
        <p:spPr>
          <a:xfrm>
            <a:off x="5285232" y="3328415"/>
            <a:ext cx="6211793" cy="292608"/>
          </a:xfrm>
          <a:prstGeom prst="rect">
            <a:avLst/>
          </a:prstGeom>
          <a:noFill/>
        </p:spPr>
        <p:txBody>
          <a:bodyPr wrap="square" lIns="0" tIns="0" rIns="0" bIns="0">
            <a:spAutoFit/>
          </a:bodyPr>
          <a:lstStyle/>
          <a:p>
            <a:pPr algn="l">
              <a:spcBef>
                <a:spcPts val="0"/>
              </a:spcBef>
              <a:spcAft>
                <a:spcPts val="0"/>
              </a:spcAft>
            </a:pPr>
            <a:r>
              <a:rPr sz="1350" b="0">
                <a:solidFill>
                  <a:srgbClr val="93A4B7"/>
                </a:solidFill>
                <a:latin typeface="Calibri"/>
              </a:rPr>
              <a:t>Patient to the point of feeling slow</a:t>
            </a:r>
          </a:p>
        </p:txBody>
      </p:sp>
      <p:sp>
        <p:nvSpPr>
          <p:cNvPr id="15" name="Rounded Rectangle 14"/>
          <p:cNvSpPr/>
          <p:nvPr/>
        </p:nvSpPr>
        <p:spPr>
          <a:xfrm>
            <a:off x="640080" y="3913632"/>
            <a:ext cx="10911809" cy="658368"/>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59536" y="4114800"/>
            <a:ext cx="1737360" cy="292608"/>
          </a:xfrm>
          <a:prstGeom prst="rect">
            <a:avLst/>
          </a:prstGeom>
          <a:noFill/>
        </p:spPr>
        <p:txBody>
          <a:bodyPr wrap="square" lIns="0" tIns="0" rIns="0" bIns="0">
            <a:spAutoFit/>
          </a:bodyPr>
          <a:lstStyle/>
          <a:p>
            <a:pPr algn="l">
              <a:spcBef>
                <a:spcPts val="0"/>
              </a:spcBef>
              <a:spcAft>
                <a:spcPts val="0"/>
              </a:spcAft>
            </a:pPr>
            <a:r>
              <a:rPr sz="1500" b="1">
                <a:solidFill>
                  <a:srgbClr val="E9EFF6"/>
                </a:solidFill>
                <a:latin typeface="Courier New"/>
              </a:rPr>
              <a:t>0.7</a:t>
            </a:r>
          </a:p>
        </p:txBody>
      </p:sp>
      <p:sp>
        <p:nvSpPr>
          <p:cNvPr id="17" name="TextBox 16"/>
          <p:cNvSpPr txBox="1"/>
          <p:nvPr/>
        </p:nvSpPr>
        <p:spPr>
          <a:xfrm>
            <a:off x="3072384" y="4114800"/>
            <a:ext cx="1737360" cy="292608"/>
          </a:xfrm>
          <a:prstGeom prst="rect">
            <a:avLst/>
          </a:prstGeom>
          <a:noFill/>
        </p:spPr>
        <p:txBody>
          <a:bodyPr wrap="square" lIns="0" tIns="0" rIns="0" bIns="0">
            <a:spAutoFit/>
          </a:bodyPr>
          <a:lstStyle/>
          <a:p>
            <a:pPr algn="l">
              <a:spcBef>
                <a:spcPts val="0"/>
              </a:spcBef>
              <a:spcAft>
                <a:spcPts val="0"/>
              </a:spcAft>
            </a:pPr>
            <a:r>
              <a:rPr sz="1500" b="1">
                <a:solidFill>
                  <a:srgbClr val="E9EFF6"/>
                </a:solidFill>
                <a:latin typeface="Courier New"/>
              </a:rPr>
              <a:t>500</a:t>
            </a:r>
          </a:p>
        </p:txBody>
      </p:sp>
      <p:sp>
        <p:nvSpPr>
          <p:cNvPr id="18" name="TextBox 17"/>
          <p:cNvSpPr txBox="1"/>
          <p:nvPr/>
        </p:nvSpPr>
        <p:spPr>
          <a:xfrm>
            <a:off x="5285232" y="4114800"/>
            <a:ext cx="6211793" cy="292608"/>
          </a:xfrm>
          <a:prstGeom prst="rect">
            <a:avLst/>
          </a:prstGeom>
          <a:noFill/>
        </p:spPr>
        <p:txBody>
          <a:bodyPr wrap="square" lIns="0" tIns="0" rIns="0" bIns="0">
            <a:spAutoFit/>
          </a:bodyPr>
          <a:lstStyle/>
          <a:p>
            <a:pPr algn="l">
              <a:spcBef>
                <a:spcPts val="0"/>
              </a:spcBef>
              <a:spcAft>
                <a:spcPts val="0"/>
              </a:spcAft>
            </a:pPr>
            <a:r>
              <a:rPr sz="1350" b="0">
                <a:solidFill>
                  <a:srgbClr val="93A4B7"/>
                </a:solidFill>
                <a:latin typeface="Calibri"/>
              </a:rPr>
              <a:t>Cuts you off on any real pause</a:t>
            </a:r>
          </a:p>
        </p:txBody>
      </p:sp>
      <p:sp>
        <p:nvSpPr>
          <p:cNvPr id="19" name="Rounded Rectangle 18"/>
          <p:cNvSpPr/>
          <p:nvPr/>
        </p:nvSpPr>
        <p:spPr>
          <a:xfrm>
            <a:off x="640080" y="4700016"/>
            <a:ext cx="10911809" cy="658368"/>
          </a:xfrm>
          <a:prstGeom prst="roundRect">
            <a:avLst>
              <a:gd name="adj" fmla="val 3500"/>
            </a:avLst>
          </a:prstGeom>
          <a:solidFill>
            <a:srgbClr val="081F18"/>
          </a:solidFill>
          <a:ln w="12700">
            <a:solidFill>
              <a:srgbClr val="0D6B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59536" y="4901184"/>
            <a:ext cx="1737360" cy="292608"/>
          </a:xfrm>
          <a:prstGeom prst="rect">
            <a:avLst/>
          </a:prstGeom>
          <a:noFill/>
        </p:spPr>
        <p:txBody>
          <a:bodyPr wrap="square" lIns="0" tIns="0" rIns="0" bIns="0">
            <a:spAutoFit/>
          </a:bodyPr>
          <a:lstStyle/>
          <a:p>
            <a:pPr algn="l">
              <a:spcBef>
                <a:spcPts val="0"/>
              </a:spcBef>
              <a:spcAft>
                <a:spcPts val="0"/>
              </a:spcAft>
            </a:pPr>
            <a:r>
              <a:rPr sz="1500" b="1">
                <a:solidFill>
                  <a:srgbClr val="13EF93"/>
                </a:solidFill>
                <a:latin typeface="Courier New"/>
              </a:rPr>
              <a:t>0.7</a:t>
            </a:r>
          </a:p>
        </p:txBody>
      </p:sp>
      <p:sp>
        <p:nvSpPr>
          <p:cNvPr id="21" name="TextBox 20"/>
          <p:cNvSpPr txBox="1"/>
          <p:nvPr/>
        </p:nvSpPr>
        <p:spPr>
          <a:xfrm>
            <a:off x="3072384" y="4901184"/>
            <a:ext cx="1737360" cy="292608"/>
          </a:xfrm>
          <a:prstGeom prst="rect">
            <a:avLst/>
          </a:prstGeom>
          <a:noFill/>
        </p:spPr>
        <p:txBody>
          <a:bodyPr wrap="square" lIns="0" tIns="0" rIns="0" bIns="0">
            <a:spAutoFit/>
          </a:bodyPr>
          <a:lstStyle/>
          <a:p>
            <a:pPr algn="l">
              <a:spcBef>
                <a:spcPts val="0"/>
              </a:spcBef>
              <a:spcAft>
                <a:spcPts val="0"/>
              </a:spcAft>
            </a:pPr>
            <a:r>
              <a:rPr sz="1500" b="1">
                <a:solidFill>
                  <a:srgbClr val="13EF93"/>
                </a:solidFill>
                <a:latin typeface="Courier New"/>
              </a:rPr>
              <a:t>5000</a:t>
            </a:r>
          </a:p>
        </p:txBody>
      </p:sp>
      <p:sp>
        <p:nvSpPr>
          <p:cNvPr id="22" name="TextBox 21"/>
          <p:cNvSpPr txBox="1"/>
          <p:nvPr/>
        </p:nvSpPr>
        <p:spPr>
          <a:xfrm>
            <a:off x="5285232" y="4901184"/>
            <a:ext cx="6211793" cy="292608"/>
          </a:xfrm>
          <a:prstGeom prst="rect">
            <a:avLst/>
          </a:prstGeom>
          <a:noFill/>
        </p:spPr>
        <p:txBody>
          <a:bodyPr wrap="square" lIns="0" tIns="0" rIns="0" bIns="0">
            <a:spAutoFit/>
          </a:bodyPr>
          <a:lstStyle/>
          <a:p>
            <a:pPr algn="l">
              <a:spcBef>
                <a:spcPts val="0"/>
              </a:spcBef>
              <a:spcAft>
                <a:spcPts val="0"/>
              </a:spcAft>
            </a:pPr>
            <a:r>
              <a:rPr sz="1350" b="0">
                <a:solidFill>
                  <a:srgbClr val="93A4B7"/>
                </a:solidFill>
                <a:latin typeface="Calibri"/>
              </a:rPr>
              <a:t>Where you started — the balance you've been using all afternoon</a:t>
            </a:r>
          </a:p>
        </p:txBody>
      </p:sp>
      <p:sp>
        <p:nvSpPr>
          <p:cNvPr id="23" name="Rounded Rectangle 22"/>
          <p:cNvSpPr/>
          <p:nvPr/>
        </p:nvSpPr>
        <p:spPr>
          <a:xfrm>
            <a:off x="640080" y="5541264"/>
            <a:ext cx="10911809" cy="859536"/>
          </a:xfrm>
          <a:prstGeom prst="roundRect">
            <a:avLst>
              <a:gd name="adj" fmla="val 3500"/>
            </a:avLst>
          </a:prstGeom>
          <a:solidFill>
            <a:srgbClr val="17222E"/>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50976" y="5724144"/>
            <a:ext cx="10290017" cy="548640"/>
          </a:xfrm>
          <a:prstGeom prst="rect">
            <a:avLst/>
          </a:prstGeom>
          <a:noFill/>
        </p:spPr>
        <p:txBody>
          <a:bodyPr wrap="square" lIns="0" tIns="0" rIns="0" bIns="0">
            <a:spAutoFit/>
          </a:bodyPr>
          <a:lstStyle/>
          <a:p>
            <a:pPr algn="l">
              <a:spcBef>
                <a:spcPts val="0"/>
              </a:spcBef>
              <a:spcAft>
                <a:spcPts val="0"/>
              </a:spcAft>
            </a:pPr>
            <a:r>
              <a:rPr sz="1500" b="1">
                <a:solidFill>
                  <a:srgbClr val="E9EFF6"/>
                </a:solidFill>
                <a:latin typeface="Calibri"/>
              </a:rPr>
              <a:t>No value is correct in the abstract.</a:t>
            </a:r>
          </a:p>
          <a:p>
            <a:pPr algn="l">
              <a:spcBef>
                <a:spcPts val="400"/>
              </a:spcBef>
              <a:spcAft>
                <a:spcPts val="0"/>
              </a:spcAft>
            </a:pPr>
            <a:r>
              <a:rPr sz="1300" b="0">
                <a:solidFill>
                  <a:srgbClr val="93A4B7"/>
                </a:solidFill>
                <a:latin typeface="Calibri"/>
              </a:rPr>
              <a:t>A drive-through agent wants speed; an agent taking a credit card number over the phone wants patience. You're choosing which mistake to make.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70B10"/>
        </a:solidFill>
        <a:effectLst/>
      </p:bgPr>
    </p:bg>
    <p:spTree>
      <p:nvGrpSpPr>
        <p:cNvPr id="1" name=""/>
        <p:cNvGrpSpPr/>
        <p:nvPr/>
      </p:nvGrpSpPr>
      <p:grpSpPr>
        <a:xfrm>
          <a:off x="0" y="0"/>
          <a:ext cx="0" cy="0"/>
          <a:chOff x="0" y="0"/>
          <a:chExt cx="0" cy="0"/>
        </a:xfrm>
      </p:grpSpPr>
      <p:sp>
        <p:nvSpPr>
          <p:cNvPr id="2" name="TextBox 1"/>
          <p:cNvSpPr txBox="1"/>
          <p:nvPr/>
        </p:nvSpPr>
        <p:spPr>
          <a:xfrm>
            <a:off x="640080" y="475488"/>
            <a:ext cx="10911809" cy="237744"/>
          </a:xfrm>
          <a:prstGeom prst="rect">
            <a:avLst/>
          </a:prstGeom>
          <a:noFill/>
        </p:spPr>
        <p:txBody>
          <a:bodyPr wrap="square" lIns="0" tIns="0" rIns="0" bIns="0">
            <a:spAutoFit/>
          </a:bodyPr>
          <a:lstStyle/>
          <a:p>
            <a:pPr algn="l">
              <a:spcBef>
                <a:spcPts val="0"/>
              </a:spcBef>
              <a:spcAft>
                <a:spcPts val="0"/>
              </a:spcAft>
            </a:pPr>
            <a:r>
              <a:rPr sz="1050" b="1">
                <a:solidFill>
                  <a:srgbClr val="13EF93"/>
                </a:solidFill>
                <a:latin typeface="Calibri"/>
              </a:rPr>
              <a:t>WRAP  ·  3:20</a:t>
            </a:r>
          </a:p>
        </p:txBody>
      </p:sp>
      <p:sp>
        <p:nvSpPr>
          <p:cNvPr id="3" name="TextBox 2"/>
          <p:cNvSpPr txBox="1"/>
          <p:nvPr/>
        </p:nvSpPr>
        <p:spPr>
          <a:xfrm>
            <a:off x="640080" y="786384"/>
            <a:ext cx="10911809" cy="548640"/>
          </a:xfrm>
          <a:prstGeom prst="rect">
            <a:avLst/>
          </a:prstGeom>
          <a:noFill/>
        </p:spPr>
        <p:txBody>
          <a:bodyPr wrap="square" lIns="0" tIns="0" rIns="0" bIns="0">
            <a:spAutoFit/>
          </a:bodyPr>
          <a:lstStyle/>
          <a:p>
            <a:pPr algn="l">
              <a:spcBef>
                <a:spcPts val="0"/>
              </a:spcBef>
              <a:spcAft>
                <a:spcPts val="0"/>
              </a:spcAft>
            </a:pPr>
            <a:r>
              <a:rPr sz="3100" b="1">
                <a:solidFill>
                  <a:srgbClr val="E9EFF6"/>
                </a:solidFill>
                <a:latin typeface="Calibri"/>
              </a:rPr>
              <a:t>What you built</a:t>
            </a:r>
          </a:p>
        </p:txBody>
      </p:sp>
      <p:sp>
        <p:nvSpPr>
          <p:cNvPr id="4" name="TextBox 3"/>
          <p:cNvSpPr txBox="1"/>
          <p:nvPr/>
        </p:nvSpPr>
        <p:spPr>
          <a:xfrm>
            <a:off x="640080" y="1499616"/>
            <a:ext cx="9692640" cy="548640"/>
          </a:xfrm>
          <a:prstGeom prst="rect">
            <a:avLst/>
          </a:prstGeom>
          <a:noFill/>
        </p:spPr>
        <p:txBody>
          <a:bodyPr wrap="square" lIns="0" tIns="0" rIns="0" bIns="0">
            <a:spAutoFit/>
          </a:bodyPr>
          <a:lstStyle/>
          <a:p>
            <a:pPr algn="l">
              <a:lnSpc>
                <a:spcPct val="128000"/>
              </a:lnSpc>
              <a:spcBef>
                <a:spcPts val="0"/>
              </a:spcBef>
              <a:spcAft>
                <a:spcPts val="0"/>
              </a:spcAft>
            </a:pPr>
            <a:r>
              <a:rPr sz="1450" b="0">
                <a:solidFill>
                  <a:srgbClr val="93A4B7"/>
                </a:solidFill>
                <a:latin typeface="Calibri"/>
              </a:rPr>
              <a:t>Roughly 350 lines, most of them comments, doing six things.</a:t>
            </a:r>
          </a:p>
        </p:txBody>
      </p:sp>
      <p:sp>
        <p:nvSpPr>
          <p:cNvPr id="5" name="Rounded Rectangle 4"/>
          <p:cNvSpPr/>
          <p:nvPr/>
        </p:nvSpPr>
        <p:spPr>
          <a:xfrm>
            <a:off x="640080" y="2267712"/>
            <a:ext cx="5300456" cy="694944"/>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859536" y="2505456"/>
            <a:ext cx="219456" cy="219456"/>
          </a:xfrm>
          <a:prstGeom prst="roundRect">
            <a:avLst>
              <a:gd name="adj" fmla="val 50000"/>
            </a:avLst>
          </a:prstGeom>
          <a:noFill/>
          <a:ln w="12700">
            <a:solidFill>
              <a:srgbClr val="13EF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9536" y="2532888"/>
            <a:ext cx="219456" cy="182880"/>
          </a:xfrm>
          <a:prstGeom prst="rect">
            <a:avLst/>
          </a:prstGeom>
          <a:noFill/>
        </p:spPr>
        <p:txBody>
          <a:bodyPr wrap="square" lIns="0" tIns="0" rIns="0" bIns="0">
            <a:spAutoFit/>
          </a:bodyPr>
          <a:lstStyle/>
          <a:p>
            <a:pPr algn="ctr">
              <a:spcBef>
                <a:spcPts val="0"/>
              </a:spcBef>
              <a:spcAft>
                <a:spcPts val="0"/>
              </a:spcAft>
            </a:pPr>
            <a:r>
              <a:rPr sz="1000" b="1">
                <a:solidFill>
                  <a:srgbClr val="13EF93"/>
                </a:solidFill>
                <a:latin typeface="Calibri"/>
              </a:rPr>
              <a:t>✓</a:t>
            </a:r>
          </a:p>
        </p:txBody>
      </p:sp>
      <p:sp>
        <p:nvSpPr>
          <p:cNvPr id="8" name="TextBox 7"/>
          <p:cNvSpPr txBox="1"/>
          <p:nvPr/>
        </p:nvSpPr>
        <p:spPr>
          <a:xfrm>
            <a:off x="1207007" y="2441448"/>
            <a:ext cx="4514072" cy="475488"/>
          </a:xfrm>
          <a:prstGeom prst="rect">
            <a:avLst/>
          </a:prstGeom>
          <a:noFill/>
        </p:spPr>
        <p:txBody>
          <a:bodyPr wrap="square" lIns="0" tIns="0" rIns="0" bIns="0">
            <a:spAutoFit/>
          </a:bodyPr>
          <a:lstStyle/>
          <a:p>
            <a:pPr algn="l">
              <a:lnSpc>
                <a:spcPct val="122000"/>
              </a:lnSpc>
              <a:spcBef>
                <a:spcPts val="0"/>
              </a:spcBef>
              <a:spcAft>
                <a:spcPts val="0"/>
              </a:spcAft>
            </a:pPr>
            <a:r>
              <a:rPr sz="1300" b="0">
                <a:solidFill>
                  <a:srgbClr val="E9EFF6"/>
                </a:solidFill>
                <a:latin typeface="Calibri"/>
              </a:rPr>
              <a:t>Opens a WebSocket and negotiates an agent configuration</a:t>
            </a:r>
          </a:p>
        </p:txBody>
      </p:sp>
      <p:sp>
        <p:nvSpPr>
          <p:cNvPr id="9" name="Rounded Rectangle 8"/>
          <p:cNvSpPr/>
          <p:nvPr/>
        </p:nvSpPr>
        <p:spPr>
          <a:xfrm>
            <a:off x="640080" y="3072384"/>
            <a:ext cx="5300456" cy="694944"/>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859536" y="3310128"/>
            <a:ext cx="219456" cy="219456"/>
          </a:xfrm>
          <a:prstGeom prst="roundRect">
            <a:avLst>
              <a:gd name="adj" fmla="val 50000"/>
            </a:avLst>
          </a:prstGeom>
          <a:noFill/>
          <a:ln w="12700">
            <a:solidFill>
              <a:srgbClr val="13EF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59536" y="3337560"/>
            <a:ext cx="219456" cy="182880"/>
          </a:xfrm>
          <a:prstGeom prst="rect">
            <a:avLst/>
          </a:prstGeom>
          <a:noFill/>
        </p:spPr>
        <p:txBody>
          <a:bodyPr wrap="square" lIns="0" tIns="0" rIns="0" bIns="0">
            <a:spAutoFit/>
          </a:bodyPr>
          <a:lstStyle/>
          <a:p>
            <a:pPr algn="ctr">
              <a:spcBef>
                <a:spcPts val="0"/>
              </a:spcBef>
              <a:spcAft>
                <a:spcPts val="0"/>
              </a:spcAft>
            </a:pPr>
            <a:r>
              <a:rPr sz="1000" b="1">
                <a:solidFill>
                  <a:srgbClr val="13EF93"/>
                </a:solidFill>
                <a:latin typeface="Calibri"/>
              </a:rPr>
              <a:t>✓</a:t>
            </a:r>
          </a:p>
        </p:txBody>
      </p:sp>
      <p:sp>
        <p:nvSpPr>
          <p:cNvPr id="12" name="TextBox 11"/>
          <p:cNvSpPr txBox="1"/>
          <p:nvPr/>
        </p:nvSpPr>
        <p:spPr>
          <a:xfrm>
            <a:off x="1207007" y="3246120"/>
            <a:ext cx="4514072" cy="475488"/>
          </a:xfrm>
          <a:prstGeom prst="rect">
            <a:avLst/>
          </a:prstGeom>
          <a:noFill/>
        </p:spPr>
        <p:txBody>
          <a:bodyPr wrap="square" lIns="0" tIns="0" rIns="0" bIns="0">
            <a:spAutoFit/>
          </a:bodyPr>
          <a:lstStyle/>
          <a:p>
            <a:pPr algn="l">
              <a:lnSpc>
                <a:spcPct val="122000"/>
              </a:lnSpc>
              <a:spcBef>
                <a:spcPts val="0"/>
              </a:spcBef>
              <a:spcAft>
                <a:spcPts val="0"/>
              </a:spcAft>
            </a:pPr>
            <a:r>
              <a:rPr sz="1300" b="0">
                <a:solidFill>
                  <a:srgbClr val="E9EFF6"/>
                </a:solidFill>
                <a:latin typeface="Calibri"/>
              </a:rPr>
              <a:t>Streams microphone audio without blocking the thread that plays the reply</a:t>
            </a:r>
          </a:p>
        </p:txBody>
      </p:sp>
      <p:sp>
        <p:nvSpPr>
          <p:cNvPr id="13" name="Rounded Rectangle 12"/>
          <p:cNvSpPr/>
          <p:nvPr/>
        </p:nvSpPr>
        <p:spPr>
          <a:xfrm>
            <a:off x="640080" y="3877056"/>
            <a:ext cx="5300456" cy="694944"/>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859536" y="4114800"/>
            <a:ext cx="219456" cy="219456"/>
          </a:xfrm>
          <a:prstGeom prst="roundRect">
            <a:avLst>
              <a:gd name="adj" fmla="val 50000"/>
            </a:avLst>
          </a:prstGeom>
          <a:noFill/>
          <a:ln w="12700">
            <a:solidFill>
              <a:srgbClr val="13EF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9536" y="4142232"/>
            <a:ext cx="219456" cy="182880"/>
          </a:xfrm>
          <a:prstGeom prst="rect">
            <a:avLst/>
          </a:prstGeom>
          <a:noFill/>
        </p:spPr>
        <p:txBody>
          <a:bodyPr wrap="square" lIns="0" tIns="0" rIns="0" bIns="0">
            <a:spAutoFit/>
          </a:bodyPr>
          <a:lstStyle/>
          <a:p>
            <a:pPr algn="ctr">
              <a:spcBef>
                <a:spcPts val="0"/>
              </a:spcBef>
              <a:spcAft>
                <a:spcPts val="0"/>
              </a:spcAft>
            </a:pPr>
            <a:r>
              <a:rPr sz="1000" b="1">
                <a:solidFill>
                  <a:srgbClr val="13EF93"/>
                </a:solidFill>
                <a:latin typeface="Calibri"/>
              </a:rPr>
              <a:t>✓</a:t>
            </a:r>
          </a:p>
        </p:txBody>
      </p:sp>
      <p:sp>
        <p:nvSpPr>
          <p:cNvPr id="16" name="TextBox 15"/>
          <p:cNvSpPr txBox="1"/>
          <p:nvPr/>
        </p:nvSpPr>
        <p:spPr>
          <a:xfrm>
            <a:off x="1207007" y="4050792"/>
            <a:ext cx="4514072" cy="475488"/>
          </a:xfrm>
          <a:prstGeom prst="rect">
            <a:avLst/>
          </a:prstGeom>
          <a:noFill/>
        </p:spPr>
        <p:txBody>
          <a:bodyPr wrap="square" lIns="0" tIns="0" rIns="0" bIns="0">
            <a:spAutoFit/>
          </a:bodyPr>
          <a:lstStyle/>
          <a:p>
            <a:pPr algn="l">
              <a:lnSpc>
                <a:spcPct val="122000"/>
              </a:lnSpc>
              <a:spcBef>
                <a:spcPts val="0"/>
              </a:spcBef>
              <a:spcAft>
                <a:spcPts val="0"/>
              </a:spcAft>
            </a:pPr>
            <a:r>
              <a:rPr sz="1300" b="0">
                <a:solidFill>
                  <a:srgbClr val="E9EFF6"/>
                </a:solidFill>
                <a:latin typeface="Calibri"/>
              </a:rPr>
              <a:t>Plays the agent's speech as it arrives, rather than after a full sentence</a:t>
            </a:r>
          </a:p>
        </p:txBody>
      </p:sp>
      <p:sp>
        <p:nvSpPr>
          <p:cNvPr id="17" name="Rounded Rectangle 16"/>
          <p:cNvSpPr/>
          <p:nvPr/>
        </p:nvSpPr>
        <p:spPr>
          <a:xfrm>
            <a:off x="6251432" y="2267712"/>
            <a:ext cx="5300456" cy="694944"/>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470888" y="2505456"/>
            <a:ext cx="219456" cy="219456"/>
          </a:xfrm>
          <a:prstGeom prst="roundRect">
            <a:avLst>
              <a:gd name="adj" fmla="val 50000"/>
            </a:avLst>
          </a:prstGeom>
          <a:noFill/>
          <a:ln w="12700">
            <a:solidFill>
              <a:srgbClr val="13EF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70888" y="2532888"/>
            <a:ext cx="219456" cy="182880"/>
          </a:xfrm>
          <a:prstGeom prst="rect">
            <a:avLst/>
          </a:prstGeom>
          <a:noFill/>
        </p:spPr>
        <p:txBody>
          <a:bodyPr wrap="square" lIns="0" tIns="0" rIns="0" bIns="0">
            <a:spAutoFit/>
          </a:bodyPr>
          <a:lstStyle/>
          <a:p>
            <a:pPr algn="ctr">
              <a:spcBef>
                <a:spcPts val="0"/>
              </a:spcBef>
              <a:spcAft>
                <a:spcPts val="0"/>
              </a:spcAft>
            </a:pPr>
            <a:r>
              <a:rPr sz="1000" b="1">
                <a:solidFill>
                  <a:srgbClr val="13EF93"/>
                </a:solidFill>
                <a:latin typeface="Calibri"/>
              </a:rPr>
              <a:t>✓</a:t>
            </a:r>
          </a:p>
        </p:txBody>
      </p:sp>
      <p:sp>
        <p:nvSpPr>
          <p:cNvPr id="20" name="TextBox 19"/>
          <p:cNvSpPr txBox="1"/>
          <p:nvPr/>
        </p:nvSpPr>
        <p:spPr>
          <a:xfrm>
            <a:off x="6818360" y="2441448"/>
            <a:ext cx="4514072" cy="475488"/>
          </a:xfrm>
          <a:prstGeom prst="rect">
            <a:avLst/>
          </a:prstGeom>
          <a:noFill/>
        </p:spPr>
        <p:txBody>
          <a:bodyPr wrap="square" lIns="0" tIns="0" rIns="0" bIns="0">
            <a:spAutoFit/>
          </a:bodyPr>
          <a:lstStyle/>
          <a:p>
            <a:pPr algn="l">
              <a:lnSpc>
                <a:spcPct val="122000"/>
              </a:lnSpc>
              <a:spcBef>
                <a:spcPts val="0"/>
              </a:spcBef>
              <a:spcAft>
                <a:spcPts val="0"/>
              </a:spcAft>
            </a:pPr>
            <a:r>
              <a:rPr sz="1300" b="0">
                <a:solidFill>
                  <a:srgbClr val="E9EFF6"/>
                </a:solidFill>
                <a:latin typeface="Calibri"/>
              </a:rPr>
              <a:t>Cuts playback the instant you interrupt</a:t>
            </a:r>
          </a:p>
        </p:txBody>
      </p:sp>
      <p:sp>
        <p:nvSpPr>
          <p:cNvPr id="21" name="Rounded Rectangle 20"/>
          <p:cNvSpPr/>
          <p:nvPr/>
        </p:nvSpPr>
        <p:spPr>
          <a:xfrm>
            <a:off x="6251432" y="3072384"/>
            <a:ext cx="5300456" cy="694944"/>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470888" y="3310128"/>
            <a:ext cx="219456" cy="219456"/>
          </a:xfrm>
          <a:prstGeom prst="roundRect">
            <a:avLst>
              <a:gd name="adj" fmla="val 50000"/>
            </a:avLst>
          </a:prstGeom>
          <a:noFill/>
          <a:ln w="12700">
            <a:solidFill>
              <a:srgbClr val="13EF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70888" y="3337560"/>
            <a:ext cx="219456" cy="182880"/>
          </a:xfrm>
          <a:prstGeom prst="rect">
            <a:avLst/>
          </a:prstGeom>
          <a:noFill/>
        </p:spPr>
        <p:txBody>
          <a:bodyPr wrap="square" lIns="0" tIns="0" rIns="0" bIns="0">
            <a:spAutoFit/>
          </a:bodyPr>
          <a:lstStyle/>
          <a:p>
            <a:pPr algn="ctr">
              <a:spcBef>
                <a:spcPts val="0"/>
              </a:spcBef>
              <a:spcAft>
                <a:spcPts val="0"/>
              </a:spcAft>
            </a:pPr>
            <a:r>
              <a:rPr sz="1000" b="1">
                <a:solidFill>
                  <a:srgbClr val="13EF93"/>
                </a:solidFill>
                <a:latin typeface="Calibri"/>
              </a:rPr>
              <a:t>✓</a:t>
            </a:r>
          </a:p>
        </p:txBody>
      </p:sp>
      <p:sp>
        <p:nvSpPr>
          <p:cNvPr id="24" name="TextBox 23"/>
          <p:cNvSpPr txBox="1"/>
          <p:nvPr/>
        </p:nvSpPr>
        <p:spPr>
          <a:xfrm>
            <a:off x="6818360" y="3246120"/>
            <a:ext cx="4514072" cy="475488"/>
          </a:xfrm>
          <a:prstGeom prst="rect">
            <a:avLst/>
          </a:prstGeom>
          <a:noFill/>
        </p:spPr>
        <p:txBody>
          <a:bodyPr wrap="square" lIns="0" tIns="0" rIns="0" bIns="0">
            <a:spAutoFit/>
          </a:bodyPr>
          <a:lstStyle/>
          <a:p>
            <a:pPr algn="l">
              <a:lnSpc>
                <a:spcPct val="122000"/>
              </a:lnSpc>
              <a:spcBef>
                <a:spcPts val="0"/>
              </a:spcBef>
              <a:spcAft>
                <a:spcPts val="0"/>
              </a:spcAft>
            </a:pPr>
            <a:r>
              <a:rPr sz="1300" b="0">
                <a:solidFill>
                  <a:srgbClr val="E9EFF6"/>
                </a:solidFill>
                <a:latin typeface="Calibri"/>
              </a:rPr>
              <a:t>Calls your Python and speaks the result</a:t>
            </a:r>
          </a:p>
        </p:txBody>
      </p:sp>
      <p:sp>
        <p:nvSpPr>
          <p:cNvPr id="25" name="Rounded Rectangle 24"/>
          <p:cNvSpPr/>
          <p:nvPr/>
        </p:nvSpPr>
        <p:spPr>
          <a:xfrm>
            <a:off x="6251432" y="3877056"/>
            <a:ext cx="5300456" cy="694944"/>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6470888" y="4114800"/>
            <a:ext cx="219456" cy="219456"/>
          </a:xfrm>
          <a:prstGeom prst="roundRect">
            <a:avLst>
              <a:gd name="adj" fmla="val 50000"/>
            </a:avLst>
          </a:prstGeom>
          <a:noFill/>
          <a:ln w="12700">
            <a:solidFill>
              <a:srgbClr val="13EF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470888" y="4142232"/>
            <a:ext cx="219456" cy="182880"/>
          </a:xfrm>
          <a:prstGeom prst="rect">
            <a:avLst/>
          </a:prstGeom>
          <a:noFill/>
        </p:spPr>
        <p:txBody>
          <a:bodyPr wrap="square" lIns="0" tIns="0" rIns="0" bIns="0">
            <a:spAutoFit/>
          </a:bodyPr>
          <a:lstStyle/>
          <a:p>
            <a:pPr algn="ctr">
              <a:spcBef>
                <a:spcPts val="0"/>
              </a:spcBef>
              <a:spcAft>
                <a:spcPts val="0"/>
              </a:spcAft>
            </a:pPr>
            <a:r>
              <a:rPr sz="1000" b="1">
                <a:solidFill>
                  <a:srgbClr val="13EF93"/>
                </a:solidFill>
                <a:latin typeface="Calibri"/>
              </a:rPr>
              <a:t>✓</a:t>
            </a:r>
          </a:p>
        </p:txBody>
      </p:sp>
      <p:sp>
        <p:nvSpPr>
          <p:cNvPr id="28" name="TextBox 27"/>
          <p:cNvSpPr txBox="1"/>
          <p:nvPr/>
        </p:nvSpPr>
        <p:spPr>
          <a:xfrm>
            <a:off x="6818360" y="4050792"/>
            <a:ext cx="4514072" cy="475488"/>
          </a:xfrm>
          <a:prstGeom prst="rect">
            <a:avLst/>
          </a:prstGeom>
          <a:noFill/>
        </p:spPr>
        <p:txBody>
          <a:bodyPr wrap="square" lIns="0" tIns="0" rIns="0" bIns="0">
            <a:spAutoFit/>
          </a:bodyPr>
          <a:lstStyle/>
          <a:p>
            <a:pPr algn="l">
              <a:lnSpc>
                <a:spcPct val="122000"/>
              </a:lnSpc>
              <a:spcBef>
                <a:spcPts val="0"/>
              </a:spcBef>
              <a:spcAft>
                <a:spcPts val="0"/>
              </a:spcAft>
            </a:pPr>
            <a:r>
              <a:rPr sz="1300" b="0">
                <a:solidFill>
                  <a:srgbClr val="E9EFF6"/>
                </a:solidFill>
                <a:latin typeface="Calibri"/>
              </a:rPr>
              <a:t>Takes its turns on terms you chose, and measures what they cost</a:t>
            </a:r>
          </a:p>
        </p:txBody>
      </p:sp>
      <p:sp>
        <p:nvSpPr>
          <p:cNvPr id="29" name="Rounded Rectangle 28"/>
          <p:cNvSpPr/>
          <p:nvPr/>
        </p:nvSpPr>
        <p:spPr>
          <a:xfrm>
            <a:off x="640080" y="4882896"/>
            <a:ext cx="10911809" cy="1005840"/>
          </a:xfrm>
          <a:prstGeom prst="roundRect">
            <a:avLst>
              <a:gd name="adj" fmla="val 3500"/>
            </a:avLst>
          </a:prstGeom>
          <a:solidFill>
            <a:srgbClr val="17222E"/>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50976" y="5065776"/>
            <a:ext cx="10290017" cy="658368"/>
          </a:xfrm>
          <a:prstGeom prst="rect">
            <a:avLst/>
          </a:prstGeom>
          <a:noFill/>
        </p:spPr>
        <p:txBody>
          <a:bodyPr wrap="square" lIns="0" tIns="0" rIns="0" bIns="0">
            <a:spAutoFit/>
          </a:bodyPr>
          <a:lstStyle/>
          <a:p>
            <a:pPr algn="l">
              <a:spcBef>
                <a:spcPts val="0"/>
              </a:spcBef>
              <a:spcAft>
                <a:spcPts val="0"/>
              </a:spcAft>
            </a:pPr>
            <a:r>
              <a:rPr sz="1550" b="1">
                <a:solidFill>
                  <a:srgbClr val="13EF93"/>
                </a:solidFill>
                <a:latin typeface="Calibri"/>
              </a:rPr>
              <a:t>And notice what isn't in it.</a:t>
            </a:r>
          </a:p>
          <a:p>
            <a:pPr algn="l">
              <a:lnSpc>
                <a:spcPct val="128000"/>
              </a:lnSpc>
              <a:spcBef>
                <a:spcPts val="500"/>
              </a:spcBef>
              <a:spcAft>
                <a:spcPts val="0"/>
              </a:spcAft>
            </a:pPr>
            <a:r>
              <a:rPr sz="1300" b="0">
                <a:solidFill>
                  <a:srgbClr val="93A4B7"/>
                </a:solidFill>
                <a:latin typeface="Calibri"/>
              </a:rPr>
              <a:t>No device handling, no resampling, no chunking, no permission prompts, and no voice activity detection. The audio layer is all in web/, which every step shares and nobody edits — and the fact that it is replaceable is the point of keeping it out of the step files.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70B10"/>
        </a:solidFill>
        <a:effectLst/>
      </p:bgPr>
    </p:bg>
    <p:spTree>
      <p:nvGrpSpPr>
        <p:cNvPr id="1" name=""/>
        <p:cNvGrpSpPr/>
        <p:nvPr/>
      </p:nvGrpSpPr>
      <p:grpSpPr>
        <a:xfrm>
          <a:off x="0" y="0"/>
          <a:ext cx="0" cy="0"/>
          <a:chOff x="0" y="0"/>
          <a:chExt cx="0" cy="0"/>
        </a:xfrm>
      </p:grpSpPr>
      <p:sp>
        <p:nvSpPr>
          <p:cNvPr id="2" name="TextBox 1"/>
          <p:cNvSpPr txBox="1"/>
          <p:nvPr/>
        </p:nvSpPr>
        <p:spPr>
          <a:xfrm>
            <a:off x="640080" y="475488"/>
            <a:ext cx="10911809" cy="548640"/>
          </a:xfrm>
          <a:prstGeom prst="rect">
            <a:avLst/>
          </a:prstGeom>
          <a:noFill/>
        </p:spPr>
        <p:txBody>
          <a:bodyPr wrap="square" lIns="0" tIns="0" rIns="0" bIns="0">
            <a:spAutoFit/>
          </a:bodyPr>
          <a:lstStyle/>
          <a:p>
            <a:pPr algn="l">
              <a:spcBef>
                <a:spcPts val="0"/>
              </a:spcBef>
              <a:spcAft>
                <a:spcPts val="0"/>
              </a:spcAft>
            </a:pPr>
            <a:r>
              <a:rPr sz="3100" b="1">
                <a:solidFill>
                  <a:srgbClr val="E9EFF6"/>
                </a:solidFill>
                <a:latin typeface="Calibri"/>
              </a:rPr>
              <a:t>Two take-homes</a:t>
            </a:r>
          </a:p>
        </p:txBody>
      </p:sp>
      <p:sp>
        <p:nvSpPr>
          <p:cNvPr id="3" name="TextBox 2"/>
          <p:cNvSpPr txBox="1"/>
          <p:nvPr/>
        </p:nvSpPr>
        <p:spPr>
          <a:xfrm>
            <a:off x="640080" y="1188720"/>
            <a:ext cx="9692640" cy="548640"/>
          </a:xfrm>
          <a:prstGeom prst="rect">
            <a:avLst/>
          </a:prstGeom>
          <a:noFill/>
        </p:spPr>
        <p:txBody>
          <a:bodyPr wrap="square" lIns="0" tIns="0" rIns="0" bIns="0">
            <a:spAutoFit/>
          </a:bodyPr>
          <a:lstStyle/>
          <a:p>
            <a:pPr algn="l">
              <a:lnSpc>
                <a:spcPct val="128000"/>
              </a:lnSpc>
              <a:spcBef>
                <a:spcPts val="0"/>
              </a:spcBef>
              <a:spcAft>
                <a:spcPts val="0"/>
              </a:spcAft>
            </a:pPr>
            <a:r>
              <a:rPr sz="1450" b="0">
                <a:solidFill>
                  <a:srgbClr val="93A4B7"/>
                </a:solidFill>
                <a:latin typeface="Calibri"/>
              </a:rPr>
              <a:t>Detours, not links in the chain. Skip either and the next numbered step continues exactly as it would.</a:t>
            </a:r>
          </a:p>
        </p:txBody>
      </p:sp>
      <p:sp>
        <p:nvSpPr>
          <p:cNvPr id="4" name="Rounded Rectangle 3"/>
          <p:cNvSpPr/>
          <p:nvPr/>
        </p:nvSpPr>
        <p:spPr>
          <a:xfrm>
            <a:off x="640080" y="1956816"/>
            <a:ext cx="5300456" cy="3200400"/>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50976" y="2231136"/>
            <a:ext cx="4678664" cy="2651760"/>
          </a:xfrm>
          <a:prstGeom prst="rect">
            <a:avLst/>
          </a:prstGeom>
          <a:noFill/>
        </p:spPr>
        <p:txBody>
          <a:bodyPr wrap="square" lIns="0" tIns="0" rIns="0" bIns="0">
            <a:spAutoFit/>
          </a:bodyPr>
          <a:lstStyle/>
          <a:p>
            <a:pPr algn="l">
              <a:spcBef>
                <a:spcPts val="0"/>
              </a:spcBef>
              <a:spcAft>
                <a:spcPts val="0"/>
              </a:spcAft>
            </a:pPr>
            <a:r>
              <a:rPr sz="1050" b="1">
                <a:solidFill>
                  <a:srgbClr val="FFB454"/>
                </a:solidFill>
                <a:latin typeface="Calibri"/>
              </a:rPr>
              <a:t>STEP 6B  ·  15 MIN</a:t>
            </a:r>
          </a:p>
          <a:p>
            <a:pPr algn="l">
              <a:lnSpc>
                <a:spcPct val="114000"/>
              </a:lnSpc>
              <a:spcBef>
                <a:spcPts val="800"/>
              </a:spcBef>
              <a:spcAft>
                <a:spcPts val="0"/>
              </a:spcAft>
            </a:pPr>
            <a:r>
              <a:rPr sz="2100" b="1">
                <a:solidFill>
                  <a:srgbClr val="E9EFF6"/>
                </a:solidFill>
                <a:latin typeface="Calibri"/>
              </a:rPr>
              <a:t>Bring your own LLM</a:t>
            </a:r>
          </a:p>
          <a:p>
            <a:pPr algn="l">
              <a:lnSpc>
                <a:spcPct val="130000"/>
              </a:lnSpc>
              <a:spcBef>
                <a:spcPts val="1000"/>
              </a:spcBef>
              <a:spcAft>
                <a:spcPts val="0"/>
              </a:spcAft>
            </a:pPr>
            <a:r>
              <a:rPr sz="1300" b="0">
                <a:solidFill>
                  <a:srgbClr val="93A4B7"/>
                </a:solidFill>
                <a:latin typeface="Calibri"/>
              </a:rPr>
              <a:t>Moves the agent's brain to Amazon Bedrock, in your own AWS account. Deepgram makes the call as you, with credentials you hand it, against an endpoint you name. Your account, your model access, your bill.</a:t>
            </a:r>
          </a:p>
          <a:p>
            <a:pPr algn="l">
              <a:lnSpc>
                <a:spcPct val="128000"/>
              </a:lnSpc>
              <a:spcBef>
                <a:spcPts val="1200"/>
              </a:spcBef>
              <a:spcAft>
                <a:spcPts val="0"/>
              </a:spcAft>
            </a:pPr>
            <a:r>
              <a:rPr sz="1250" b="0">
                <a:solidFill>
                  <a:srgbClr val="FFB454"/>
                </a:solidFill>
                <a:latin typeface="Calibri"/>
              </a:rPr>
              <a:t>Needs Bedrock model access, granted per model and per region — which for a fresh account is calendar time rather than work. That's why it isn't in today's run.</a:t>
            </a:r>
          </a:p>
        </p:txBody>
      </p:sp>
      <p:sp>
        <p:nvSpPr>
          <p:cNvPr id="6" name="Rounded Rectangle 5"/>
          <p:cNvSpPr/>
          <p:nvPr/>
        </p:nvSpPr>
        <p:spPr>
          <a:xfrm>
            <a:off x="6251432" y="1956816"/>
            <a:ext cx="5300456" cy="3200400"/>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62328" y="2231136"/>
            <a:ext cx="4678664" cy="2651760"/>
          </a:xfrm>
          <a:prstGeom prst="rect">
            <a:avLst/>
          </a:prstGeom>
          <a:noFill/>
        </p:spPr>
        <p:txBody>
          <a:bodyPr wrap="square" lIns="0" tIns="0" rIns="0" bIns="0">
            <a:spAutoFit/>
          </a:bodyPr>
          <a:lstStyle/>
          <a:p>
            <a:pPr algn="l">
              <a:spcBef>
                <a:spcPts val="0"/>
              </a:spcBef>
              <a:spcAft>
                <a:spcPts val="0"/>
              </a:spcAft>
            </a:pPr>
            <a:r>
              <a:rPr sz="1050" b="1">
                <a:solidFill>
                  <a:srgbClr val="13EF93"/>
                </a:solidFill>
                <a:latin typeface="Calibri"/>
              </a:rPr>
              <a:t>STEP 7B  ·  15 MIN</a:t>
            </a:r>
          </a:p>
          <a:p>
            <a:pPr algn="l">
              <a:lnSpc>
                <a:spcPct val="114000"/>
              </a:lnSpc>
              <a:spcBef>
                <a:spcPts val="800"/>
              </a:spcBef>
              <a:spcAft>
                <a:spcPts val="0"/>
              </a:spcAft>
            </a:pPr>
            <a:r>
              <a:rPr sz="2100" b="1">
                <a:solidFill>
                  <a:srgbClr val="E9EFF6"/>
                </a:solidFill>
                <a:latin typeface="Calibri"/>
              </a:rPr>
              <a:t>A second vertical, in healthcare</a:t>
            </a:r>
          </a:p>
          <a:p>
            <a:pPr algn="l">
              <a:lnSpc>
                <a:spcPct val="130000"/>
              </a:lnSpc>
              <a:spcBef>
                <a:spcPts val="1000"/>
              </a:spcBef>
              <a:spcAft>
                <a:spcPts val="0"/>
              </a:spcAft>
            </a:pPr>
            <a:r>
              <a:rPr sz="1300" b="0">
                <a:solidFill>
                  <a:srgbClr val="93A4B7"/>
                </a:solidFill>
                <a:latin typeface="Calibri"/>
              </a:rPr>
              <a:t>A clinic scheduling agent instead of a bank. Same function-calling machinery, pointed at a domain where the hard problem is what the agent must never repeat.</a:t>
            </a:r>
          </a:p>
          <a:p>
            <a:pPr algn="l">
              <a:lnSpc>
                <a:spcPct val="128000"/>
              </a:lnSpc>
              <a:spcBef>
                <a:spcPts val="1200"/>
              </a:spcBef>
              <a:spcAft>
                <a:spcPts val="0"/>
              </a:spcAft>
            </a:pPr>
            <a:r>
              <a:rPr sz="1250" b="0">
                <a:solidFill>
                  <a:srgbClr val="13EF93"/>
                </a:solidFill>
                <a:latin typeface="Calibri"/>
              </a:rPr>
              <a:t>Needs nothing beyond the Deepgram key you already have. Teaches the two things banking doesn't: keyterms, and holding back data the agent must not say aloud.</a:t>
            </a:r>
          </a:p>
        </p:txBody>
      </p:sp>
      <p:sp>
        <p:nvSpPr>
          <p:cNvPr id="8" name="TextBox 7"/>
          <p:cNvSpPr txBox="1"/>
          <p:nvPr/>
        </p:nvSpPr>
        <p:spPr>
          <a:xfrm>
            <a:off x="640080" y="5943600"/>
            <a:ext cx="10911809" cy="457200"/>
          </a:xfrm>
          <a:prstGeom prst="rect">
            <a:avLst/>
          </a:prstGeom>
          <a:noFill/>
        </p:spPr>
        <p:txBody>
          <a:bodyPr wrap="square" lIns="0" tIns="0" rIns="0" bIns="0">
            <a:spAutoFit/>
          </a:bodyPr>
          <a:lstStyle/>
          <a:p>
            <a:pPr algn="l">
              <a:lnSpc>
                <a:spcPct val="125000"/>
              </a:lnSpc>
              <a:spcBef>
                <a:spcPts val="0"/>
              </a:spcBef>
              <a:spcAft>
                <a:spcPts val="0"/>
              </a:spcAft>
            </a:pPr>
            <a:r>
              <a:rPr sz="1300" b="0">
                <a:solidFill>
                  <a:srgbClr val="93A4B7"/>
                </a:solidFill>
                <a:latin typeface="Calibri"/>
              </a:rPr>
              <a:t>Both read fine unattended — each LAB.md carries its own answer key, because nothing downstream can be one. Appendix has a slide on each.</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70B10"/>
        </a:solidFill>
        <a:effectLst/>
      </p:bgPr>
    </p:bg>
    <p:spTree>
      <p:nvGrpSpPr>
        <p:cNvPr id="1" name=""/>
        <p:cNvGrpSpPr/>
        <p:nvPr/>
      </p:nvGrpSpPr>
      <p:grpSpPr>
        <a:xfrm>
          <a:off x="0" y="0"/>
          <a:ext cx="0" cy="0"/>
          <a:chOff x="0" y="0"/>
          <a:chExt cx="0" cy="0"/>
        </a:xfrm>
      </p:grpSpPr>
      <p:sp>
        <p:nvSpPr>
          <p:cNvPr id="2" name="TextBox 1"/>
          <p:cNvSpPr txBox="1"/>
          <p:nvPr/>
        </p:nvSpPr>
        <p:spPr>
          <a:xfrm>
            <a:off x="640080" y="475488"/>
            <a:ext cx="10911809" cy="548640"/>
          </a:xfrm>
          <a:prstGeom prst="rect">
            <a:avLst/>
          </a:prstGeom>
          <a:noFill/>
        </p:spPr>
        <p:txBody>
          <a:bodyPr wrap="square" lIns="0" tIns="0" rIns="0" bIns="0">
            <a:spAutoFit/>
          </a:bodyPr>
          <a:lstStyle/>
          <a:p>
            <a:pPr algn="l">
              <a:spcBef>
                <a:spcPts val="0"/>
              </a:spcBef>
              <a:spcAft>
                <a:spcPts val="0"/>
              </a:spcAft>
            </a:pPr>
            <a:r>
              <a:rPr sz="3100" b="1">
                <a:solidFill>
                  <a:srgbClr val="E9EFF6"/>
                </a:solidFill>
                <a:latin typeface="Calibri"/>
              </a:rPr>
              <a:t>Where to go from here</a:t>
            </a:r>
          </a:p>
        </p:txBody>
      </p:sp>
      <p:sp>
        <p:nvSpPr>
          <p:cNvPr id="3" name="TextBox 2"/>
          <p:cNvSpPr txBox="1"/>
          <p:nvPr/>
        </p:nvSpPr>
        <p:spPr>
          <a:xfrm>
            <a:off x="640080" y="1188720"/>
            <a:ext cx="9692640" cy="548640"/>
          </a:xfrm>
          <a:prstGeom prst="rect">
            <a:avLst/>
          </a:prstGeom>
          <a:noFill/>
        </p:spPr>
        <p:txBody>
          <a:bodyPr wrap="square" lIns="0" tIns="0" rIns="0" bIns="0">
            <a:spAutoFit/>
          </a:bodyPr>
          <a:lstStyle/>
          <a:p>
            <a:pPr algn="l">
              <a:lnSpc>
                <a:spcPct val="128000"/>
              </a:lnSpc>
              <a:spcBef>
                <a:spcPts val="0"/>
              </a:spcBef>
              <a:spcAft>
                <a:spcPts val="0"/>
              </a:spcAft>
            </a:pPr>
            <a:r>
              <a:rPr sz="1450" b="0">
                <a:solidFill>
                  <a:srgbClr val="93A4B7"/>
                </a:solidFill>
                <a:latin typeface="Calibri"/>
              </a:rPr>
              <a:t>Five things you can try tonight, in rising order of how much they change.</a:t>
            </a:r>
          </a:p>
        </p:txBody>
      </p:sp>
      <p:sp>
        <p:nvSpPr>
          <p:cNvPr id="4" name="Rounded Rectangle 3"/>
          <p:cNvSpPr/>
          <p:nvPr/>
        </p:nvSpPr>
        <p:spPr>
          <a:xfrm>
            <a:off x="640080" y="1956815"/>
            <a:ext cx="384048" cy="384048"/>
          </a:xfrm>
          <a:prstGeom prst="roundRect">
            <a:avLst>
              <a:gd name="adj" fmla="val 50000"/>
            </a:avLst>
          </a:prstGeom>
          <a:noFill/>
          <a:ln w="12700">
            <a:solidFill>
              <a:srgbClr val="13EF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2020824"/>
            <a:ext cx="384048" cy="274320"/>
          </a:xfrm>
          <a:prstGeom prst="rect">
            <a:avLst/>
          </a:prstGeom>
          <a:noFill/>
        </p:spPr>
        <p:txBody>
          <a:bodyPr wrap="square" lIns="0" tIns="0" rIns="0" bIns="0">
            <a:spAutoFit/>
          </a:bodyPr>
          <a:lstStyle/>
          <a:p>
            <a:pPr algn="ctr">
              <a:spcBef>
                <a:spcPts val="0"/>
              </a:spcBef>
              <a:spcAft>
                <a:spcPts val="0"/>
              </a:spcAft>
            </a:pPr>
            <a:r>
              <a:rPr sz="1250" b="1">
                <a:solidFill>
                  <a:srgbClr val="13EF93"/>
                </a:solidFill>
                <a:latin typeface="Calibri"/>
              </a:rPr>
              <a:t>1</a:t>
            </a:r>
          </a:p>
        </p:txBody>
      </p:sp>
      <p:sp>
        <p:nvSpPr>
          <p:cNvPr id="6" name="TextBox 5"/>
          <p:cNvSpPr txBox="1"/>
          <p:nvPr/>
        </p:nvSpPr>
        <p:spPr>
          <a:xfrm>
            <a:off x="1280160" y="1865376"/>
            <a:ext cx="10271729" cy="859536"/>
          </a:xfrm>
          <a:prstGeom prst="rect">
            <a:avLst/>
          </a:prstGeom>
          <a:noFill/>
        </p:spPr>
        <p:txBody>
          <a:bodyPr wrap="square" lIns="0" tIns="0" rIns="0" bIns="0">
            <a:spAutoFit/>
          </a:bodyPr>
          <a:lstStyle/>
          <a:p>
            <a:pPr algn="l">
              <a:spcBef>
                <a:spcPts val="0"/>
              </a:spcBef>
              <a:spcAft>
                <a:spcPts val="0"/>
              </a:spcAft>
            </a:pPr>
            <a:r>
              <a:rPr sz="1500" b="1">
                <a:solidFill>
                  <a:srgbClr val="E9EFF6"/>
                </a:solidFill>
                <a:latin typeface="Calibri"/>
              </a:rPr>
              <a:t>Keyterms</a:t>
            </a:r>
          </a:p>
          <a:p>
            <a:pPr algn="l">
              <a:lnSpc>
                <a:spcPct val="128000"/>
              </a:lnSpc>
              <a:spcBef>
                <a:spcPts val="400"/>
              </a:spcBef>
              <a:spcAft>
                <a:spcPts val="0"/>
              </a:spcAft>
            </a:pPr>
            <a:r>
              <a:rPr sz="1250" b="0">
                <a:solidFill>
                  <a:srgbClr val="93A4B7"/>
                </a:solidFill>
                <a:latin typeface="Calibri"/>
              </a:rPr>
              <a:t>Bias recognition toward your product names, SKUs, and jargon Flux would otherwise mishear. One line of configuration, and usually the highest-leverage accuracy fix for a domain-specific agent.</a:t>
            </a:r>
          </a:p>
        </p:txBody>
      </p:sp>
      <p:sp>
        <p:nvSpPr>
          <p:cNvPr id="7" name="Rounded Rectangle 6"/>
          <p:cNvSpPr/>
          <p:nvPr/>
        </p:nvSpPr>
        <p:spPr>
          <a:xfrm>
            <a:off x="640080" y="2926080"/>
            <a:ext cx="384048" cy="384048"/>
          </a:xfrm>
          <a:prstGeom prst="roundRect">
            <a:avLst>
              <a:gd name="adj" fmla="val 50000"/>
            </a:avLst>
          </a:prstGeom>
          <a:noFill/>
          <a:ln w="12700">
            <a:solidFill>
              <a:srgbClr val="13EF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2990088"/>
            <a:ext cx="384048" cy="274320"/>
          </a:xfrm>
          <a:prstGeom prst="rect">
            <a:avLst/>
          </a:prstGeom>
          <a:noFill/>
        </p:spPr>
        <p:txBody>
          <a:bodyPr wrap="square" lIns="0" tIns="0" rIns="0" bIns="0">
            <a:spAutoFit/>
          </a:bodyPr>
          <a:lstStyle/>
          <a:p>
            <a:pPr algn="ctr">
              <a:spcBef>
                <a:spcPts val="0"/>
              </a:spcBef>
              <a:spcAft>
                <a:spcPts val="0"/>
              </a:spcAft>
            </a:pPr>
            <a:r>
              <a:rPr sz="1250" b="1">
                <a:solidFill>
                  <a:srgbClr val="13EF93"/>
                </a:solidFill>
                <a:latin typeface="Calibri"/>
              </a:rPr>
              <a:t>2</a:t>
            </a:r>
          </a:p>
        </p:txBody>
      </p:sp>
      <p:sp>
        <p:nvSpPr>
          <p:cNvPr id="9" name="TextBox 8"/>
          <p:cNvSpPr txBox="1"/>
          <p:nvPr/>
        </p:nvSpPr>
        <p:spPr>
          <a:xfrm>
            <a:off x="1280160" y="2834640"/>
            <a:ext cx="10271729" cy="859536"/>
          </a:xfrm>
          <a:prstGeom prst="rect">
            <a:avLst/>
          </a:prstGeom>
          <a:noFill/>
        </p:spPr>
        <p:txBody>
          <a:bodyPr wrap="square" lIns="0" tIns="0" rIns="0" bIns="0">
            <a:spAutoFit/>
          </a:bodyPr>
          <a:lstStyle/>
          <a:p>
            <a:pPr algn="l">
              <a:spcBef>
                <a:spcPts val="0"/>
              </a:spcBef>
              <a:spcAft>
                <a:spcPts val="0"/>
              </a:spcAft>
            </a:pPr>
            <a:r>
              <a:rPr sz="1500" b="1">
                <a:solidFill>
                  <a:srgbClr val="E9EFF6"/>
                </a:solidFill>
                <a:latin typeface="Calibri"/>
              </a:rPr>
              <a:t>Multilingual</a:t>
            </a:r>
          </a:p>
          <a:p>
            <a:pPr algn="l">
              <a:lnSpc>
                <a:spcPct val="128000"/>
              </a:lnSpc>
              <a:spcBef>
                <a:spcPts val="400"/>
              </a:spcBef>
              <a:spcAft>
                <a:spcPts val="0"/>
              </a:spcAft>
            </a:pPr>
            <a:r>
              <a:rPr sz="1250" b="0">
                <a:solidFill>
                  <a:srgbClr val="93A4B7"/>
                </a:solidFill>
                <a:latin typeface="Calibri"/>
              </a:rPr>
              <a:t>Change the listen model to flux-general-multi for automatic language detection, and pass language_hints when you know the likely languages.</a:t>
            </a:r>
          </a:p>
        </p:txBody>
      </p:sp>
      <p:sp>
        <p:nvSpPr>
          <p:cNvPr id="10" name="Rounded Rectangle 9"/>
          <p:cNvSpPr/>
          <p:nvPr/>
        </p:nvSpPr>
        <p:spPr>
          <a:xfrm>
            <a:off x="640080" y="3895344"/>
            <a:ext cx="384048" cy="384048"/>
          </a:xfrm>
          <a:prstGeom prst="roundRect">
            <a:avLst>
              <a:gd name="adj" fmla="val 50000"/>
            </a:avLst>
          </a:prstGeom>
          <a:noFill/>
          <a:ln w="12700">
            <a:solidFill>
              <a:srgbClr val="13EF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3959352"/>
            <a:ext cx="384048" cy="274320"/>
          </a:xfrm>
          <a:prstGeom prst="rect">
            <a:avLst/>
          </a:prstGeom>
          <a:noFill/>
        </p:spPr>
        <p:txBody>
          <a:bodyPr wrap="square" lIns="0" tIns="0" rIns="0" bIns="0">
            <a:spAutoFit/>
          </a:bodyPr>
          <a:lstStyle/>
          <a:p>
            <a:pPr algn="ctr">
              <a:spcBef>
                <a:spcPts val="0"/>
              </a:spcBef>
              <a:spcAft>
                <a:spcPts val="0"/>
              </a:spcAft>
            </a:pPr>
            <a:r>
              <a:rPr sz="1250" b="1">
                <a:solidFill>
                  <a:srgbClr val="13EF93"/>
                </a:solidFill>
                <a:latin typeface="Calibri"/>
              </a:rPr>
              <a:t>3</a:t>
            </a:r>
          </a:p>
        </p:txBody>
      </p:sp>
      <p:sp>
        <p:nvSpPr>
          <p:cNvPr id="12" name="TextBox 11"/>
          <p:cNvSpPr txBox="1"/>
          <p:nvPr/>
        </p:nvSpPr>
        <p:spPr>
          <a:xfrm>
            <a:off x="1280160" y="3803904"/>
            <a:ext cx="10271729" cy="859536"/>
          </a:xfrm>
          <a:prstGeom prst="rect">
            <a:avLst/>
          </a:prstGeom>
          <a:noFill/>
        </p:spPr>
        <p:txBody>
          <a:bodyPr wrap="square" lIns="0" tIns="0" rIns="0" bIns="0">
            <a:spAutoFit/>
          </a:bodyPr>
          <a:lstStyle/>
          <a:p>
            <a:pPr algn="l">
              <a:spcBef>
                <a:spcPts val="0"/>
              </a:spcBef>
              <a:spcAft>
                <a:spcPts val="0"/>
              </a:spcAft>
            </a:pPr>
            <a:r>
              <a:rPr sz="1500" b="1">
                <a:solidFill>
                  <a:srgbClr val="E9EFF6"/>
                </a:solidFill>
                <a:latin typeface="Calibri"/>
              </a:rPr>
              <a:t>Eager end-of-turn</a:t>
            </a:r>
          </a:p>
          <a:p>
            <a:pPr algn="l">
              <a:lnSpc>
                <a:spcPct val="128000"/>
              </a:lnSpc>
              <a:spcBef>
                <a:spcPts val="400"/>
              </a:spcBef>
              <a:spcAft>
                <a:spcPts val="0"/>
              </a:spcAft>
            </a:pPr>
            <a:r>
              <a:rPr sz="1250" b="0">
                <a:solidFill>
                  <a:srgbClr val="93A4B7"/>
                </a:solidFill>
                <a:latin typeface="Calibri"/>
              </a:rPr>
              <a:t>Add eager_eot_threshold to start the LLM on a probable turn end and discard the work if the user keeps talking. Lower latency, more LLM calls.</a:t>
            </a:r>
          </a:p>
        </p:txBody>
      </p:sp>
      <p:sp>
        <p:nvSpPr>
          <p:cNvPr id="13" name="Rounded Rectangle 12"/>
          <p:cNvSpPr/>
          <p:nvPr/>
        </p:nvSpPr>
        <p:spPr>
          <a:xfrm>
            <a:off x="640080" y="4864608"/>
            <a:ext cx="384048" cy="384048"/>
          </a:xfrm>
          <a:prstGeom prst="roundRect">
            <a:avLst>
              <a:gd name="adj" fmla="val 50000"/>
            </a:avLst>
          </a:prstGeom>
          <a:noFill/>
          <a:ln w="12700">
            <a:solidFill>
              <a:srgbClr val="13EF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4928616"/>
            <a:ext cx="384048" cy="274320"/>
          </a:xfrm>
          <a:prstGeom prst="rect">
            <a:avLst/>
          </a:prstGeom>
          <a:noFill/>
        </p:spPr>
        <p:txBody>
          <a:bodyPr wrap="square" lIns="0" tIns="0" rIns="0" bIns="0">
            <a:spAutoFit/>
          </a:bodyPr>
          <a:lstStyle/>
          <a:p>
            <a:pPr algn="ctr">
              <a:spcBef>
                <a:spcPts val="0"/>
              </a:spcBef>
              <a:spcAft>
                <a:spcPts val="0"/>
              </a:spcAft>
            </a:pPr>
            <a:r>
              <a:rPr sz="1250" b="1">
                <a:solidFill>
                  <a:srgbClr val="13EF93"/>
                </a:solidFill>
                <a:latin typeface="Calibri"/>
              </a:rPr>
              <a:t>4</a:t>
            </a:r>
          </a:p>
        </p:txBody>
      </p:sp>
      <p:sp>
        <p:nvSpPr>
          <p:cNvPr id="15" name="TextBox 14"/>
          <p:cNvSpPr txBox="1"/>
          <p:nvPr/>
        </p:nvSpPr>
        <p:spPr>
          <a:xfrm>
            <a:off x="1280160" y="4773168"/>
            <a:ext cx="10271729" cy="859536"/>
          </a:xfrm>
          <a:prstGeom prst="rect">
            <a:avLst/>
          </a:prstGeom>
          <a:noFill/>
        </p:spPr>
        <p:txBody>
          <a:bodyPr wrap="square" lIns="0" tIns="0" rIns="0" bIns="0">
            <a:spAutoFit/>
          </a:bodyPr>
          <a:lstStyle/>
          <a:p>
            <a:pPr algn="l">
              <a:spcBef>
                <a:spcPts val="0"/>
              </a:spcBef>
              <a:spcAft>
                <a:spcPts val="0"/>
              </a:spcAft>
            </a:pPr>
            <a:r>
              <a:rPr sz="1500" b="1">
                <a:solidFill>
                  <a:srgbClr val="E9EFF6"/>
                </a:solidFill>
                <a:latin typeface="Calibri"/>
              </a:rPr>
              <a:t>Mid-conversation updates</a:t>
            </a:r>
          </a:p>
          <a:p>
            <a:pPr algn="l">
              <a:lnSpc>
                <a:spcPct val="128000"/>
              </a:lnSpc>
              <a:spcBef>
                <a:spcPts val="400"/>
              </a:spcBef>
              <a:spcAft>
                <a:spcPts val="0"/>
              </a:spcAft>
            </a:pPr>
            <a:r>
              <a:rPr sz="1250" b="0">
                <a:solidFill>
                  <a:srgbClr val="93A4B7"/>
                </a:solidFill>
                <a:latin typeface="Calibri"/>
              </a:rPr>
              <a:t>send_update_prompt changes instructions without reconnecting. send_inject_agent_message makes the agent say something unprompted, and send_inject_user_message makes function calling testable without a microphone.</a:t>
            </a:r>
          </a:p>
        </p:txBody>
      </p:sp>
      <p:sp>
        <p:nvSpPr>
          <p:cNvPr id="16" name="Rounded Rectangle 15"/>
          <p:cNvSpPr/>
          <p:nvPr/>
        </p:nvSpPr>
        <p:spPr>
          <a:xfrm>
            <a:off x="640080" y="5833872"/>
            <a:ext cx="384048" cy="384048"/>
          </a:xfrm>
          <a:prstGeom prst="roundRect">
            <a:avLst>
              <a:gd name="adj" fmla="val 50000"/>
            </a:avLst>
          </a:prstGeom>
          <a:noFill/>
          <a:ln w="12700">
            <a:solidFill>
              <a:srgbClr val="13EF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5897880"/>
            <a:ext cx="384048" cy="274320"/>
          </a:xfrm>
          <a:prstGeom prst="rect">
            <a:avLst/>
          </a:prstGeom>
          <a:noFill/>
        </p:spPr>
        <p:txBody>
          <a:bodyPr wrap="square" lIns="0" tIns="0" rIns="0" bIns="0">
            <a:spAutoFit/>
          </a:bodyPr>
          <a:lstStyle/>
          <a:p>
            <a:pPr algn="ctr">
              <a:spcBef>
                <a:spcPts val="0"/>
              </a:spcBef>
              <a:spcAft>
                <a:spcPts val="0"/>
              </a:spcAft>
            </a:pPr>
            <a:r>
              <a:rPr sz="1250" b="1">
                <a:solidFill>
                  <a:srgbClr val="13EF93"/>
                </a:solidFill>
                <a:latin typeface="Calibri"/>
              </a:rPr>
              <a:t>5</a:t>
            </a:r>
          </a:p>
        </p:txBody>
      </p:sp>
      <p:sp>
        <p:nvSpPr>
          <p:cNvPr id="18" name="TextBox 17"/>
          <p:cNvSpPr txBox="1"/>
          <p:nvPr/>
        </p:nvSpPr>
        <p:spPr>
          <a:xfrm>
            <a:off x="1280160" y="5742432"/>
            <a:ext cx="10271729" cy="859536"/>
          </a:xfrm>
          <a:prstGeom prst="rect">
            <a:avLst/>
          </a:prstGeom>
          <a:noFill/>
        </p:spPr>
        <p:txBody>
          <a:bodyPr wrap="square" lIns="0" tIns="0" rIns="0" bIns="0">
            <a:spAutoFit/>
          </a:bodyPr>
          <a:lstStyle/>
          <a:p>
            <a:pPr algn="l">
              <a:spcBef>
                <a:spcPts val="0"/>
              </a:spcBef>
              <a:spcAft>
                <a:spcPts val="0"/>
              </a:spcAft>
            </a:pPr>
            <a:r>
              <a:rPr sz="1500" b="1">
                <a:solidFill>
                  <a:srgbClr val="E9EFF6"/>
                </a:solidFill>
                <a:latin typeface="Calibri"/>
              </a:rPr>
              <a:t>Telephony</a:t>
            </a:r>
          </a:p>
          <a:p>
            <a:pPr algn="l">
              <a:lnSpc>
                <a:spcPct val="128000"/>
              </a:lnSpc>
              <a:spcBef>
                <a:spcPts val="400"/>
              </a:spcBef>
              <a:spcAft>
                <a:spcPts val="0"/>
              </a:spcAft>
            </a:pPr>
            <a:r>
              <a:rPr sz="1250" b="0">
                <a:solidFill>
                  <a:srgbClr val="93A4B7"/>
                </a:solidFill>
                <a:latin typeface="Calibri"/>
              </a:rPr>
              <a:t>Drop SAMPLE_RATE to 8000 and switch encoding to mulaw to match what phone networks carry. main.py is otherwise unchanged — replacing web/ with a Twilio media stream is the real work.</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70B10"/>
        </a:solidFill>
        <a:effectLst/>
      </p:bgPr>
    </p:bg>
    <p:spTree>
      <p:nvGrpSpPr>
        <p:cNvPr id="1" name=""/>
        <p:cNvGrpSpPr/>
        <p:nvPr/>
      </p:nvGrpSpPr>
      <p:grpSpPr>
        <a:xfrm>
          <a:off x="0" y="0"/>
          <a:ext cx="0" cy="0"/>
          <a:chOff x="0" y="0"/>
          <a:chExt cx="0" cy="0"/>
        </a:xfrm>
      </p:grpSpPr>
      <p:sp>
        <p:nvSpPr>
          <p:cNvPr id="2" name="TextBox 1"/>
          <p:cNvSpPr txBox="1"/>
          <p:nvPr/>
        </p:nvSpPr>
        <p:spPr>
          <a:xfrm>
            <a:off x="640080" y="475488"/>
            <a:ext cx="10911809" cy="548640"/>
          </a:xfrm>
          <a:prstGeom prst="rect">
            <a:avLst/>
          </a:prstGeom>
          <a:noFill/>
        </p:spPr>
        <p:txBody>
          <a:bodyPr wrap="square" lIns="0" tIns="0" rIns="0" bIns="0">
            <a:spAutoFit/>
          </a:bodyPr>
          <a:lstStyle/>
          <a:p>
            <a:pPr algn="l">
              <a:spcBef>
                <a:spcPts val="0"/>
              </a:spcBef>
              <a:spcAft>
                <a:spcPts val="0"/>
              </a:spcAft>
            </a:pPr>
            <a:r>
              <a:rPr sz="3100" b="1">
                <a:solidFill>
                  <a:srgbClr val="E9EFF6"/>
                </a:solidFill>
                <a:latin typeface="Calibri"/>
              </a:rPr>
              <a:t>Keep going</a:t>
            </a:r>
          </a:p>
        </p:txBody>
      </p:sp>
      <p:sp>
        <p:nvSpPr>
          <p:cNvPr id="3" name="TextBox 2"/>
          <p:cNvSpPr txBox="1"/>
          <p:nvPr/>
        </p:nvSpPr>
        <p:spPr>
          <a:xfrm>
            <a:off x="640080" y="1188720"/>
            <a:ext cx="9692640" cy="548640"/>
          </a:xfrm>
          <a:prstGeom prst="rect">
            <a:avLst/>
          </a:prstGeom>
          <a:noFill/>
        </p:spPr>
        <p:txBody>
          <a:bodyPr wrap="square" lIns="0" tIns="0" rIns="0" bIns="0">
            <a:spAutoFit/>
          </a:bodyPr>
          <a:lstStyle/>
          <a:p>
            <a:pPr algn="l">
              <a:lnSpc>
                <a:spcPct val="128000"/>
              </a:lnSpc>
              <a:spcBef>
                <a:spcPts val="0"/>
              </a:spcBef>
              <a:spcAft>
                <a:spcPts val="0"/>
              </a:spcAft>
            </a:pPr>
            <a:r>
              <a:rPr sz="1450" b="0">
                <a:solidFill>
                  <a:srgbClr val="93A4B7"/>
                </a:solidFill>
                <a:latin typeface="Calibri"/>
              </a:rPr>
              <a:t>Bring the questions you didn't get to. Both community channels are staffed by people who work on this.</a:t>
            </a:r>
          </a:p>
        </p:txBody>
      </p:sp>
      <p:sp>
        <p:nvSpPr>
          <p:cNvPr id="4" name="Rounded Rectangle 3"/>
          <p:cNvSpPr/>
          <p:nvPr/>
        </p:nvSpPr>
        <p:spPr>
          <a:xfrm>
            <a:off x="640080" y="1956816"/>
            <a:ext cx="3490965" cy="1773936"/>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877824" y="2313432"/>
            <a:ext cx="1060704" cy="1060704"/>
          </a:xfrm>
          <a:prstGeom prst="roundRect">
            <a:avLst>
              <a:gd name="adj" fmla="val 3000"/>
            </a:avLst>
          </a:prstGeom>
          <a:no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2752344"/>
            <a:ext cx="1060704" cy="219456"/>
          </a:xfrm>
          <a:prstGeom prst="rect">
            <a:avLst/>
          </a:prstGeom>
          <a:noFill/>
        </p:spPr>
        <p:txBody>
          <a:bodyPr wrap="square" lIns="0" tIns="0" rIns="0" bIns="0">
            <a:spAutoFit/>
          </a:bodyPr>
          <a:lstStyle/>
          <a:p>
            <a:pPr algn="ctr">
              <a:spcBef>
                <a:spcPts val="0"/>
              </a:spcBef>
              <a:spcAft>
                <a:spcPts val="0"/>
              </a:spcAft>
            </a:pPr>
            <a:r>
              <a:rPr sz="1000" b="1">
                <a:solidFill>
                  <a:srgbClr val="5D6E80"/>
                </a:solidFill>
                <a:latin typeface="Calibri"/>
              </a:rPr>
              <a:t>QR</a:t>
            </a:r>
          </a:p>
        </p:txBody>
      </p:sp>
      <p:sp>
        <p:nvSpPr>
          <p:cNvPr id="7" name="TextBox 6"/>
          <p:cNvSpPr txBox="1"/>
          <p:nvPr/>
        </p:nvSpPr>
        <p:spPr>
          <a:xfrm>
            <a:off x="2103120" y="2340864"/>
            <a:ext cx="1790181" cy="1097280"/>
          </a:xfrm>
          <a:prstGeom prst="rect">
            <a:avLst/>
          </a:prstGeom>
          <a:noFill/>
        </p:spPr>
        <p:txBody>
          <a:bodyPr wrap="square" lIns="0" tIns="0" rIns="0" bIns="0">
            <a:spAutoFit/>
          </a:bodyPr>
          <a:lstStyle/>
          <a:p>
            <a:pPr algn="l">
              <a:lnSpc>
                <a:spcPct val="114000"/>
              </a:lnSpc>
              <a:spcBef>
                <a:spcPts val="0"/>
              </a:spcBef>
              <a:spcAft>
                <a:spcPts val="0"/>
              </a:spcAft>
            </a:pPr>
            <a:r>
              <a:rPr sz="1400" b="1">
                <a:solidFill>
                  <a:srgbClr val="E9EFF6"/>
                </a:solidFill>
                <a:latin typeface="Calibri"/>
              </a:rPr>
              <a:t>Sign up / API key</a:t>
            </a:r>
          </a:p>
          <a:p>
            <a:pPr algn="l">
              <a:lnSpc>
                <a:spcPct val="120000"/>
              </a:lnSpc>
              <a:spcBef>
                <a:spcPts val="600"/>
              </a:spcBef>
              <a:spcAft>
                <a:spcPts val="0"/>
              </a:spcAft>
            </a:pPr>
            <a:r>
              <a:rPr sz="1050" b="0">
                <a:solidFill>
                  <a:srgbClr val="13EF93"/>
                </a:solidFill>
                <a:latin typeface="Courier New"/>
              </a:rPr>
              <a:t>console.deepgram.com/signup</a:t>
            </a:r>
          </a:p>
        </p:txBody>
      </p:sp>
      <p:sp>
        <p:nvSpPr>
          <p:cNvPr id="8" name="Rounded Rectangle 7"/>
          <p:cNvSpPr/>
          <p:nvPr/>
        </p:nvSpPr>
        <p:spPr>
          <a:xfrm>
            <a:off x="4350501" y="1956816"/>
            <a:ext cx="3490965" cy="1773936"/>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588245" y="2313432"/>
            <a:ext cx="1060704" cy="1060704"/>
          </a:xfrm>
          <a:prstGeom prst="roundRect">
            <a:avLst>
              <a:gd name="adj" fmla="val 3000"/>
            </a:avLst>
          </a:prstGeom>
          <a:no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88245" y="2752344"/>
            <a:ext cx="1060704" cy="219456"/>
          </a:xfrm>
          <a:prstGeom prst="rect">
            <a:avLst/>
          </a:prstGeom>
          <a:noFill/>
        </p:spPr>
        <p:txBody>
          <a:bodyPr wrap="square" lIns="0" tIns="0" rIns="0" bIns="0">
            <a:spAutoFit/>
          </a:bodyPr>
          <a:lstStyle/>
          <a:p>
            <a:pPr algn="ctr">
              <a:spcBef>
                <a:spcPts val="0"/>
              </a:spcBef>
              <a:spcAft>
                <a:spcPts val="0"/>
              </a:spcAft>
            </a:pPr>
            <a:r>
              <a:rPr sz="1000" b="1">
                <a:solidFill>
                  <a:srgbClr val="5D6E80"/>
                </a:solidFill>
                <a:latin typeface="Calibri"/>
              </a:rPr>
              <a:t>QR</a:t>
            </a:r>
          </a:p>
        </p:txBody>
      </p:sp>
      <p:sp>
        <p:nvSpPr>
          <p:cNvPr id="11" name="TextBox 10"/>
          <p:cNvSpPr txBox="1"/>
          <p:nvPr/>
        </p:nvSpPr>
        <p:spPr>
          <a:xfrm>
            <a:off x="5813541" y="2340864"/>
            <a:ext cx="1790181" cy="1097280"/>
          </a:xfrm>
          <a:prstGeom prst="rect">
            <a:avLst/>
          </a:prstGeom>
          <a:noFill/>
        </p:spPr>
        <p:txBody>
          <a:bodyPr wrap="square" lIns="0" tIns="0" rIns="0" bIns="0">
            <a:spAutoFit/>
          </a:bodyPr>
          <a:lstStyle/>
          <a:p>
            <a:pPr algn="l">
              <a:lnSpc>
                <a:spcPct val="114000"/>
              </a:lnSpc>
              <a:spcBef>
                <a:spcPts val="0"/>
              </a:spcBef>
              <a:spcAft>
                <a:spcPts val="0"/>
              </a:spcAft>
            </a:pPr>
            <a:r>
              <a:rPr sz="1400" b="1">
                <a:solidFill>
                  <a:srgbClr val="E9EFF6"/>
                </a:solidFill>
                <a:latin typeface="Calibri"/>
              </a:rPr>
              <a:t>Voice Agent docs</a:t>
            </a:r>
          </a:p>
          <a:p>
            <a:pPr algn="l">
              <a:lnSpc>
                <a:spcPct val="120000"/>
              </a:lnSpc>
              <a:spcBef>
                <a:spcPts val="600"/>
              </a:spcBef>
              <a:spcAft>
                <a:spcPts val="0"/>
              </a:spcAft>
            </a:pPr>
            <a:r>
              <a:rPr sz="1050" b="0">
                <a:solidFill>
                  <a:srgbClr val="13EF93"/>
                </a:solidFill>
                <a:latin typeface="Courier New"/>
              </a:rPr>
              <a:t>developers.deepgram.com/docs/voice-agent</a:t>
            </a:r>
          </a:p>
        </p:txBody>
      </p:sp>
      <p:sp>
        <p:nvSpPr>
          <p:cNvPr id="12" name="Rounded Rectangle 11"/>
          <p:cNvSpPr/>
          <p:nvPr/>
        </p:nvSpPr>
        <p:spPr>
          <a:xfrm>
            <a:off x="8060923" y="1956816"/>
            <a:ext cx="3490965" cy="1773936"/>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298667" y="2313432"/>
            <a:ext cx="1060704" cy="1060704"/>
          </a:xfrm>
          <a:prstGeom prst="roundRect">
            <a:avLst>
              <a:gd name="adj" fmla="val 3000"/>
            </a:avLst>
          </a:prstGeom>
          <a:no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98667" y="2752344"/>
            <a:ext cx="1060704" cy="219456"/>
          </a:xfrm>
          <a:prstGeom prst="rect">
            <a:avLst/>
          </a:prstGeom>
          <a:noFill/>
        </p:spPr>
        <p:txBody>
          <a:bodyPr wrap="square" lIns="0" tIns="0" rIns="0" bIns="0">
            <a:spAutoFit/>
          </a:bodyPr>
          <a:lstStyle/>
          <a:p>
            <a:pPr algn="ctr">
              <a:spcBef>
                <a:spcPts val="0"/>
              </a:spcBef>
              <a:spcAft>
                <a:spcPts val="0"/>
              </a:spcAft>
            </a:pPr>
            <a:r>
              <a:rPr sz="1000" b="1">
                <a:solidFill>
                  <a:srgbClr val="5D6E80"/>
                </a:solidFill>
                <a:latin typeface="Calibri"/>
              </a:rPr>
              <a:t>QR</a:t>
            </a:r>
          </a:p>
        </p:txBody>
      </p:sp>
      <p:sp>
        <p:nvSpPr>
          <p:cNvPr id="15" name="TextBox 14"/>
          <p:cNvSpPr txBox="1"/>
          <p:nvPr/>
        </p:nvSpPr>
        <p:spPr>
          <a:xfrm>
            <a:off x="9523963" y="2340864"/>
            <a:ext cx="1790181" cy="1097280"/>
          </a:xfrm>
          <a:prstGeom prst="rect">
            <a:avLst/>
          </a:prstGeom>
          <a:noFill/>
        </p:spPr>
        <p:txBody>
          <a:bodyPr wrap="square" lIns="0" tIns="0" rIns="0" bIns="0">
            <a:spAutoFit/>
          </a:bodyPr>
          <a:lstStyle/>
          <a:p>
            <a:pPr algn="l">
              <a:lnSpc>
                <a:spcPct val="114000"/>
              </a:lnSpc>
              <a:spcBef>
                <a:spcPts val="0"/>
              </a:spcBef>
              <a:spcAft>
                <a:spcPts val="0"/>
              </a:spcAft>
            </a:pPr>
            <a:r>
              <a:rPr sz="1400" b="1">
                <a:solidFill>
                  <a:srgbClr val="E9EFF6"/>
                </a:solidFill>
                <a:latin typeface="Calibri"/>
              </a:rPr>
              <a:t>Flux docs</a:t>
            </a:r>
          </a:p>
          <a:p>
            <a:pPr algn="l">
              <a:lnSpc>
                <a:spcPct val="120000"/>
              </a:lnSpc>
              <a:spcBef>
                <a:spcPts val="600"/>
              </a:spcBef>
              <a:spcAft>
                <a:spcPts val="0"/>
              </a:spcAft>
            </a:pPr>
            <a:r>
              <a:rPr sz="1050" b="0">
                <a:solidFill>
                  <a:srgbClr val="13EF93"/>
                </a:solidFill>
                <a:latin typeface="Courier New"/>
              </a:rPr>
              <a:t>developers.deepgram.com/docs/flux</a:t>
            </a:r>
          </a:p>
        </p:txBody>
      </p:sp>
      <p:sp>
        <p:nvSpPr>
          <p:cNvPr id="16" name="Rounded Rectangle 15"/>
          <p:cNvSpPr/>
          <p:nvPr/>
        </p:nvSpPr>
        <p:spPr>
          <a:xfrm>
            <a:off x="640080" y="3968496"/>
            <a:ext cx="3490965" cy="1773936"/>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877824" y="4325112"/>
            <a:ext cx="1060704" cy="1060704"/>
          </a:xfrm>
          <a:prstGeom prst="roundRect">
            <a:avLst>
              <a:gd name="adj" fmla="val 3000"/>
            </a:avLst>
          </a:prstGeom>
          <a:no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77824" y="4764024"/>
            <a:ext cx="1060704" cy="219456"/>
          </a:xfrm>
          <a:prstGeom prst="rect">
            <a:avLst/>
          </a:prstGeom>
          <a:noFill/>
        </p:spPr>
        <p:txBody>
          <a:bodyPr wrap="square" lIns="0" tIns="0" rIns="0" bIns="0">
            <a:spAutoFit/>
          </a:bodyPr>
          <a:lstStyle/>
          <a:p>
            <a:pPr algn="ctr">
              <a:spcBef>
                <a:spcPts val="0"/>
              </a:spcBef>
              <a:spcAft>
                <a:spcPts val="0"/>
              </a:spcAft>
            </a:pPr>
            <a:r>
              <a:rPr sz="1000" b="1">
                <a:solidFill>
                  <a:srgbClr val="5D6E80"/>
                </a:solidFill>
                <a:latin typeface="Calibri"/>
              </a:rPr>
              <a:t>QR</a:t>
            </a:r>
          </a:p>
        </p:txBody>
      </p:sp>
      <p:sp>
        <p:nvSpPr>
          <p:cNvPr id="19" name="TextBox 18"/>
          <p:cNvSpPr txBox="1"/>
          <p:nvPr/>
        </p:nvSpPr>
        <p:spPr>
          <a:xfrm>
            <a:off x="2103120" y="4352544"/>
            <a:ext cx="1790181" cy="1097280"/>
          </a:xfrm>
          <a:prstGeom prst="rect">
            <a:avLst/>
          </a:prstGeom>
          <a:noFill/>
        </p:spPr>
        <p:txBody>
          <a:bodyPr wrap="square" lIns="0" tIns="0" rIns="0" bIns="0">
            <a:spAutoFit/>
          </a:bodyPr>
          <a:lstStyle/>
          <a:p>
            <a:pPr algn="l">
              <a:lnSpc>
                <a:spcPct val="114000"/>
              </a:lnSpc>
              <a:spcBef>
                <a:spcPts val="0"/>
              </a:spcBef>
              <a:spcAft>
                <a:spcPts val="0"/>
              </a:spcAft>
            </a:pPr>
            <a:r>
              <a:rPr sz="1400" b="1">
                <a:solidFill>
                  <a:srgbClr val="E9EFF6"/>
                </a:solidFill>
                <a:latin typeface="Calibri"/>
              </a:rPr>
              <a:t>Voice catalogue</a:t>
            </a:r>
          </a:p>
          <a:p>
            <a:pPr algn="l">
              <a:lnSpc>
                <a:spcPct val="120000"/>
              </a:lnSpc>
              <a:spcBef>
                <a:spcPts val="600"/>
              </a:spcBef>
              <a:spcAft>
                <a:spcPts val="0"/>
              </a:spcAft>
            </a:pPr>
            <a:r>
              <a:rPr sz="1050" b="0">
                <a:solidFill>
                  <a:srgbClr val="13EF93"/>
                </a:solidFill>
                <a:latin typeface="Courier New"/>
              </a:rPr>
              <a:t>developers.deepgram.com/docs/tts-models</a:t>
            </a:r>
          </a:p>
        </p:txBody>
      </p:sp>
      <p:sp>
        <p:nvSpPr>
          <p:cNvPr id="20" name="Rounded Rectangle 19"/>
          <p:cNvSpPr/>
          <p:nvPr/>
        </p:nvSpPr>
        <p:spPr>
          <a:xfrm>
            <a:off x="4350501" y="3968496"/>
            <a:ext cx="3490965" cy="1773936"/>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4588245" y="4325112"/>
            <a:ext cx="1060704" cy="1060704"/>
          </a:xfrm>
          <a:prstGeom prst="roundRect">
            <a:avLst>
              <a:gd name="adj" fmla="val 3000"/>
            </a:avLst>
          </a:prstGeom>
          <a:no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88245" y="4764024"/>
            <a:ext cx="1060704" cy="219456"/>
          </a:xfrm>
          <a:prstGeom prst="rect">
            <a:avLst/>
          </a:prstGeom>
          <a:noFill/>
        </p:spPr>
        <p:txBody>
          <a:bodyPr wrap="square" lIns="0" tIns="0" rIns="0" bIns="0">
            <a:spAutoFit/>
          </a:bodyPr>
          <a:lstStyle/>
          <a:p>
            <a:pPr algn="ctr">
              <a:spcBef>
                <a:spcPts val="0"/>
              </a:spcBef>
              <a:spcAft>
                <a:spcPts val="0"/>
              </a:spcAft>
            </a:pPr>
            <a:r>
              <a:rPr sz="1000" b="1">
                <a:solidFill>
                  <a:srgbClr val="5D6E80"/>
                </a:solidFill>
                <a:latin typeface="Calibri"/>
              </a:rPr>
              <a:t>QR</a:t>
            </a:r>
          </a:p>
        </p:txBody>
      </p:sp>
      <p:sp>
        <p:nvSpPr>
          <p:cNvPr id="23" name="TextBox 22"/>
          <p:cNvSpPr txBox="1"/>
          <p:nvPr/>
        </p:nvSpPr>
        <p:spPr>
          <a:xfrm>
            <a:off x="5813541" y="4352544"/>
            <a:ext cx="1790181" cy="1097280"/>
          </a:xfrm>
          <a:prstGeom prst="rect">
            <a:avLst/>
          </a:prstGeom>
          <a:noFill/>
        </p:spPr>
        <p:txBody>
          <a:bodyPr wrap="square" lIns="0" tIns="0" rIns="0" bIns="0">
            <a:spAutoFit/>
          </a:bodyPr>
          <a:lstStyle/>
          <a:p>
            <a:pPr algn="l">
              <a:lnSpc>
                <a:spcPct val="114000"/>
              </a:lnSpc>
              <a:spcBef>
                <a:spcPts val="0"/>
              </a:spcBef>
              <a:spcAft>
                <a:spcPts val="0"/>
              </a:spcAft>
            </a:pPr>
            <a:r>
              <a:rPr sz="1400" b="1">
                <a:solidFill>
                  <a:srgbClr val="E9EFF6"/>
                </a:solidFill>
                <a:latin typeface="Calibri"/>
              </a:rPr>
              <a:t>Discord</a:t>
            </a:r>
          </a:p>
          <a:p>
            <a:pPr algn="l">
              <a:lnSpc>
                <a:spcPct val="120000"/>
              </a:lnSpc>
              <a:spcBef>
                <a:spcPts val="600"/>
              </a:spcBef>
              <a:spcAft>
                <a:spcPts val="0"/>
              </a:spcAft>
            </a:pPr>
            <a:r>
              <a:rPr sz="1050" b="0">
                <a:solidFill>
                  <a:srgbClr val="13EF93"/>
                </a:solidFill>
                <a:latin typeface="Courier New"/>
              </a:rPr>
              <a:t>discord.gg/xWRaCDBtW4</a:t>
            </a:r>
          </a:p>
        </p:txBody>
      </p:sp>
      <p:sp>
        <p:nvSpPr>
          <p:cNvPr id="24" name="Rounded Rectangle 23"/>
          <p:cNvSpPr/>
          <p:nvPr/>
        </p:nvSpPr>
        <p:spPr>
          <a:xfrm>
            <a:off x="8060923" y="3968496"/>
            <a:ext cx="3490965" cy="1773936"/>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8298667" y="4325112"/>
            <a:ext cx="1060704" cy="1060704"/>
          </a:xfrm>
          <a:prstGeom prst="roundRect">
            <a:avLst>
              <a:gd name="adj" fmla="val 3000"/>
            </a:avLst>
          </a:prstGeom>
          <a:no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298667" y="4764024"/>
            <a:ext cx="1060704" cy="219456"/>
          </a:xfrm>
          <a:prstGeom prst="rect">
            <a:avLst/>
          </a:prstGeom>
          <a:noFill/>
        </p:spPr>
        <p:txBody>
          <a:bodyPr wrap="square" lIns="0" tIns="0" rIns="0" bIns="0">
            <a:spAutoFit/>
          </a:bodyPr>
          <a:lstStyle/>
          <a:p>
            <a:pPr algn="ctr">
              <a:spcBef>
                <a:spcPts val="0"/>
              </a:spcBef>
              <a:spcAft>
                <a:spcPts val="0"/>
              </a:spcAft>
            </a:pPr>
            <a:r>
              <a:rPr sz="1000" b="1">
                <a:solidFill>
                  <a:srgbClr val="5D6E80"/>
                </a:solidFill>
                <a:latin typeface="Calibri"/>
              </a:rPr>
              <a:t>QR</a:t>
            </a:r>
          </a:p>
        </p:txBody>
      </p:sp>
      <p:sp>
        <p:nvSpPr>
          <p:cNvPr id="27" name="TextBox 26"/>
          <p:cNvSpPr txBox="1"/>
          <p:nvPr/>
        </p:nvSpPr>
        <p:spPr>
          <a:xfrm>
            <a:off x="9523963" y="4352544"/>
            <a:ext cx="1790181" cy="1097280"/>
          </a:xfrm>
          <a:prstGeom prst="rect">
            <a:avLst/>
          </a:prstGeom>
          <a:noFill/>
        </p:spPr>
        <p:txBody>
          <a:bodyPr wrap="square" lIns="0" tIns="0" rIns="0" bIns="0">
            <a:spAutoFit/>
          </a:bodyPr>
          <a:lstStyle/>
          <a:p>
            <a:pPr algn="l">
              <a:lnSpc>
                <a:spcPct val="114000"/>
              </a:lnSpc>
              <a:spcBef>
                <a:spcPts val="0"/>
              </a:spcBef>
              <a:spcAft>
                <a:spcPts val="0"/>
              </a:spcAft>
            </a:pPr>
            <a:r>
              <a:rPr sz="1400" b="1">
                <a:solidFill>
                  <a:srgbClr val="E9EFF6"/>
                </a:solidFill>
                <a:latin typeface="Calibri"/>
              </a:rPr>
              <a:t>GitHub Discussions</a:t>
            </a:r>
          </a:p>
          <a:p>
            <a:pPr algn="l">
              <a:lnSpc>
                <a:spcPct val="120000"/>
              </a:lnSpc>
              <a:spcBef>
                <a:spcPts val="600"/>
              </a:spcBef>
              <a:spcAft>
                <a:spcPts val="0"/>
              </a:spcAft>
            </a:pPr>
            <a:r>
              <a:rPr sz="1050" b="0">
                <a:solidFill>
                  <a:srgbClr val="13EF93"/>
                </a:solidFill>
                <a:latin typeface="Courier New"/>
              </a:rPr>
              <a:t>github.com/orgs/deepgram/discussions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70B10"/>
        </a:solidFill>
        <a:effectLst/>
      </p:bgPr>
    </p:bg>
    <p:spTree>
      <p:nvGrpSpPr>
        <p:cNvPr id="1" name=""/>
        <p:cNvGrpSpPr/>
        <p:nvPr/>
      </p:nvGrpSpPr>
      <p:grpSpPr>
        <a:xfrm>
          <a:off x="0" y="0"/>
          <a:ext cx="0" cy="0"/>
          <a:chOff x="0" y="0"/>
          <a:chExt cx="0" cy="0"/>
        </a:xfrm>
      </p:grpSpPr>
      <p:sp>
        <p:nvSpPr>
          <p:cNvPr id="2" name="TextBox 1"/>
          <p:cNvSpPr txBox="1"/>
          <p:nvPr/>
        </p:nvSpPr>
        <p:spPr>
          <a:xfrm>
            <a:off x="640080" y="1920240"/>
            <a:ext cx="8229600" cy="1645920"/>
          </a:xfrm>
          <a:prstGeom prst="rect">
            <a:avLst/>
          </a:prstGeom>
          <a:noFill/>
        </p:spPr>
        <p:txBody>
          <a:bodyPr wrap="square" lIns="0" tIns="0" rIns="0" bIns="0">
            <a:spAutoFit/>
          </a:bodyPr>
          <a:lstStyle/>
          <a:p>
            <a:pPr algn="l">
              <a:spcBef>
                <a:spcPts val="0"/>
              </a:spcBef>
              <a:spcAft>
                <a:spcPts val="0"/>
              </a:spcAft>
            </a:pPr>
            <a:r>
              <a:rPr sz="1200" b="1">
                <a:solidFill>
                  <a:srgbClr val="13EF93"/>
                </a:solidFill>
                <a:latin typeface="Calibri"/>
              </a:rPr>
              <a:t>APPENDIX</a:t>
            </a:r>
          </a:p>
          <a:p>
            <a:pPr algn="l">
              <a:lnSpc>
                <a:spcPct val="104000"/>
              </a:lnSpc>
              <a:spcBef>
                <a:spcPts val="800"/>
              </a:spcBef>
              <a:spcAft>
                <a:spcPts val="0"/>
              </a:spcAft>
            </a:pPr>
            <a:r>
              <a:rPr sz="5000" b="1">
                <a:solidFill>
                  <a:srgbClr val="E9EFF6"/>
                </a:solidFill>
                <a:latin typeface="Calibri"/>
              </a:rPr>
              <a:t>Backup slides</a:t>
            </a:r>
          </a:p>
        </p:txBody>
      </p:sp>
      <p:sp>
        <p:nvSpPr>
          <p:cNvPr id="3" name="TextBox 2"/>
          <p:cNvSpPr txBox="1"/>
          <p:nvPr/>
        </p:nvSpPr>
        <p:spPr>
          <a:xfrm>
            <a:off x="640080" y="3712463"/>
            <a:ext cx="7863840" cy="640080"/>
          </a:xfrm>
          <a:prstGeom prst="rect">
            <a:avLst/>
          </a:prstGeom>
          <a:noFill/>
        </p:spPr>
        <p:txBody>
          <a:bodyPr wrap="square" lIns="0" tIns="0" rIns="0" bIns="0">
            <a:spAutoFit/>
          </a:bodyPr>
          <a:lstStyle/>
          <a:p>
            <a:pPr algn="l">
              <a:lnSpc>
                <a:spcPct val="130000"/>
              </a:lnSpc>
              <a:spcBef>
                <a:spcPts val="0"/>
              </a:spcBef>
              <a:spcAft>
                <a:spcPts val="0"/>
              </a:spcAft>
            </a:pPr>
            <a:r>
              <a:rPr sz="1600" b="0">
                <a:solidFill>
                  <a:srgbClr val="93A4B7"/>
                </a:solidFill>
                <a:latin typeface="Calibri"/>
              </a:rPr>
              <a:t>Not part of the run of show. Jump to them when the room needs them.</a:t>
            </a:r>
          </a:p>
        </p:txBody>
      </p:sp>
      <p:sp>
        <p:nvSpPr>
          <p:cNvPr id="4" name="Rounded Rectangle 3"/>
          <p:cNvSpPr/>
          <p:nvPr/>
        </p:nvSpPr>
        <p:spPr>
          <a:xfrm>
            <a:off x="640080" y="4754880"/>
            <a:ext cx="2065318" cy="914400"/>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59" y="4937760"/>
            <a:ext cx="1699558" cy="640080"/>
          </a:xfrm>
          <a:prstGeom prst="rect">
            <a:avLst/>
          </a:prstGeom>
          <a:noFill/>
        </p:spPr>
        <p:txBody>
          <a:bodyPr wrap="square" lIns="0" tIns="0" rIns="0" bIns="0">
            <a:spAutoFit/>
          </a:bodyPr>
          <a:lstStyle/>
          <a:p>
            <a:pPr algn="l">
              <a:lnSpc>
                <a:spcPct val="124000"/>
              </a:lnSpc>
              <a:spcBef>
                <a:spcPts val="0"/>
              </a:spcBef>
              <a:spcAft>
                <a:spcPts val="0"/>
              </a:spcAft>
            </a:pPr>
            <a:r>
              <a:rPr sz="1200" b="0">
                <a:solidFill>
                  <a:srgbClr val="93A4B7"/>
                </a:solidFill>
                <a:latin typeface="Calibri"/>
              </a:rPr>
              <a:t>The five failures you'll actually hit</a:t>
            </a:r>
          </a:p>
        </p:txBody>
      </p:sp>
      <p:sp>
        <p:nvSpPr>
          <p:cNvPr id="6" name="Rounded Rectangle 5"/>
          <p:cNvSpPr/>
          <p:nvPr/>
        </p:nvSpPr>
        <p:spPr>
          <a:xfrm>
            <a:off x="2851702" y="4754880"/>
            <a:ext cx="2065318" cy="914400"/>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034582" y="4937760"/>
            <a:ext cx="1699558" cy="640080"/>
          </a:xfrm>
          <a:prstGeom prst="rect">
            <a:avLst/>
          </a:prstGeom>
          <a:noFill/>
        </p:spPr>
        <p:txBody>
          <a:bodyPr wrap="square" lIns="0" tIns="0" rIns="0" bIns="0">
            <a:spAutoFit/>
          </a:bodyPr>
          <a:lstStyle/>
          <a:p>
            <a:pPr algn="l">
              <a:lnSpc>
                <a:spcPct val="124000"/>
              </a:lnSpc>
              <a:spcBef>
                <a:spcPts val="0"/>
              </a:spcBef>
              <a:spcAft>
                <a:spcPts val="0"/>
              </a:spcAft>
            </a:pPr>
            <a:r>
              <a:rPr sz="1200" b="0">
                <a:solidFill>
                  <a:srgbClr val="93A4B7"/>
                </a:solidFill>
                <a:latin typeface="Calibri"/>
              </a:rPr>
              <a:t>Check-yourself answers</a:t>
            </a:r>
          </a:p>
        </p:txBody>
      </p:sp>
      <p:sp>
        <p:nvSpPr>
          <p:cNvPr id="8" name="Rounded Rectangle 7"/>
          <p:cNvSpPr/>
          <p:nvPr/>
        </p:nvSpPr>
        <p:spPr>
          <a:xfrm>
            <a:off x="5063325" y="4754880"/>
            <a:ext cx="2065318" cy="914400"/>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246205" y="4937760"/>
            <a:ext cx="1699558" cy="640080"/>
          </a:xfrm>
          <a:prstGeom prst="rect">
            <a:avLst/>
          </a:prstGeom>
          <a:noFill/>
        </p:spPr>
        <p:txBody>
          <a:bodyPr wrap="square" lIns="0" tIns="0" rIns="0" bIns="0">
            <a:spAutoFit/>
          </a:bodyPr>
          <a:lstStyle/>
          <a:p>
            <a:pPr algn="l">
              <a:lnSpc>
                <a:spcPct val="124000"/>
              </a:lnSpc>
              <a:spcBef>
                <a:spcPts val="0"/>
              </a:spcBef>
              <a:spcAft>
                <a:spcPts val="0"/>
              </a:spcAft>
            </a:pPr>
            <a:r>
              <a:rPr sz="1200" b="0">
                <a:solidFill>
                  <a:srgbClr val="93A4B7"/>
                </a:solidFill>
                <a:latin typeface="Calibri"/>
              </a:rPr>
              <a:t>Step 6b — bring your own LLM</a:t>
            </a:r>
          </a:p>
        </p:txBody>
      </p:sp>
      <p:sp>
        <p:nvSpPr>
          <p:cNvPr id="10" name="Rounded Rectangle 9"/>
          <p:cNvSpPr/>
          <p:nvPr/>
        </p:nvSpPr>
        <p:spPr>
          <a:xfrm>
            <a:off x="7274948" y="4754880"/>
            <a:ext cx="2065318" cy="914400"/>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457828" y="4937760"/>
            <a:ext cx="1699558" cy="640080"/>
          </a:xfrm>
          <a:prstGeom prst="rect">
            <a:avLst/>
          </a:prstGeom>
          <a:noFill/>
        </p:spPr>
        <p:txBody>
          <a:bodyPr wrap="square" lIns="0" tIns="0" rIns="0" bIns="0">
            <a:spAutoFit/>
          </a:bodyPr>
          <a:lstStyle/>
          <a:p>
            <a:pPr algn="l">
              <a:lnSpc>
                <a:spcPct val="124000"/>
              </a:lnSpc>
              <a:spcBef>
                <a:spcPts val="0"/>
              </a:spcBef>
              <a:spcAft>
                <a:spcPts val="0"/>
              </a:spcAft>
            </a:pPr>
            <a:r>
              <a:rPr sz="1200" b="0">
                <a:solidFill>
                  <a:srgbClr val="93A4B7"/>
                </a:solidFill>
                <a:latin typeface="Calibri"/>
              </a:rPr>
              <a:t>Step 7b — a second vertical</a:t>
            </a:r>
          </a:p>
        </p:txBody>
      </p:sp>
      <p:sp>
        <p:nvSpPr>
          <p:cNvPr id="12" name="Rounded Rectangle 11"/>
          <p:cNvSpPr/>
          <p:nvPr/>
        </p:nvSpPr>
        <p:spPr>
          <a:xfrm>
            <a:off x="9486570" y="4754880"/>
            <a:ext cx="2065318" cy="914400"/>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69450" y="4937760"/>
            <a:ext cx="1699558" cy="640080"/>
          </a:xfrm>
          <a:prstGeom prst="rect">
            <a:avLst/>
          </a:prstGeom>
          <a:noFill/>
        </p:spPr>
        <p:txBody>
          <a:bodyPr wrap="square" lIns="0" tIns="0" rIns="0" bIns="0">
            <a:spAutoFit/>
          </a:bodyPr>
          <a:lstStyle/>
          <a:p>
            <a:pPr algn="l">
              <a:lnSpc>
                <a:spcPct val="124000"/>
              </a:lnSpc>
              <a:spcBef>
                <a:spcPts val="0"/>
              </a:spcBef>
              <a:spcAft>
                <a:spcPts val="0"/>
              </a:spcAft>
            </a:pPr>
            <a:r>
              <a:rPr sz="1200" b="0">
                <a:solidFill>
                  <a:srgbClr val="93A4B7"/>
                </a:solidFill>
                <a:latin typeface="Calibri"/>
              </a:rPr>
              <a:t>Running in another region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70B10"/>
        </a:solidFill>
        <a:effectLst/>
      </p:bgPr>
    </p:bg>
    <p:spTree>
      <p:nvGrpSpPr>
        <p:cNvPr id="1" name=""/>
        <p:cNvGrpSpPr/>
        <p:nvPr/>
      </p:nvGrpSpPr>
      <p:grpSpPr>
        <a:xfrm>
          <a:off x="0" y="0"/>
          <a:ext cx="0" cy="0"/>
          <a:chOff x="0" y="0"/>
          <a:chExt cx="0" cy="0"/>
        </a:xfrm>
      </p:grpSpPr>
      <p:sp>
        <p:nvSpPr>
          <p:cNvPr id="2" name="TextBox 1"/>
          <p:cNvSpPr txBox="1"/>
          <p:nvPr/>
        </p:nvSpPr>
        <p:spPr>
          <a:xfrm>
            <a:off x="640080" y="475488"/>
            <a:ext cx="10911809" cy="237744"/>
          </a:xfrm>
          <a:prstGeom prst="rect">
            <a:avLst/>
          </a:prstGeom>
          <a:noFill/>
        </p:spPr>
        <p:txBody>
          <a:bodyPr wrap="square" lIns="0" tIns="0" rIns="0" bIns="0">
            <a:spAutoFit/>
          </a:bodyPr>
          <a:lstStyle/>
          <a:p>
            <a:pPr algn="l">
              <a:spcBef>
                <a:spcPts val="0"/>
              </a:spcBef>
              <a:spcAft>
                <a:spcPts val="0"/>
              </a:spcAft>
            </a:pPr>
            <a:r>
              <a:rPr sz="1050" b="1">
                <a:solidFill>
                  <a:srgbClr val="13EF93"/>
                </a:solidFill>
                <a:latin typeface="Calibri"/>
              </a:rPr>
              <a:t>APPENDIX</a:t>
            </a:r>
          </a:p>
        </p:txBody>
      </p:sp>
      <p:sp>
        <p:nvSpPr>
          <p:cNvPr id="3" name="TextBox 2"/>
          <p:cNvSpPr txBox="1"/>
          <p:nvPr/>
        </p:nvSpPr>
        <p:spPr>
          <a:xfrm>
            <a:off x="640080" y="786384"/>
            <a:ext cx="10911809" cy="548640"/>
          </a:xfrm>
          <a:prstGeom prst="rect">
            <a:avLst/>
          </a:prstGeom>
          <a:noFill/>
        </p:spPr>
        <p:txBody>
          <a:bodyPr wrap="square" lIns="0" tIns="0" rIns="0" bIns="0">
            <a:spAutoFit/>
          </a:bodyPr>
          <a:lstStyle/>
          <a:p>
            <a:pPr algn="l">
              <a:spcBef>
                <a:spcPts val="0"/>
              </a:spcBef>
              <a:spcAft>
                <a:spcPts val="0"/>
              </a:spcAft>
            </a:pPr>
            <a:r>
              <a:rPr sz="3100" b="1">
                <a:solidFill>
                  <a:srgbClr val="E9EFF6"/>
                </a:solidFill>
                <a:latin typeface="Calibri"/>
              </a:rPr>
              <a:t>The five failures you'll actually hit</a:t>
            </a:r>
          </a:p>
        </p:txBody>
      </p:sp>
      <p:sp>
        <p:nvSpPr>
          <p:cNvPr id="4" name="TextBox 3"/>
          <p:cNvSpPr txBox="1"/>
          <p:nvPr/>
        </p:nvSpPr>
        <p:spPr>
          <a:xfrm>
            <a:off x="640080" y="1499616"/>
            <a:ext cx="9692640" cy="548640"/>
          </a:xfrm>
          <a:prstGeom prst="rect">
            <a:avLst/>
          </a:prstGeom>
          <a:noFill/>
        </p:spPr>
        <p:txBody>
          <a:bodyPr wrap="square" lIns="0" tIns="0" rIns="0" bIns="0">
            <a:spAutoFit/>
          </a:bodyPr>
          <a:lstStyle/>
          <a:p>
            <a:pPr algn="l">
              <a:lnSpc>
                <a:spcPct val="128000"/>
              </a:lnSpc>
              <a:spcBef>
                <a:spcPts val="0"/>
              </a:spcBef>
              <a:spcAft>
                <a:spcPts val="0"/>
              </a:spcAft>
            </a:pPr>
            <a:r>
              <a:rPr sz="1450" b="0">
                <a:solidFill>
                  <a:srgbClr val="93A4B7"/>
                </a:solidFill>
                <a:latin typeface="Calibri"/>
              </a:rPr>
              <a:t>In order of frequency. Four of the five surface during Step 1, which is what Step 1 is for.</a:t>
            </a:r>
          </a:p>
        </p:txBody>
      </p:sp>
      <p:sp>
        <p:nvSpPr>
          <p:cNvPr id="5" name="Rounded Rectangle 4"/>
          <p:cNvSpPr/>
          <p:nvPr/>
        </p:nvSpPr>
        <p:spPr>
          <a:xfrm>
            <a:off x="640080" y="2048256"/>
            <a:ext cx="384048" cy="384048"/>
          </a:xfrm>
          <a:prstGeom prst="roundRect">
            <a:avLst>
              <a:gd name="adj" fmla="val 50000"/>
            </a:avLst>
          </a:prstGeom>
          <a:noFill/>
          <a:ln w="12700">
            <a:solidFill>
              <a:srgbClr val="13EF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2112264"/>
            <a:ext cx="384048" cy="274320"/>
          </a:xfrm>
          <a:prstGeom prst="rect">
            <a:avLst/>
          </a:prstGeom>
          <a:noFill/>
        </p:spPr>
        <p:txBody>
          <a:bodyPr wrap="square" lIns="0" tIns="0" rIns="0" bIns="0">
            <a:spAutoFit/>
          </a:bodyPr>
          <a:lstStyle/>
          <a:p>
            <a:pPr algn="ctr">
              <a:spcBef>
                <a:spcPts val="0"/>
              </a:spcBef>
              <a:spcAft>
                <a:spcPts val="0"/>
              </a:spcAft>
            </a:pPr>
            <a:r>
              <a:rPr sz="1250" b="1">
                <a:solidFill>
                  <a:srgbClr val="13EF93"/>
                </a:solidFill>
                <a:latin typeface="Calibri"/>
              </a:rPr>
              <a:t>1</a:t>
            </a:r>
          </a:p>
        </p:txBody>
      </p:sp>
      <p:sp>
        <p:nvSpPr>
          <p:cNvPr id="7" name="TextBox 6"/>
          <p:cNvSpPr txBox="1"/>
          <p:nvPr/>
        </p:nvSpPr>
        <p:spPr>
          <a:xfrm>
            <a:off x="1280160" y="2048256"/>
            <a:ext cx="10271729" cy="676656"/>
          </a:xfrm>
          <a:prstGeom prst="rect">
            <a:avLst/>
          </a:prstGeom>
          <a:noFill/>
        </p:spPr>
        <p:txBody>
          <a:bodyPr wrap="square" lIns="0" tIns="0" rIns="0" bIns="0">
            <a:spAutoFit/>
          </a:bodyPr>
          <a:lstStyle/>
          <a:p>
            <a:pPr algn="l">
              <a:spcBef>
                <a:spcPts val="0"/>
              </a:spcBef>
              <a:spcAft>
                <a:spcPts val="0"/>
              </a:spcAft>
            </a:pPr>
            <a:r>
              <a:rPr sz="1300" b="1">
                <a:solidFill>
                  <a:srgbClr val="E9EFF6"/>
                </a:solidFill>
                <a:latin typeface="Calibri"/>
              </a:rPr>
              <a:t>Microphone permission</a:t>
            </a:r>
          </a:p>
          <a:p>
            <a:pPr algn="l">
              <a:lnSpc>
                <a:spcPct val="128000"/>
              </a:lnSpc>
              <a:spcBef>
                <a:spcPts val="400"/>
              </a:spcBef>
              <a:spcAft>
                <a:spcPts val="0"/>
              </a:spcAft>
            </a:pPr>
            <a:r>
              <a:rPr sz="1100" b="0">
                <a:solidFill>
                  <a:srgbClr val="93A4B7"/>
                </a:solidFill>
                <a:latin typeface="Calibri"/>
              </a:rPr>
              <a:t>The prompt appears during Step 1 and people click past it. Icon at the left of the address bar, allow, press the button again. On macOS also check System Settings → Privacy &amp; Security → Microphone and confirm the browser is enabled — it's the browser now, not the terminal.</a:t>
            </a:r>
          </a:p>
        </p:txBody>
      </p:sp>
      <p:sp>
        <p:nvSpPr>
          <p:cNvPr id="8" name="Rounded Rectangle 7"/>
          <p:cNvSpPr/>
          <p:nvPr/>
        </p:nvSpPr>
        <p:spPr>
          <a:xfrm>
            <a:off x="640080" y="2743200"/>
            <a:ext cx="384048" cy="384048"/>
          </a:xfrm>
          <a:prstGeom prst="roundRect">
            <a:avLst>
              <a:gd name="adj" fmla="val 50000"/>
            </a:avLst>
          </a:prstGeom>
          <a:noFill/>
          <a:ln w="12700">
            <a:solidFill>
              <a:srgbClr val="13EF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 y="2807208"/>
            <a:ext cx="384048" cy="274320"/>
          </a:xfrm>
          <a:prstGeom prst="rect">
            <a:avLst/>
          </a:prstGeom>
          <a:noFill/>
        </p:spPr>
        <p:txBody>
          <a:bodyPr wrap="square" lIns="0" tIns="0" rIns="0" bIns="0">
            <a:spAutoFit/>
          </a:bodyPr>
          <a:lstStyle/>
          <a:p>
            <a:pPr algn="ctr">
              <a:spcBef>
                <a:spcPts val="0"/>
              </a:spcBef>
              <a:spcAft>
                <a:spcPts val="0"/>
              </a:spcAft>
            </a:pPr>
            <a:r>
              <a:rPr sz="1250" b="1">
                <a:solidFill>
                  <a:srgbClr val="13EF93"/>
                </a:solidFill>
                <a:latin typeface="Calibri"/>
              </a:rPr>
              <a:t>2</a:t>
            </a:r>
          </a:p>
        </p:txBody>
      </p:sp>
      <p:sp>
        <p:nvSpPr>
          <p:cNvPr id="10" name="TextBox 9"/>
          <p:cNvSpPr txBox="1"/>
          <p:nvPr/>
        </p:nvSpPr>
        <p:spPr>
          <a:xfrm>
            <a:off x="1280160" y="2743200"/>
            <a:ext cx="10271729" cy="676656"/>
          </a:xfrm>
          <a:prstGeom prst="rect">
            <a:avLst/>
          </a:prstGeom>
          <a:noFill/>
        </p:spPr>
        <p:txBody>
          <a:bodyPr wrap="square" lIns="0" tIns="0" rIns="0" bIns="0">
            <a:spAutoFit/>
          </a:bodyPr>
          <a:lstStyle/>
          <a:p>
            <a:pPr algn="l">
              <a:spcBef>
                <a:spcPts val="0"/>
              </a:spcBef>
              <a:spcAft>
                <a:spcPts val="0"/>
              </a:spcAft>
            </a:pPr>
            <a:r>
              <a:rPr sz="1300" b="1">
                <a:solidFill>
                  <a:srgbClr val="E9EFF6"/>
                </a:solidFill>
                <a:latin typeface="Calibri"/>
              </a:rPr>
              <a:t>The page is open on the wrong address</a:t>
            </a:r>
          </a:p>
          <a:p>
            <a:pPr algn="l">
              <a:lnSpc>
                <a:spcPct val="128000"/>
              </a:lnSpc>
              <a:spcBef>
                <a:spcPts val="400"/>
              </a:spcBef>
              <a:spcAft>
                <a:spcPts val="0"/>
              </a:spcAft>
            </a:pPr>
            <a:r>
              <a:rPr sz="1100" b="0">
                <a:solidFill>
                  <a:srgbClr val="93A4B7"/>
                </a:solidFill>
                <a:latin typeface="Calibri"/>
              </a:rPr>
              <a:t>getUserMedia and AudioWorklet need a secure context, which browsers grant to localhost and nothing else, so a LAN address makes the audio API silently vanish. Symptom: the Connect button stays disabled with a red box above it. Use the http://127.0.0.1:8000 the terminal printed.</a:t>
            </a:r>
          </a:p>
        </p:txBody>
      </p:sp>
      <p:sp>
        <p:nvSpPr>
          <p:cNvPr id="11" name="Rounded Rectangle 10"/>
          <p:cNvSpPr/>
          <p:nvPr/>
        </p:nvSpPr>
        <p:spPr>
          <a:xfrm>
            <a:off x="640080" y="3438144"/>
            <a:ext cx="384048" cy="384048"/>
          </a:xfrm>
          <a:prstGeom prst="roundRect">
            <a:avLst>
              <a:gd name="adj" fmla="val 50000"/>
            </a:avLst>
          </a:prstGeom>
          <a:noFill/>
          <a:ln w="12700">
            <a:solidFill>
              <a:srgbClr val="13EF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 y="3502152"/>
            <a:ext cx="384048" cy="274320"/>
          </a:xfrm>
          <a:prstGeom prst="rect">
            <a:avLst/>
          </a:prstGeom>
          <a:noFill/>
        </p:spPr>
        <p:txBody>
          <a:bodyPr wrap="square" lIns="0" tIns="0" rIns="0" bIns="0">
            <a:spAutoFit/>
          </a:bodyPr>
          <a:lstStyle/>
          <a:p>
            <a:pPr algn="ctr">
              <a:spcBef>
                <a:spcPts val="0"/>
              </a:spcBef>
              <a:spcAft>
                <a:spcPts val="0"/>
              </a:spcAft>
            </a:pPr>
            <a:r>
              <a:rPr sz="1250" b="1">
                <a:solidFill>
                  <a:srgbClr val="13EF93"/>
                </a:solidFill>
                <a:latin typeface="Calibri"/>
              </a:rPr>
              <a:t>3</a:t>
            </a:r>
          </a:p>
        </p:txBody>
      </p:sp>
      <p:sp>
        <p:nvSpPr>
          <p:cNvPr id="13" name="TextBox 12"/>
          <p:cNvSpPr txBox="1"/>
          <p:nvPr/>
        </p:nvSpPr>
        <p:spPr>
          <a:xfrm>
            <a:off x="1280160" y="3438144"/>
            <a:ext cx="10271729" cy="676656"/>
          </a:xfrm>
          <a:prstGeom prst="rect">
            <a:avLst/>
          </a:prstGeom>
          <a:noFill/>
        </p:spPr>
        <p:txBody>
          <a:bodyPr wrap="square" lIns="0" tIns="0" rIns="0" bIns="0">
            <a:spAutoFit/>
          </a:bodyPr>
          <a:lstStyle/>
          <a:p>
            <a:pPr algn="l">
              <a:spcBef>
                <a:spcPts val="0"/>
              </a:spcBef>
              <a:spcAft>
                <a:spcPts val="0"/>
              </a:spcAft>
            </a:pPr>
            <a:r>
              <a:rPr sz="1300" b="1">
                <a:solidFill>
                  <a:srgbClr val="E9EFF6"/>
                </a:solidFill>
                <a:latin typeface="Calibri"/>
              </a:rPr>
              <a:t>Bluetooth headsets</a:t>
            </a:r>
          </a:p>
          <a:p>
            <a:pPr algn="l">
              <a:lnSpc>
                <a:spcPct val="128000"/>
              </a:lnSpc>
              <a:spcBef>
                <a:spcPts val="400"/>
              </a:spcBef>
              <a:spcAft>
                <a:spcPts val="0"/>
              </a:spcAft>
            </a:pPr>
            <a:r>
              <a:rPr sz="1100" b="0">
                <a:solidFill>
                  <a:srgbClr val="93A4B7"/>
                </a:solidFill>
                <a:latin typeface="Calibri"/>
              </a:rPr>
              <a:t>Activating the microphone flips many headsets into a low-quality mono profile, and some then fail to open at all. Reconnect, or switch to wired. This is why the pre-event email asks for wired.</a:t>
            </a:r>
          </a:p>
        </p:txBody>
      </p:sp>
      <p:sp>
        <p:nvSpPr>
          <p:cNvPr id="14" name="Rounded Rectangle 13"/>
          <p:cNvSpPr/>
          <p:nvPr/>
        </p:nvSpPr>
        <p:spPr>
          <a:xfrm>
            <a:off x="640080" y="4133088"/>
            <a:ext cx="384048" cy="384048"/>
          </a:xfrm>
          <a:prstGeom prst="roundRect">
            <a:avLst>
              <a:gd name="adj" fmla="val 50000"/>
            </a:avLst>
          </a:prstGeom>
          <a:noFill/>
          <a:ln w="12700">
            <a:solidFill>
              <a:srgbClr val="13EF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 y="4197096"/>
            <a:ext cx="384048" cy="274320"/>
          </a:xfrm>
          <a:prstGeom prst="rect">
            <a:avLst/>
          </a:prstGeom>
          <a:noFill/>
        </p:spPr>
        <p:txBody>
          <a:bodyPr wrap="square" lIns="0" tIns="0" rIns="0" bIns="0">
            <a:spAutoFit/>
          </a:bodyPr>
          <a:lstStyle/>
          <a:p>
            <a:pPr algn="ctr">
              <a:spcBef>
                <a:spcPts val="0"/>
              </a:spcBef>
              <a:spcAft>
                <a:spcPts val="0"/>
              </a:spcAft>
            </a:pPr>
            <a:r>
              <a:rPr sz="1250" b="1">
                <a:solidFill>
                  <a:srgbClr val="13EF93"/>
                </a:solidFill>
                <a:latin typeface="Calibri"/>
              </a:rPr>
              <a:t>4</a:t>
            </a:r>
          </a:p>
        </p:txBody>
      </p:sp>
      <p:sp>
        <p:nvSpPr>
          <p:cNvPr id="16" name="TextBox 15"/>
          <p:cNvSpPr txBox="1"/>
          <p:nvPr/>
        </p:nvSpPr>
        <p:spPr>
          <a:xfrm>
            <a:off x="1280160" y="4133088"/>
            <a:ext cx="10271729" cy="676656"/>
          </a:xfrm>
          <a:prstGeom prst="rect">
            <a:avLst/>
          </a:prstGeom>
          <a:noFill/>
        </p:spPr>
        <p:txBody>
          <a:bodyPr wrap="square" lIns="0" tIns="0" rIns="0" bIns="0">
            <a:spAutoFit/>
          </a:bodyPr>
          <a:lstStyle/>
          <a:p>
            <a:pPr algn="l">
              <a:spcBef>
                <a:spcPts val="0"/>
              </a:spcBef>
              <a:spcAft>
                <a:spcPts val="0"/>
              </a:spcAft>
            </a:pPr>
            <a:r>
              <a:rPr sz="1300" b="1">
                <a:solidFill>
                  <a:srgbClr val="E9EFF6"/>
                </a:solidFill>
                <a:latin typeface="Calibri"/>
              </a:rPr>
              <a:t>The agent talks to itself</a:t>
            </a:r>
          </a:p>
          <a:p>
            <a:pPr algn="l">
              <a:lnSpc>
                <a:spcPct val="128000"/>
              </a:lnSpc>
              <a:spcBef>
                <a:spcPts val="400"/>
              </a:spcBef>
              <a:spcAft>
                <a:spcPts val="0"/>
              </a:spcAft>
            </a:pPr>
            <a:r>
              <a:rPr sz="1100" b="0">
                <a:solidFill>
                  <a:srgbClr val="93A4B7"/>
                </a:solidFill>
                <a:latin typeface="Calibri"/>
              </a:rPr>
              <a:t>Laptop speakers feeding the laptop microphone, past the echo canceller. Much rarer than it used to be, which makes it more confusing when it happens to one person. Headphones, or turn the volume down. Step 1 reports whether the browser actually granted echo cancellation.</a:t>
            </a:r>
          </a:p>
        </p:txBody>
      </p:sp>
      <p:sp>
        <p:nvSpPr>
          <p:cNvPr id="17" name="Rounded Rectangle 16"/>
          <p:cNvSpPr/>
          <p:nvPr/>
        </p:nvSpPr>
        <p:spPr>
          <a:xfrm>
            <a:off x="640080" y="4828032"/>
            <a:ext cx="384048" cy="384048"/>
          </a:xfrm>
          <a:prstGeom prst="roundRect">
            <a:avLst>
              <a:gd name="adj" fmla="val 50000"/>
            </a:avLst>
          </a:prstGeom>
          <a:noFill/>
          <a:ln w="12700">
            <a:solidFill>
              <a:srgbClr val="13EF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4892040"/>
            <a:ext cx="384048" cy="274320"/>
          </a:xfrm>
          <a:prstGeom prst="rect">
            <a:avLst/>
          </a:prstGeom>
          <a:noFill/>
        </p:spPr>
        <p:txBody>
          <a:bodyPr wrap="square" lIns="0" tIns="0" rIns="0" bIns="0">
            <a:spAutoFit/>
          </a:bodyPr>
          <a:lstStyle/>
          <a:p>
            <a:pPr algn="ctr">
              <a:spcBef>
                <a:spcPts val="0"/>
              </a:spcBef>
              <a:spcAft>
                <a:spcPts val="0"/>
              </a:spcAft>
            </a:pPr>
            <a:r>
              <a:rPr sz="1250" b="1">
                <a:solidFill>
                  <a:srgbClr val="13EF93"/>
                </a:solidFill>
                <a:latin typeface="Calibri"/>
              </a:rPr>
              <a:t>5</a:t>
            </a:r>
          </a:p>
        </p:txBody>
      </p:sp>
      <p:sp>
        <p:nvSpPr>
          <p:cNvPr id="19" name="TextBox 18"/>
          <p:cNvSpPr txBox="1"/>
          <p:nvPr/>
        </p:nvSpPr>
        <p:spPr>
          <a:xfrm>
            <a:off x="1280160" y="4828032"/>
            <a:ext cx="10271729" cy="676656"/>
          </a:xfrm>
          <a:prstGeom prst="rect">
            <a:avLst/>
          </a:prstGeom>
          <a:noFill/>
        </p:spPr>
        <p:txBody>
          <a:bodyPr wrap="square" lIns="0" tIns="0" rIns="0" bIns="0">
            <a:spAutoFit/>
          </a:bodyPr>
          <a:lstStyle/>
          <a:p>
            <a:pPr algn="l">
              <a:spcBef>
                <a:spcPts val="0"/>
              </a:spcBef>
              <a:spcAft>
                <a:spcPts val="0"/>
              </a:spcAft>
            </a:pPr>
            <a:r>
              <a:rPr sz="1300" b="1">
                <a:solidFill>
                  <a:srgbClr val="E9EFF6"/>
                </a:solidFill>
                <a:latin typeface="Calibri"/>
              </a:rPr>
              <a:t>A truncated API key</a:t>
            </a:r>
          </a:p>
          <a:p>
            <a:pPr algn="l">
              <a:lnSpc>
                <a:spcPct val="128000"/>
              </a:lnSpc>
              <a:spcBef>
                <a:spcPts val="400"/>
              </a:spcBef>
              <a:spcAft>
                <a:spcPts val="0"/>
              </a:spcAft>
            </a:pPr>
            <a:r>
              <a:rPr sz="1100" b="0">
                <a:solidFill>
                  <a:srgbClr val="93A4B7"/>
                </a:solidFill>
                <a:latin typeface="Calibri"/>
              </a:rPr>
              <a:t>Copy-paste drops characters or adds a space. Step 1 makes a real authenticated call rather than checking it is non-empty, so this surfaces at once as “Deepgram rejected the key.”</a:t>
            </a:r>
          </a:p>
        </p:txBody>
      </p:sp>
      <p:sp>
        <p:nvSpPr>
          <p:cNvPr id="20" name="Rounded Rectangle 19"/>
          <p:cNvSpPr/>
          <p:nvPr/>
        </p:nvSpPr>
        <p:spPr>
          <a:xfrm>
            <a:off x="640080" y="5413248"/>
            <a:ext cx="10911809" cy="877824"/>
          </a:xfrm>
          <a:prstGeom prst="roundRect">
            <a:avLst>
              <a:gd name="adj" fmla="val 3500"/>
            </a:avLst>
          </a:prstGeom>
          <a:solidFill>
            <a:srgbClr val="2A1F0D"/>
          </a:solidFill>
          <a:ln w="12700">
            <a:solidFill>
              <a:srgbClr val="FFB4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4400" y="5568696"/>
            <a:ext cx="10363169" cy="640080"/>
          </a:xfrm>
          <a:prstGeom prst="rect">
            <a:avLst/>
          </a:prstGeom>
          <a:noFill/>
        </p:spPr>
        <p:txBody>
          <a:bodyPr wrap="square" lIns="0" tIns="0" rIns="0" bIns="0">
            <a:spAutoFit/>
          </a:bodyPr>
          <a:lstStyle/>
          <a:p>
            <a:pPr algn="l">
              <a:spcBef>
                <a:spcPts val="0"/>
              </a:spcBef>
              <a:spcAft>
                <a:spcPts val="0"/>
              </a:spcAft>
            </a:pPr>
            <a:r>
              <a:rPr sz="1250" b="1">
                <a:solidFill>
                  <a:srgbClr val="FFB454"/>
                </a:solidFill>
                <a:latin typeface="Calibri"/>
              </a:rPr>
              <a:t>And one that isn't an environment failure at all:</a:t>
            </a:r>
          </a:p>
          <a:p>
            <a:pPr algn="l">
              <a:lnSpc>
                <a:spcPct val="124000"/>
              </a:lnSpc>
              <a:spcBef>
                <a:spcPts val="300"/>
              </a:spcBef>
              <a:spcAft>
                <a:spcPts val="0"/>
              </a:spcAft>
            </a:pPr>
            <a:r>
              <a:rPr sz="1150" b="0">
                <a:solidFill>
                  <a:srgbClr val="93A4B7"/>
                </a:solidFill>
                <a:latin typeface="Calibri"/>
              </a:rPr>
              <a:t>“The agent refused these settings.” The machine is fine — a model isn't available where that person is connecting, and Step 1 prints which. Same fix for the whole room: DEEPGRAM_REGION=global, or change the named model everywhere.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70B10"/>
        </a:solidFill>
        <a:effectLst/>
      </p:bgPr>
    </p:bg>
    <p:spTree>
      <p:nvGrpSpPr>
        <p:cNvPr id="1" name=""/>
        <p:cNvGrpSpPr/>
        <p:nvPr/>
      </p:nvGrpSpPr>
      <p:grpSpPr>
        <a:xfrm>
          <a:off x="0" y="0"/>
          <a:ext cx="0" cy="0"/>
          <a:chOff x="0" y="0"/>
          <a:chExt cx="0" cy="0"/>
        </a:xfrm>
      </p:grpSpPr>
      <p:sp>
        <p:nvSpPr>
          <p:cNvPr id="2" name="TextBox 1"/>
          <p:cNvSpPr txBox="1"/>
          <p:nvPr/>
        </p:nvSpPr>
        <p:spPr>
          <a:xfrm>
            <a:off x="640080" y="475488"/>
            <a:ext cx="10911809" cy="237744"/>
          </a:xfrm>
          <a:prstGeom prst="rect">
            <a:avLst/>
          </a:prstGeom>
          <a:noFill/>
        </p:spPr>
        <p:txBody>
          <a:bodyPr wrap="square" lIns="0" tIns="0" rIns="0" bIns="0">
            <a:spAutoFit/>
          </a:bodyPr>
          <a:lstStyle/>
          <a:p>
            <a:pPr algn="l">
              <a:spcBef>
                <a:spcPts val="0"/>
              </a:spcBef>
              <a:spcAft>
                <a:spcPts val="0"/>
              </a:spcAft>
            </a:pPr>
            <a:r>
              <a:rPr sz="1050" b="1">
                <a:solidFill>
                  <a:srgbClr val="13EF93"/>
                </a:solidFill>
                <a:latin typeface="Calibri"/>
              </a:rPr>
              <a:t>APPENDIX</a:t>
            </a:r>
          </a:p>
        </p:txBody>
      </p:sp>
      <p:sp>
        <p:nvSpPr>
          <p:cNvPr id="3" name="TextBox 2"/>
          <p:cNvSpPr txBox="1"/>
          <p:nvPr/>
        </p:nvSpPr>
        <p:spPr>
          <a:xfrm>
            <a:off x="640080" y="786384"/>
            <a:ext cx="10911809" cy="548640"/>
          </a:xfrm>
          <a:prstGeom prst="rect">
            <a:avLst/>
          </a:prstGeom>
          <a:noFill/>
        </p:spPr>
        <p:txBody>
          <a:bodyPr wrap="square" lIns="0" tIns="0" rIns="0" bIns="0">
            <a:spAutoFit/>
          </a:bodyPr>
          <a:lstStyle/>
          <a:p>
            <a:pPr algn="l">
              <a:spcBef>
                <a:spcPts val="0"/>
              </a:spcBef>
              <a:spcAft>
                <a:spcPts val="0"/>
              </a:spcAft>
            </a:pPr>
            <a:r>
              <a:rPr sz="3100" b="1">
                <a:solidFill>
                  <a:srgbClr val="E9EFF6"/>
                </a:solidFill>
                <a:latin typeface="Calibri"/>
              </a:rPr>
              <a:t>Check-yourself answers  ·  Steps 0 – 5</a:t>
            </a:r>
          </a:p>
        </p:txBody>
      </p:sp>
      <p:sp>
        <p:nvSpPr>
          <p:cNvPr id="4" name="TextBox 3"/>
          <p:cNvSpPr txBox="1"/>
          <p:nvPr/>
        </p:nvSpPr>
        <p:spPr>
          <a:xfrm>
            <a:off x="640080" y="1499616"/>
            <a:ext cx="9692640" cy="548640"/>
          </a:xfrm>
          <a:prstGeom prst="rect">
            <a:avLst/>
          </a:prstGeom>
          <a:noFill/>
        </p:spPr>
        <p:txBody>
          <a:bodyPr wrap="square" lIns="0" tIns="0" rIns="0" bIns="0">
            <a:spAutoFit/>
          </a:bodyPr>
          <a:lstStyle/>
          <a:p>
            <a:pPr algn="l">
              <a:lnSpc>
                <a:spcPct val="128000"/>
              </a:lnSpc>
              <a:spcBef>
                <a:spcPts val="0"/>
              </a:spcBef>
              <a:spcAft>
                <a:spcPts val="0"/>
              </a:spcAft>
            </a:pPr>
            <a:r>
              <a:rPr sz="1450" b="0">
                <a:solidFill>
                  <a:srgbClr val="93A4B7"/>
                </a:solidFill>
                <a:latin typeface="Calibri"/>
              </a:rPr>
              <a:t>The LAB.md files pose these. Here are the answers, for when you ask the room.</a:t>
            </a:r>
          </a:p>
        </p:txBody>
      </p:sp>
      <p:sp>
        <p:nvSpPr>
          <p:cNvPr id="5" name="Rounded Rectangle 4"/>
          <p:cNvSpPr/>
          <p:nvPr/>
        </p:nvSpPr>
        <p:spPr>
          <a:xfrm>
            <a:off x="640080" y="2103120"/>
            <a:ext cx="10911809" cy="667512"/>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2249424"/>
            <a:ext cx="365760" cy="274320"/>
          </a:xfrm>
          <a:prstGeom prst="rect">
            <a:avLst/>
          </a:prstGeom>
          <a:noFill/>
        </p:spPr>
        <p:txBody>
          <a:bodyPr wrap="square" lIns="0" tIns="0" rIns="0" bIns="0">
            <a:spAutoFit/>
          </a:bodyPr>
          <a:lstStyle/>
          <a:p>
            <a:pPr algn="l">
              <a:spcBef>
                <a:spcPts val="0"/>
              </a:spcBef>
              <a:spcAft>
                <a:spcPts val="0"/>
              </a:spcAft>
            </a:pPr>
            <a:r>
              <a:rPr sz="1500" b="1">
                <a:solidFill>
                  <a:srgbClr val="13EF93"/>
                </a:solidFill>
                <a:latin typeface="Courier New"/>
              </a:rPr>
              <a:t>0</a:t>
            </a:r>
          </a:p>
        </p:txBody>
      </p:sp>
      <p:sp>
        <p:nvSpPr>
          <p:cNvPr id="7" name="TextBox 6"/>
          <p:cNvSpPr txBox="1"/>
          <p:nvPr/>
        </p:nvSpPr>
        <p:spPr>
          <a:xfrm>
            <a:off x="1389888" y="2240279"/>
            <a:ext cx="9905969" cy="393192"/>
          </a:xfrm>
          <a:prstGeom prst="rect">
            <a:avLst/>
          </a:prstGeom>
          <a:noFill/>
        </p:spPr>
        <p:txBody>
          <a:bodyPr wrap="square" lIns="0" tIns="0" rIns="0" bIns="0">
            <a:spAutoFit/>
          </a:bodyPr>
          <a:lstStyle/>
          <a:p>
            <a:pPr algn="l">
              <a:lnSpc>
                <a:spcPct val="126000"/>
              </a:lnSpc>
              <a:spcBef>
                <a:spcPts val="0"/>
              </a:spcBef>
              <a:spcAft>
                <a:spcPts val="0"/>
              </a:spcAft>
            </a:pPr>
            <a:r>
              <a:rPr sz="1200" b="0">
                <a:solidFill>
                  <a:srgbClr val="93A4B7"/>
                </a:solidFill>
                <a:latin typeface="Calibri"/>
              </a:rPr>
              <a:t>STT, LLM, TTS — and the LLM holds the conversation history.  ·  Turn-taking, provider handoffs, buffering, interruption signalling.  ·  Turn detection happens inside the Flux model, server-side; the client is still responsible for clearing queued playback on barge-in.  ·  The next folder.</a:t>
            </a:r>
          </a:p>
        </p:txBody>
      </p:sp>
      <p:sp>
        <p:nvSpPr>
          <p:cNvPr id="8" name="Rounded Rectangle 7"/>
          <p:cNvSpPr/>
          <p:nvPr/>
        </p:nvSpPr>
        <p:spPr>
          <a:xfrm>
            <a:off x="640080" y="2880360"/>
            <a:ext cx="10911809" cy="470916"/>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3026664"/>
            <a:ext cx="365760" cy="274320"/>
          </a:xfrm>
          <a:prstGeom prst="rect">
            <a:avLst/>
          </a:prstGeom>
          <a:noFill/>
        </p:spPr>
        <p:txBody>
          <a:bodyPr wrap="square" lIns="0" tIns="0" rIns="0" bIns="0">
            <a:spAutoFit/>
          </a:bodyPr>
          <a:lstStyle/>
          <a:p>
            <a:pPr algn="l">
              <a:spcBef>
                <a:spcPts val="0"/>
              </a:spcBef>
              <a:spcAft>
                <a:spcPts val="0"/>
              </a:spcAft>
            </a:pPr>
            <a:r>
              <a:rPr sz="1500" b="1">
                <a:solidFill>
                  <a:srgbClr val="13EF93"/>
                </a:solidFill>
                <a:latin typeface="Courier New"/>
              </a:rPr>
              <a:t>1</a:t>
            </a:r>
          </a:p>
        </p:txBody>
      </p:sp>
      <p:sp>
        <p:nvSpPr>
          <p:cNvPr id="10" name="TextBox 9"/>
          <p:cNvSpPr txBox="1"/>
          <p:nvPr/>
        </p:nvSpPr>
        <p:spPr>
          <a:xfrm>
            <a:off x="1389888" y="3017520"/>
            <a:ext cx="9905969" cy="196596"/>
          </a:xfrm>
          <a:prstGeom prst="rect">
            <a:avLst/>
          </a:prstGeom>
          <a:noFill/>
        </p:spPr>
        <p:txBody>
          <a:bodyPr wrap="square" lIns="0" tIns="0" rIns="0" bIns="0">
            <a:spAutoFit/>
          </a:bodyPr>
          <a:lstStyle/>
          <a:p>
            <a:pPr algn="l">
              <a:lnSpc>
                <a:spcPct val="126000"/>
              </a:lnSpc>
              <a:spcBef>
                <a:spcPts val="0"/>
              </a:spcBef>
              <a:spcAft>
                <a:spcPts val="0"/>
              </a:spcAft>
            </a:pPr>
            <a:r>
              <a:rPr sz="1200" b="0">
                <a:solidFill>
                  <a:srgbClr val="93A4B7"/>
                </a:solidFill>
                <a:latin typeface="Calibri"/>
              </a:rPr>
              <a:t>One. Deepgram brokers the OpenAI call, so your Deepgram key covers the LLM.</a:t>
            </a:r>
          </a:p>
        </p:txBody>
      </p:sp>
      <p:sp>
        <p:nvSpPr>
          <p:cNvPr id="11" name="Rounded Rectangle 10"/>
          <p:cNvSpPr/>
          <p:nvPr/>
        </p:nvSpPr>
        <p:spPr>
          <a:xfrm>
            <a:off x="640080" y="3461004"/>
            <a:ext cx="10911809" cy="667512"/>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77824" y="3607308"/>
            <a:ext cx="365760" cy="274320"/>
          </a:xfrm>
          <a:prstGeom prst="rect">
            <a:avLst/>
          </a:prstGeom>
          <a:noFill/>
        </p:spPr>
        <p:txBody>
          <a:bodyPr wrap="square" lIns="0" tIns="0" rIns="0" bIns="0">
            <a:spAutoFit/>
          </a:bodyPr>
          <a:lstStyle/>
          <a:p>
            <a:pPr algn="l">
              <a:spcBef>
                <a:spcPts val="0"/>
              </a:spcBef>
              <a:spcAft>
                <a:spcPts val="0"/>
              </a:spcAft>
            </a:pPr>
            <a:r>
              <a:rPr sz="1500" b="1">
                <a:solidFill>
                  <a:srgbClr val="13EF93"/>
                </a:solidFill>
                <a:latin typeface="Courier New"/>
              </a:rPr>
              <a:t>2</a:t>
            </a:r>
          </a:p>
        </p:txBody>
      </p:sp>
      <p:sp>
        <p:nvSpPr>
          <p:cNvPr id="13" name="TextBox 12"/>
          <p:cNvSpPr txBox="1"/>
          <p:nvPr/>
        </p:nvSpPr>
        <p:spPr>
          <a:xfrm>
            <a:off x="1389888" y="3598164"/>
            <a:ext cx="9905969" cy="393192"/>
          </a:xfrm>
          <a:prstGeom prst="rect">
            <a:avLst/>
          </a:prstGeom>
          <a:noFill/>
        </p:spPr>
        <p:txBody>
          <a:bodyPr wrap="square" lIns="0" tIns="0" rIns="0" bIns="0">
            <a:spAutoFit/>
          </a:bodyPr>
          <a:lstStyle/>
          <a:p>
            <a:pPr algn="l">
              <a:lnSpc>
                <a:spcPct val="126000"/>
              </a:lnSpc>
              <a:spcBef>
                <a:spcPts val="0"/>
              </a:spcBef>
              <a:spcAft>
                <a:spcPts val="0"/>
              </a:spcAft>
            </a:pPr>
            <a:r>
              <a:rPr sz="1200" b="0">
                <a:solidFill>
                  <a:srgbClr val="93A4B7"/>
                </a:solidFill>
                <a:latin typeface="Calibri"/>
              </a:rPr>
              <a:t>listen configures speech-to-text; the LLM is named under think.  ·  The agent discards any media that arrives before the handshake completes, so audio sent early is silently lost.</a:t>
            </a:r>
          </a:p>
        </p:txBody>
      </p:sp>
      <p:sp>
        <p:nvSpPr>
          <p:cNvPr id="14" name="Rounded Rectangle 13"/>
          <p:cNvSpPr/>
          <p:nvPr/>
        </p:nvSpPr>
        <p:spPr>
          <a:xfrm>
            <a:off x="640080" y="4238244"/>
            <a:ext cx="10911809" cy="667512"/>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77824" y="4384548"/>
            <a:ext cx="365760" cy="274320"/>
          </a:xfrm>
          <a:prstGeom prst="rect">
            <a:avLst/>
          </a:prstGeom>
          <a:noFill/>
        </p:spPr>
        <p:txBody>
          <a:bodyPr wrap="square" lIns="0" tIns="0" rIns="0" bIns="0">
            <a:spAutoFit/>
          </a:bodyPr>
          <a:lstStyle/>
          <a:p>
            <a:pPr algn="l">
              <a:spcBef>
                <a:spcPts val="0"/>
              </a:spcBef>
              <a:spcAft>
                <a:spcPts val="0"/>
              </a:spcAft>
            </a:pPr>
            <a:r>
              <a:rPr sz="1500" b="1">
                <a:solidFill>
                  <a:srgbClr val="13EF93"/>
                </a:solidFill>
                <a:latin typeface="Courier New"/>
              </a:rPr>
              <a:t>3</a:t>
            </a:r>
          </a:p>
        </p:txBody>
      </p:sp>
      <p:sp>
        <p:nvSpPr>
          <p:cNvPr id="16" name="TextBox 15"/>
          <p:cNvSpPr txBox="1"/>
          <p:nvPr/>
        </p:nvSpPr>
        <p:spPr>
          <a:xfrm>
            <a:off x="1389888" y="4375404"/>
            <a:ext cx="9905969" cy="393192"/>
          </a:xfrm>
          <a:prstGeom prst="rect">
            <a:avLst/>
          </a:prstGeom>
          <a:noFill/>
        </p:spPr>
        <p:txBody>
          <a:bodyPr wrap="square" lIns="0" tIns="0" rIns="0" bIns="0">
            <a:spAutoFit/>
          </a:bodyPr>
          <a:lstStyle/>
          <a:p>
            <a:pPr algn="l">
              <a:lnSpc>
                <a:spcPct val="126000"/>
              </a:lnSpc>
              <a:spcBef>
                <a:spcPts val="0"/>
              </a:spcBef>
              <a:spcAft>
                <a:spcPts val="0"/>
              </a:spcAft>
            </a:pPr>
            <a:r>
              <a:rPr sz="1200" b="0">
                <a:solidFill>
                  <a:srgbClr val="93A4B7"/>
                </a:solidFill>
                <a:latin typeface="Calibri"/>
              </a:rPr>
              <a:t>The greeting starts arriving within milliseconds of SettingsApplied, and audio with nowhere to go is audio thrown away. The bridge waits for the browser's start message before opening the Deepgram socket for exactly this reason.</a:t>
            </a:r>
          </a:p>
        </p:txBody>
      </p:sp>
      <p:sp>
        <p:nvSpPr>
          <p:cNvPr id="17" name="Rounded Rectangle 16"/>
          <p:cNvSpPr/>
          <p:nvPr/>
        </p:nvSpPr>
        <p:spPr>
          <a:xfrm>
            <a:off x="640080" y="5015483"/>
            <a:ext cx="10911809" cy="470916"/>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77824" y="5161788"/>
            <a:ext cx="365760" cy="274320"/>
          </a:xfrm>
          <a:prstGeom prst="rect">
            <a:avLst/>
          </a:prstGeom>
          <a:noFill/>
        </p:spPr>
        <p:txBody>
          <a:bodyPr wrap="square" lIns="0" tIns="0" rIns="0" bIns="0">
            <a:spAutoFit/>
          </a:bodyPr>
          <a:lstStyle/>
          <a:p>
            <a:pPr algn="l">
              <a:spcBef>
                <a:spcPts val="0"/>
              </a:spcBef>
              <a:spcAft>
                <a:spcPts val="0"/>
              </a:spcAft>
            </a:pPr>
            <a:r>
              <a:rPr sz="1500" b="1">
                <a:solidFill>
                  <a:srgbClr val="13EF93"/>
                </a:solidFill>
                <a:latin typeface="Courier New"/>
              </a:rPr>
              <a:t>4</a:t>
            </a:r>
          </a:p>
        </p:txBody>
      </p:sp>
      <p:sp>
        <p:nvSpPr>
          <p:cNvPr id="19" name="TextBox 18"/>
          <p:cNvSpPr txBox="1"/>
          <p:nvPr/>
        </p:nvSpPr>
        <p:spPr>
          <a:xfrm>
            <a:off x="1389888" y="5152644"/>
            <a:ext cx="9905969" cy="196596"/>
          </a:xfrm>
          <a:prstGeom prst="rect">
            <a:avLst/>
          </a:prstGeom>
          <a:noFill/>
        </p:spPr>
        <p:txBody>
          <a:bodyPr wrap="square" lIns="0" tIns="0" rIns="0" bIns="0">
            <a:spAutoFit/>
          </a:bodyPr>
          <a:lstStyle/>
          <a:p>
            <a:pPr algn="l">
              <a:lnSpc>
                <a:spcPct val="126000"/>
              </a:lnSpc>
              <a:spcBef>
                <a:spcPts val="0"/>
              </a:spcBef>
              <a:spcAft>
                <a:spcPts val="0"/>
              </a:spcAft>
            </a:pPr>
            <a:r>
              <a:rPr sz="1200" b="0">
                <a:solidFill>
                  <a:srgbClr val="93A4B7"/>
                </a:solidFill>
                <a:latin typeface="Calibri"/>
              </a:rPr>
              <a:t>Flux does turn detection inside the model, so there's nothing for client-side VAD to do.</a:t>
            </a:r>
          </a:p>
        </p:txBody>
      </p:sp>
      <p:sp>
        <p:nvSpPr>
          <p:cNvPr id="20" name="Rounded Rectangle 19"/>
          <p:cNvSpPr/>
          <p:nvPr/>
        </p:nvSpPr>
        <p:spPr>
          <a:xfrm>
            <a:off x="640080" y="5596127"/>
            <a:ext cx="10911809" cy="667512"/>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77824" y="5742431"/>
            <a:ext cx="365760" cy="274320"/>
          </a:xfrm>
          <a:prstGeom prst="rect">
            <a:avLst/>
          </a:prstGeom>
          <a:noFill/>
        </p:spPr>
        <p:txBody>
          <a:bodyPr wrap="square" lIns="0" tIns="0" rIns="0" bIns="0">
            <a:spAutoFit/>
          </a:bodyPr>
          <a:lstStyle/>
          <a:p>
            <a:pPr algn="l">
              <a:spcBef>
                <a:spcPts val="0"/>
              </a:spcBef>
              <a:spcAft>
                <a:spcPts val="0"/>
              </a:spcAft>
            </a:pPr>
            <a:r>
              <a:rPr sz="1500" b="1">
                <a:solidFill>
                  <a:srgbClr val="13EF93"/>
                </a:solidFill>
                <a:latin typeface="Courier New"/>
              </a:rPr>
              <a:t>5</a:t>
            </a:r>
          </a:p>
        </p:txBody>
      </p:sp>
      <p:sp>
        <p:nvSpPr>
          <p:cNvPr id="22" name="TextBox 21"/>
          <p:cNvSpPr txBox="1"/>
          <p:nvPr/>
        </p:nvSpPr>
        <p:spPr>
          <a:xfrm>
            <a:off x="1389888" y="5733288"/>
            <a:ext cx="9905969" cy="393192"/>
          </a:xfrm>
          <a:prstGeom prst="rect">
            <a:avLst/>
          </a:prstGeom>
          <a:noFill/>
        </p:spPr>
        <p:txBody>
          <a:bodyPr wrap="square" lIns="0" tIns="0" rIns="0" bIns="0">
            <a:spAutoFit/>
          </a:bodyPr>
          <a:lstStyle/>
          <a:p>
            <a:pPr algn="l">
              <a:lnSpc>
                <a:spcPct val="126000"/>
              </a:lnSpc>
              <a:spcBef>
                <a:spcPts val="0"/>
              </a:spcBef>
              <a:spcAft>
                <a:spcPts val="0"/>
              </a:spcAft>
            </a:pPr>
            <a:r>
              <a:rPr sz="1200" b="0">
                <a:solidFill>
                  <a:srgbClr val="93A4B7"/>
                </a:solidFill>
                <a:latin typeface="Calibri"/>
              </a:rPr>
              <a:t>Because the pump would immediately refill the browser's queue from the Python-side one. Clearing the far queue first and the near queue second means the agent talks over the user a moment later rather than immediately — which is worse, because it looks like it nearly works.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70B10"/>
        </a:solidFill>
        <a:effectLst/>
      </p:bgPr>
    </p:bg>
    <p:spTree>
      <p:nvGrpSpPr>
        <p:cNvPr id="1" name=""/>
        <p:cNvGrpSpPr/>
        <p:nvPr/>
      </p:nvGrpSpPr>
      <p:grpSpPr>
        <a:xfrm>
          <a:off x="0" y="0"/>
          <a:ext cx="0" cy="0"/>
          <a:chOff x="0" y="0"/>
          <a:chExt cx="0" cy="0"/>
        </a:xfrm>
      </p:grpSpPr>
      <p:sp>
        <p:nvSpPr>
          <p:cNvPr id="2" name="TextBox 1"/>
          <p:cNvSpPr txBox="1"/>
          <p:nvPr/>
        </p:nvSpPr>
        <p:spPr>
          <a:xfrm>
            <a:off x="640080" y="475488"/>
            <a:ext cx="10911809" cy="237744"/>
          </a:xfrm>
          <a:prstGeom prst="rect">
            <a:avLst/>
          </a:prstGeom>
          <a:noFill/>
        </p:spPr>
        <p:txBody>
          <a:bodyPr wrap="square" lIns="0" tIns="0" rIns="0" bIns="0">
            <a:spAutoFit/>
          </a:bodyPr>
          <a:lstStyle/>
          <a:p>
            <a:pPr algn="l">
              <a:spcBef>
                <a:spcPts val="0"/>
              </a:spcBef>
              <a:spcAft>
                <a:spcPts val="0"/>
              </a:spcAft>
            </a:pPr>
            <a:r>
              <a:rPr sz="1050" b="1">
                <a:solidFill>
                  <a:srgbClr val="13EF93"/>
                </a:solidFill>
                <a:latin typeface="Calibri"/>
              </a:rPr>
              <a:t>APPENDIX</a:t>
            </a:r>
          </a:p>
        </p:txBody>
      </p:sp>
      <p:sp>
        <p:nvSpPr>
          <p:cNvPr id="3" name="TextBox 2"/>
          <p:cNvSpPr txBox="1"/>
          <p:nvPr/>
        </p:nvSpPr>
        <p:spPr>
          <a:xfrm>
            <a:off x="640080" y="786384"/>
            <a:ext cx="10911809" cy="548640"/>
          </a:xfrm>
          <a:prstGeom prst="rect">
            <a:avLst/>
          </a:prstGeom>
          <a:noFill/>
        </p:spPr>
        <p:txBody>
          <a:bodyPr wrap="square" lIns="0" tIns="0" rIns="0" bIns="0">
            <a:spAutoFit/>
          </a:bodyPr>
          <a:lstStyle/>
          <a:p>
            <a:pPr algn="l">
              <a:spcBef>
                <a:spcPts val="0"/>
              </a:spcBef>
              <a:spcAft>
                <a:spcPts val="0"/>
              </a:spcAft>
            </a:pPr>
            <a:r>
              <a:rPr sz="3100" b="1">
                <a:solidFill>
                  <a:srgbClr val="E9EFF6"/>
                </a:solidFill>
                <a:latin typeface="Calibri"/>
              </a:rPr>
              <a:t>Check-yourself answers  ·  Steps 6 – 8</a:t>
            </a:r>
          </a:p>
        </p:txBody>
      </p:sp>
      <p:sp>
        <p:nvSpPr>
          <p:cNvPr id="4" name="TextBox 3"/>
          <p:cNvSpPr txBox="1"/>
          <p:nvPr/>
        </p:nvSpPr>
        <p:spPr>
          <a:xfrm>
            <a:off x="640080" y="1499616"/>
            <a:ext cx="9692640" cy="548640"/>
          </a:xfrm>
          <a:prstGeom prst="rect">
            <a:avLst/>
          </a:prstGeom>
          <a:noFill/>
        </p:spPr>
        <p:txBody>
          <a:bodyPr wrap="square" lIns="0" tIns="0" rIns="0" bIns="0">
            <a:spAutoFit/>
          </a:bodyPr>
          <a:lstStyle/>
          <a:p>
            <a:pPr algn="l">
              <a:lnSpc>
                <a:spcPct val="128000"/>
              </a:lnSpc>
              <a:spcBef>
                <a:spcPts val="0"/>
              </a:spcBef>
              <a:spcAft>
                <a:spcPts val="0"/>
              </a:spcAft>
            </a:pPr>
            <a:r>
              <a:rPr sz="1450" b="0">
                <a:solidFill>
                  <a:srgbClr val="93A4B7"/>
                </a:solidFill>
                <a:latin typeface="Calibri"/>
              </a:rPr>
              <a:t>Including the two optional steps, which carry their own answer keys because nothing downstream can.</a:t>
            </a:r>
          </a:p>
        </p:txBody>
      </p:sp>
      <p:sp>
        <p:nvSpPr>
          <p:cNvPr id="5" name="Rounded Rectangle 4"/>
          <p:cNvSpPr/>
          <p:nvPr/>
        </p:nvSpPr>
        <p:spPr>
          <a:xfrm>
            <a:off x="640080" y="2139696"/>
            <a:ext cx="10911809" cy="498348"/>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77824" y="2313432"/>
            <a:ext cx="512064" cy="274320"/>
          </a:xfrm>
          <a:prstGeom prst="rect">
            <a:avLst/>
          </a:prstGeom>
          <a:noFill/>
        </p:spPr>
        <p:txBody>
          <a:bodyPr wrap="square" lIns="0" tIns="0" rIns="0" bIns="0">
            <a:spAutoFit/>
          </a:bodyPr>
          <a:lstStyle/>
          <a:p>
            <a:pPr algn="l">
              <a:spcBef>
                <a:spcPts val="0"/>
              </a:spcBef>
              <a:spcAft>
                <a:spcPts val="0"/>
              </a:spcAft>
            </a:pPr>
            <a:r>
              <a:rPr sz="1500" b="1">
                <a:solidFill>
                  <a:srgbClr val="13EF93"/>
                </a:solidFill>
                <a:latin typeface="Courier New"/>
              </a:rPr>
              <a:t>6</a:t>
            </a:r>
          </a:p>
        </p:txBody>
      </p:sp>
      <p:sp>
        <p:nvSpPr>
          <p:cNvPr id="7" name="TextBox 6"/>
          <p:cNvSpPr txBox="1"/>
          <p:nvPr/>
        </p:nvSpPr>
        <p:spPr>
          <a:xfrm>
            <a:off x="1536192" y="2304288"/>
            <a:ext cx="9759665" cy="187452"/>
          </a:xfrm>
          <a:prstGeom prst="rect">
            <a:avLst/>
          </a:prstGeom>
          <a:noFill/>
        </p:spPr>
        <p:txBody>
          <a:bodyPr wrap="square" lIns="0" tIns="0" rIns="0" bIns="0">
            <a:spAutoFit/>
          </a:bodyPr>
          <a:lstStyle/>
          <a:p>
            <a:pPr algn="l">
              <a:lnSpc>
                <a:spcPct val="128000"/>
              </a:lnSpc>
              <a:spcBef>
                <a:spcPts val="0"/>
              </a:spcBef>
              <a:spcAft>
                <a:spcPts val="0"/>
              </a:spcAft>
            </a:pPr>
            <a:r>
              <a:rPr sz="1250" b="0">
                <a:solidFill>
                  <a:srgbClr val="93A4B7"/>
                </a:solidFill>
                <a:latin typeface="Calibri"/>
              </a:rPr>
              <a:t>Tell it that it's speaking — no markdown, bullets, or emoji — and tell it to be brief.</a:t>
            </a:r>
          </a:p>
        </p:txBody>
      </p:sp>
      <p:sp>
        <p:nvSpPr>
          <p:cNvPr id="8" name="Rounded Rectangle 7"/>
          <p:cNvSpPr/>
          <p:nvPr/>
        </p:nvSpPr>
        <p:spPr>
          <a:xfrm>
            <a:off x="640080" y="2747772"/>
            <a:ext cx="10911809" cy="704088"/>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77824" y="2921508"/>
            <a:ext cx="512064" cy="274320"/>
          </a:xfrm>
          <a:prstGeom prst="rect">
            <a:avLst/>
          </a:prstGeom>
          <a:noFill/>
        </p:spPr>
        <p:txBody>
          <a:bodyPr wrap="square" lIns="0" tIns="0" rIns="0" bIns="0">
            <a:spAutoFit/>
          </a:bodyPr>
          <a:lstStyle/>
          <a:p>
            <a:pPr algn="l">
              <a:spcBef>
                <a:spcPts val="0"/>
              </a:spcBef>
              <a:spcAft>
                <a:spcPts val="0"/>
              </a:spcAft>
            </a:pPr>
            <a:r>
              <a:rPr sz="1500" b="1">
                <a:solidFill>
                  <a:srgbClr val="FFB454"/>
                </a:solidFill>
                <a:latin typeface="Courier New"/>
              </a:rPr>
              <a:t>6b</a:t>
            </a:r>
          </a:p>
        </p:txBody>
      </p:sp>
      <p:sp>
        <p:nvSpPr>
          <p:cNvPr id="10" name="TextBox 9"/>
          <p:cNvSpPr txBox="1"/>
          <p:nvPr/>
        </p:nvSpPr>
        <p:spPr>
          <a:xfrm>
            <a:off x="1536192" y="2912364"/>
            <a:ext cx="9759665" cy="393192"/>
          </a:xfrm>
          <a:prstGeom prst="rect">
            <a:avLst/>
          </a:prstGeom>
          <a:noFill/>
        </p:spPr>
        <p:txBody>
          <a:bodyPr wrap="square" lIns="0" tIns="0" rIns="0" bIns="0">
            <a:spAutoFit/>
          </a:bodyPr>
          <a:lstStyle/>
          <a:p>
            <a:pPr algn="l">
              <a:lnSpc>
                <a:spcPct val="128000"/>
              </a:lnSpc>
              <a:spcBef>
                <a:spcPts val="0"/>
              </a:spcBef>
              <a:spcAft>
                <a:spcPts val="0"/>
              </a:spcAft>
            </a:pPr>
            <a:r>
              <a:rPr sz="1250" b="0">
                <a:solidFill>
                  <a:srgbClr val="93A4B7"/>
                </a:solidFill>
                <a:latin typeface="Calibri"/>
              </a:rPr>
              <a:t>Deepgram brokers OpenAI, so a model name is the whole configuration. It doesn't broker Bedrock: it makes the call as you, which needs credentials to make it with (provider.credentials) and an address to make it to (think.endpoint).</a:t>
            </a:r>
          </a:p>
        </p:txBody>
      </p:sp>
      <p:sp>
        <p:nvSpPr>
          <p:cNvPr id="11" name="Rounded Rectangle 10"/>
          <p:cNvSpPr/>
          <p:nvPr/>
        </p:nvSpPr>
        <p:spPr>
          <a:xfrm>
            <a:off x="640080" y="3561588"/>
            <a:ext cx="10911809" cy="498348"/>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77824" y="3735324"/>
            <a:ext cx="512064" cy="274320"/>
          </a:xfrm>
          <a:prstGeom prst="rect">
            <a:avLst/>
          </a:prstGeom>
          <a:noFill/>
        </p:spPr>
        <p:txBody>
          <a:bodyPr wrap="square" lIns="0" tIns="0" rIns="0" bIns="0">
            <a:spAutoFit/>
          </a:bodyPr>
          <a:lstStyle/>
          <a:p>
            <a:pPr algn="l">
              <a:spcBef>
                <a:spcPts val="0"/>
              </a:spcBef>
              <a:spcAft>
                <a:spcPts val="0"/>
              </a:spcAft>
            </a:pPr>
            <a:r>
              <a:rPr sz="1500" b="1">
                <a:solidFill>
                  <a:srgbClr val="13EF93"/>
                </a:solidFill>
                <a:latin typeface="Courier New"/>
              </a:rPr>
              <a:t>7</a:t>
            </a:r>
          </a:p>
        </p:txBody>
      </p:sp>
      <p:sp>
        <p:nvSpPr>
          <p:cNvPr id="13" name="TextBox 12"/>
          <p:cNvSpPr txBox="1"/>
          <p:nvPr/>
        </p:nvSpPr>
        <p:spPr>
          <a:xfrm>
            <a:off x="1536192" y="3726180"/>
            <a:ext cx="9759665" cy="187452"/>
          </a:xfrm>
          <a:prstGeom prst="rect">
            <a:avLst/>
          </a:prstGeom>
          <a:noFill/>
        </p:spPr>
        <p:txBody>
          <a:bodyPr wrap="square" lIns="0" tIns="0" rIns="0" bIns="0">
            <a:spAutoFit/>
          </a:bodyPr>
          <a:lstStyle/>
          <a:p>
            <a:pPr algn="l">
              <a:lnSpc>
                <a:spcPct val="128000"/>
              </a:lnSpc>
              <a:spcBef>
                <a:spcPts val="0"/>
              </a:spcBef>
              <a:spcAft>
                <a:spcPts val="0"/>
              </a:spcAft>
            </a:pPr>
            <a:r>
              <a:rPr sz="1250" b="0">
                <a:solidFill>
                  <a:srgbClr val="93A4B7"/>
                </a:solidFill>
                <a:latin typeface="Calibri"/>
              </a:rPr>
              <a:t>Setting endpoint moves execution to Deepgram; omitting it keeps the function client-side.</a:t>
            </a:r>
          </a:p>
        </p:txBody>
      </p:sp>
      <p:sp>
        <p:nvSpPr>
          <p:cNvPr id="14" name="Rounded Rectangle 13"/>
          <p:cNvSpPr/>
          <p:nvPr/>
        </p:nvSpPr>
        <p:spPr>
          <a:xfrm>
            <a:off x="640080" y="4169664"/>
            <a:ext cx="10911809" cy="704088"/>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77824" y="4343400"/>
            <a:ext cx="512064" cy="274320"/>
          </a:xfrm>
          <a:prstGeom prst="rect">
            <a:avLst/>
          </a:prstGeom>
          <a:noFill/>
        </p:spPr>
        <p:txBody>
          <a:bodyPr wrap="square" lIns="0" tIns="0" rIns="0" bIns="0">
            <a:spAutoFit/>
          </a:bodyPr>
          <a:lstStyle/>
          <a:p>
            <a:pPr algn="l">
              <a:spcBef>
                <a:spcPts val="0"/>
              </a:spcBef>
              <a:spcAft>
                <a:spcPts val="0"/>
              </a:spcAft>
            </a:pPr>
            <a:r>
              <a:rPr sz="1500" b="1">
                <a:solidFill>
                  <a:srgbClr val="FFB454"/>
                </a:solidFill>
                <a:latin typeface="Courier New"/>
              </a:rPr>
              <a:t>7b</a:t>
            </a:r>
          </a:p>
        </p:txBody>
      </p:sp>
      <p:sp>
        <p:nvSpPr>
          <p:cNvPr id="16" name="TextBox 15"/>
          <p:cNvSpPr txBox="1"/>
          <p:nvPr/>
        </p:nvSpPr>
        <p:spPr>
          <a:xfrm>
            <a:off x="1536192" y="4334256"/>
            <a:ext cx="9759665" cy="393192"/>
          </a:xfrm>
          <a:prstGeom prst="rect">
            <a:avLst/>
          </a:prstGeom>
          <a:noFill/>
        </p:spPr>
        <p:txBody>
          <a:bodyPr wrap="square" lIns="0" tIns="0" rIns="0" bIns="0">
            <a:spAutoFit/>
          </a:bodyPr>
          <a:lstStyle/>
          <a:p>
            <a:pPr algn="l">
              <a:lnSpc>
                <a:spcPct val="128000"/>
              </a:lnSpc>
              <a:spcBef>
                <a:spcPts val="0"/>
              </a:spcBef>
              <a:spcAft>
                <a:spcPts val="0"/>
              </a:spcAft>
            </a:pPr>
            <a:r>
              <a:rPr sz="1250" b="0">
                <a:solidFill>
                  <a:srgbClr val="93A4B7"/>
                </a:solidFill>
                <a:latin typeface="Calibri"/>
              </a:rPr>
              <a:t>Because the prompt is a request and the payload is a guarantee. Prose asking the model not to repeat a phone number can be talked around; a payload that never carried the phone number cannot.</a:t>
            </a:r>
          </a:p>
        </p:txBody>
      </p:sp>
      <p:sp>
        <p:nvSpPr>
          <p:cNvPr id="17" name="Rounded Rectangle 16"/>
          <p:cNvSpPr/>
          <p:nvPr/>
        </p:nvSpPr>
        <p:spPr>
          <a:xfrm>
            <a:off x="640080" y="4983480"/>
            <a:ext cx="10911809" cy="498348"/>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77824" y="5157216"/>
            <a:ext cx="512064" cy="274320"/>
          </a:xfrm>
          <a:prstGeom prst="rect">
            <a:avLst/>
          </a:prstGeom>
          <a:noFill/>
        </p:spPr>
        <p:txBody>
          <a:bodyPr wrap="square" lIns="0" tIns="0" rIns="0" bIns="0">
            <a:spAutoFit/>
          </a:bodyPr>
          <a:lstStyle/>
          <a:p>
            <a:pPr algn="l">
              <a:spcBef>
                <a:spcPts val="0"/>
              </a:spcBef>
              <a:spcAft>
                <a:spcPts val="0"/>
              </a:spcAft>
            </a:pPr>
            <a:r>
              <a:rPr sz="1500" b="1">
                <a:solidFill>
                  <a:srgbClr val="13EF93"/>
                </a:solidFill>
                <a:latin typeface="Courier New"/>
              </a:rPr>
              <a:t>8</a:t>
            </a:r>
          </a:p>
        </p:txBody>
      </p:sp>
      <p:sp>
        <p:nvSpPr>
          <p:cNvPr id="19" name="TextBox 18"/>
          <p:cNvSpPr txBox="1"/>
          <p:nvPr/>
        </p:nvSpPr>
        <p:spPr>
          <a:xfrm>
            <a:off x="1536192" y="5148072"/>
            <a:ext cx="9759665" cy="187452"/>
          </a:xfrm>
          <a:prstGeom prst="rect">
            <a:avLst/>
          </a:prstGeom>
          <a:noFill/>
        </p:spPr>
        <p:txBody>
          <a:bodyPr wrap="square" lIns="0" tIns="0" rIns="0" bIns="0">
            <a:spAutoFit/>
          </a:bodyPr>
          <a:lstStyle/>
          <a:p>
            <a:pPr algn="l">
              <a:lnSpc>
                <a:spcPct val="128000"/>
              </a:lnSpc>
              <a:spcBef>
                <a:spcPts val="0"/>
              </a:spcBef>
              <a:spcAft>
                <a:spcPts val="0"/>
              </a:spcAft>
            </a:pPr>
            <a:r>
              <a:rPr sz="1250" b="0">
                <a:solidFill>
                  <a:srgbClr val="93A4B7"/>
                </a:solidFill>
                <a:latin typeface="Calibri"/>
              </a:rPr>
              <a:t>Raise eot_threshold. It demands more confidence before Flux calls the turn over.</a:t>
            </a:r>
          </a:p>
        </p:txBody>
      </p:sp>
      <p:sp>
        <p:nvSpPr>
          <p:cNvPr id="20" name="Rounded Rectangle 19"/>
          <p:cNvSpPr/>
          <p:nvPr/>
        </p:nvSpPr>
        <p:spPr>
          <a:xfrm>
            <a:off x="640080" y="5701284"/>
            <a:ext cx="10911809" cy="950976"/>
          </a:xfrm>
          <a:prstGeom prst="roundRect">
            <a:avLst>
              <a:gd name="adj" fmla="val 3500"/>
            </a:avLst>
          </a:prstGeom>
          <a:solidFill>
            <a:srgbClr val="17222E"/>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50976" y="5847588"/>
            <a:ext cx="10290017" cy="731520"/>
          </a:xfrm>
          <a:prstGeom prst="rect">
            <a:avLst/>
          </a:prstGeom>
          <a:noFill/>
        </p:spPr>
        <p:txBody>
          <a:bodyPr wrap="square" lIns="0" tIns="0" rIns="0" bIns="0">
            <a:spAutoFit/>
          </a:bodyPr>
          <a:lstStyle/>
          <a:p>
            <a:pPr algn="l">
              <a:spcBef>
                <a:spcPts val="0"/>
              </a:spcBef>
              <a:spcAft>
                <a:spcPts val="0"/>
              </a:spcAft>
            </a:pPr>
            <a:r>
              <a:rPr sz="1400" b="1">
                <a:solidFill>
                  <a:srgbClr val="13EF93"/>
                </a:solidFill>
                <a:latin typeface="Calibri"/>
              </a:rPr>
              <a:t>7b's answer is the one worth labouring.</a:t>
            </a:r>
          </a:p>
          <a:p>
            <a:pPr algn="l">
              <a:lnSpc>
                <a:spcPct val="126000"/>
              </a:lnSpc>
              <a:spcBef>
                <a:spcPts val="400"/>
              </a:spcBef>
              <a:spcAft>
                <a:spcPts val="0"/>
              </a:spcAft>
            </a:pPr>
            <a:r>
              <a:rPr sz="1250" b="0">
                <a:solidFill>
                  <a:srgbClr val="93A4B7"/>
                </a:solidFill>
                <a:latin typeface="Calibri"/>
              </a:rPr>
              <a:t>It generalises past healthcare and past voice: filter at the boundary, because the model may say anything you hand it — under pressure, or just because it was being helpful.</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70B10"/>
        </a:solidFill>
        <a:effectLst/>
      </p:bgPr>
    </p:bg>
    <p:spTree>
      <p:nvGrpSpPr>
        <p:cNvPr id="1" name=""/>
        <p:cNvGrpSpPr/>
        <p:nvPr/>
      </p:nvGrpSpPr>
      <p:grpSpPr>
        <a:xfrm>
          <a:off x="0" y="0"/>
          <a:ext cx="0" cy="0"/>
          <a:chOff x="0" y="0"/>
          <a:chExt cx="0" cy="0"/>
        </a:xfrm>
      </p:grpSpPr>
      <p:sp>
        <p:nvSpPr>
          <p:cNvPr id="2" name="TextBox 1"/>
          <p:cNvSpPr txBox="1"/>
          <p:nvPr/>
        </p:nvSpPr>
        <p:spPr>
          <a:xfrm>
            <a:off x="640080" y="475488"/>
            <a:ext cx="10911809" cy="237744"/>
          </a:xfrm>
          <a:prstGeom prst="rect">
            <a:avLst/>
          </a:prstGeom>
          <a:noFill/>
        </p:spPr>
        <p:txBody>
          <a:bodyPr wrap="square" lIns="0" tIns="0" rIns="0" bIns="0">
            <a:spAutoFit/>
          </a:bodyPr>
          <a:lstStyle/>
          <a:p>
            <a:pPr algn="l">
              <a:spcBef>
                <a:spcPts val="0"/>
              </a:spcBef>
              <a:spcAft>
                <a:spcPts val="0"/>
              </a:spcAft>
            </a:pPr>
            <a:r>
              <a:rPr sz="1050" b="1">
                <a:solidFill>
                  <a:srgbClr val="13EF93"/>
                </a:solidFill>
                <a:latin typeface="Calibri"/>
              </a:rPr>
              <a:t>APPENDIX  ·  OPTIONAL  ·  15 MIN</a:t>
            </a:r>
          </a:p>
        </p:txBody>
      </p:sp>
      <p:sp>
        <p:nvSpPr>
          <p:cNvPr id="3" name="TextBox 2"/>
          <p:cNvSpPr txBox="1"/>
          <p:nvPr/>
        </p:nvSpPr>
        <p:spPr>
          <a:xfrm>
            <a:off x="640080" y="786384"/>
            <a:ext cx="10911809" cy="548640"/>
          </a:xfrm>
          <a:prstGeom prst="rect">
            <a:avLst/>
          </a:prstGeom>
          <a:noFill/>
        </p:spPr>
        <p:txBody>
          <a:bodyPr wrap="square" lIns="0" tIns="0" rIns="0" bIns="0">
            <a:spAutoFit/>
          </a:bodyPr>
          <a:lstStyle/>
          <a:p>
            <a:pPr algn="l">
              <a:spcBef>
                <a:spcPts val="0"/>
              </a:spcBef>
              <a:spcAft>
                <a:spcPts val="0"/>
              </a:spcAft>
            </a:pPr>
            <a:r>
              <a:rPr sz="3100" b="1">
                <a:solidFill>
                  <a:srgbClr val="E9EFF6"/>
                </a:solidFill>
                <a:latin typeface="Calibri"/>
              </a:rPr>
              <a:t>Step 6b — Bring your own LLM</a:t>
            </a:r>
          </a:p>
        </p:txBody>
      </p:sp>
      <p:sp>
        <p:nvSpPr>
          <p:cNvPr id="4" name="TextBox 3"/>
          <p:cNvSpPr txBox="1"/>
          <p:nvPr/>
        </p:nvSpPr>
        <p:spPr>
          <a:xfrm>
            <a:off x="640080" y="1499616"/>
            <a:ext cx="9692640" cy="548640"/>
          </a:xfrm>
          <a:prstGeom prst="rect">
            <a:avLst/>
          </a:prstGeom>
          <a:noFill/>
        </p:spPr>
        <p:txBody>
          <a:bodyPr wrap="square" lIns="0" tIns="0" rIns="0" bIns="0">
            <a:spAutoFit/>
          </a:bodyPr>
          <a:lstStyle/>
          <a:p>
            <a:pPr algn="l">
              <a:lnSpc>
                <a:spcPct val="128000"/>
              </a:lnSpc>
              <a:spcBef>
                <a:spcPts val="0"/>
              </a:spcBef>
              <a:spcAft>
                <a:spcPts val="0"/>
              </a:spcAft>
            </a:pPr>
            <a:r>
              <a:rPr sz="1450" b="0">
                <a:solidFill>
                  <a:srgbClr val="93A4B7"/>
                </a:solidFill>
                <a:latin typeface="Calibri"/>
              </a:rPr>
              <a:t>Move the agent's brain onto Amazon Bedrock, in your own AWS account. The provider list splits in two.</a:t>
            </a:r>
          </a:p>
        </p:txBody>
      </p:sp>
      <p:sp>
        <p:nvSpPr>
          <p:cNvPr id="5" name="Rounded Rectangle 4"/>
          <p:cNvSpPr/>
          <p:nvPr/>
        </p:nvSpPr>
        <p:spPr>
          <a:xfrm>
            <a:off x="640080" y="2267712"/>
            <a:ext cx="5300456" cy="1682496"/>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32688" y="2468880"/>
            <a:ext cx="4715240" cy="1298448"/>
          </a:xfrm>
          <a:prstGeom prst="rect">
            <a:avLst/>
          </a:prstGeom>
          <a:noFill/>
        </p:spPr>
        <p:txBody>
          <a:bodyPr wrap="square" lIns="0" tIns="0" rIns="0" bIns="0">
            <a:spAutoFit/>
          </a:bodyPr>
          <a:lstStyle/>
          <a:p>
            <a:pPr algn="l">
              <a:spcBef>
                <a:spcPts val="0"/>
              </a:spcBef>
              <a:spcAft>
                <a:spcPts val="0"/>
              </a:spcAft>
            </a:pPr>
            <a:r>
              <a:rPr sz="1100" b="1">
                <a:solidFill>
                  <a:srgbClr val="13EF93"/>
                </a:solidFill>
                <a:latin typeface="Calibri"/>
              </a:rPr>
              <a:t>BROKERED BY DEEPGRAM</a:t>
            </a:r>
          </a:p>
          <a:p>
            <a:pPr algn="l">
              <a:lnSpc>
                <a:spcPct val="116000"/>
              </a:lnSpc>
              <a:spcBef>
                <a:spcPts val="600"/>
              </a:spcBef>
              <a:spcAft>
                <a:spcPts val="0"/>
              </a:spcAft>
            </a:pPr>
            <a:r>
              <a:rPr sz="1450" b="1">
                <a:solidFill>
                  <a:srgbClr val="E9EFF6"/>
                </a:solidFill>
                <a:latin typeface="Courier New"/>
              </a:rPr>
              <a:t>OpenAI · Anthropic · Google · NVIDIA</a:t>
            </a:r>
          </a:p>
          <a:p>
            <a:pPr algn="l">
              <a:lnSpc>
                <a:spcPct val="130000"/>
              </a:lnSpc>
              <a:spcBef>
                <a:spcPts val="800"/>
              </a:spcBef>
              <a:spcAft>
                <a:spcPts val="0"/>
              </a:spcAft>
            </a:pPr>
            <a:r>
              <a:rPr sz="1250" b="0">
                <a:solidFill>
                  <a:srgbClr val="93A4B7"/>
                </a:solidFill>
                <a:latin typeface="Calibri"/>
              </a:rPr>
              <a:t>Deepgram holds the account, makes the call, and bills you. You name a model and you're done — which is why Step 6 let you swap gpt-4o-mini for gpt-4o without so much as an OpenAI account.</a:t>
            </a:r>
          </a:p>
        </p:txBody>
      </p:sp>
      <p:sp>
        <p:nvSpPr>
          <p:cNvPr id="7" name="Rounded Rectangle 6"/>
          <p:cNvSpPr/>
          <p:nvPr/>
        </p:nvSpPr>
        <p:spPr>
          <a:xfrm>
            <a:off x="6251432" y="2267712"/>
            <a:ext cx="5300456" cy="1682496"/>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44040" y="2468880"/>
            <a:ext cx="4715240" cy="1298448"/>
          </a:xfrm>
          <a:prstGeom prst="rect">
            <a:avLst/>
          </a:prstGeom>
          <a:noFill/>
        </p:spPr>
        <p:txBody>
          <a:bodyPr wrap="square" lIns="0" tIns="0" rIns="0" bIns="0">
            <a:spAutoFit/>
          </a:bodyPr>
          <a:lstStyle/>
          <a:p>
            <a:pPr algn="l">
              <a:spcBef>
                <a:spcPts val="0"/>
              </a:spcBef>
              <a:spcAft>
                <a:spcPts val="0"/>
              </a:spcAft>
            </a:pPr>
            <a:r>
              <a:rPr sz="1100" b="1">
                <a:solidFill>
                  <a:srgbClr val="FFB454"/>
                </a:solidFill>
                <a:latin typeface="Calibri"/>
              </a:rPr>
              <a:t>BRING YOUR OWN</a:t>
            </a:r>
          </a:p>
          <a:p>
            <a:pPr algn="l">
              <a:lnSpc>
                <a:spcPct val="116000"/>
              </a:lnSpc>
              <a:spcBef>
                <a:spcPts val="600"/>
              </a:spcBef>
              <a:spcAft>
                <a:spcPts val="0"/>
              </a:spcAft>
            </a:pPr>
            <a:r>
              <a:rPr sz="1450" b="1">
                <a:solidFill>
                  <a:srgbClr val="E9EFF6"/>
                </a:solidFill>
                <a:latin typeface="Courier New"/>
              </a:rPr>
              <a:t>Groq · AWS Bedrock</a:t>
            </a:r>
          </a:p>
          <a:p>
            <a:pPr algn="l">
              <a:lnSpc>
                <a:spcPct val="130000"/>
              </a:lnSpc>
              <a:spcBef>
                <a:spcPts val="800"/>
              </a:spcBef>
              <a:spcAft>
                <a:spcPts val="0"/>
              </a:spcAft>
            </a:pPr>
            <a:r>
              <a:rPr sz="1250" b="0">
                <a:solidFill>
                  <a:srgbClr val="93A4B7"/>
                </a:solidFill>
                <a:latin typeface="Calibri"/>
              </a:rPr>
              <a:t>Deepgram makes the call as you, with credentials you hand it, against an endpoint you name. Your account, your model access, your bill. This is the answer when the model has to run somewhere you control.</a:t>
            </a:r>
          </a:p>
        </p:txBody>
      </p:sp>
      <p:sp>
        <p:nvSpPr>
          <p:cNvPr id="9" name="Rounded Rectangle 8"/>
          <p:cNvSpPr/>
          <p:nvPr/>
        </p:nvSpPr>
        <p:spPr>
          <a:xfrm>
            <a:off x="640080" y="4151376"/>
            <a:ext cx="5355320" cy="1225296"/>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59536" y="4352544"/>
            <a:ext cx="4916408" cy="822960"/>
          </a:xfrm>
          <a:prstGeom prst="rect">
            <a:avLst/>
          </a:prstGeom>
          <a:noFill/>
        </p:spPr>
        <p:txBody>
          <a:bodyPr wrap="square" lIns="0" tIns="0" rIns="0" bIns="0">
            <a:spAutoFit/>
          </a:bodyPr>
          <a:lstStyle/>
          <a:p>
            <a:pPr algn="l">
              <a:spcBef>
                <a:spcPts val="0"/>
              </a:spcBef>
              <a:spcAft>
                <a:spcPts val="0"/>
              </a:spcAft>
            </a:pPr>
            <a:r>
              <a:rPr sz="1400" b="1">
                <a:solidFill>
                  <a:srgbClr val="13EF93"/>
                </a:solidFill>
                <a:latin typeface="Courier New"/>
              </a:rPr>
              <a:t>think.provider</a:t>
            </a:r>
          </a:p>
          <a:p>
            <a:pPr algn="l">
              <a:lnSpc>
                <a:spcPct val="130000"/>
              </a:lnSpc>
              <a:spcBef>
                <a:spcPts val="700"/>
              </a:spcBef>
              <a:spcAft>
                <a:spcPts val="0"/>
              </a:spcAft>
            </a:pPr>
            <a:r>
              <a:rPr sz="1200" b="0">
                <a:solidFill>
                  <a:srgbClr val="93A4B7"/>
                </a:solidFill>
                <a:latin typeface="Calibri"/>
              </a:rPr>
              <a:t>Which model, and the credentials to reach it. zai.glm-4.7-flash is the workshop default — fast and cheap, which matters more than raw capability when someone is waiting to hear a reply. Takes long-lived iam keys or short-lived sts ones, which additionally carry a session_token.</a:t>
            </a:r>
          </a:p>
        </p:txBody>
      </p:sp>
      <p:sp>
        <p:nvSpPr>
          <p:cNvPr id="11" name="Rounded Rectangle 10"/>
          <p:cNvSpPr/>
          <p:nvPr/>
        </p:nvSpPr>
        <p:spPr>
          <a:xfrm>
            <a:off x="6196568" y="4151376"/>
            <a:ext cx="5355320" cy="1225296"/>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16024" y="4352544"/>
            <a:ext cx="4916408" cy="822960"/>
          </a:xfrm>
          <a:prstGeom prst="rect">
            <a:avLst/>
          </a:prstGeom>
          <a:noFill/>
        </p:spPr>
        <p:txBody>
          <a:bodyPr wrap="square" lIns="0" tIns="0" rIns="0" bIns="0">
            <a:spAutoFit/>
          </a:bodyPr>
          <a:lstStyle/>
          <a:p>
            <a:pPr algn="l">
              <a:spcBef>
                <a:spcPts val="0"/>
              </a:spcBef>
              <a:spcAft>
                <a:spcPts val="0"/>
              </a:spcAft>
            </a:pPr>
            <a:r>
              <a:rPr sz="1400" b="1">
                <a:solidFill>
                  <a:srgbClr val="13EF93"/>
                </a:solidFill>
                <a:latin typeface="Courier New"/>
              </a:rPr>
              <a:t>think.endpoint</a:t>
            </a:r>
          </a:p>
          <a:p>
            <a:pPr algn="l">
              <a:lnSpc>
                <a:spcPct val="130000"/>
              </a:lnSpc>
              <a:spcBef>
                <a:spcPts val="700"/>
              </a:spcBef>
              <a:spcAft>
                <a:spcPts val="0"/>
              </a:spcAft>
            </a:pPr>
            <a:r>
              <a:rPr sz="1200" b="0">
                <a:solidFill>
                  <a:srgbClr val="93A4B7"/>
                </a:solidFill>
                <a:latin typeface="Calibri"/>
              </a:rPr>
              <a:t>https://bedrock-runtime.{region}.amazonaws.com/ — and the region has to match your credentials'. Bedrock needs both settings; miss either and the handshake fails.</a:t>
            </a:r>
          </a:p>
        </p:txBody>
      </p:sp>
      <p:sp>
        <p:nvSpPr>
          <p:cNvPr id="13" name="Rounded Rectangle 12"/>
          <p:cNvSpPr/>
          <p:nvPr/>
        </p:nvSpPr>
        <p:spPr>
          <a:xfrm>
            <a:off x="640080" y="5522976"/>
            <a:ext cx="10911809" cy="950976"/>
          </a:xfrm>
          <a:prstGeom prst="roundRect">
            <a:avLst>
              <a:gd name="adj" fmla="val 3500"/>
            </a:avLst>
          </a:prstGeom>
          <a:solidFill>
            <a:srgbClr val="2A1F0D"/>
          </a:solidFill>
          <a:ln w="12700">
            <a:solidFill>
              <a:srgbClr val="FFB4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50976" y="5678424"/>
            <a:ext cx="10290017" cy="713232"/>
          </a:xfrm>
          <a:prstGeom prst="rect">
            <a:avLst/>
          </a:prstGeom>
          <a:noFill/>
        </p:spPr>
        <p:txBody>
          <a:bodyPr wrap="square" lIns="0" tIns="0" rIns="0" bIns="0">
            <a:spAutoFit/>
          </a:bodyPr>
          <a:lstStyle/>
          <a:p>
            <a:pPr algn="l">
              <a:spcBef>
                <a:spcPts val="0"/>
              </a:spcBef>
              <a:spcAft>
                <a:spcPts val="0"/>
              </a:spcAft>
            </a:pPr>
            <a:r>
              <a:rPr sz="1400" b="1">
                <a:solidFill>
                  <a:srgbClr val="FFB454"/>
                </a:solidFill>
                <a:latin typeface="Calibri"/>
              </a:rPr>
              <a:t>Be clear-eyed about where the credential travels.</a:t>
            </a:r>
          </a:p>
          <a:p>
            <a:pPr algn="l">
              <a:lnSpc>
                <a:spcPct val="126000"/>
              </a:lnSpc>
              <a:spcBef>
                <a:spcPts val="400"/>
              </a:spcBef>
              <a:spcAft>
                <a:spcPts val="0"/>
              </a:spcAft>
            </a:pPr>
            <a:r>
              <a:rPr sz="1200" b="0">
                <a:solidFill>
                  <a:srgbClr val="93A4B7"/>
                </a:solidFill>
                <a:latin typeface="Calibri"/>
              </a:rPr>
              <a:t>Your AWS access key and secret go into the Settings message, over the WebSocket, to Deepgram. Scope an IAM user to bedrock:InvokeModelWithResponseStream on the one model ARN in use — the blast radius of a workshop credential should be one model in one region.</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70B10"/>
        </a:solidFill>
        <a:effectLst/>
      </p:bgPr>
    </p:bg>
    <p:spTree>
      <p:nvGrpSpPr>
        <p:cNvPr id="1" name=""/>
        <p:cNvGrpSpPr/>
        <p:nvPr/>
      </p:nvGrpSpPr>
      <p:grpSpPr>
        <a:xfrm>
          <a:off x="0" y="0"/>
          <a:ext cx="0" cy="0"/>
          <a:chOff x="0" y="0"/>
          <a:chExt cx="0" cy="0"/>
        </a:xfrm>
      </p:grpSpPr>
      <p:sp>
        <p:nvSpPr>
          <p:cNvPr id="2" name="TextBox 1"/>
          <p:cNvSpPr txBox="1"/>
          <p:nvPr/>
        </p:nvSpPr>
        <p:spPr>
          <a:xfrm>
            <a:off x="640080" y="475488"/>
            <a:ext cx="10911809" cy="237744"/>
          </a:xfrm>
          <a:prstGeom prst="rect">
            <a:avLst/>
          </a:prstGeom>
          <a:noFill/>
        </p:spPr>
        <p:txBody>
          <a:bodyPr wrap="square" lIns="0" tIns="0" rIns="0" bIns="0">
            <a:spAutoFit/>
          </a:bodyPr>
          <a:lstStyle/>
          <a:p>
            <a:pPr algn="l">
              <a:spcBef>
                <a:spcPts val="0"/>
              </a:spcBef>
              <a:spcAft>
                <a:spcPts val="0"/>
              </a:spcAft>
            </a:pPr>
            <a:r>
              <a:rPr sz="1050" b="1">
                <a:solidFill>
                  <a:srgbClr val="13EF93"/>
                </a:solidFill>
                <a:latin typeface="Calibri"/>
              </a:rPr>
              <a:t>APPENDIX  ·  OPTIONAL  ·  15 MIN</a:t>
            </a:r>
          </a:p>
        </p:txBody>
      </p:sp>
      <p:sp>
        <p:nvSpPr>
          <p:cNvPr id="3" name="TextBox 2"/>
          <p:cNvSpPr txBox="1"/>
          <p:nvPr/>
        </p:nvSpPr>
        <p:spPr>
          <a:xfrm>
            <a:off x="640080" y="786384"/>
            <a:ext cx="10911809" cy="548640"/>
          </a:xfrm>
          <a:prstGeom prst="rect">
            <a:avLst/>
          </a:prstGeom>
          <a:noFill/>
        </p:spPr>
        <p:txBody>
          <a:bodyPr wrap="square" lIns="0" tIns="0" rIns="0" bIns="0">
            <a:spAutoFit/>
          </a:bodyPr>
          <a:lstStyle/>
          <a:p>
            <a:pPr algn="l">
              <a:spcBef>
                <a:spcPts val="0"/>
              </a:spcBef>
              <a:spcAft>
                <a:spcPts val="0"/>
              </a:spcAft>
            </a:pPr>
            <a:r>
              <a:rPr sz="3100" b="1">
                <a:solidFill>
                  <a:srgbClr val="E9EFF6"/>
                </a:solidFill>
                <a:latin typeface="Calibri"/>
              </a:rPr>
              <a:t>Step 7b — A second vertical, in healthcare</a:t>
            </a:r>
          </a:p>
        </p:txBody>
      </p:sp>
      <p:sp>
        <p:nvSpPr>
          <p:cNvPr id="4" name="TextBox 3"/>
          <p:cNvSpPr txBox="1"/>
          <p:nvPr/>
        </p:nvSpPr>
        <p:spPr>
          <a:xfrm>
            <a:off x="640080" y="1499616"/>
            <a:ext cx="9692640" cy="548640"/>
          </a:xfrm>
          <a:prstGeom prst="rect">
            <a:avLst/>
          </a:prstGeom>
          <a:noFill/>
        </p:spPr>
        <p:txBody>
          <a:bodyPr wrap="square" lIns="0" tIns="0" rIns="0" bIns="0">
            <a:spAutoFit/>
          </a:bodyPr>
          <a:lstStyle/>
          <a:p>
            <a:pPr algn="l">
              <a:lnSpc>
                <a:spcPct val="128000"/>
              </a:lnSpc>
              <a:spcBef>
                <a:spcPts val="0"/>
              </a:spcBef>
              <a:spcAft>
                <a:spcPts val="0"/>
              </a:spcAft>
            </a:pPr>
            <a:r>
              <a:rPr sz="1450" b="0">
                <a:solidFill>
                  <a:srgbClr val="93A4B7"/>
                </a:solidFill>
                <a:latin typeface="Calibri"/>
              </a:rPr>
              <a:t>Same machinery, a clinic instead of a bank. Two lessons banking never asks for.</a:t>
            </a:r>
          </a:p>
        </p:txBody>
      </p:sp>
      <p:sp>
        <p:nvSpPr>
          <p:cNvPr id="5" name="Rounded Rectangle 4"/>
          <p:cNvSpPr/>
          <p:nvPr/>
        </p:nvSpPr>
        <p:spPr>
          <a:xfrm>
            <a:off x="640080" y="2267712"/>
            <a:ext cx="5300456" cy="2011680"/>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32688" y="2523744"/>
            <a:ext cx="4715240" cy="1554480"/>
          </a:xfrm>
          <a:prstGeom prst="rect">
            <a:avLst/>
          </a:prstGeom>
          <a:noFill/>
        </p:spPr>
        <p:txBody>
          <a:bodyPr wrap="square" lIns="0" tIns="0" rIns="0" bIns="0">
            <a:spAutoFit/>
          </a:bodyPr>
          <a:lstStyle/>
          <a:p>
            <a:pPr algn="l">
              <a:spcBef>
                <a:spcPts val="0"/>
              </a:spcBef>
              <a:spcAft>
                <a:spcPts val="0"/>
              </a:spcAft>
            </a:pPr>
            <a:r>
              <a:rPr sz="1150" b="1">
                <a:solidFill>
                  <a:srgbClr val="13EF93"/>
                </a:solidFill>
                <a:latin typeface="Calibri"/>
              </a:rPr>
              <a:t>KEYTERMS, HEARD NOT EXPLAINED</a:t>
            </a:r>
          </a:p>
          <a:p>
            <a:pPr algn="l">
              <a:lnSpc>
                <a:spcPct val="130000"/>
              </a:lnSpc>
              <a:spcBef>
                <a:spcPts val="900"/>
              </a:spcBef>
              <a:spcAft>
                <a:spcPts val="0"/>
              </a:spcAft>
            </a:pPr>
            <a:r>
              <a:rPr sz="1250" b="0">
                <a:solidFill>
                  <a:srgbClr val="93A4B7"/>
                </a:solidFill>
                <a:latin typeface="Calibri"/>
              </a:rPr>
              <a:t>Run it once with the list empty and say: “I'm calling about my semaglutide prescription with Doctor Bergstrom.” Read what lands in the transcript — it won't be that sentence. Then uncomment the list and say it again. That's the entire feature, and it's one line.</a:t>
            </a:r>
          </a:p>
        </p:txBody>
      </p:sp>
      <p:sp>
        <p:nvSpPr>
          <p:cNvPr id="7" name="Rounded Rectangle 6"/>
          <p:cNvSpPr/>
          <p:nvPr/>
        </p:nvSpPr>
        <p:spPr>
          <a:xfrm>
            <a:off x="6251432" y="2267712"/>
            <a:ext cx="5300456" cy="2011680"/>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44040" y="2523744"/>
            <a:ext cx="4715240" cy="1554480"/>
          </a:xfrm>
          <a:prstGeom prst="rect">
            <a:avLst/>
          </a:prstGeom>
          <a:noFill/>
        </p:spPr>
        <p:txBody>
          <a:bodyPr wrap="square" lIns="0" tIns="0" rIns="0" bIns="0">
            <a:spAutoFit/>
          </a:bodyPr>
          <a:lstStyle/>
          <a:p>
            <a:pPr algn="l">
              <a:spcBef>
                <a:spcPts val="0"/>
              </a:spcBef>
              <a:spcAft>
                <a:spcPts val="0"/>
              </a:spcAft>
            </a:pPr>
            <a:r>
              <a:rPr sz="1150" b="1">
                <a:solidFill>
                  <a:srgbClr val="13EF93"/>
                </a:solidFill>
                <a:latin typeface="Calibri"/>
              </a:rPr>
              <a:t>THE PAYLOAD IS THE ENFORCEMENT LAYER</a:t>
            </a:r>
          </a:p>
          <a:p>
            <a:pPr algn="l">
              <a:lnSpc>
                <a:spcPct val="130000"/>
              </a:lnSpc>
              <a:spcBef>
                <a:spcPts val="900"/>
              </a:spcBef>
              <a:spcAft>
                <a:spcPts val="0"/>
              </a:spcAft>
            </a:pPr>
            <a:r>
              <a:rPr sz="1250" b="0">
                <a:solidFill>
                  <a:srgbClr val="93A4B7"/>
                </a:solidFill>
                <a:latin typeface="Calibri"/>
              </a:rPr>
              <a:t>return patient works, and hands a full date of birth, patient ID, and phone number to a language model — trusting a paragraph of prose to stop it repeating them. Return three keys instead. The prompt says the agent must not speak an ID; the payload makes it impossible.</a:t>
            </a:r>
          </a:p>
        </p:txBody>
      </p:sp>
      <p:sp>
        <p:nvSpPr>
          <p:cNvPr id="9" name="Rounded Rectangle 8"/>
          <p:cNvSpPr/>
          <p:nvPr/>
        </p:nvSpPr>
        <p:spPr>
          <a:xfrm>
            <a:off x="640080" y="4572000"/>
            <a:ext cx="5852160" cy="1492884"/>
          </a:xfrm>
          <a:prstGeom prst="roundRect">
            <a:avLst>
              <a:gd name="adj" fmla="val 3500"/>
            </a:avLst>
          </a:prstGeom>
          <a:solidFill>
            <a:srgbClr val="04070A"/>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59" y="4736592"/>
            <a:ext cx="5486400" cy="1127125"/>
          </a:xfrm>
          <a:prstGeom prst="rect">
            <a:avLst/>
          </a:prstGeom>
          <a:noFill/>
        </p:spPr>
        <p:txBody>
          <a:bodyPr wrap="square" lIns="0" tIns="0" rIns="0" bIns="0">
            <a:spAutoFit/>
          </a:bodyPr>
          <a:lstStyle/>
          <a:p>
            <a:pPr algn="l">
              <a:lnSpc>
                <a:spcPct val="118000"/>
              </a:lnSpc>
              <a:spcBef>
                <a:spcPts val="0"/>
              </a:spcBef>
              <a:spcAft>
                <a:spcPts val="0"/>
              </a:spcAft>
            </a:pPr>
            <a:r>
              <a:rPr sz="1250" b="0">
                <a:solidFill>
                  <a:srgbClr val="E9EFF6"/>
                </a:solidFill>
                <a:latin typeface="Courier New"/>
              </a:rPr>
              <a:t>return {</a:t>
            </a:r>
          </a:p>
          <a:p>
            <a:pPr algn="l">
              <a:lnSpc>
                <a:spcPct val="118000"/>
              </a:lnSpc>
              <a:spcBef>
                <a:spcPts val="0"/>
              </a:spcBef>
              <a:spcAft>
                <a:spcPts val="0"/>
              </a:spcAft>
            </a:pPr>
            <a:r>
              <a:rPr sz="1250" b="0">
                <a:solidFill>
                  <a:srgbClr val="13EF93"/>
                </a:solidFill>
                <a:latin typeface="Courier New"/>
              </a:rPr>
              <a:t>    "verified": True,</a:t>
            </a:r>
          </a:p>
          <a:p>
            <a:pPr algn="l">
              <a:lnSpc>
                <a:spcPct val="118000"/>
              </a:lnSpc>
              <a:spcBef>
                <a:spcPts val="0"/>
              </a:spcBef>
              <a:spcAft>
                <a:spcPts val="0"/>
              </a:spcAft>
            </a:pPr>
            <a:r>
              <a:rPr sz="1250" b="0">
                <a:solidFill>
                  <a:srgbClr val="13EF93"/>
                </a:solidFill>
                <a:latin typeface="Courier New"/>
              </a:rPr>
              <a:t>    "first_name": patient["first_name"],</a:t>
            </a:r>
          </a:p>
          <a:p>
            <a:pPr algn="l">
              <a:lnSpc>
                <a:spcPct val="118000"/>
              </a:lnSpc>
              <a:spcBef>
                <a:spcPts val="0"/>
              </a:spcBef>
              <a:spcAft>
                <a:spcPts val="0"/>
              </a:spcAft>
            </a:pPr>
            <a:r>
              <a:rPr sz="1250" b="0">
                <a:solidFill>
                  <a:srgbClr val="13EF93"/>
                </a:solidFill>
                <a:latin typeface="Courier New"/>
              </a:rPr>
              <a:t>    "next_appointment": patient["next_appointment"],</a:t>
            </a:r>
          </a:p>
          <a:p>
            <a:pPr algn="l">
              <a:lnSpc>
                <a:spcPct val="118000"/>
              </a:lnSpc>
              <a:spcBef>
                <a:spcPts val="0"/>
              </a:spcBef>
              <a:spcAft>
                <a:spcPts val="0"/>
              </a:spcAft>
            </a:pPr>
            <a:r>
              <a:rPr sz="1250" b="0">
                <a:solidFill>
                  <a:srgbClr val="E9EFF6"/>
                </a:solidFill>
                <a:latin typeface="Courier New"/>
              </a:rPr>
              <a:t>}</a:t>
            </a:r>
          </a:p>
        </p:txBody>
      </p:sp>
      <p:sp>
        <p:nvSpPr>
          <p:cNvPr id="11" name="Rounded Rectangle 10"/>
          <p:cNvSpPr/>
          <p:nvPr/>
        </p:nvSpPr>
        <p:spPr>
          <a:xfrm>
            <a:off x="6858000" y="4572000"/>
            <a:ext cx="4693889" cy="1517904"/>
          </a:xfrm>
          <a:prstGeom prst="roundRect">
            <a:avLst>
              <a:gd name="adj" fmla="val 3500"/>
            </a:avLst>
          </a:prstGeom>
          <a:solidFill>
            <a:srgbClr val="081F18"/>
          </a:solidFill>
          <a:ln w="12700">
            <a:solidFill>
              <a:srgbClr val="0D6B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32320" y="4754880"/>
            <a:ext cx="4145249" cy="1188720"/>
          </a:xfrm>
          <a:prstGeom prst="rect">
            <a:avLst/>
          </a:prstGeom>
          <a:noFill/>
        </p:spPr>
        <p:txBody>
          <a:bodyPr wrap="square" lIns="0" tIns="0" rIns="0" bIns="0">
            <a:spAutoFit/>
          </a:bodyPr>
          <a:lstStyle/>
          <a:p>
            <a:pPr algn="l">
              <a:lnSpc>
                <a:spcPct val="116000"/>
              </a:lnSpc>
              <a:spcBef>
                <a:spcPts val="0"/>
              </a:spcBef>
              <a:spcAft>
                <a:spcPts val="0"/>
              </a:spcAft>
            </a:pPr>
            <a:r>
              <a:rPr sz="1350" b="1">
                <a:solidFill>
                  <a:srgbClr val="13EF93"/>
                </a:solidFill>
                <a:latin typeface="Calibri"/>
              </a:rPr>
              <a:t>A compliance control, written as a return statement.</a:t>
            </a:r>
          </a:p>
          <a:p>
            <a:pPr algn="l">
              <a:lnSpc>
                <a:spcPct val="126000"/>
              </a:lnSpc>
              <a:spcBef>
                <a:spcPts val="500"/>
              </a:spcBef>
              <a:spcAft>
                <a:spcPts val="0"/>
              </a:spcAft>
            </a:pPr>
            <a:r>
              <a:rPr sz="1150" b="0">
                <a:solidFill>
                  <a:srgbClr val="93A4B7"/>
                </a:solidFill>
                <a:latin typeface="Calibri"/>
              </a:rPr>
              <a:t>Minimum necessary — §164.502(b), the rule that you disclose only what the task requires — is precisely what this implements. And it costs nothing: you didn't lose a feature, you removed data the conversation never needed.</a:t>
            </a:r>
          </a:p>
        </p:txBody>
      </p:sp>
      <p:sp>
        <p:nvSpPr>
          <p:cNvPr id="13" name="TextBox 12"/>
          <p:cNvSpPr txBox="1"/>
          <p:nvPr/>
        </p:nvSpPr>
        <p:spPr>
          <a:xfrm>
            <a:off x="640080" y="6035040"/>
            <a:ext cx="10911809" cy="457200"/>
          </a:xfrm>
          <a:prstGeom prst="rect">
            <a:avLst/>
          </a:prstGeom>
          <a:noFill/>
        </p:spPr>
        <p:txBody>
          <a:bodyPr wrap="square" lIns="0" tIns="0" rIns="0" bIns="0">
            <a:spAutoFit/>
          </a:bodyPr>
          <a:lstStyle/>
          <a:p>
            <a:pPr algn="l">
              <a:lnSpc>
                <a:spcPct val="125000"/>
              </a:lnSpc>
              <a:spcBef>
                <a:spcPts val="0"/>
              </a:spcBef>
              <a:spcAft>
                <a:spcPts val="0"/>
              </a:spcAft>
            </a:pPr>
            <a:r>
              <a:rPr sz="1200" b="0">
                <a:solidFill>
                  <a:srgbClr val="FF7A6B"/>
                </a:solidFill>
                <a:latin typeface="Calibri"/>
              </a:rPr>
              <a:t>Demo only. Not a HIPAA-compliant system, and every record in it is invented. The LAB.md documents the distance between this file and something allowed near a real patient — and most of it isn't code.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70B10"/>
        </a:solidFill>
        <a:effectLst/>
      </p:bgPr>
    </p:bg>
    <p:spTree>
      <p:nvGrpSpPr>
        <p:cNvPr id="1" name=""/>
        <p:cNvGrpSpPr/>
        <p:nvPr/>
      </p:nvGrpSpPr>
      <p:grpSpPr>
        <a:xfrm>
          <a:off x="0" y="0"/>
          <a:ext cx="0" cy="0"/>
          <a:chOff x="0" y="0"/>
          <a:chExt cx="0" cy="0"/>
        </a:xfrm>
      </p:grpSpPr>
      <p:sp>
        <p:nvSpPr>
          <p:cNvPr id="2" name="TextBox 1"/>
          <p:cNvSpPr txBox="1"/>
          <p:nvPr/>
        </p:nvSpPr>
        <p:spPr>
          <a:xfrm>
            <a:off x="640080" y="475488"/>
            <a:ext cx="10911809" cy="237744"/>
          </a:xfrm>
          <a:prstGeom prst="rect">
            <a:avLst/>
          </a:prstGeom>
          <a:noFill/>
        </p:spPr>
        <p:txBody>
          <a:bodyPr wrap="square" lIns="0" tIns="0" rIns="0" bIns="0">
            <a:spAutoFit/>
          </a:bodyPr>
          <a:lstStyle/>
          <a:p>
            <a:pPr algn="l">
              <a:spcBef>
                <a:spcPts val="0"/>
              </a:spcBef>
              <a:spcAft>
                <a:spcPts val="0"/>
              </a:spcAft>
            </a:pPr>
            <a:r>
              <a:rPr sz="1050" b="1">
                <a:solidFill>
                  <a:srgbClr val="13EF93"/>
                </a:solidFill>
                <a:latin typeface="Calibri"/>
              </a:rPr>
              <a:t>APPENDIX</a:t>
            </a:r>
          </a:p>
        </p:txBody>
      </p:sp>
      <p:sp>
        <p:nvSpPr>
          <p:cNvPr id="3" name="TextBox 2"/>
          <p:cNvSpPr txBox="1"/>
          <p:nvPr/>
        </p:nvSpPr>
        <p:spPr>
          <a:xfrm>
            <a:off x="640080" y="786384"/>
            <a:ext cx="10911809" cy="548640"/>
          </a:xfrm>
          <a:prstGeom prst="rect">
            <a:avLst/>
          </a:prstGeom>
          <a:noFill/>
        </p:spPr>
        <p:txBody>
          <a:bodyPr wrap="square" lIns="0" tIns="0" rIns="0" bIns="0">
            <a:spAutoFit/>
          </a:bodyPr>
          <a:lstStyle/>
          <a:p>
            <a:pPr algn="l">
              <a:spcBef>
                <a:spcPts val="0"/>
              </a:spcBef>
              <a:spcAft>
                <a:spcPts val="0"/>
              </a:spcAft>
            </a:pPr>
            <a:r>
              <a:rPr sz="3100" b="1">
                <a:solidFill>
                  <a:srgbClr val="E9EFF6"/>
                </a:solidFill>
                <a:latin typeface="Calibri"/>
              </a:rPr>
              <a:t>Running in another region</a:t>
            </a:r>
          </a:p>
        </p:txBody>
      </p:sp>
      <p:sp>
        <p:nvSpPr>
          <p:cNvPr id="4" name="TextBox 3"/>
          <p:cNvSpPr txBox="1"/>
          <p:nvPr/>
        </p:nvSpPr>
        <p:spPr>
          <a:xfrm>
            <a:off x="640080" y="1499616"/>
            <a:ext cx="9692640" cy="548640"/>
          </a:xfrm>
          <a:prstGeom prst="rect">
            <a:avLst/>
          </a:prstGeom>
          <a:noFill/>
        </p:spPr>
        <p:txBody>
          <a:bodyPr wrap="square" lIns="0" tIns="0" rIns="0" bIns="0">
            <a:spAutoFit/>
          </a:bodyPr>
          <a:lstStyle/>
          <a:p>
            <a:pPr algn="l">
              <a:lnSpc>
                <a:spcPct val="128000"/>
              </a:lnSpc>
              <a:spcBef>
                <a:spcPts val="0"/>
              </a:spcBef>
              <a:spcAft>
                <a:spcPts val="0"/>
              </a:spcAft>
            </a:pPr>
            <a:r>
              <a:rPr sz="1450" b="0">
                <a:solidFill>
                  <a:srgbClr val="93A4B7"/>
                </a:solidFill>
                <a:latin typeface="Calibri"/>
              </a:rPr>
              <a:t>Global is the default. The EU and AU endpoints process audio inside those geographies.</a:t>
            </a:r>
          </a:p>
        </p:txBody>
      </p:sp>
      <p:sp>
        <p:nvSpPr>
          <p:cNvPr id="5" name="Rounded Rectangle 4"/>
          <p:cNvSpPr/>
          <p:nvPr/>
        </p:nvSpPr>
        <p:spPr>
          <a:xfrm>
            <a:off x="640080" y="2267712"/>
            <a:ext cx="5852160" cy="609219"/>
          </a:xfrm>
          <a:prstGeom prst="roundRect">
            <a:avLst>
              <a:gd name="adj" fmla="val 3500"/>
            </a:avLst>
          </a:prstGeom>
          <a:solidFill>
            <a:srgbClr val="04070A"/>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59" y="2432304"/>
            <a:ext cx="5486400" cy="243459"/>
          </a:xfrm>
          <a:prstGeom prst="rect">
            <a:avLst/>
          </a:prstGeom>
          <a:noFill/>
        </p:spPr>
        <p:txBody>
          <a:bodyPr wrap="square" lIns="0" tIns="0" rIns="0" bIns="0">
            <a:spAutoFit/>
          </a:bodyPr>
          <a:lstStyle/>
          <a:p>
            <a:pPr algn="l">
              <a:lnSpc>
                <a:spcPct val="118000"/>
              </a:lnSpc>
              <a:spcBef>
                <a:spcPts val="0"/>
              </a:spcBef>
              <a:spcAft>
                <a:spcPts val="0"/>
              </a:spcAft>
            </a:pPr>
            <a:r>
              <a:rPr sz="1350" b="0">
                <a:solidFill>
                  <a:srgbClr val="13EF93"/>
                </a:solidFill>
                <a:latin typeface="Courier New"/>
              </a:rPr>
              <a:t>DEEPGRAM_REGION=eu    # global (default), eu, or au</a:t>
            </a:r>
          </a:p>
        </p:txBody>
      </p:sp>
      <p:sp>
        <p:nvSpPr>
          <p:cNvPr id="7" name="TextBox 6"/>
          <p:cNvSpPr txBox="1"/>
          <p:nvPr/>
        </p:nvSpPr>
        <p:spPr>
          <a:xfrm>
            <a:off x="640080" y="3054096"/>
            <a:ext cx="5852160" cy="1371600"/>
          </a:xfrm>
          <a:prstGeom prst="rect">
            <a:avLst/>
          </a:prstGeom>
          <a:noFill/>
        </p:spPr>
        <p:txBody>
          <a:bodyPr wrap="square" lIns="0" tIns="0" rIns="0" bIns="0">
            <a:spAutoFit/>
          </a:bodyPr>
          <a:lstStyle/>
          <a:p>
            <a:pPr algn="l">
              <a:lnSpc>
                <a:spcPct val="130000"/>
              </a:lnSpc>
              <a:spcBef>
                <a:spcPts val="0"/>
              </a:spcBef>
              <a:spcAft>
                <a:spcPts val="0"/>
              </a:spcAft>
            </a:pPr>
            <a:r>
              <a:rPr sz="1300" b="0">
                <a:solidFill>
                  <a:srgbClr val="93A4B7"/>
                </a:solidFill>
                <a:latin typeface="Calibri"/>
              </a:rPr>
              <a:t>That is the whole change. Your key works in every region, no step's code names one, and every step reads the same .env — so one line moves Steps 1 through 8 together. The same mechanism points the workshop at a Deepgram Dedicated or self-hosted deployment.</a:t>
            </a:r>
          </a:p>
        </p:txBody>
      </p:sp>
      <p:sp>
        <p:nvSpPr>
          <p:cNvPr id="8" name="Rounded Rectangle 7"/>
          <p:cNvSpPr/>
          <p:nvPr/>
        </p:nvSpPr>
        <p:spPr>
          <a:xfrm>
            <a:off x="6858000" y="2267712"/>
            <a:ext cx="4693889" cy="2139696"/>
          </a:xfrm>
          <a:prstGeom prst="roundRect">
            <a:avLst>
              <a:gd name="adj" fmla="val 3500"/>
            </a:avLst>
          </a:prstGeom>
          <a:solidFill>
            <a:srgbClr val="111A24"/>
          </a:solidFill>
          <a:ln w="12700">
            <a:solidFill>
              <a:srgbClr val="213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150608" y="2505456"/>
            <a:ext cx="4108673" cy="1737360"/>
          </a:xfrm>
          <a:prstGeom prst="rect">
            <a:avLst/>
          </a:prstGeom>
          <a:noFill/>
        </p:spPr>
        <p:txBody>
          <a:bodyPr wrap="square" lIns="0" tIns="0" rIns="0" bIns="0">
            <a:spAutoFit/>
          </a:bodyPr>
          <a:lstStyle/>
          <a:p>
            <a:pPr algn="l">
              <a:spcBef>
                <a:spcPts val="0"/>
              </a:spcBef>
              <a:spcAft>
                <a:spcPts val="0"/>
              </a:spcAft>
            </a:pPr>
            <a:r>
              <a:rPr sz="1050" b="1">
                <a:solidFill>
                  <a:srgbClr val="13EF93"/>
                </a:solidFill>
                <a:latin typeface="Calibri"/>
              </a:rPr>
              <a:t>YOU DON'T HAVE TO TEST IT YOURSELF</a:t>
            </a:r>
          </a:p>
          <a:p>
            <a:pPr algn="l">
              <a:lnSpc>
                <a:spcPct val="128000"/>
              </a:lnSpc>
              <a:spcBef>
                <a:spcPts val="800"/>
              </a:spcBef>
              <a:spcAft>
                <a:spcPts val="0"/>
              </a:spcAft>
            </a:pPr>
            <a:r>
              <a:rPr sz="1250" b="0">
                <a:solidFill>
                  <a:srgbClr val="E9EFF6"/>
                </a:solidFill>
                <a:latin typeface="Calibri"/>
              </a:rPr>
              <a:t>Step 1 opens the same WebSocket Step 2 will, with the same three models, and reports whether the server accepted them.</a:t>
            </a:r>
          </a:p>
          <a:p>
            <a:pPr algn="l">
              <a:lnSpc>
                <a:spcPct val="128000"/>
              </a:lnSpc>
              <a:spcBef>
                <a:spcPts val="700"/>
              </a:spcBef>
              <a:spcAft>
                <a:spcPts val="0"/>
              </a:spcAft>
            </a:pPr>
            <a:r>
              <a:rPr sz="1200" b="0">
                <a:solidFill>
                  <a:srgbClr val="93A4B7"/>
                </a:solidFill>
                <a:latin typeface="Calibri"/>
              </a:rPr>
              <a:t>Model availability is per-region and moves over time. A key that works and a host that answers still don't tell you a model is served there — and that is the question worth asking before a room of people hits Step 2.</a:t>
            </a:r>
          </a:p>
        </p:txBody>
      </p:sp>
      <p:sp>
        <p:nvSpPr>
          <p:cNvPr id="10" name="Rounded Rectangle 9"/>
          <p:cNvSpPr/>
          <p:nvPr/>
        </p:nvSpPr>
        <p:spPr>
          <a:xfrm>
            <a:off x="640080" y="4663440"/>
            <a:ext cx="10911809" cy="914400"/>
          </a:xfrm>
          <a:prstGeom prst="roundRect">
            <a:avLst>
              <a:gd name="adj" fmla="val 3500"/>
            </a:avLst>
          </a:prstGeom>
          <a:solidFill>
            <a:srgbClr val="2A1F0D"/>
          </a:solidFill>
          <a:ln w="12700">
            <a:solidFill>
              <a:srgbClr val="FFB45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50976" y="4828031"/>
            <a:ext cx="10290017" cy="621792"/>
          </a:xfrm>
          <a:prstGeom prst="rect">
            <a:avLst/>
          </a:prstGeom>
          <a:noFill/>
        </p:spPr>
        <p:txBody>
          <a:bodyPr wrap="square" lIns="0" tIns="0" rIns="0" bIns="0">
            <a:spAutoFit/>
          </a:bodyPr>
          <a:lstStyle/>
          <a:p>
            <a:pPr algn="l">
              <a:spcBef>
                <a:spcPts val="0"/>
              </a:spcBef>
              <a:spcAft>
                <a:spcPts val="0"/>
              </a:spcAft>
            </a:pPr>
            <a:r>
              <a:rPr sz="1400" b="1">
                <a:solidFill>
                  <a:srgbClr val="FFB454"/>
                </a:solidFill>
                <a:latin typeface="Calibri"/>
              </a:rPr>
              <a:t>As of August 2026, au needs one change.</a:t>
            </a:r>
          </a:p>
          <a:p>
            <a:pPr algn="l">
              <a:lnSpc>
                <a:spcPct val="126000"/>
              </a:lnSpc>
              <a:spcBef>
                <a:spcPts val="400"/>
              </a:spcBef>
              <a:spcAft>
                <a:spcPts val="0"/>
              </a:spcAft>
            </a:pPr>
            <a:r>
              <a:rPr sz="1200" b="0">
                <a:solidFill>
                  <a:srgbClr val="93A4B7"/>
                </a:solidFill>
                <a:latin typeface="Calibri"/>
              </a:rPr>
              <a:t>Flux TTS isn't served there yet, so flux-alexis-en is refused. Flux STT and the LLM are fine. Set speak to aura-2-thalia-en in every step's SETTINGS and the workshop runs unchanged — Step 6 teaches changing the voice anyway, so it costs the room nothing. eu and global both run it as shipped.</a:t>
            </a:r>
          </a:p>
        </p:txBody>
      </p:sp>
      <p:sp>
        <p:nvSpPr>
          <p:cNvPr id="12" name="TextBox 11"/>
          <p:cNvSpPr txBox="1"/>
          <p:nvPr/>
        </p:nvSpPr>
        <p:spPr>
          <a:xfrm>
            <a:off x="640080" y="6144768"/>
            <a:ext cx="10911809" cy="457200"/>
          </a:xfrm>
          <a:prstGeom prst="rect">
            <a:avLst/>
          </a:prstGeom>
          <a:noFill/>
        </p:spPr>
        <p:txBody>
          <a:bodyPr wrap="square" lIns="0" tIns="0" rIns="0" bIns="0">
            <a:spAutoFit/>
          </a:bodyPr>
          <a:lstStyle/>
          <a:p>
            <a:pPr algn="l">
              <a:lnSpc>
                <a:spcPct val="125000"/>
              </a:lnSpc>
              <a:spcBef>
                <a:spcPts val="0"/>
              </a:spcBef>
              <a:spcAft>
                <a:spcPts val="0"/>
              </a:spcAft>
            </a:pPr>
            <a:r>
              <a:rPr sz="1200" b="0">
                <a:solidFill>
                  <a:srgbClr val="5D6E80"/>
                </a:solidFill>
                <a:latin typeface="Calibri"/>
              </a:rPr>
              <a:t>One asymmetry worth knowing: the Management API call Step 1 makes to prove your key works is global only. region.management_client() exists to keep that deliberate.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13717</Words>
  <Application>Microsoft Macintosh PowerPoint</Application>
  <PresentationFormat>Widescreen</PresentationFormat>
  <Paragraphs>1304</Paragraphs>
  <Slides>39</Slides>
  <Notes>39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39</vt:i4>
      </vt:variant>
    </vt:vector>
  </HeadingPairs>
  <TitlesOfParts>
    <vt:vector size="43"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Ed Charbeneau</cp:lastModifiedBy>
  <cp:revision>3</cp:revision>
  <dcterms:created xsi:type="dcterms:W3CDTF">2013-01-27T09:14:16Z</dcterms:created>
  <dcterms:modified xsi:type="dcterms:W3CDTF">2026-09-17T18:52:56Z</dcterms:modified>
  <cp:category/>
</cp:coreProperties>
</file>