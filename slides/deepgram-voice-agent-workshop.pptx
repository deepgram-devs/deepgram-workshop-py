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this slide while the room fills. Say the setup command out loud and put it in the chat / on the whiteboard so latecomers can start immediately.</a:t>
            </a:r>
          </a:p>
          <a:p/>
          <a:p>
            <a:r>
              <a:t>The single biggest predictor of whether this workshop goes well is how many people arrive with a working environment. If you did not send the pre-event email a week ahead, expect Step 1 to run long and staff accordingly — one floating helper per ~15 attendees.</a:t>
            </a:r>
          </a:p>
          <a:p/>
          <a:p>
            <a:r>
              <a:t>Cost per attendee is well under $1; new accounts get $200 in credit.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slide. Leave it up for a beat, then move — nothing here needs narrating.</a:t>
            </a:r>
          </a:p>
          <a:p/>
          <a:p>
            <a:r>
              <a:t>Use the time to check the room: how many people already have a green Step 1 check, and how many are still installing.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they will not be reimplementing speech recognition, and they will not be writing voice activity detection. They are configuring an orchestrator and reacting to what it sends them.</a:t>
            </a:r>
          </a:p>
          <a:p/>
          <a:p>
            <a:r>
              <a:t>The '~350 lines' number lands well — most of the finished file is comments.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for a show of hands on who ran the pre-event check. That number tells you how long Step 1 will actually take.</a:t>
            </a:r>
          </a:p>
          <a:p/>
          <a:p>
            <a:r>
              <a:t>Push headphones hard here. Bluetooth headsets are a known problem: activating the microphone flips many of them into a low-quality mono profile, and some then fail to open at all. Wired is the reliable choice.</a:t>
            </a:r>
          </a:p>
          <a:p/>
          <a:p>
            <a:r>
              <a:t>Anyone whose environment is broken should move to Easy Mode now rather than lose the first hour to a package manager.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out loud that switching tracks mid-workshop is allowed and expected. Someone whose environment fights them for twenty minutes should move to Easy Mode and keep learning.</a:t>
            </a:r>
          </a:p>
          <a:p/>
          <a:p>
            <a:r>
              <a:t>Easy Mode finishes each lab faster than the code track finishes its step — point those people at the 'Going further' prompts so they don't sit idle.</a:t>
            </a:r>
          </a:p>
          <a:p/>
          <a:p>
            <a:r>
              <a:t>Note the one inversion: Easy Mode reaches turn-detection tuning (Lab 3) earlier than the code track reaches Step 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Times assume a three-hour slot with one break.</a:t>
            </a:r>
          </a:p>
          <a:p/>
          <a:p>
            <a:r>
              <a:t>Running long? Cut Step 8 and Step 7's exercises — both work fine as take-home, and Step 8 is deliberately last so it can go. Never cut Step 5; it's the step people remember.</a:t>
            </a:r>
          </a:p>
          <a:p/>
          <a:p>
            <a:r>
              <a:t>Running short? Step 8's eager_eot_threshold section and Step 7's second function absorb time well.</a:t>
            </a:r>
          </a:p>
          <a:p/>
          <a:p>
            <a:r>
              <a:t>The pause markers are the sync points. Hold the room at each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slide.</a:t>
            </a:r>
          </a:p>
          <a:p/>
          <a:p>
            <a:r>
              <a:t>Keep the whole Foundations block to ten minutes. They came to code, and every minute here is a minute not spent in the editor. The concepts land harder once they've heard the agent talk anyway.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this out loud rather than reading it. The loop is the whole mental model and everything in the next eight steps hangs off it.</a:t>
            </a:r>
          </a:p>
          <a:p/>
          <a:p>
            <a:r>
              <a:t>CHECK YOURSELF (Step 0): What are the three building blocks, and which one holds the conversation history? → STT, LLM, TTS; the LLM holds the history.</a:t>
            </a:r>
          </a:p>
          <a:p/>
          <a:p>
            <a:r>
              <a:t>If someone asks about other providers: the same pattern works with Anthropic, Google, Groq, and AWS Bedrock — you swap a provider class, not your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saying explicitly: one Deepgram key covers the LLM too. Deepgram brokers the OpenAI call, so there is no second account and no second bill.</a:t>
            </a:r>
          </a:p>
          <a:p/>
          <a:p>
            <a:r>
              <a:t>CHECK YOURSELF (Step 1): How many API keys does this workshop need, and why doesn't the LLM require its own? → One. Deepgram brokers the OpenAI call.</a:t>
            </a:r>
          </a:p>
          <a:p/>
          <a:p>
            <a:r>
              <a:t>The last line pays off again in Step 6 (keep prompts short) and Step 8 (total_latency includes the LLM).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YOURSELF (Step 0): Name two things the Voice Agent API handles that you'd otherwise write yourself. → Turn-taking, provider handoffs, buffering, interruption signalling — any two.</a:t>
            </a:r>
          </a:p>
          <a:p/>
          <a:p>
            <a:r>
              <a:t>This is the slide that reframes the workshop as configuration rather than implementation. Some experienced people will resist that; the honest answer is that the plumbing is real work and it is not the interesting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anyone who has built a voice pipeline before, this is the headline. Let it land.</a:t>
            </a:r>
          </a:p>
          <a:p/>
          <a:p>
            <a:r>
              <a:t>CHECK YOURSELF (Step 4): Traditional voice pipelines need voice activity detection in the client. Why doesn't this one? → Flux does turn detection inside the model, server-side, so there is nothing for client-side VAD to do.</a:t>
            </a:r>
          </a:p>
          <a:p/>
          <a:p>
            <a:r>
              <a:t>Do not oversell it — the next slide is the part that is still their problem.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obligation the client keeps, and it is the only place in the workshop where getting it wrong produces something that feels broken rather than something that errors.</a:t>
            </a:r>
          </a:p>
          <a:p/>
          <a:p>
            <a:r>
              <a:t>CHECK YOURSELF (Step 0): Where does turn detection happen with Flux, and what is the client still responsible for? → Inside the model, server-side; the client still has to clear queued playback on barge-in.</a:t>
            </a:r>
          </a:p>
          <a:p/>
          <a:p>
            <a:r>
              <a:t>Resist the urge to explain the fix now. Step 5 works precisely because they feel the bug first.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'skip ahead is allowed' rule OUT LOUD, here and again at the first sync point. Otherwise people quietly fall behind and disengage — that is the failure mode this repo layout exists to prevent.</a:t>
            </a:r>
          </a:p>
          <a:p/>
          <a:p>
            <a:r>
              <a:t>CHECK YOURSELF (Step 0): You're stuck halfway through Step 5. Where do you look for the working version? → The next folder.</a:t>
            </a:r>
          </a:p>
          <a:p/>
          <a:p>
            <a:r>
              <a:t>When someone is stuck on a detail and the room is moving, point them at the next folder rather than debugging live.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slide.</a:t>
            </a:r>
          </a:p>
          <a:p/>
          <a:p>
            <a:r>
              <a:t>This block is non-negotiable. If time collapses, everything after Step 5 can become take-home; nothing in here can.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step exists because voice work fails in a predictable order: wrong key, no microphone permission, or a page served from somewhere the browser won't trust with a microphone. Each produces a confusing error twenty minutes later, tangled up in WebSocket code.</a:t>
            </a:r>
          </a:p>
          <a:p/>
          <a:p>
            <a:r>
              <a:t>It also triggers the browser's microphone permission prompt — people click past it, so warn them now.</a:t>
            </a:r>
          </a:p>
          <a:p/>
          <a:p>
            <a:r>
              <a:t>This is the step where people get stuck. Budget the full fifteen minutes and use your helpers.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someone sees 'The agent refused these settings', nothing is wrong with their machine — a model isn't available where they're connecting, and the error names which one. Same fix for the whole room: DEEPGRAM_REGION=global, or change that one model everywhere. See the region slide in the appendix.</a:t>
            </a:r>
          </a:p>
          <a:p/>
          <a:p>
            <a:r>
              <a:t>'Deepgram rejected the key' is almost always a truncated paste or a trailing space.</a:t>
            </a:r>
          </a:p>
          <a:p/>
          <a:p>
            <a:r>
              <a:t>'Could not open the agent connection' with a good key means a proxy or firewall. A phone hotspot is the fastest way to confirm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failure here is almost always the API key.</a:t>
            </a:r>
          </a:p>
          <a:p/>
          <a:p>
            <a:r>
              <a:t>The CLIENT_MESSAGE_TIMEOUT at the end is expected and worth pointing out — the agent wants a continuous media stream and hangs up when it gets none. It disappears in Step 4.</a:t>
            </a:r>
          </a:p>
          <a:p/>
          <a:p>
            <a:r>
              <a:t>CHECK YOURSELF (Step 2): Which of the three models does listen configure, and where does the LLM get named? → listen configures speech-to-text; the LLM is named under think.</a:t>
            </a:r>
          </a:p>
          <a:p/>
          <a:p>
            <a:r>
              <a:t>Point out that &gt;&gt; Welcome and &gt;&gt; History arrive through the fallthrough with no explicit branch. That design pays off in Step 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YOURSELF (Step 2): The bridge waits for SettingsApplied before it lets the browser send audio. Why does that ordering matter? → The agent discards media that arrives before the handshake completes, so audio sent early is silently lost.</a:t>
            </a:r>
          </a:p>
          <a:p/>
          <a:p>
            <a:r>
              <a:t>This slide is optional if you're running behind — but it's the one that most reliably produces good questions from the experienced people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payoff line: AgentAudioDone prints BEFORE the audio finishes playing. That gap is the queue, and it is the entire subject of Step 5. Point at it when it happens.</a:t>
            </a:r>
          </a:p>
          <a:p/>
          <a:p>
            <a:r>
              <a:t>CHECK YOURSELF (Step 3): The bridge waits for the browser's speaker to exist before it opens the Deepgram socket. What would go wrong if it connected first? → The greeting starts arriving within milliseconds of SettingsApplied, and audio with nowhere to go is audio thrown away.</a:t>
            </a:r>
          </a:p>
          <a:p/>
          <a:p>
            <a:r>
              <a:t>Silence with no errors: send them back to the Step 1 tone test to isolate whether it's this step or their output device.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full minute here. Let people ask the agent something silly. This is the moment the workshop pays off, and it is worth more than the two minutes it costs.</a:t>
            </a:r>
          </a:p>
          <a:p/>
          <a:p>
            <a:r>
              <a:t>Make sure nobody is left behind before Step 5. Anyone still stuck should skip to steps/05-barge-in/.</a:t>
            </a:r>
          </a:p>
          <a:p/>
          <a:p>
            <a:r>
              <a:t>'connected, not sending audio' on the page means TODO 4.2 is not done — they defined on_media but never passed it.</a:t>
            </a:r>
          </a:p>
          <a:p/>
          <a:p>
            <a:r>
              <a:t>If the agent answers its own questions, that's the speaker feeding the microphone. Headphones. It gets much more noticeable in Step 5.</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break to unstick stragglers rather than to rest. This is the highest-leverage ten minutes you have.</a:t>
            </a:r>
          </a:p>
          <a:p/>
          <a:p>
            <a:r>
              <a:t>Write a real clock time in the empty box, on the projector or a whiteboard. 'Ten minutes' reliably becomes fifteen.</a:t>
            </a:r>
          </a:p>
          <a:p/>
          <a:p>
            <a:r>
              <a:t>Before you break: remind anyone behind that steps/05-barge-in/ already contains a complete working Steps 1–4, and they should start there when we come back.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step people remember, and it works because the bug is felt before it is explained. Do not shortcut it.</a:t>
            </a:r>
          </a:p>
          <a:p/>
          <a:p>
            <a:r>
              <a:t>Run it yourself on the projector with your microphone live so the whole room hears it happen once, then let them reproduce it.</a:t>
            </a:r>
          </a:p>
          <a:p/>
          <a:p>
            <a:r>
              <a:t>If someone's agent starts interrupting ITSELF, that's echo — their speaker feeding their microphone — not a bug in their code. Headphones, or turn the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YOURSELF (Step 5): Why does clear() drop the Python-side queue before telling the browser, rather than after? → Because the pump would immediately refill the browser's queue from the Python-side one. Clearing the far queue first and the near queue second means the agent talks over the user a moment later rather than immediately — which is worse, because it looks like it nearly works.</a:t>
            </a:r>
          </a:p>
          <a:p/>
          <a:p>
            <a:r>
              <a:t>'Still talks over you, but only briefly' = they cleared one queue, not both.</a:t>
            </a:r>
          </a:p>
          <a:p/>
          <a:p>
            <a:r>
              <a:t>The 'Going further' exercise (comment out the browser-side clear and time how long it keeps talking) is the best five minutes in the workshop for anyone running ahead.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slide.</a:t>
            </a:r>
          </a:p>
          <a:p/>
          <a:p>
            <a:r>
              <a:t>This is where the deck stops being load-bearing. If you're behind, Step 7's exercises and all of Step 8 can be cut and sent home — say so, so people don't feel short-changed.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around the room at the end of this step and have four people demo their persona. Hearing four different agents makes the prompt lesson land harder than any explanation, and it's the most fun ninety seconds of the workshop.</a:t>
            </a:r>
          </a:p>
          <a:p/>
          <a:p>
            <a:r>
              <a:t>CHECK YOURSELF (Step 6): Name the two prompt instructions that matter for speech but not for chat. → Tell it that it's speaking (no markdown, bullets, or emoji), and tell it to be brief.</a:t>
            </a:r>
          </a:p>
          <a:p/>
          <a:p>
            <a:r>
              <a:t>Have them deliberately misspell a voice model once, so they see the warning fire. That saves someone an hour some day.</a:t>
            </a:r>
          </a:p>
          <a:p/>
          <a:p>
            <a:r>
              <a:t>TODO 6.3 swaps gpt-4o-mini for gpt-4o — watch the latency readout climb. That's the setup for Step 8.</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sketch-your-own-function exercise is the part that makes this step stick. What would their agent need to look up that the model cannot know? Get two people to say theirs out loud.</a:t>
            </a:r>
          </a:p>
          <a:p/>
          <a:p>
            <a:r>
              <a:t>Have them run it once BEFORE adding the dispatch branch: they'll see &gt;&gt; FunctionCallRequest from the fallthrough and then nothing, while the agent waits forever. That's what a broken handler looks like from the outside.</a:t>
            </a:r>
          </a:p>
          <a:p/>
          <a:p>
            <a:r>
              <a:t>Then have them ask something that shouldn't trigger a call — 'what's the capital of France?' An agent that calls functions it doesn't need is as broken as one that never calls them.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YOURSELF (Step 7): What single change to the function definition moves execution from your machine to Deepgram's? → Setting endpoint. Omitting it keeps the function client-side.</a:t>
            </a:r>
          </a:p>
          <a:p/>
          <a:p>
            <a:r>
              <a:t>Also worth calling out: catch exceptions inside the handler and return the error text as content. A raised exception escapes into the receive loop, surfaces as EventType.ERROR, and drops the call. Returning 'get_current_time failed: ...' lets the LLM apologise gracefully and carry on.</a:t>
            </a:r>
          </a:p>
          <a:p/>
          <a:p>
            <a:r>
              <a:t>'The function never gets called' is the description nine times out of ten.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Optimization goes in one order: measure, change one thing, measure again. The TODOs follow it.</a:t>
            </a:r>
          </a:p>
          <a:p/>
          <a:p>
            <a:r>
              <a:t>CHECK YOURSELF (Step 8): The agent keeps cutting you off when you pause to think. Which setting do you change, and in which direction? → Raise eot_threshold. It demands more confidence before Flux calls the turn over.</a:t>
            </a:r>
          </a:p>
          <a:p/>
          <a:p>
            <a:r>
              <a:t>This is the pace-recovery step. Stragglers catch up here, and it sheds time cleanly — if you're behind, hand it out as take-home and go straight to the wrap.</a:t>
            </a:r>
          </a:p>
          <a:p/>
          <a:p>
            <a:r>
              <a:t>If a value seems to do nothing, check for a Warning — out-of-range values come back there rather than failing the handshake.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room is engaged, run these four yourself on the projector — the difference between 0.5 and 0.9 is obvious out loud and takes about ninety seconds to demonstrate.</a:t>
            </a:r>
          </a:p>
          <a:p/>
          <a:p>
            <a:r>
              <a:t>Going further, for anyone racing ahead: add eager_eot_threshold=0.5 to the listen provider. Flux starts the LLM on a probable turn end and discards the work if the user keeps talking. Latency drops noticeably; LLM call volume goes up. Keep it at or below eot_threshold. That trade — spend compute to buy responsiveness — is one of the more interesting levers in production voice.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slide.</a:t>
            </a:r>
          </a:p>
          <a:p/>
          <a:p>
            <a:r>
              <a:t>Invite people into Discord while they still have the agent running — the conversion is much better now than it will be tonight.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steps/99-final/README.md — that's the reference implementation and the jumping-off point for whatever they build next.</a:t>
            </a:r>
          </a:p>
          <a:p/>
          <a:p>
            <a:r>
              <a:t>The threading rule the whole design rests on, worth repeating once: on_message runs on the SDK's receive loop, which is also the thread carrying audio. It may not block. That holds on both the browser and --local paths.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two of these and say which you'd reach for first, and why. A recommendation lands better than a list.</a:t>
            </a:r>
          </a:p>
          <a:p/>
          <a:p>
            <a:r>
              <a:t>Keyterms is the one most people should try first for a real product — domain jargon is where accuracy complaints actually come from.</a:t>
            </a:r>
          </a:p>
          <a:p/>
          <a:p>
            <a:r>
              <a:t>steps/99-final/README.md has all six written up with the settings spelled out.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sized to hold QR codes if you want them — a conference-floor audience will not type URLs. Generate six and drop them into the right-hand side of each card before you present.</a:t>
            </a:r>
          </a:p>
          <a:p/>
          <a:p>
            <a:r>
              <a:t>Share the repo link again here, verbally and in the chat.</a:t>
            </a:r>
          </a:p>
          <a:p/>
          <a:p>
            <a:r>
              <a:t>Worth capturing while it's fresh, for next time: which step consumed the most time, how many people finished Step 7, and which environment failures actually occurred.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slide. Everything after this is on-demand.</a:t>
            </a:r>
          </a:p>
          <a:p/>
          <a:p>
            <a:r>
              <a:t>Know that these three exist and roughly where they are; you'll want the failures slide during Step 1 and the region slide the moment someone sees a refused setting.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one bookmarked during Step 1. Numbers 1 and 2 account for most of what you'll see.</a:t>
            </a:r>
          </a:p>
          <a:p/>
          <a:p>
            <a:r>
              <a:t>Number 2 has replaced WSL-has-no-audio as the environment failure to watch for — WSL now works, because with the browser path the audio is Windows' problem.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these out loud at the sync points rather than reading them off the slide. They take about twenty seconds each and they tell you whether the room is actually following or just typing.</a:t>
            </a:r>
          </a:p>
          <a:p/>
          <a:p>
            <a:r>
              <a:t>The Step 5 answer is the one worth getting someone to articulate in their own words — if they can explain why clearing one queue is worse than clearing neither, they understood the step.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the DEEPGRAM_REGION line to the pre-event email if attendees clone the repo themselves — .env.example documents it, but people paste their key and stop reading.</a:t>
            </a:r>
          </a:p>
          <a:p/>
          <a:p>
            <a:r>
              <a:t>If a model is refused, the agent names it in an Error frame and Step 1 prints it, along with the two ways out: DEEPGRAM_REGION=global, or swap the named model in every step.</a:t>
            </a:r>
          </a:p>
          <a:p/>
          <a:p>
            <a:r>
              <a:t>The same mechanism points the workshop at a Deepgram Dedicated or self-hosted deployment — same four fields in web/region.py, your hostname.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4070A"/>
        </a:solidFill>
        <a:effectLst/>
      </p:bgPr>
    </p:bg>
    <p:spTree>
      <p:nvGrpSpPr>
        <p:cNvPr id="1" name=""/>
        <p:cNvGrpSpPr/>
        <p:nvPr/>
      </p:nvGrpSpPr>
      <p:grpSpPr/>
      <p:sp>
        <p:nvSpPr>
          <p:cNvPr id="2" name="TextBox 1"/>
          <p:cNvSpPr txBox="1"/>
          <p:nvPr/>
        </p:nvSpPr>
        <p:spPr>
          <a:xfrm>
            <a:off x="685800" y="1572768"/>
            <a:ext cx="9144000" cy="365760"/>
          </a:xfrm>
          <a:prstGeom prst="rect">
            <a:avLst/>
          </a:prstGeom>
          <a:noFill/>
        </p:spPr>
        <p:txBody>
          <a:bodyPr wrap="square" lIns="0" rIns="0" tIns="0" bIns="0" anchor="t">
            <a:spAutoFit/>
          </a:bodyPr>
          <a:lstStyle/>
          <a:p>
            <a:pPr algn="l"/>
            <a:r>
              <a:rPr sz="1400" b="1" i="0">
                <a:solidFill>
                  <a:srgbClr val="13EF93"/>
                </a:solidFill>
                <a:latin typeface="Calibri"/>
              </a:rPr>
              <a:t>DEEPGRAM DEVELOPER WORKSHOP</a:t>
            </a:r>
          </a:p>
        </p:txBody>
      </p:sp>
      <p:sp>
        <p:nvSpPr>
          <p:cNvPr id="3" name="TextBox 2"/>
          <p:cNvSpPr txBox="1"/>
          <p:nvPr/>
        </p:nvSpPr>
        <p:spPr>
          <a:xfrm>
            <a:off x="685800" y="2103120"/>
            <a:ext cx="10241280" cy="1828800"/>
          </a:xfrm>
          <a:prstGeom prst="rect">
            <a:avLst/>
          </a:prstGeom>
          <a:noFill/>
        </p:spPr>
        <p:txBody>
          <a:bodyPr wrap="square" lIns="0" rIns="0" tIns="0" bIns="0" anchor="t">
            <a:spAutoFit/>
          </a:bodyPr>
          <a:lstStyle/>
          <a:p>
            <a:pPr algn="l">
              <a:lnSpc>
                <a:spcPct val="95000"/>
              </a:lnSpc>
            </a:pPr>
            <a:r>
              <a:rPr sz="6200" b="1" i="0">
                <a:solidFill>
                  <a:srgbClr val="FFFFFF"/>
                </a:solidFill>
                <a:latin typeface="Calibri"/>
              </a:rPr>
              <a:t>Build a Real-Time</a:t>
            </a:r>
          </a:p>
          <a:p>
            <a:pPr algn="l">
              <a:lnSpc>
                <a:spcPct val="95000"/>
              </a:lnSpc>
            </a:pPr>
            <a:r>
              <a:rPr sz="6200" b="1" i="0">
                <a:solidFill>
                  <a:srgbClr val="13EF93"/>
                </a:solidFill>
                <a:latin typeface="Calibri"/>
              </a:rPr>
              <a:t>Voice Agent</a:t>
            </a:r>
          </a:p>
        </p:txBody>
      </p:sp>
      <p:sp>
        <p:nvSpPr>
          <p:cNvPr id="4" name="TextBox 3"/>
          <p:cNvSpPr txBox="1"/>
          <p:nvPr/>
        </p:nvSpPr>
        <p:spPr>
          <a:xfrm>
            <a:off x="685800" y="4224528"/>
            <a:ext cx="9509760" cy="457200"/>
          </a:xfrm>
          <a:prstGeom prst="rect">
            <a:avLst/>
          </a:prstGeom>
          <a:noFill/>
        </p:spPr>
        <p:txBody>
          <a:bodyPr wrap="square" lIns="0" rIns="0" tIns="0" bIns="0" anchor="t">
            <a:spAutoFit/>
          </a:bodyPr>
          <a:lstStyle/>
          <a:p>
            <a:pPr algn="l"/>
            <a:r>
              <a:rPr sz="1800" b="0" i="0">
                <a:solidFill>
                  <a:srgbClr val="D8E0EA"/>
                </a:solidFill>
                <a:latin typeface="Calibri"/>
              </a:rPr>
              <a:t>Python Edition  ·  Flux speech-to-text, an LLM, and Flux TTS on one WebSocket</a:t>
            </a:r>
          </a:p>
        </p:txBody>
      </p:sp>
      <p:sp>
        <p:nvSpPr>
          <p:cNvPr id="5" name="TextBox 4"/>
          <p:cNvSpPr txBox="1"/>
          <p:nvPr/>
        </p:nvSpPr>
        <p:spPr>
          <a:xfrm>
            <a:off x="685800" y="4718304"/>
            <a:ext cx="9509760" cy="365760"/>
          </a:xfrm>
          <a:prstGeom prst="rect">
            <a:avLst/>
          </a:prstGeom>
          <a:noFill/>
        </p:spPr>
        <p:txBody>
          <a:bodyPr wrap="square" lIns="0" rIns="0" tIns="0" bIns="0" anchor="t">
            <a:spAutoFit/>
          </a:bodyPr>
          <a:lstStyle/>
          <a:p>
            <a:pPr algn="l"/>
            <a:r>
              <a:rPr sz="1500" b="0" i="0">
                <a:solidFill>
                  <a:srgbClr val="8FA0B3"/>
                </a:solidFill>
                <a:latin typeface="Calibri"/>
              </a:rPr>
              <a:t>Roughly three hours, hands-on, on your own machine</a:t>
            </a:r>
          </a:p>
        </p:txBody>
      </p:sp>
      <p:sp>
        <p:nvSpPr>
          <p:cNvPr id="6" name="Rounded Rectangle 5"/>
          <p:cNvSpPr/>
          <p:nvPr/>
        </p:nvSpPr>
        <p:spPr>
          <a:xfrm>
            <a:off x="685800" y="5440680"/>
            <a:ext cx="5029200" cy="713232"/>
          </a:xfrm>
          <a:prstGeom prst="roundRect">
            <a:avLst>
              <a:gd name="adj" fmla="val 5000"/>
            </a:avLst>
          </a:prstGeom>
          <a:solidFill>
            <a:srgbClr val="0C13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41832" y="5641848"/>
            <a:ext cx="4572000" cy="374904"/>
          </a:xfrm>
          <a:prstGeom prst="rect">
            <a:avLst/>
          </a:prstGeom>
          <a:noFill/>
        </p:spPr>
        <p:txBody>
          <a:bodyPr wrap="square" lIns="0" rIns="0" tIns="0" bIns="0" anchor="t">
            <a:spAutoFit/>
          </a:bodyPr>
          <a:lstStyle/>
          <a:p>
            <a:pPr algn="l">
              <a:lnSpc>
                <a:spcPct val="100000"/>
              </a:lnSpc>
              <a:spcAft>
                <a:spcPts val="300"/>
              </a:spcAft>
            </a:pPr>
            <a:r>
              <a:rPr sz="1400" b="0" i="0">
                <a:solidFill>
                  <a:srgbClr val="13EF93"/>
                </a:solidFill>
                <a:latin typeface="Courier New"/>
              </a:rPr>
              <a:t>uv run steps/01-setup/main.py</a:t>
            </a:r>
          </a:p>
        </p:txBody>
      </p:sp>
      <p:sp>
        <p:nvSpPr>
          <p:cNvPr id="8" name="TextBox 7"/>
          <p:cNvSpPr txBox="1"/>
          <p:nvPr/>
        </p:nvSpPr>
        <p:spPr>
          <a:xfrm>
            <a:off x="6035040" y="5632704"/>
            <a:ext cx="5486400" cy="365760"/>
          </a:xfrm>
          <a:prstGeom prst="rect">
            <a:avLst/>
          </a:prstGeom>
          <a:noFill/>
        </p:spPr>
        <p:txBody>
          <a:bodyPr wrap="square" lIns="0" rIns="0" tIns="0" bIns="0" anchor="t">
            <a:spAutoFit/>
          </a:bodyPr>
          <a:lstStyle/>
          <a:p>
            <a:pPr algn="l"/>
            <a:r>
              <a:rPr sz="1300" b="0" i="1">
                <a:solidFill>
                  <a:srgbClr val="5D6E80"/>
                </a:solidFill>
                <a:latin typeface="Calibri"/>
              </a:rPr>
              <a:t>Start here while people settle 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4070A"/>
        </a:solidFill>
        <a:effectLst/>
      </p:bgPr>
    </p:bg>
    <p:spTree>
      <p:nvGrpSpPr>
        <p:cNvPr id="1" name=""/>
        <p:cNvGrpSpPr/>
        <p:nvPr/>
      </p:nvGrpSpPr>
      <p:grpSpPr/>
      <p:sp>
        <p:nvSpPr>
          <p:cNvPr id="2" name="TextBox 1"/>
          <p:cNvSpPr txBox="1"/>
          <p:nvPr/>
        </p:nvSpPr>
        <p:spPr>
          <a:xfrm>
            <a:off x="7985455" y="502920"/>
            <a:ext cx="3749039" cy="3108960"/>
          </a:xfrm>
          <a:prstGeom prst="rect">
            <a:avLst/>
          </a:prstGeom>
          <a:noFill/>
        </p:spPr>
        <p:txBody>
          <a:bodyPr wrap="square" lIns="0" rIns="0" tIns="0" bIns="0" anchor="t">
            <a:spAutoFit/>
          </a:bodyPr>
          <a:lstStyle/>
          <a:p>
            <a:pPr algn="r"/>
            <a:r>
              <a:rPr sz="22000" b="1" i="0">
                <a:solidFill>
                  <a:srgbClr val="0C1A15"/>
                </a:solidFill>
                <a:latin typeface="Calibri"/>
              </a:rPr>
              <a:t>00</a:t>
            </a:r>
          </a:p>
        </p:txBody>
      </p:sp>
      <p:sp>
        <p:nvSpPr>
          <p:cNvPr id="3" name="Rectangle 2"/>
          <p:cNvSpPr/>
          <p:nvPr/>
        </p:nvSpPr>
        <p:spPr>
          <a:xfrm>
            <a:off x="685800" y="2798064"/>
            <a:ext cx="822960" cy="45720"/>
          </a:xfrm>
          <a:prstGeom prst="rect">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685800" y="2148840"/>
            <a:ext cx="7315200" cy="365760"/>
          </a:xfrm>
          <a:prstGeom prst="rect">
            <a:avLst/>
          </a:prstGeom>
          <a:noFill/>
        </p:spPr>
        <p:txBody>
          <a:bodyPr wrap="square" lIns="0" rIns="0" tIns="0" bIns="0" anchor="t">
            <a:spAutoFit/>
          </a:bodyPr>
          <a:lstStyle/>
          <a:p>
            <a:pPr algn="l"/>
            <a:r>
              <a:rPr sz="1250" b="1" i="0">
                <a:solidFill>
                  <a:srgbClr val="13EF93"/>
                </a:solidFill>
                <a:latin typeface="Calibri"/>
              </a:rPr>
              <a:t>SECTION 00</a:t>
            </a:r>
          </a:p>
        </p:txBody>
      </p:sp>
      <p:sp>
        <p:nvSpPr>
          <p:cNvPr id="5" name="TextBox 4"/>
          <p:cNvSpPr txBox="1"/>
          <p:nvPr/>
        </p:nvSpPr>
        <p:spPr>
          <a:xfrm>
            <a:off x="685800" y="3035808"/>
            <a:ext cx="8595360" cy="914400"/>
          </a:xfrm>
          <a:prstGeom prst="rect">
            <a:avLst/>
          </a:prstGeom>
          <a:noFill/>
        </p:spPr>
        <p:txBody>
          <a:bodyPr wrap="square" lIns="0" rIns="0" tIns="0" bIns="0" anchor="t">
            <a:spAutoFit/>
          </a:bodyPr>
          <a:lstStyle/>
          <a:p>
            <a:pPr algn="l"/>
            <a:r>
              <a:rPr sz="5200" b="1" i="0">
                <a:solidFill>
                  <a:srgbClr val="FFFFFF"/>
                </a:solidFill>
                <a:latin typeface="Calibri"/>
              </a:rPr>
              <a:t>Before we start</a:t>
            </a:r>
          </a:p>
        </p:txBody>
      </p:sp>
      <p:sp>
        <p:nvSpPr>
          <p:cNvPr id="6" name="TextBox 5"/>
          <p:cNvSpPr txBox="1"/>
          <p:nvPr/>
        </p:nvSpPr>
        <p:spPr>
          <a:xfrm>
            <a:off x="685800" y="4096512"/>
            <a:ext cx="7863840" cy="822960"/>
          </a:xfrm>
          <a:prstGeom prst="rect">
            <a:avLst/>
          </a:prstGeom>
          <a:noFill/>
        </p:spPr>
        <p:txBody>
          <a:bodyPr wrap="square" lIns="0" rIns="0" tIns="0" bIns="0" anchor="t">
            <a:spAutoFit/>
          </a:bodyPr>
          <a:lstStyle/>
          <a:p>
            <a:pPr algn="l">
              <a:lnSpc>
                <a:spcPct val="120000"/>
              </a:lnSpc>
            </a:pPr>
            <a:r>
              <a:rPr sz="1700" b="0" i="0">
                <a:solidFill>
                  <a:srgbClr val="8FA0B3"/>
                </a:solidFill>
                <a:latin typeface="Calibri"/>
              </a:rPr>
              <a:t>Housekeeping, the two tracks in the room, and the shape of the next three hours.</a:t>
            </a:r>
          </a:p>
        </p:txBody>
      </p:sp>
      <p:sp>
        <p:nvSpPr>
          <p:cNvPr id="7" name="TextBox 6"/>
          <p:cNvSpPr txBox="1"/>
          <p:nvPr/>
        </p:nvSpPr>
        <p:spPr>
          <a:xfrm>
            <a:off x="685800" y="5138928"/>
            <a:ext cx="7863840" cy="365760"/>
          </a:xfrm>
          <a:prstGeom prst="rect">
            <a:avLst/>
          </a:prstGeom>
          <a:noFill/>
        </p:spPr>
        <p:txBody>
          <a:bodyPr wrap="square" lIns="0" rIns="0" tIns="0" bIns="0" anchor="t">
            <a:spAutoFit/>
          </a:bodyPr>
          <a:lstStyle/>
          <a:p>
            <a:pPr algn="l"/>
            <a:r>
              <a:rPr sz="1300" b="0" i="0">
                <a:solidFill>
                  <a:srgbClr val="5D6E80"/>
                </a:solidFill>
                <a:latin typeface="Courier New"/>
              </a:rPr>
              <a:t>0:00  ·  about 10 minutes, including Step 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85800" y="566928"/>
            <a:ext cx="10820095" cy="658368"/>
          </a:xfrm>
          <a:prstGeom prst="rect">
            <a:avLst/>
          </a:prstGeom>
          <a:noFill/>
        </p:spPr>
        <p:txBody>
          <a:bodyPr wrap="square" lIns="0" rIns="0" tIns="0" bIns="0" anchor="t">
            <a:spAutoFit/>
          </a:bodyPr>
          <a:lstStyle/>
          <a:p>
            <a:pPr algn="l"/>
            <a:r>
              <a:rPr sz="3600" b="1" i="0">
                <a:solidFill>
                  <a:srgbClr val="FFFFFF"/>
                </a:solidFill>
                <a:latin typeface="Calibri"/>
              </a:rPr>
              <a:t>What you'll build</a:t>
            </a:r>
          </a:p>
        </p:txBody>
      </p:sp>
      <p:sp>
        <p:nvSpPr>
          <p:cNvPr id="3" name="TextBox 2"/>
          <p:cNvSpPr txBox="1"/>
          <p:nvPr/>
        </p:nvSpPr>
        <p:spPr>
          <a:xfrm>
            <a:off x="685800" y="1298448"/>
            <a:ext cx="10058400" cy="914400"/>
          </a:xfrm>
          <a:prstGeom prst="rect">
            <a:avLst/>
          </a:prstGeom>
          <a:noFill/>
        </p:spPr>
        <p:txBody>
          <a:bodyPr wrap="square" lIns="0" rIns="0" tIns="0" bIns="0" anchor="t">
            <a:spAutoFit/>
          </a:bodyPr>
          <a:lstStyle/>
          <a:p>
            <a:pPr algn="l">
              <a:lnSpc>
                <a:spcPct val="115000"/>
              </a:lnSpc>
            </a:pPr>
            <a:r>
              <a:rPr sz="1600" b="0" i="0">
                <a:solidFill>
                  <a:srgbClr val="8FA0B3"/>
                </a:solidFill>
                <a:latin typeface="Calibri"/>
              </a:rPr>
              <a:t>A voice agent you can hold a conversation with. It listens on Flux, thinks with an LLM, answers in a natural voice, stops talking the moment you interrupt it, and calls your Python when it needs something it cannot know.</a:t>
            </a:r>
          </a:p>
        </p:txBody>
      </p:sp>
      <p:sp>
        <p:nvSpPr>
          <p:cNvPr id="4" name="Rounded Rectangle 3"/>
          <p:cNvSpPr/>
          <p:nvPr/>
        </p:nvSpPr>
        <p:spPr>
          <a:xfrm>
            <a:off x="685800" y="2487168"/>
            <a:ext cx="2487168" cy="157276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941832" y="2670048"/>
            <a:ext cx="2011680" cy="658368"/>
          </a:xfrm>
          <a:prstGeom prst="rect">
            <a:avLst/>
          </a:prstGeom>
          <a:noFill/>
        </p:spPr>
        <p:txBody>
          <a:bodyPr wrap="square" lIns="0" rIns="0" tIns="0" bIns="0" anchor="t">
            <a:spAutoFit/>
          </a:bodyPr>
          <a:lstStyle/>
          <a:p>
            <a:pPr algn="l"/>
            <a:r>
              <a:rPr sz="4000" b="1" i="0">
                <a:solidFill>
                  <a:srgbClr val="13EF93"/>
                </a:solidFill>
                <a:latin typeface="Calibri"/>
              </a:rPr>
              <a:t>~350</a:t>
            </a:r>
          </a:p>
        </p:txBody>
      </p:sp>
      <p:sp>
        <p:nvSpPr>
          <p:cNvPr id="6" name="TextBox 5"/>
          <p:cNvSpPr txBox="1"/>
          <p:nvPr/>
        </p:nvSpPr>
        <p:spPr>
          <a:xfrm>
            <a:off x="941832" y="3310128"/>
            <a:ext cx="2048256" cy="658368"/>
          </a:xfrm>
          <a:prstGeom prst="rect">
            <a:avLst/>
          </a:prstGeom>
          <a:noFill/>
        </p:spPr>
        <p:txBody>
          <a:bodyPr wrap="square" lIns="0" rIns="0" tIns="0" bIns="0" anchor="t">
            <a:spAutoFit/>
          </a:bodyPr>
          <a:lstStyle/>
          <a:p>
            <a:pPr algn="l">
              <a:lnSpc>
                <a:spcPct val="112000"/>
              </a:lnSpc>
            </a:pPr>
            <a:r>
              <a:rPr sz="1250" b="0" i="0">
                <a:solidFill>
                  <a:srgbClr val="8FA0B3"/>
                </a:solidFill>
                <a:latin typeface="Calibri"/>
              </a:rPr>
              <a:t>lines of Python
when you're done</a:t>
            </a:r>
          </a:p>
        </p:txBody>
      </p:sp>
      <p:sp>
        <p:nvSpPr>
          <p:cNvPr id="7" name="Rounded Rectangle 6"/>
          <p:cNvSpPr/>
          <p:nvPr/>
        </p:nvSpPr>
        <p:spPr>
          <a:xfrm>
            <a:off x="3447288" y="2487168"/>
            <a:ext cx="2487168" cy="157276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3703320" y="2670048"/>
            <a:ext cx="2011680" cy="658368"/>
          </a:xfrm>
          <a:prstGeom prst="rect">
            <a:avLst/>
          </a:prstGeom>
          <a:noFill/>
        </p:spPr>
        <p:txBody>
          <a:bodyPr wrap="square" lIns="0" rIns="0" tIns="0" bIns="0" anchor="t">
            <a:spAutoFit/>
          </a:bodyPr>
          <a:lstStyle/>
          <a:p>
            <a:pPr algn="l"/>
            <a:r>
              <a:rPr sz="4000" b="1" i="0">
                <a:solidFill>
                  <a:srgbClr val="13EF93"/>
                </a:solidFill>
                <a:latin typeface="Calibri"/>
              </a:rPr>
              <a:t>8</a:t>
            </a:r>
          </a:p>
        </p:txBody>
      </p:sp>
      <p:sp>
        <p:nvSpPr>
          <p:cNvPr id="9" name="TextBox 8"/>
          <p:cNvSpPr txBox="1"/>
          <p:nvPr/>
        </p:nvSpPr>
        <p:spPr>
          <a:xfrm>
            <a:off x="3703320" y="3310128"/>
            <a:ext cx="2048256" cy="658368"/>
          </a:xfrm>
          <a:prstGeom prst="rect">
            <a:avLst/>
          </a:prstGeom>
          <a:noFill/>
        </p:spPr>
        <p:txBody>
          <a:bodyPr wrap="square" lIns="0" rIns="0" tIns="0" bIns="0" anchor="t">
            <a:spAutoFit/>
          </a:bodyPr>
          <a:lstStyle/>
          <a:p>
            <a:pPr algn="l">
              <a:lnSpc>
                <a:spcPct val="112000"/>
              </a:lnSpc>
            </a:pPr>
            <a:r>
              <a:rPr sz="1250" b="0" i="0">
                <a:solidFill>
                  <a:srgbClr val="8FA0B3"/>
                </a:solidFill>
                <a:latin typeface="Calibri"/>
              </a:rPr>
              <a:t>steps, every one a
complete running program</a:t>
            </a:r>
          </a:p>
        </p:txBody>
      </p:sp>
      <p:sp>
        <p:nvSpPr>
          <p:cNvPr id="10" name="Rounded Rectangle 9"/>
          <p:cNvSpPr/>
          <p:nvPr/>
        </p:nvSpPr>
        <p:spPr>
          <a:xfrm>
            <a:off x="6208776" y="2487168"/>
            <a:ext cx="2487168" cy="157276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64808" y="2670048"/>
            <a:ext cx="2011680" cy="658368"/>
          </a:xfrm>
          <a:prstGeom prst="rect">
            <a:avLst/>
          </a:prstGeom>
          <a:noFill/>
        </p:spPr>
        <p:txBody>
          <a:bodyPr wrap="square" lIns="0" rIns="0" tIns="0" bIns="0" anchor="t">
            <a:spAutoFit/>
          </a:bodyPr>
          <a:lstStyle/>
          <a:p>
            <a:pPr algn="l"/>
            <a:r>
              <a:rPr sz="4000" b="1" i="0">
                <a:solidFill>
                  <a:srgbClr val="13EF93"/>
                </a:solidFill>
                <a:latin typeface="Calibri"/>
              </a:rPr>
              <a:t>1</a:t>
            </a:r>
          </a:p>
        </p:txBody>
      </p:sp>
      <p:sp>
        <p:nvSpPr>
          <p:cNvPr id="12" name="TextBox 11"/>
          <p:cNvSpPr txBox="1"/>
          <p:nvPr/>
        </p:nvSpPr>
        <p:spPr>
          <a:xfrm>
            <a:off x="6464808" y="3310128"/>
            <a:ext cx="2048256" cy="658368"/>
          </a:xfrm>
          <a:prstGeom prst="rect">
            <a:avLst/>
          </a:prstGeom>
          <a:noFill/>
        </p:spPr>
        <p:txBody>
          <a:bodyPr wrap="square" lIns="0" rIns="0" tIns="0" bIns="0" anchor="t">
            <a:spAutoFit/>
          </a:bodyPr>
          <a:lstStyle/>
          <a:p>
            <a:pPr algn="l">
              <a:lnSpc>
                <a:spcPct val="112000"/>
              </a:lnSpc>
            </a:pPr>
            <a:r>
              <a:rPr sz="1250" b="0" i="0">
                <a:solidFill>
                  <a:srgbClr val="8FA0B3"/>
                </a:solidFill>
                <a:latin typeface="Calibri"/>
              </a:rPr>
              <a:t>API key covers
all three models</a:t>
            </a:r>
          </a:p>
        </p:txBody>
      </p:sp>
      <p:sp>
        <p:nvSpPr>
          <p:cNvPr id="13" name="Rounded Rectangle 12"/>
          <p:cNvSpPr/>
          <p:nvPr/>
        </p:nvSpPr>
        <p:spPr>
          <a:xfrm>
            <a:off x="8970264" y="2487168"/>
            <a:ext cx="2487168" cy="157276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226296" y="2670048"/>
            <a:ext cx="2011680" cy="658368"/>
          </a:xfrm>
          <a:prstGeom prst="rect">
            <a:avLst/>
          </a:prstGeom>
          <a:noFill/>
        </p:spPr>
        <p:txBody>
          <a:bodyPr wrap="square" lIns="0" rIns="0" tIns="0" bIns="0" anchor="t">
            <a:spAutoFit/>
          </a:bodyPr>
          <a:lstStyle/>
          <a:p>
            <a:pPr algn="l"/>
            <a:r>
              <a:rPr sz="4000" b="1" i="0">
                <a:solidFill>
                  <a:srgbClr val="13EF93"/>
                </a:solidFill>
                <a:latin typeface="Calibri"/>
              </a:rPr>
              <a:t>&lt;$1</a:t>
            </a:r>
          </a:p>
        </p:txBody>
      </p:sp>
      <p:sp>
        <p:nvSpPr>
          <p:cNvPr id="15" name="TextBox 14"/>
          <p:cNvSpPr txBox="1"/>
          <p:nvPr/>
        </p:nvSpPr>
        <p:spPr>
          <a:xfrm>
            <a:off x="9226296" y="3310128"/>
            <a:ext cx="2048256" cy="658368"/>
          </a:xfrm>
          <a:prstGeom prst="rect">
            <a:avLst/>
          </a:prstGeom>
          <a:noFill/>
        </p:spPr>
        <p:txBody>
          <a:bodyPr wrap="square" lIns="0" rIns="0" tIns="0" bIns="0" anchor="t">
            <a:spAutoFit/>
          </a:bodyPr>
          <a:lstStyle/>
          <a:p>
            <a:pPr algn="l">
              <a:lnSpc>
                <a:spcPct val="112000"/>
              </a:lnSpc>
            </a:pPr>
            <a:r>
              <a:rPr sz="1250" b="0" i="0">
                <a:solidFill>
                  <a:srgbClr val="8FA0B3"/>
                </a:solidFill>
                <a:latin typeface="Calibri"/>
              </a:rPr>
              <a:t>of credit spent
per attendee</a:t>
            </a:r>
          </a:p>
        </p:txBody>
      </p:sp>
      <p:sp>
        <p:nvSpPr>
          <p:cNvPr id="16" name="Rounded Rectangle 15"/>
          <p:cNvSpPr/>
          <p:nvPr/>
        </p:nvSpPr>
        <p:spPr>
          <a:xfrm>
            <a:off x="685800" y="4443984"/>
            <a:ext cx="10820095" cy="1225296"/>
          </a:xfrm>
          <a:prstGeom prst="roundRect">
            <a:avLst>
              <a:gd name="adj" fmla="val 6000"/>
            </a:avLst>
          </a:prstGeom>
          <a:solidFill>
            <a:srgbClr val="1C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4645152"/>
            <a:ext cx="10058400" cy="841248"/>
          </a:xfrm>
          <a:prstGeom prst="rect">
            <a:avLst/>
          </a:prstGeom>
          <a:noFill/>
        </p:spPr>
        <p:txBody>
          <a:bodyPr wrap="square" lIns="0" rIns="0" tIns="0" bIns="0" anchor="t">
            <a:spAutoFit/>
          </a:bodyPr>
          <a:lstStyle/>
          <a:p>
            <a:pPr algn="l">
              <a:spcAft>
                <a:spcPts val="400"/>
              </a:spcAft>
            </a:pPr>
            <a:r>
              <a:rPr sz="1700" b="1" i="0">
                <a:solidFill>
                  <a:srgbClr val="FFFFFF"/>
                </a:solidFill>
                <a:latin typeface="Calibri"/>
              </a:rPr>
              <a:t>The agent is entirely Python.</a:t>
            </a:r>
          </a:p>
          <a:p>
            <a:pPr algn="l">
              <a:lnSpc>
                <a:spcPct val="110000"/>
              </a:lnSpc>
            </a:pPr>
            <a:r>
              <a:rPr sz="1400" b="0" i="0">
                <a:solidFill>
                  <a:srgbClr val="8FA0B3"/>
                </a:solidFill>
                <a:latin typeface="Calibri"/>
              </a:rPr>
              <a:t>The browser is only the microphone and the speaker — it exists so you don't spend the workshop debugging PortAudio, and so you get echo cancellation for free.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85800" y="566928"/>
            <a:ext cx="10820095" cy="658368"/>
          </a:xfrm>
          <a:prstGeom prst="rect">
            <a:avLst/>
          </a:prstGeom>
          <a:noFill/>
        </p:spPr>
        <p:txBody>
          <a:bodyPr wrap="square" lIns="0" rIns="0" tIns="0" bIns="0" anchor="t">
            <a:spAutoFit/>
          </a:bodyPr>
          <a:lstStyle/>
          <a:p>
            <a:pPr algn="l"/>
            <a:r>
              <a:rPr sz="3600" b="1" i="0">
                <a:solidFill>
                  <a:srgbClr val="FFFFFF"/>
                </a:solidFill>
                <a:latin typeface="Calibri"/>
              </a:rPr>
              <a:t>What you need on your machine</a:t>
            </a:r>
          </a:p>
        </p:txBody>
      </p:sp>
      <p:sp>
        <p:nvSpPr>
          <p:cNvPr id="3" name="Oval 2"/>
          <p:cNvSpPr/>
          <p:nvPr/>
        </p:nvSpPr>
        <p:spPr>
          <a:xfrm>
            <a:off x="685800" y="1581912"/>
            <a:ext cx="128016" cy="128016"/>
          </a:xfrm>
          <a:prstGeom prst="ellipse">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96696" y="1481328"/>
            <a:ext cx="6547104" cy="630936"/>
          </a:xfrm>
          <a:prstGeom prst="rect">
            <a:avLst/>
          </a:prstGeom>
          <a:noFill/>
        </p:spPr>
        <p:txBody>
          <a:bodyPr wrap="square" lIns="0" rIns="0" tIns="0" bIns="0" anchor="t">
            <a:spAutoFit/>
          </a:bodyPr>
          <a:lstStyle/>
          <a:p>
            <a:pPr algn="l">
              <a:spcAft>
                <a:spcPts val="100"/>
              </a:spcAft>
            </a:pPr>
            <a:r>
              <a:rPr sz="1600" b="1" i="0">
                <a:solidFill>
                  <a:srgbClr val="FFFFFF"/>
                </a:solidFill>
                <a:latin typeface="Calibri"/>
              </a:rPr>
              <a:t>uv</a:t>
            </a:r>
          </a:p>
          <a:p>
            <a:pPr algn="l">
              <a:lnSpc>
                <a:spcPct val="105000"/>
              </a:lnSpc>
            </a:pPr>
            <a:r>
              <a:rPr sz="1300" b="0" i="0">
                <a:solidFill>
                  <a:srgbClr val="8FA0B3"/>
                </a:solidFill>
                <a:latin typeface="Calibri"/>
              </a:rPr>
              <a:t>The only thing to install. It fetches Python 3.13 and every dependency itself.</a:t>
            </a:r>
          </a:p>
        </p:txBody>
      </p:sp>
      <p:sp>
        <p:nvSpPr>
          <p:cNvPr id="5" name="Oval 4"/>
          <p:cNvSpPr/>
          <p:nvPr/>
        </p:nvSpPr>
        <p:spPr>
          <a:xfrm>
            <a:off x="685800" y="2258568"/>
            <a:ext cx="128016" cy="128016"/>
          </a:xfrm>
          <a:prstGeom prst="ellipse">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96696" y="2157984"/>
            <a:ext cx="6547104" cy="630936"/>
          </a:xfrm>
          <a:prstGeom prst="rect">
            <a:avLst/>
          </a:prstGeom>
          <a:noFill/>
        </p:spPr>
        <p:txBody>
          <a:bodyPr wrap="square" lIns="0" rIns="0" tIns="0" bIns="0" anchor="t">
            <a:spAutoFit/>
          </a:bodyPr>
          <a:lstStyle/>
          <a:p>
            <a:pPr algn="l">
              <a:spcAft>
                <a:spcPts val="100"/>
              </a:spcAft>
            </a:pPr>
            <a:r>
              <a:rPr sz="1600" b="1" i="0">
                <a:solidFill>
                  <a:srgbClr val="FFFFFF"/>
                </a:solidFill>
                <a:latin typeface="Calibri"/>
              </a:rPr>
              <a:t>A free Deepgram API key</a:t>
            </a:r>
          </a:p>
          <a:p>
            <a:pPr algn="l">
              <a:lnSpc>
                <a:spcPct val="105000"/>
              </a:lnSpc>
            </a:pPr>
            <a:r>
              <a:rPr sz="1300" b="0" i="0">
                <a:solidFill>
                  <a:srgbClr val="8FA0B3"/>
                </a:solidFill>
                <a:latin typeface="Calibri"/>
              </a:rPr>
              <a:t>console.deepgram.com/signup — new accounts get $200 in credit.</a:t>
            </a:r>
          </a:p>
        </p:txBody>
      </p:sp>
      <p:sp>
        <p:nvSpPr>
          <p:cNvPr id="7" name="Oval 6"/>
          <p:cNvSpPr/>
          <p:nvPr/>
        </p:nvSpPr>
        <p:spPr>
          <a:xfrm>
            <a:off x="685800" y="2935224"/>
            <a:ext cx="128016" cy="128016"/>
          </a:xfrm>
          <a:prstGeom prst="ellipse">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96696" y="2834640"/>
            <a:ext cx="6547104" cy="630936"/>
          </a:xfrm>
          <a:prstGeom prst="rect">
            <a:avLst/>
          </a:prstGeom>
          <a:noFill/>
        </p:spPr>
        <p:txBody>
          <a:bodyPr wrap="square" lIns="0" rIns="0" tIns="0" bIns="0" anchor="t">
            <a:spAutoFit/>
          </a:bodyPr>
          <a:lstStyle/>
          <a:p>
            <a:pPr algn="l">
              <a:spcAft>
                <a:spcPts val="100"/>
              </a:spcAft>
            </a:pPr>
            <a:r>
              <a:rPr sz="1600" b="1" i="0">
                <a:solidFill>
                  <a:srgbClr val="FFFFFF"/>
                </a:solidFill>
                <a:latin typeface="Calibri"/>
              </a:rPr>
              <a:t>A current browser</a:t>
            </a:r>
          </a:p>
          <a:p>
            <a:pPr algn="l">
              <a:lnSpc>
                <a:spcPct val="105000"/>
              </a:lnSpc>
            </a:pPr>
            <a:r>
              <a:rPr sz="1300" b="0" i="0">
                <a:solidFill>
                  <a:srgbClr val="8FA0B3"/>
                </a:solidFill>
                <a:latin typeface="Calibri"/>
              </a:rPr>
              <a:t>Chrome, Firefox, or Safari. It needs getUserMedia and AudioWorklet.</a:t>
            </a:r>
          </a:p>
        </p:txBody>
      </p:sp>
      <p:sp>
        <p:nvSpPr>
          <p:cNvPr id="9" name="Oval 8"/>
          <p:cNvSpPr/>
          <p:nvPr/>
        </p:nvSpPr>
        <p:spPr>
          <a:xfrm>
            <a:off x="685800" y="3611879"/>
            <a:ext cx="128016" cy="128016"/>
          </a:xfrm>
          <a:prstGeom prst="ellipse">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96696" y="3511296"/>
            <a:ext cx="6547104" cy="630936"/>
          </a:xfrm>
          <a:prstGeom prst="rect">
            <a:avLst/>
          </a:prstGeom>
          <a:noFill/>
        </p:spPr>
        <p:txBody>
          <a:bodyPr wrap="square" lIns="0" rIns="0" tIns="0" bIns="0" anchor="t">
            <a:spAutoFit/>
          </a:bodyPr>
          <a:lstStyle/>
          <a:p>
            <a:pPr algn="l">
              <a:spcAft>
                <a:spcPts val="100"/>
              </a:spcAft>
            </a:pPr>
            <a:r>
              <a:rPr sz="1600" b="1" i="0">
                <a:solidFill>
                  <a:srgbClr val="FFFFFF"/>
                </a:solidFill>
                <a:latin typeface="Calibri"/>
              </a:rPr>
              <a:t>Wired headphones</a:t>
            </a:r>
          </a:p>
          <a:p>
            <a:pPr algn="l">
              <a:lnSpc>
                <a:spcPct val="105000"/>
              </a:lnSpc>
            </a:pPr>
            <a:r>
              <a:rPr sz="1300" b="0" i="0">
                <a:solidFill>
                  <a:srgbClr val="8FA0B3"/>
                </a:solidFill>
                <a:latin typeface="Calibri"/>
              </a:rPr>
              <a:t>Echo cancellation catches most of it, not all of it. Step 5 is where the difference shows.</a:t>
            </a:r>
          </a:p>
        </p:txBody>
      </p:sp>
      <p:sp>
        <p:nvSpPr>
          <p:cNvPr id="11" name="Oval 10"/>
          <p:cNvSpPr/>
          <p:nvPr/>
        </p:nvSpPr>
        <p:spPr>
          <a:xfrm>
            <a:off x="685800" y="4288536"/>
            <a:ext cx="128016" cy="128016"/>
          </a:xfrm>
          <a:prstGeom prst="ellipse">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96696" y="4187952"/>
            <a:ext cx="6547104" cy="630936"/>
          </a:xfrm>
          <a:prstGeom prst="rect">
            <a:avLst/>
          </a:prstGeom>
          <a:noFill/>
        </p:spPr>
        <p:txBody>
          <a:bodyPr wrap="square" lIns="0" rIns="0" tIns="0" bIns="0" anchor="t">
            <a:spAutoFit/>
          </a:bodyPr>
          <a:lstStyle/>
          <a:p>
            <a:pPr algn="l">
              <a:spcAft>
                <a:spcPts val="100"/>
              </a:spcAft>
            </a:pPr>
            <a:r>
              <a:rPr sz="1600" b="1" i="0">
                <a:solidFill>
                  <a:srgbClr val="FFFFFF"/>
                </a:solidFill>
                <a:latin typeface="Calibri"/>
              </a:rPr>
              <a:t>A terminal</a:t>
            </a:r>
          </a:p>
          <a:p>
            <a:pPr algn="l">
              <a:lnSpc>
                <a:spcPct val="105000"/>
              </a:lnSpc>
            </a:pPr>
            <a:r>
              <a:rPr sz="1300" b="0" i="0">
                <a:solidFill>
                  <a:srgbClr val="8FA0B3"/>
                </a:solidFill>
                <a:latin typeface="Calibri"/>
              </a:rPr>
              <a:t>macOS, Linux, Windows, and WSL all work.</a:t>
            </a:r>
          </a:p>
        </p:txBody>
      </p:sp>
      <p:sp>
        <p:nvSpPr>
          <p:cNvPr id="13" name="Rounded Rectangle 12"/>
          <p:cNvSpPr/>
          <p:nvPr/>
        </p:nvSpPr>
        <p:spPr>
          <a:xfrm>
            <a:off x="7909560" y="1426464"/>
            <a:ext cx="3593592" cy="340156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183879" y="1664208"/>
            <a:ext cx="3063240" cy="3017520"/>
          </a:xfrm>
          <a:prstGeom prst="rect">
            <a:avLst/>
          </a:prstGeom>
          <a:noFill/>
        </p:spPr>
        <p:txBody>
          <a:bodyPr wrap="square" lIns="0" rIns="0" tIns="0" bIns="0" anchor="t">
            <a:spAutoFit/>
          </a:bodyPr>
          <a:lstStyle/>
          <a:p>
            <a:pPr algn="l">
              <a:spcAft>
                <a:spcPts val="1000"/>
              </a:spcAft>
            </a:pPr>
            <a:r>
              <a:rPr sz="1100" b="1" i="0">
                <a:solidFill>
                  <a:srgbClr val="FFB454"/>
                </a:solidFill>
                <a:latin typeface="Calibri"/>
              </a:rPr>
              <a:t>NOT SET UP?</a:t>
            </a:r>
          </a:p>
          <a:p>
            <a:pPr algn="l">
              <a:lnSpc>
                <a:spcPct val="110000"/>
              </a:lnSpc>
              <a:spcAft>
                <a:spcPts val="1400"/>
              </a:spcAft>
            </a:pPr>
            <a:r>
              <a:rPr sz="1350" b="0" i="0">
                <a:solidFill>
                  <a:srgbClr val="D8E0EA"/>
                </a:solidFill>
                <a:latin typeface="Calibri"/>
              </a:rPr>
              <a:t>Two ways out, and both keep you with the room.</a:t>
            </a:r>
          </a:p>
          <a:p>
            <a:pPr algn="l">
              <a:spcAft>
                <a:spcPts val="200"/>
              </a:spcAft>
            </a:pPr>
            <a:r>
              <a:rPr sz="1450" b="1" i="0">
                <a:solidFill>
                  <a:srgbClr val="FFFFFF"/>
                </a:solidFill>
                <a:latin typeface="Calibri"/>
              </a:rPr>
              <a:t>Devcontainer</a:t>
            </a:r>
          </a:p>
          <a:p>
            <a:pPr algn="l">
              <a:lnSpc>
                <a:spcPct val="108000"/>
              </a:lnSpc>
              <a:spcAft>
                <a:spcPts val="1400"/>
              </a:spcAft>
            </a:pPr>
            <a:r>
              <a:rPr sz="1250" b="0" i="0">
                <a:solidFill>
                  <a:srgbClr val="8FA0B3"/>
                </a:solidFill>
                <a:latin typeface="Calibri"/>
              </a:rPr>
              <a:t>GitHub Codespaces needs nothing local; VS Code Dev Containers needs only Docker. Both arrive with uv sync already run.</a:t>
            </a:r>
          </a:p>
          <a:p>
            <a:pPr algn="l">
              <a:spcAft>
                <a:spcPts val="200"/>
              </a:spcAft>
            </a:pPr>
            <a:r>
              <a:rPr sz="1450" b="1" i="0">
                <a:solidFill>
                  <a:srgbClr val="FFFFFF"/>
                </a:solidFill>
                <a:latin typeface="Calibri"/>
              </a:rPr>
              <a:t>Easy Mode</a:t>
            </a:r>
          </a:p>
          <a:p>
            <a:pPr algn="l">
              <a:lnSpc>
                <a:spcPct val="108000"/>
              </a:lnSpc>
            </a:pPr>
            <a:r>
              <a:rPr sz="1250" b="0" i="0">
                <a:solidFill>
                  <a:srgbClr val="8FA0B3"/>
                </a:solidFill>
                <a:latin typeface="Calibri"/>
              </a:rPr>
              <a:t>The whole workshop in the browser, through the Deepgram Playground. No install, no terminal.</a:t>
            </a:r>
          </a:p>
        </p:txBody>
      </p:sp>
      <p:sp>
        <p:nvSpPr>
          <p:cNvPr id="15" name="TextBox 14"/>
          <p:cNvSpPr txBox="1"/>
          <p:nvPr/>
        </p:nvSpPr>
        <p:spPr>
          <a:xfrm>
            <a:off x="685800" y="5138928"/>
            <a:ext cx="6858000" cy="822960"/>
          </a:xfrm>
          <a:prstGeom prst="rect">
            <a:avLst/>
          </a:prstGeom>
          <a:noFill/>
        </p:spPr>
        <p:txBody>
          <a:bodyPr wrap="square" lIns="0" rIns="0" tIns="0" bIns="0" anchor="t">
            <a:spAutoFit/>
          </a:bodyPr>
          <a:lstStyle/>
          <a:p>
            <a:pPr algn="l"/>
            <a:r>
              <a:rPr sz="1450" b="0" i="1">
                <a:solidFill>
                  <a:srgbClr val="5D6E80"/>
                </a:solidFill>
                <a:latin typeface="Calibri"/>
              </a:rPr>
              <a:t>Comfortable with Python helps. An audio or machine-learning background does not.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85800" y="566928"/>
            <a:ext cx="10820095" cy="658368"/>
          </a:xfrm>
          <a:prstGeom prst="rect">
            <a:avLst/>
          </a:prstGeom>
          <a:noFill/>
        </p:spPr>
        <p:txBody>
          <a:bodyPr wrap="square" lIns="0" rIns="0" tIns="0" bIns="0" anchor="t">
            <a:spAutoFit/>
          </a:bodyPr>
          <a:lstStyle/>
          <a:p>
            <a:pPr algn="l"/>
            <a:r>
              <a:rPr sz="3600" b="1" i="0">
                <a:solidFill>
                  <a:srgbClr val="FFFFFF"/>
                </a:solidFill>
                <a:latin typeface="Calibri"/>
              </a:rPr>
              <a:t>Two tracks, one room</a:t>
            </a:r>
          </a:p>
        </p:txBody>
      </p:sp>
      <p:sp>
        <p:nvSpPr>
          <p:cNvPr id="3" name="TextBox 2"/>
          <p:cNvSpPr txBox="1"/>
          <p:nvPr/>
        </p:nvSpPr>
        <p:spPr>
          <a:xfrm>
            <a:off x="685800" y="1280160"/>
            <a:ext cx="10424160" cy="640080"/>
          </a:xfrm>
          <a:prstGeom prst="rect">
            <a:avLst/>
          </a:prstGeom>
          <a:noFill/>
        </p:spPr>
        <p:txBody>
          <a:bodyPr wrap="square" lIns="0" rIns="0" tIns="0" bIns="0" anchor="t">
            <a:spAutoFit/>
          </a:bodyPr>
          <a:lstStyle/>
          <a:p>
            <a:pPr algn="l">
              <a:lnSpc>
                <a:spcPct val="115000"/>
              </a:lnSpc>
            </a:pPr>
            <a:r>
              <a:rPr sz="1600" b="0" i="0">
                <a:solidFill>
                  <a:srgbClr val="8FA0B3"/>
                </a:solidFill>
                <a:latin typeface="Calibri"/>
              </a:rPr>
              <a:t>Both tracks talk to the same Voice Agent API. The labs are numbered so a mixed room stays in sync at every checkpoint.</a:t>
            </a:r>
          </a:p>
        </p:txBody>
      </p:sp>
      <p:sp>
        <p:nvSpPr>
          <p:cNvPr id="4" name="Rounded Rectangle 3"/>
          <p:cNvSpPr/>
          <p:nvPr/>
        </p:nvSpPr>
        <p:spPr>
          <a:xfrm>
            <a:off x="685800" y="2011680"/>
            <a:ext cx="5257800" cy="2395728"/>
          </a:xfrm>
          <a:prstGeom prst="roundRect">
            <a:avLst>
              <a:gd name="adj" fmla="val 6000"/>
            </a:avLst>
          </a:prstGeom>
          <a:solidFill>
            <a:srgbClr val="15202B"/>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ounded Rectangle 4"/>
          <p:cNvSpPr/>
          <p:nvPr/>
        </p:nvSpPr>
        <p:spPr>
          <a:xfrm>
            <a:off x="978408" y="2231136"/>
            <a:ext cx="1362456" cy="292608"/>
          </a:xfrm>
          <a:prstGeom prst="roundRect">
            <a:avLst>
              <a:gd name="adj" fmla="val 50000"/>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i="0">
                <a:solidFill>
                  <a:srgbClr val="04120C"/>
                </a:solidFill>
                <a:latin typeface="Calibri"/>
              </a:rPr>
              <a:t>CODE TRACK</a:t>
            </a:r>
          </a:p>
        </p:txBody>
      </p:sp>
      <p:sp>
        <p:nvSpPr>
          <p:cNvPr id="6" name="TextBox 5"/>
          <p:cNvSpPr txBox="1"/>
          <p:nvPr/>
        </p:nvSpPr>
        <p:spPr>
          <a:xfrm>
            <a:off x="978408" y="2706624"/>
            <a:ext cx="4663440" cy="1463040"/>
          </a:xfrm>
          <a:prstGeom prst="rect">
            <a:avLst/>
          </a:prstGeom>
          <a:noFill/>
        </p:spPr>
        <p:txBody>
          <a:bodyPr wrap="square" lIns="0" rIns="0" tIns="0" bIns="0" anchor="t">
            <a:spAutoFit/>
          </a:bodyPr>
          <a:lstStyle/>
          <a:p>
            <a:pPr algn="l">
              <a:spcAft>
                <a:spcPts val="800"/>
              </a:spcAft>
            </a:pPr>
            <a:r>
              <a:rPr sz="1800" b="1" i="0">
                <a:solidFill>
                  <a:srgbClr val="FFFFFF"/>
                </a:solidFill>
                <a:latin typeface="Calibri"/>
              </a:rPr>
              <a:t>You write the agent in Python</a:t>
            </a:r>
          </a:p>
          <a:p>
            <a:pPr algn="l">
              <a:lnSpc>
                <a:spcPct val="112000"/>
              </a:lnSpc>
            </a:pPr>
            <a:r>
              <a:rPr sz="1350" b="0" i="0">
                <a:solidFill>
                  <a:srgbClr val="8FA0B3"/>
                </a:solidFill>
                <a:latin typeface="Calibri"/>
              </a:rPr>
              <a:t>Eight steps, each a complete runnable program. Work the TODO blocks in main.py; the next folder is the answer key.</a:t>
            </a:r>
          </a:p>
        </p:txBody>
      </p:sp>
      <p:sp>
        <p:nvSpPr>
          <p:cNvPr id="7" name="TextBox 6"/>
          <p:cNvSpPr txBox="1"/>
          <p:nvPr/>
        </p:nvSpPr>
        <p:spPr>
          <a:xfrm>
            <a:off x="978408" y="3931920"/>
            <a:ext cx="4663440" cy="310896"/>
          </a:xfrm>
          <a:prstGeom prst="rect">
            <a:avLst/>
          </a:prstGeom>
          <a:noFill/>
        </p:spPr>
        <p:txBody>
          <a:bodyPr wrap="square" lIns="0" rIns="0" tIns="0" bIns="0" anchor="t">
            <a:spAutoFit/>
          </a:bodyPr>
          <a:lstStyle/>
          <a:p>
            <a:pPr algn="l"/>
            <a:r>
              <a:rPr sz="1200" b="0" i="0">
                <a:solidFill>
                  <a:srgbClr val="13EF93"/>
                </a:solidFill>
                <a:latin typeface="Courier New"/>
              </a:rPr>
              <a:t>uv  ·  a terminal  ·  a browser</a:t>
            </a:r>
          </a:p>
        </p:txBody>
      </p:sp>
      <p:sp>
        <p:nvSpPr>
          <p:cNvPr id="8" name="Rounded Rectangle 7"/>
          <p:cNvSpPr/>
          <p:nvPr/>
        </p:nvSpPr>
        <p:spPr>
          <a:xfrm>
            <a:off x="6263640" y="2011680"/>
            <a:ext cx="5239512" cy="239572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6556248" y="2231136"/>
            <a:ext cx="1257300" cy="292608"/>
          </a:xfrm>
          <a:prstGeom prst="roundRect">
            <a:avLst>
              <a:gd name="adj" fmla="val 50000"/>
            </a:avLst>
          </a:prstGeom>
          <a:solidFill>
            <a:srgbClr val="070B10"/>
          </a:solidFill>
          <a:ln w="12700">
            <a:solidFill>
              <a:srgbClr val="3A4856"/>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i="0">
                <a:solidFill>
                  <a:srgbClr val="8FA0B3"/>
                </a:solidFill>
                <a:latin typeface="Calibri"/>
              </a:rPr>
              <a:t>EASY MODE</a:t>
            </a:r>
          </a:p>
        </p:txBody>
      </p:sp>
      <p:sp>
        <p:nvSpPr>
          <p:cNvPr id="10" name="TextBox 9"/>
          <p:cNvSpPr txBox="1"/>
          <p:nvPr/>
        </p:nvSpPr>
        <p:spPr>
          <a:xfrm>
            <a:off x="6556248" y="2706624"/>
            <a:ext cx="4663440" cy="1463040"/>
          </a:xfrm>
          <a:prstGeom prst="rect">
            <a:avLst/>
          </a:prstGeom>
          <a:noFill/>
        </p:spPr>
        <p:txBody>
          <a:bodyPr wrap="square" lIns="0" rIns="0" tIns="0" bIns="0" anchor="t">
            <a:spAutoFit/>
          </a:bodyPr>
          <a:lstStyle/>
          <a:p>
            <a:pPr algn="l">
              <a:spcAft>
                <a:spcPts val="800"/>
              </a:spcAft>
            </a:pPr>
            <a:r>
              <a:rPr sz="1800" b="1" i="0">
                <a:solidFill>
                  <a:srgbClr val="FFFFFF"/>
                </a:solidFill>
                <a:latin typeface="Calibri"/>
              </a:rPr>
              <a:t>You configure the agent in a browser</a:t>
            </a:r>
          </a:p>
          <a:p>
            <a:pPr algn="l">
              <a:lnSpc>
                <a:spcPct val="112000"/>
              </a:lnSpc>
            </a:pPr>
            <a:r>
              <a:rPr sz="1350" b="0" i="0">
                <a:solidFill>
                  <a:srgbClr val="8FA0B3"/>
                </a:solidFill>
                <a:latin typeface="Calibri"/>
              </a:rPr>
              <a:t>Six labs in the Deepgram Playground. Same API, same settings document — a form in front of it instead of code.</a:t>
            </a:r>
          </a:p>
        </p:txBody>
      </p:sp>
      <p:sp>
        <p:nvSpPr>
          <p:cNvPr id="11" name="TextBox 10"/>
          <p:cNvSpPr txBox="1"/>
          <p:nvPr/>
        </p:nvSpPr>
        <p:spPr>
          <a:xfrm>
            <a:off x="6556248" y="3931920"/>
            <a:ext cx="4663440" cy="310896"/>
          </a:xfrm>
          <a:prstGeom prst="rect">
            <a:avLst/>
          </a:prstGeom>
          <a:noFill/>
        </p:spPr>
        <p:txBody>
          <a:bodyPr wrap="square" lIns="0" rIns="0" tIns="0" bIns="0" anchor="t">
            <a:spAutoFit/>
          </a:bodyPr>
          <a:lstStyle/>
          <a:p>
            <a:pPr algn="l"/>
            <a:r>
              <a:rPr sz="1200" b="0" i="0">
                <a:solidFill>
                  <a:srgbClr val="8FA0B3"/>
                </a:solidFill>
                <a:latin typeface="Courier New"/>
              </a:rPr>
              <a:t>a browser  ·  headphones</a:t>
            </a:r>
          </a:p>
        </p:txBody>
      </p:sp>
      <p:sp>
        <p:nvSpPr>
          <p:cNvPr id="12" name="TextBox 11"/>
          <p:cNvSpPr txBox="1"/>
          <p:nvPr/>
        </p:nvSpPr>
        <p:spPr>
          <a:xfrm>
            <a:off x="685800" y="4663440"/>
            <a:ext cx="10820095" cy="274320"/>
          </a:xfrm>
          <a:prstGeom prst="rect">
            <a:avLst/>
          </a:prstGeom>
          <a:noFill/>
        </p:spPr>
        <p:txBody>
          <a:bodyPr wrap="square" lIns="0" rIns="0" tIns="0" bIns="0" anchor="t">
            <a:spAutoFit/>
          </a:bodyPr>
          <a:lstStyle/>
          <a:p>
            <a:pPr algn="l"/>
            <a:r>
              <a:rPr sz="1100" b="1" i="0">
                <a:solidFill>
                  <a:srgbClr val="5D6E80"/>
                </a:solidFill>
                <a:latin typeface="Calibri"/>
              </a:rPr>
              <a:t>HOW THEY LINE UP</a:t>
            </a:r>
          </a:p>
        </p:txBody>
      </p:sp>
      <p:sp>
        <p:nvSpPr>
          <p:cNvPr id="13" name="Rounded Rectangle 12"/>
          <p:cNvSpPr/>
          <p:nvPr/>
        </p:nvSpPr>
        <p:spPr>
          <a:xfrm>
            <a:off x="685800" y="4992624"/>
            <a:ext cx="1719072" cy="713232"/>
          </a:xfrm>
          <a:prstGeom prst="roundRect">
            <a:avLst>
              <a:gd name="adj" fmla="val 6000"/>
            </a:avLst>
          </a:prstGeom>
          <a:solidFill>
            <a:srgbClr val="1C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50392" y="5120640"/>
            <a:ext cx="1463040" cy="237744"/>
          </a:xfrm>
          <a:prstGeom prst="rect">
            <a:avLst/>
          </a:prstGeom>
          <a:noFill/>
        </p:spPr>
        <p:txBody>
          <a:bodyPr wrap="square" lIns="0" rIns="0" tIns="0" bIns="0" anchor="t">
            <a:spAutoFit/>
          </a:bodyPr>
          <a:lstStyle/>
          <a:p>
            <a:pPr algn="l"/>
            <a:r>
              <a:rPr sz="1250" b="1" i="0">
                <a:solidFill>
                  <a:srgbClr val="FFFFFF"/>
                </a:solidFill>
                <a:latin typeface="Calibri"/>
              </a:rPr>
              <a:t>Steps 1–4</a:t>
            </a:r>
          </a:p>
        </p:txBody>
      </p:sp>
      <p:sp>
        <p:nvSpPr>
          <p:cNvPr id="15" name="TextBox 14"/>
          <p:cNvSpPr txBox="1"/>
          <p:nvPr/>
        </p:nvSpPr>
        <p:spPr>
          <a:xfrm>
            <a:off x="850392" y="5358384"/>
            <a:ext cx="1463040" cy="237744"/>
          </a:xfrm>
          <a:prstGeom prst="rect">
            <a:avLst/>
          </a:prstGeom>
          <a:noFill/>
        </p:spPr>
        <p:txBody>
          <a:bodyPr wrap="square" lIns="0" rIns="0" tIns="0" bIns="0" anchor="t">
            <a:spAutoFit/>
          </a:bodyPr>
          <a:lstStyle/>
          <a:p>
            <a:pPr algn="l"/>
            <a:r>
              <a:rPr sz="1150" b="0" i="0">
                <a:solidFill>
                  <a:srgbClr val="13EF93"/>
                </a:solidFill>
                <a:latin typeface="Calibri"/>
              </a:rPr>
              <a:t>Easy Mode Lab 1</a:t>
            </a:r>
          </a:p>
        </p:txBody>
      </p:sp>
      <p:sp>
        <p:nvSpPr>
          <p:cNvPr id="16" name="Rounded Rectangle 15"/>
          <p:cNvSpPr/>
          <p:nvPr/>
        </p:nvSpPr>
        <p:spPr>
          <a:xfrm>
            <a:off x="2532888" y="4992624"/>
            <a:ext cx="1719072" cy="713232"/>
          </a:xfrm>
          <a:prstGeom prst="roundRect">
            <a:avLst>
              <a:gd name="adj" fmla="val 6000"/>
            </a:avLst>
          </a:prstGeom>
          <a:solidFill>
            <a:srgbClr val="1C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697480" y="5120640"/>
            <a:ext cx="1463040" cy="237744"/>
          </a:xfrm>
          <a:prstGeom prst="rect">
            <a:avLst/>
          </a:prstGeom>
          <a:noFill/>
        </p:spPr>
        <p:txBody>
          <a:bodyPr wrap="square" lIns="0" rIns="0" tIns="0" bIns="0" anchor="t">
            <a:spAutoFit/>
          </a:bodyPr>
          <a:lstStyle/>
          <a:p>
            <a:pPr algn="l"/>
            <a:r>
              <a:rPr sz="1250" b="1" i="0">
                <a:solidFill>
                  <a:srgbClr val="FFFFFF"/>
                </a:solidFill>
                <a:latin typeface="Calibri"/>
              </a:rPr>
              <a:t>Step 5</a:t>
            </a:r>
          </a:p>
        </p:txBody>
      </p:sp>
      <p:sp>
        <p:nvSpPr>
          <p:cNvPr id="18" name="TextBox 17"/>
          <p:cNvSpPr txBox="1"/>
          <p:nvPr/>
        </p:nvSpPr>
        <p:spPr>
          <a:xfrm>
            <a:off x="2697480" y="5358384"/>
            <a:ext cx="1463040" cy="237744"/>
          </a:xfrm>
          <a:prstGeom prst="rect">
            <a:avLst/>
          </a:prstGeom>
          <a:noFill/>
        </p:spPr>
        <p:txBody>
          <a:bodyPr wrap="square" lIns="0" rIns="0" tIns="0" bIns="0" anchor="t">
            <a:spAutoFit/>
          </a:bodyPr>
          <a:lstStyle/>
          <a:p>
            <a:pPr algn="l"/>
            <a:r>
              <a:rPr sz="1150" b="0" i="0">
                <a:solidFill>
                  <a:srgbClr val="13EF93"/>
                </a:solidFill>
                <a:latin typeface="Calibri"/>
              </a:rPr>
              <a:t>Easy Mode Lab 2</a:t>
            </a:r>
          </a:p>
        </p:txBody>
      </p:sp>
      <p:sp>
        <p:nvSpPr>
          <p:cNvPr id="19" name="Rounded Rectangle 18"/>
          <p:cNvSpPr/>
          <p:nvPr/>
        </p:nvSpPr>
        <p:spPr>
          <a:xfrm>
            <a:off x="4379976" y="4992624"/>
            <a:ext cx="1719072" cy="713232"/>
          </a:xfrm>
          <a:prstGeom prst="roundRect">
            <a:avLst>
              <a:gd name="adj" fmla="val 6000"/>
            </a:avLst>
          </a:prstGeom>
          <a:solidFill>
            <a:srgbClr val="1C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44568" y="5120640"/>
            <a:ext cx="1463040" cy="237744"/>
          </a:xfrm>
          <a:prstGeom prst="rect">
            <a:avLst/>
          </a:prstGeom>
          <a:noFill/>
        </p:spPr>
        <p:txBody>
          <a:bodyPr wrap="square" lIns="0" rIns="0" tIns="0" bIns="0" anchor="t">
            <a:spAutoFit/>
          </a:bodyPr>
          <a:lstStyle/>
          <a:p>
            <a:pPr algn="l"/>
            <a:r>
              <a:rPr sz="1250" b="1" i="0">
                <a:solidFill>
                  <a:srgbClr val="FFFFFF"/>
                </a:solidFill>
                <a:latin typeface="Calibri"/>
              </a:rPr>
              <a:t>Step 6</a:t>
            </a:r>
          </a:p>
        </p:txBody>
      </p:sp>
      <p:sp>
        <p:nvSpPr>
          <p:cNvPr id="21" name="TextBox 20"/>
          <p:cNvSpPr txBox="1"/>
          <p:nvPr/>
        </p:nvSpPr>
        <p:spPr>
          <a:xfrm>
            <a:off x="4544568" y="5358384"/>
            <a:ext cx="1463040" cy="237744"/>
          </a:xfrm>
          <a:prstGeom prst="rect">
            <a:avLst/>
          </a:prstGeom>
          <a:noFill/>
        </p:spPr>
        <p:txBody>
          <a:bodyPr wrap="square" lIns="0" rIns="0" tIns="0" bIns="0" anchor="t">
            <a:spAutoFit/>
          </a:bodyPr>
          <a:lstStyle/>
          <a:p>
            <a:pPr algn="l"/>
            <a:r>
              <a:rPr sz="1150" b="0" i="0">
                <a:solidFill>
                  <a:srgbClr val="13EF93"/>
                </a:solidFill>
                <a:latin typeface="Calibri"/>
              </a:rPr>
              <a:t>Easy Mode Lab 4</a:t>
            </a:r>
          </a:p>
        </p:txBody>
      </p:sp>
      <p:sp>
        <p:nvSpPr>
          <p:cNvPr id="22" name="Rounded Rectangle 21"/>
          <p:cNvSpPr/>
          <p:nvPr/>
        </p:nvSpPr>
        <p:spPr>
          <a:xfrm>
            <a:off x="6227064" y="4992624"/>
            <a:ext cx="1719072" cy="713232"/>
          </a:xfrm>
          <a:prstGeom prst="roundRect">
            <a:avLst>
              <a:gd name="adj" fmla="val 6000"/>
            </a:avLst>
          </a:prstGeom>
          <a:solidFill>
            <a:srgbClr val="1C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91656" y="5120640"/>
            <a:ext cx="1463040" cy="237744"/>
          </a:xfrm>
          <a:prstGeom prst="rect">
            <a:avLst/>
          </a:prstGeom>
          <a:noFill/>
        </p:spPr>
        <p:txBody>
          <a:bodyPr wrap="square" lIns="0" rIns="0" tIns="0" bIns="0" anchor="t">
            <a:spAutoFit/>
          </a:bodyPr>
          <a:lstStyle/>
          <a:p>
            <a:pPr algn="l"/>
            <a:r>
              <a:rPr sz="1250" b="1" i="0">
                <a:solidFill>
                  <a:srgbClr val="FFFFFF"/>
                </a:solidFill>
                <a:latin typeface="Calibri"/>
              </a:rPr>
              <a:t>Step 7</a:t>
            </a:r>
          </a:p>
        </p:txBody>
      </p:sp>
      <p:sp>
        <p:nvSpPr>
          <p:cNvPr id="24" name="TextBox 23"/>
          <p:cNvSpPr txBox="1"/>
          <p:nvPr/>
        </p:nvSpPr>
        <p:spPr>
          <a:xfrm>
            <a:off x="6391656" y="5358384"/>
            <a:ext cx="1463040" cy="237744"/>
          </a:xfrm>
          <a:prstGeom prst="rect">
            <a:avLst/>
          </a:prstGeom>
          <a:noFill/>
        </p:spPr>
        <p:txBody>
          <a:bodyPr wrap="square" lIns="0" rIns="0" tIns="0" bIns="0" anchor="t">
            <a:spAutoFit/>
          </a:bodyPr>
          <a:lstStyle/>
          <a:p>
            <a:pPr algn="l"/>
            <a:r>
              <a:rPr sz="1150" b="0" i="0">
                <a:solidFill>
                  <a:srgbClr val="13EF93"/>
                </a:solidFill>
                <a:latin typeface="Calibri"/>
              </a:rPr>
              <a:t>Easy Mode Lab 5</a:t>
            </a:r>
          </a:p>
        </p:txBody>
      </p:sp>
      <p:sp>
        <p:nvSpPr>
          <p:cNvPr id="25" name="Rounded Rectangle 24"/>
          <p:cNvSpPr/>
          <p:nvPr/>
        </p:nvSpPr>
        <p:spPr>
          <a:xfrm>
            <a:off x="8074152" y="4992624"/>
            <a:ext cx="1719072" cy="713232"/>
          </a:xfrm>
          <a:prstGeom prst="roundRect">
            <a:avLst>
              <a:gd name="adj" fmla="val 6000"/>
            </a:avLst>
          </a:prstGeom>
          <a:solidFill>
            <a:srgbClr val="1C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38744" y="5120640"/>
            <a:ext cx="1463040" cy="237744"/>
          </a:xfrm>
          <a:prstGeom prst="rect">
            <a:avLst/>
          </a:prstGeom>
          <a:noFill/>
        </p:spPr>
        <p:txBody>
          <a:bodyPr wrap="square" lIns="0" rIns="0" tIns="0" bIns="0" anchor="t">
            <a:spAutoFit/>
          </a:bodyPr>
          <a:lstStyle/>
          <a:p>
            <a:pPr algn="l"/>
            <a:r>
              <a:rPr sz="1250" b="1" i="0">
                <a:solidFill>
                  <a:srgbClr val="FFFFFF"/>
                </a:solidFill>
                <a:latin typeface="Calibri"/>
              </a:rPr>
              <a:t>Step 8</a:t>
            </a:r>
          </a:p>
        </p:txBody>
      </p:sp>
      <p:sp>
        <p:nvSpPr>
          <p:cNvPr id="27" name="TextBox 26"/>
          <p:cNvSpPr txBox="1"/>
          <p:nvPr/>
        </p:nvSpPr>
        <p:spPr>
          <a:xfrm>
            <a:off x="8238744" y="5358384"/>
            <a:ext cx="1463040" cy="237744"/>
          </a:xfrm>
          <a:prstGeom prst="rect">
            <a:avLst/>
          </a:prstGeom>
          <a:noFill/>
        </p:spPr>
        <p:txBody>
          <a:bodyPr wrap="square" lIns="0" rIns="0" tIns="0" bIns="0" anchor="t">
            <a:spAutoFit/>
          </a:bodyPr>
          <a:lstStyle/>
          <a:p>
            <a:pPr algn="l"/>
            <a:r>
              <a:rPr sz="1150" b="0" i="0">
                <a:solidFill>
                  <a:srgbClr val="13EF93"/>
                </a:solidFill>
                <a:latin typeface="Calibri"/>
              </a:rPr>
              <a:t>Easy Mode Lab 3</a:t>
            </a:r>
          </a:p>
        </p:txBody>
      </p:sp>
      <p:sp>
        <p:nvSpPr>
          <p:cNvPr id="28" name="Rounded Rectangle 27"/>
          <p:cNvSpPr/>
          <p:nvPr/>
        </p:nvSpPr>
        <p:spPr>
          <a:xfrm>
            <a:off x="9921240" y="4992624"/>
            <a:ext cx="1719072" cy="713232"/>
          </a:xfrm>
          <a:prstGeom prst="roundRect">
            <a:avLst>
              <a:gd name="adj" fmla="val 6000"/>
            </a:avLst>
          </a:prstGeom>
          <a:solidFill>
            <a:srgbClr val="1C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085832" y="5120640"/>
            <a:ext cx="1463040" cy="237744"/>
          </a:xfrm>
          <a:prstGeom prst="rect">
            <a:avLst/>
          </a:prstGeom>
          <a:noFill/>
        </p:spPr>
        <p:txBody>
          <a:bodyPr wrap="square" lIns="0" rIns="0" tIns="0" bIns="0" anchor="t">
            <a:spAutoFit/>
          </a:bodyPr>
          <a:lstStyle/>
          <a:p>
            <a:pPr algn="l"/>
            <a:r>
              <a:rPr sz="1250" b="1" i="0">
                <a:solidFill>
                  <a:srgbClr val="FFFFFF"/>
                </a:solidFill>
                <a:latin typeface="Calibri"/>
              </a:rPr>
              <a:t>Finished</a:t>
            </a:r>
          </a:p>
        </p:txBody>
      </p:sp>
      <p:sp>
        <p:nvSpPr>
          <p:cNvPr id="30" name="TextBox 29"/>
          <p:cNvSpPr txBox="1"/>
          <p:nvPr/>
        </p:nvSpPr>
        <p:spPr>
          <a:xfrm>
            <a:off x="10085832" y="5358384"/>
            <a:ext cx="1463040" cy="237744"/>
          </a:xfrm>
          <a:prstGeom prst="rect">
            <a:avLst/>
          </a:prstGeom>
          <a:noFill/>
        </p:spPr>
        <p:txBody>
          <a:bodyPr wrap="square" lIns="0" rIns="0" tIns="0" bIns="0" anchor="t">
            <a:spAutoFit/>
          </a:bodyPr>
          <a:lstStyle/>
          <a:p>
            <a:pPr algn="l"/>
            <a:r>
              <a:rPr sz="1150" b="0" i="0">
                <a:solidFill>
                  <a:srgbClr val="13EF93"/>
                </a:solidFill>
                <a:latin typeface="Calibri"/>
              </a:rPr>
              <a:t>Easy Mode Lab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85800" y="566928"/>
            <a:ext cx="10820095" cy="658368"/>
          </a:xfrm>
          <a:prstGeom prst="rect">
            <a:avLst/>
          </a:prstGeom>
          <a:noFill/>
        </p:spPr>
        <p:txBody>
          <a:bodyPr wrap="square" lIns="0" rIns="0" tIns="0" bIns="0" anchor="t">
            <a:spAutoFit/>
          </a:bodyPr>
          <a:lstStyle/>
          <a:p>
            <a:pPr algn="l"/>
            <a:r>
              <a:rPr sz="3600" b="1" i="0">
                <a:solidFill>
                  <a:srgbClr val="FFFFFF"/>
                </a:solidFill>
                <a:latin typeface="Calibri"/>
              </a:rPr>
              <a:t>Run of show</a:t>
            </a:r>
          </a:p>
        </p:txBody>
      </p:sp>
      <p:sp>
        <p:nvSpPr>
          <p:cNvPr id="3" name="TextBox 2"/>
          <p:cNvSpPr txBox="1"/>
          <p:nvPr/>
        </p:nvSpPr>
        <p:spPr>
          <a:xfrm>
            <a:off x="685800" y="1280160"/>
            <a:ext cx="10820095" cy="640080"/>
          </a:xfrm>
          <a:prstGeom prst="rect">
            <a:avLst/>
          </a:prstGeom>
          <a:noFill/>
        </p:spPr>
        <p:txBody>
          <a:bodyPr wrap="square" lIns="0" rIns="0" tIns="0" bIns="0" anchor="t">
            <a:spAutoFit/>
          </a:bodyPr>
          <a:lstStyle/>
          <a:p>
            <a:pPr algn="l">
              <a:lnSpc>
                <a:spcPct val="115000"/>
              </a:lnSpc>
            </a:pPr>
            <a:r>
              <a:rPr sz="1600" b="0" i="0">
                <a:solidFill>
                  <a:srgbClr val="8FA0B3"/>
                </a:solidFill>
                <a:latin typeface="Calibri"/>
              </a:rPr>
              <a:t>Three hours, one break. The marked steps are where we regroup.</a:t>
            </a:r>
          </a:p>
        </p:txBody>
      </p:sp>
      <p:sp>
        <p:nvSpPr>
          <p:cNvPr id="4" name="Rounded Rectangle 3"/>
          <p:cNvSpPr/>
          <p:nvPr/>
        </p:nvSpPr>
        <p:spPr>
          <a:xfrm>
            <a:off x="685800" y="1847088"/>
            <a:ext cx="5349240" cy="585216"/>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905256" y="2020824"/>
            <a:ext cx="658368" cy="256032"/>
          </a:xfrm>
          <a:prstGeom prst="rect">
            <a:avLst/>
          </a:prstGeom>
          <a:noFill/>
        </p:spPr>
        <p:txBody>
          <a:bodyPr wrap="square" lIns="0" rIns="0" tIns="0" bIns="0" anchor="t">
            <a:spAutoFit/>
          </a:bodyPr>
          <a:lstStyle/>
          <a:p>
            <a:pPr algn="l"/>
            <a:r>
              <a:rPr sz="1350" b="1" i="0">
                <a:solidFill>
                  <a:srgbClr val="13EF93"/>
                </a:solidFill>
                <a:latin typeface="Courier New"/>
              </a:rPr>
              <a:t>0:00</a:t>
            </a:r>
          </a:p>
        </p:txBody>
      </p:sp>
      <p:sp>
        <p:nvSpPr>
          <p:cNvPr id="6" name="TextBox 5"/>
          <p:cNvSpPr txBox="1"/>
          <p:nvPr/>
        </p:nvSpPr>
        <p:spPr>
          <a:xfrm>
            <a:off x="1618488" y="2002536"/>
            <a:ext cx="1874519" cy="274320"/>
          </a:xfrm>
          <a:prstGeom prst="rect">
            <a:avLst/>
          </a:prstGeom>
          <a:noFill/>
        </p:spPr>
        <p:txBody>
          <a:bodyPr wrap="square" lIns="0" rIns="0" tIns="0" bIns="0" anchor="t">
            <a:spAutoFit/>
          </a:bodyPr>
          <a:lstStyle/>
          <a:p>
            <a:pPr algn="l"/>
            <a:r>
              <a:rPr sz="1400" b="1" i="0">
                <a:solidFill>
                  <a:srgbClr val="FFFFFF"/>
                </a:solidFill>
                <a:latin typeface="Calibri"/>
              </a:rPr>
              <a:t>Overview</a:t>
            </a:r>
          </a:p>
        </p:txBody>
      </p:sp>
      <p:sp>
        <p:nvSpPr>
          <p:cNvPr id="7" name="TextBox 6"/>
          <p:cNvSpPr txBox="1"/>
          <p:nvPr/>
        </p:nvSpPr>
        <p:spPr>
          <a:xfrm>
            <a:off x="3483864" y="2029968"/>
            <a:ext cx="2121408" cy="256032"/>
          </a:xfrm>
          <a:prstGeom prst="rect">
            <a:avLst/>
          </a:prstGeom>
          <a:noFill/>
        </p:spPr>
        <p:txBody>
          <a:bodyPr wrap="square" lIns="0" rIns="0" tIns="0" bIns="0" anchor="t">
            <a:spAutoFit/>
          </a:bodyPr>
          <a:lstStyle/>
          <a:p>
            <a:pPr algn="l"/>
            <a:r>
              <a:rPr sz="1150" b="0" i="0">
                <a:solidFill>
                  <a:srgbClr val="8FA0B3"/>
                </a:solidFill>
                <a:latin typeface="Calibri"/>
              </a:rPr>
              <a:t>The parts of a voice agent</a:t>
            </a:r>
          </a:p>
        </p:txBody>
      </p:sp>
      <p:sp>
        <p:nvSpPr>
          <p:cNvPr id="8" name="Rounded Rectangle 7"/>
          <p:cNvSpPr/>
          <p:nvPr/>
        </p:nvSpPr>
        <p:spPr>
          <a:xfrm>
            <a:off x="685800" y="2542032"/>
            <a:ext cx="5349240" cy="585216"/>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05256" y="2715768"/>
            <a:ext cx="658368" cy="256032"/>
          </a:xfrm>
          <a:prstGeom prst="rect">
            <a:avLst/>
          </a:prstGeom>
          <a:noFill/>
        </p:spPr>
        <p:txBody>
          <a:bodyPr wrap="square" lIns="0" rIns="0" tIns="0" bIns="0" anchor="t">
            <a:spAutoFit/>
          </a:bodyPr>
          <a:lstStyle/>
          <a:p>
            <a:pPr algn="l"/>
            <a:r>
              <a:rPr sz="1350" b="1" i="0">
                <a:solidFill>
                  <a:srgbClr val="13EF93"/>
                </a:solidFill>
                <a:latin typeface="Courier New"/>
              </a:rPr>
              <a:t>0:10</a:t>
            </a:r>
          </a:p>
        </p:txBody>
      </p:sp>
      <p:sp>
        <p:nvSpPr>
          <p:cNvPr id="10" name="TextBox 9"/>
          <p:cNvSpPr txBox="1"/>
          <p:nvPr/>
        </p:nvSpPr>
        <p:spPr>
          <a:xfrm>
            <a:off x="1618488" y="2697480"/>
            <a:ext cx="1874519" cy="274320"/>
          </a:xfrm>
          <a:prstGeom prst="rect">
            <a:avLst/>
          </a:prstGeom>
          <a:noFill/>
        </p:spPr>
        <p:txBody>
          <a:bodyPr wrap="square" lIns="0" rIns="0" tIns="0" bIns="0" anchor="t">
            <a:spAutoFit/>
          </a:bodyPr>
          <a:lstStyle/>
          <a:p>
            <a:pPr algn="l"/>
            <a:r>
              <a:rPr sz="1400" b="1" i="0">
                <a:solidFill>
                  <a:srgbClr val="FFFFFF"/>
                </a:solidFill>
                <a:latin typeface="Calibri"/>
              </a:rPr>
              <a:t>Setup</a:t>
            </a:r>
          </a:p>
        </p:txBody>
      </p:sp>
      <p:sp>
        <p:nvSpPr>
          <p:cNvPr id="11" name="TextBox 10"/>
          <p:cNvSpPr txBox="1"/>
          <p:nvPr/>
        </p:nvSpPr>
        <p:spPr>
          <a:xfrm>
            <a:off x="3483864" y="2724912"/>
            <a:ext cx="2121408" cy="256032"/>
          </a:xfrm>
          <a:prstGeom prst="rect">
            <a:avLst/>
          </a:prstGeom>
          <a:noFill/>
        </p:spPr>
        <p:txBody>
          <a:bodyPr wrap="square" lIns="0" rIns="0" tIns="0" bIns="0" anchor="t">
            <a:spAutoFit/>
          </a:bodyPr>
          <a:lstStyle/>
          <a:p>
            <a:pPr algn="l"/>
            <a:r>
              <a:rPr sz="1150" b="0" i="0">
                <a:solidFill>
                  <a:srgbClr val="8FA0B3"/>
                </a:solidFill>
                <a:latin typeface="Calibri"/>
              </a:rPr>
              <a:t>Everyone runs the checker</a:t>
            </a:r>
          </a:p>
        </p:txBody>
      </p:sp>
      <p:sp>
        <p:nvSpPr>
          <p:cNvPr id="12" name="Oval 11"/>
          <p:cNvSpPr/>
          <p:nvPr/>
        </p:nvSpPr>
        <p:spPr>
          <a:xfrm>
            <a:off x="5650992" y="2715768"/>
            <a:ext cx="237744" cy="237744"/>
          </a:xfrm>
          <a:prstGeom prst="ellipse">
            <a:avLst/>
          </a:prstGeom>
          <a:noFill/>
          <a:ln w="1905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5716371" y="2784713"/>
            <a:ext cx="26151" cy="99852"/>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797204" y="2784713"/>
            <a:ext cx="26151" cy="99852"/>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85800" y="3236976"/>
            <a:ext cx="5349240" cy="585216"/>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5256" y="3410712"/>
            <a:ext cx="658368" cy="256032"/>
          </a:xfrm>
          <a:prstGeom prst="rect">
            <a:avLst/>
          </a:prstGeom>
          <a:noFill/>
        </p:spPr>
        <p:txBody>
          <a:bodyPr wrap="square" lIns="0" rIns="0" tIns="0" bIns="0" anchor="t">
            <a:spAutoFit/>
          </a:bodyPr>
          <a:lstStyle/>
          <a:p>
            <a:pPr algn="l"/>
            <a:r>
              <a:rPr sz="1350" b="1" i="0">
                <a:solidFill>
                  <a:srgbClr val="13EF93"/>
                </a:solidFill>
                <a:latin typeface="Courier New"/>
              </a:rPr>
              <a:t>0:25</a:t>
            </a:r>
          </a:p>
        </p:txBody>
      </p:sp>
      <p:sp>
        <p:nvSpPr>
          <p:cNvPr id="17" name="TextBox 16"/>
          <p:cNvSpPr txBox="1"/>
          <p:nvPr/>
        </p:nvSpPr>
        <p:spPr>
          <a:xfrm>
            <a:off x="1618488" y="3392424"/>
            <a:ext cx="1874519" cy="274320"/>
          </a:xfrm>
          <a:prstGeom prst="rect">
            <a:avLst/>
          </a:prstGeom>
          <a:noFill/>
        </p:spPr>
        <p:txBody>
          <a:bodyPr wrap="square" lIns="0" rIns="0" tIns="0" bIns="0" anchor="t">
            <a:spAutoFit/>
          </a:bodyPr>
          <a:lstStyle/>
          <a:p>
            <a:pPr algn="l"/>
            <a:r>
              <a:rPr sz="1400" b="1" i="0">
                <a:solidFill>
                  <a:srgbClr val="FFFFFF"/>
                </a:solidFill>
                <a:latin typeface="Calibri"/>
              </a:rPr>
              <a:t>Connect</a:t>
            </a:r>
          </a:p>
        </p:txBody>
      </p:sp>
      <p:sp>
        <p:nvSpPr>
          <p:cNvPr id="18" name="TextBox 17"/>
          <p:cNvSpPr txBox="1"/>
          <p:nvPr/>
        </p:nvSpPr>
        <p:spPr>
          <a:xfrm>
            <a:off x="3483864" y="3419856"/>
            <a:ext cx="2121408" cy="256032"/>
          </a:xfrm>
          <a:prstGeom prst="rect">
            <a:avLst/>
          </a:prstGeom>
          <a:noFill/>
        </p:spPr>
        <p:txBody>
          <a:bodyPr wrap="square" lIns="0" rIns="0" tIns="0" bIns="0" anchor="t">
            <a:spAutoFit/>
          </a:bodyPr>
          <a:lstStyle/>
          <a:p>
            <a:pPr algn="l"/>
            <a:r>
              <a:rPr sz="1150" b="0" i="0">
                <a:solidFill>
                  <a:srgbClr val="8FA0B3"/>
                </a:solidFill>
                <a:latin typeface="Calibri"/>
              </a:rPr>
              <a:t>The settings handshake</a:t>
            </a:r>
          </a:p>
        </p:txBody>
      </p:sp>
      <p:sp>
        <p:nvSpPr>
          <p:cNvPr id="19" name="Oval 18"/>
          <p:cNvSpPr/>
          <p:nvPr/>
        </p:nvSpPr>
        <p:spPr>
          <a:xfrm>
            <a:off x="5650992" y="3410712"/>
            <a:ext cx="237744" cy="237744"/>
          </a:xfrm>
          <a:prstGeom prst="ellipse">
            <a:avLst/>
          </a:prstGeom>
          <a:noFill/>
          <a:ln w="1905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716371" y="3479657"/>
            <a:ext cx="26151" cy="99852"/>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5797204" y="3479657"/>
            <a:ext cx="26151" cy="99852"/>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85800" y="3931920"/>
            <a:ext cx="5349240" cy="585216"/>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05256" y="4105656"/>
            <a:ext cx="658368" cy="256032"/>
          </a:xfrm>
          <a:prstGeom prst="rect">
            <a:avLst/>
          </a:prstGeom>
          <a:noFill/>
        </p:spPr>
        <p:txBody>
          <a:bodyPr wrap="square" lIns="0" rIns="0" tIns="0" bIns="0" anchor="t">
            <a:spAutoFit/>
          </a:bodyPr>
          <a:lstStyle/>
          <a:p>
            <a:pPr algn="l"/>
            <a:r>
              <a:rPr sz="1350" b="1" i="0">
                <a:solidFill>
                  <a:srgbClr val="13EF93"/>
                </a:solidFill>
                <a:latin typeface="Courier New"/>
              </a:rPr>
              <a:t>0:45</a:t>
            </a:r>
          </a:p>
        </p:txBody>
      </p:sp>
      <p:sp>
        <p:nvSpPr>
          <p:cNvPr id="24" name="TextBox 23"/>
          <p:cNvSpPr txBox="1"/>
          <p:nvPr/>
        </p:nvSpPr>
        <p:spPr>
          <a:xfrm>
            <a:off x="1618488" y="4087368"/>
            <a:ext cx="1874519" cy="274320"/>
          </a:xfrm>
          <a:prstGeom prst="rect">
            <a:avLst/>
          </a:prstGeom>
          <a:noFill/>
        </p:spPr>
        <p:txBody>
          <a:bodyPr wrap="square" lIns="0" rIns="0" tIns="0" bIns="0" anchor="t">
            <a:spAutoFit/>
          </a:bodyPr>
          <a:lstStyle/>
          <a:p>
            <a:pPr algn="l"/>
            <a:r>
              <a:rPr sz="1400" b="1" i="0">
                <a:solidFill>
                  <a:srgbClr val="FFFFFF"/>
                </a:solidFill>
                <a:latin typeface="Calibri"/>
              </a:rPr>
              <a:t>Hear the agent</a:t>
            </a:r>
          </a:p>
        </p:txBody>
      </p:sp>
      <p:sp>
        <p:nvSpPr>
          <p:cNvPr id="25" name="TextBox 24"/>
          <p:cNvSpPr txBox="1"/>
          <p:nvPr/>
        </p:nvSpPr>
        <p:spPr>
          <a:xfrm>
            <a:off x="3483864" y="4114800"/>
            <a:ext cx="2121408" cy="256032"/>
          </a:xfrm>
          <a:prstGeom prst="rect">
            <a:avLst/>
          </a:prstGeom>
          <a:noFill/>
        </p:spPr>
        <p:txBody>
          <a:bodyPr wrap="square" lIns="0" rIns="0" tIns="0" bIns="0" anchor="t">
            <a:spAutoFit/>
          </a:bodyPr>
          <a:lstStyle/>
          <a:p>
            <a:pPr algn="l"/>
            <a:r>
              <a:rPr sz="1150" b="0" i="0">
                <a:solidFill>
                  <a:srgbClr val="8FA0B3"/>
                </a:solidFill>
                <a:latin typeface="Calibri"/>
              </a:rPr>
              <a:t>Playback — the greeting plays</a:t>
            </a:r>
          </a:p>
        </p:txBody>
      </p:sp>
      <p:sp>
        <p:nvSpPr>
          <p:cNvPr id="26" name="Oval 25"/>
          <p:cNvSpPr/>
          <p:nvPr/>
        </p:nvSpPr>
        <p:spPr>
          <a:xfrm>
            <a:off x="5650992" y="4105656"/>
            <a:ext cx="237744" cy="237744"/>
          </a:xfrm>
          <a:prstGeom prst="ellipse">
            <a:avLst/>
          </a:prstGeom>
          <a:noFill/>
          <a:ln w="1905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5716371" y="4174601"/>
            <a:ext cx="26151" cy="99852"/>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5797204" y="4174601"/>
            <a:ext cx="26151" cy="99852"/>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85800" y="4626864"/>
            <a:ext cx="5349240" cy="585216"/>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05256" y="4800600"/>
            <a:ext cx="658368" cy="256032"/>
          </a:xfrm>
          <a:prstGeom prst="rect">
            <a:avLst/>
          </a:prstGeom>
          <a:noFill/>
        </p:spPr>
        <p:txBody>
          <a:bodyPr wrap="square" lIns="0" rIns="0" tIns="0" bIns="0" anchor="t">
            <a:spAutoFit/>
          </a:bodyPr>
          <a:lstStyle/>
          <a:p>
            <a:pPr algn="l"/>
            <a:r>
              <a:rPr sz="1350" b="1" i="0">
                <a:solidFill>
                  <a:srgbClr val="13EF93"/>
                </a:solidFill>
                <a:latin typeface="Courier New"/>
              </a:rPr>
              <a:t>1:10</a:t>
            </a:r>
          </a:p>
        </p:txBody>
      </p:sp>
      <p:sp>
        <p:nvSpPr>
          <p:cNvPr id="31" name="TextBox 30"/>
          <p:cNvSpPr txBox="1"/>
          <p:nvPr/>
        </p:nvSpPr>
        <p:spPr>
          <a:xfrm>
            <a:off x="1618488" y="4782312"/>
            <a:ext cx="1874519" cy="274320"/>
          </a:xfrm>
          <a:prstGeom prst="rect">
            <a:avLst/>
          </a:prstGeom>
          <a:noFill/>
        </p:spPr>
        <p:txBody>
          <a:bodyPr wrap="square" lIns="0" rIns="0" tIns="0" bIns="0" anchor="t">
            <a:spAutoFit/>
          </a:bodyPr>
          <a:lstStyle/>
          <a:p>
            <a:pPr algn="l"/>
            <a:r>
              <a:rPr sz="1400" b="1" i="0">
                <a:solidFill>
                  <a:srgbClr val="FFFFFF"/>
                </a:solidFill>
                <a:latin typeface="Calibri"/>
              </a:rPr>
              <a:t>Talk to the agent</a:t>
            </a:r>
          </a:p>
        </p:txBody>
      </p:sp>
      <p:sp>
        <p:nvSpPr>
          <p:cNvPr id="32" name="TextBox 31"/>
          <p:cNvSpPr txBox="1"/>
          <p:nvPr/>
        </p:nvSpPr>
        <p:spPr>
          <a:xfrm>
            <a:off x="3483864" y="4809744"/>
            <a:ext cx="2121408" cy="256032"/>
          </a:xfrm>
          <a:prstGeom prst="rect">
            <a:avLst/>
          </a:prstGeom>
          <a:noFill/>
        </p:spPr>
        <p:txBody>
          <a:bodyPr wrap="square" lIns="0" rIns="0" tIns="0" bIns="0" anchor="t">
            <a:spAutoFit/>
          </a:bodyPr>
          <a:lstStyle/>
          <a:p>
            <a:pPr algn="l"/>
            <a:r>
              <a:rPr sz="1150" b="0" i="0">
                <a:solidFill>
                  <a:srgbClr val="8FA0B3"/>
                </a:solidFill>
                <a:latin typeface="Calibri"/>
              </a:rPr>
              <a:t>Microphone in, a conversation</a:t>
            </a:r>
          </a:p>
        </p:txBody>
      </p:sp>
      <p:sp>
        <p:nvSpPr>
          <p:cNvPr id="33" name="Oval 32"/>
          <p:cNvSpPr/>
          <p:nvPr/>
        </p:nvSpPr>
        <p:spPr>
          <a:xfrm>
            <a:off x="5650992" y="4800600"/>
            <a:ext cx="237744" cy="237744"/>
          </a:xfrm>
          <a:prstGeom prst="ellipse">
            <a:avLst/>
          </a:prstGeom>
          <a:noFill/>
          <a:ln w="1905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5716371" y="4869545"/>
            <a:ext cx="26151" cy="99852"/>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797204" y="4869545"/>
            <a:ext cx="26151" cy="99852"/>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685800" y="5321808"/>
            <a:ext cx="5349240" cy="585216"/>
          </a:xfrm>
          <a:prstGeom prst="roundRect">
            <a:avLst>
              <a:gd name="adj" fmla="val 6000"/>
            </a:avLst>
          </a:prstGeom>
          <a:solidFill>
            <a:srgbClr val="2E231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05256" y="5495544"/>
            <a:ext cx="658368" cy="256032"/>
          </a:xfrm>
          <a:prstGeom prst="rect">
            <a:avLst/>
          </a:prstGeom>
          <a:noFill/>
        </p:spPr>
        <p:txBody>
          <a:bodyPr wrap="square" lIns="0" rIns="0" tIns="0" bIns="0" anchor="t">
            <a:spAutoFit/>
          </a:bodyPr>
          <a:lstStyle/>
          <a:p>
            <a:pPr algn="l"/>
            <a:r>
              <a:rPr sz="1350" b="1" i="0">
                <a:solidFill>
                  <a:srgbClr val="FFB454"/>
                </a:solidFill>
                <a:latin typeface="Courier New"/>
              </a:rPr>
              <a:t>1:40</a:t>
            </a:r>
          </a:p>
        </p:txBody>
      </p:sp>
      <p:sp>
        <p:nvSpPr>
          <p:cNvPr id="38" name="TextBox 37"/>
          <p:cNvSpPr txBox="1"/>
          <p:nvPr/>
        </p:nvSpPr>
        <p:spPr>
          <a:xfrm>
            <a:off x="1618488" y="5477256"/>
            <a:ext cx="1874519" cy="274320"/>
          </a:xfrm>
          <a:prstGeom prst="rect">
            <a:avLst/>
          </a:prstGeom>
          <a:noFill/>
        </p:spPr>
        <p:txBody>
          <a:bodyPr wrap="square" lIns="0" rIns="0" tIns="0" bIns="0" anchor="t">
            <a:spAutoFit/>
          </a:bodyPr>
          <a:lstStyle/>
          <a:p>
            <a:pPr algn="l"/>
            <a:r>
              <a:rPr sz="1400" b="1" i="0">
                <a:solidFill>
                  <a:srgbClr val="FFFFFF"/>
                </a:solidFill>
                <a:latin typeface="Calibri"/>
              </a:rPr>
              <a:t>Break</a:t>
            </a:r>
          </a:p>
        </p:txBody>
      </p:sp>
      <p:sp>
        <p:nvSpPr>
          <p:cNvPr id="39" name="TextBox 38"/>
          <p:cNvSpPr txBox="1"/>
          <p:nvPr/>
        </p:nvSpPr>
        <p:spPr>
          <a:xfrm>
            <a:off x="3483864" y="5504688"/>
            <a:ext cx="2121408" cy="256032"/>
          </a:xfrm>
          <a:prstGeom prst="rect">
            <a:avLst/>
          </a:prstGeom>
          <a:noFill/>
        </p:spPr>
        <p:txBody>
          <a:bodyPr wrap="square" lIns="0" rIns="0" tIns="0" bIns="0" anchor="t">
            <a:spAutoFit/>
          </a:bodyPr>
          <a:lstStyle/>
          <a:p>
            <a:pPr algn="l"/>
            <a:r>
              <a:rPr sz="1150" b="0" i="0">
                <a:solidFill>
                  <a:srgbClr val="8FA0B3"/>
                </a:solidFill>
                <a:latin typeface="Calibri"/>
              </a:rPr>
              <a:t>Ten minutes</a:t>
            </a:r>
          </a:p>
        </p:txBody>
      </p:sp>
      <p:sp>
        <p:nvSpPr>
          <p:cNvPr id="40" name="Rounded Rectangle 39"/>
          <p:cNvSpPr/>
          <p:nvPr/>
        </p:nvSpPr>
        <p:spPr>
          <a:xfrm>
            <a:off x="6309360" y="1847088"/>
            <a:ext cx="5349240" cy="585216"/>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528816" y="2020824"/>
            <a:ext cx="658368" cy="256032"/>
          </a:xfrm>
          <a:prstGeom prst="rect">
            <a:avLst/>
          </a:prstGeom>
          <a:noFill/>
        </p:spPr>
        <p:txBody>
          <a:bodyPr wrap="square" lIns="0" rIns="0" tIns="0" bIns="0" anchor="t">
            <a:spAutoFit/>
          </a:bodyPr>
          <a:lstStyle/>
          <a:p>
            <a:pPr algn="l"/>
            <a:r>
              <a:rPr sz="1350" b="1" i="0">
                <a:solidFill>
                  <a:srgbClr val="13EF93"/>
                </a:solidFill>
                <a:latin typeface="Courier New"/>
              </a:rPr>
              <a:t>1:50</a:t>
            </a:r>
          </a:p>
        </p:txBody>
      </p:sp>
      <p:sp>
        <p:nvSpPr>
          <p:cNvPr id="42" name="TextBox 41"/>
          <p:cNvSpPr txBox="1"/>
          <p:nvPr/>
        </p:nvSpPr>
        <p:spPr>
          <a:xfrm>
            <a:off x="7242048" y="2002536"/>
            <a:ext cx="1874519" cy="274320"/>
          </a:xfrm>
          <a:prstGeom prst="rect">
            <a:avLst/>
          </a:prstGeom>
          <a:noFill/>
        </p:spPr>
        <p:txBody>
          <a:bodyPr wrap="square" lIns="0" rIns="0" tIns="0" bIns="0" anchor="t">
            <a:spAutoFit/>
          </a:bodyPr>
          <a:lstStyle/>
          <a:p>
            <a:pPr algn="l"/>
            <a:r>
              <a:rPr sz="1400" b="1" i="0">
                <a:solidFill>
                  <a:srgbClr val="FFFFFF"/>
                </a:solidFill>
                <a:latin typeface="Calibri"/>
              </a:rPr>
              <a:t>Barge-in</a:t>
            </a:r>
          </a:p>
        </p:txBody>
      </p:sp>
      <p:sp>
        <p:nvSpPr>
          <p:cNvPr id="43" name="TextBox 42"/>
          <p:cNvSpPr txBox="1"/>
          <p:nvPr/>
        </p:nvSpPr>
        <p:spPr>
          <a:xfrm>
            <a:off x="9107424" y="2029968"/>
            <a:ext cx="2121408" cy="256032"/>
          </a:xfrm>
          <a:prstGeom prst="rect">
            <a:avLst/>
          </a:prstGeom>
          <a:noFill/>
        </p:spPr>
        <p:txBody>
          <a:bodyPr wrap="square" lIns="0" rIns="0" tIns="0" bIns="0" anchor="t">
            <a:spAutoFit/>
          </a:bodyPr>
          <a:lstStyle/>
          <a:p>
            <a:pPr algn="l"/>
            <a:r>
              <a:rPr sz="1150" b="0" i="0">
                <a:solidFill>
                  <a:srgbClr val="8FA0B3"/>
                </a:solidFill>
                <a:latin typeface="Calibri"/>
              </a:rPr>
              <a:t>Interrupting it mid-sentence</a:t>
            </a:r>
          </a:p>
        </p:txBody>
      </p:sp>
      <p:sp>
        <p:nvSpPr>
          <p:cNvPr id="44" name="Oval 43"/>
          <p:cNvSpPr/>
          <p:nvPr/>
        </p:nvSpPr>
        <p:spPr>
          <a:xfrm>
            <a:off x="11274552" y="2020824"/>
            <a:ext cx="237744" cy="237744"/>
          </a:xfrm>
          <a:prstGeom prst="ellipse">
            <a:avLst/>
          </a:prstGeom>
          <a:noFill/>
          <a:ln w="1905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11339931" y="2089769"/>
            <a:ext cx="26151" cy="99852"/>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11420764" y="2089769"/>
            <a:ext cx="26151" cy="99852"/>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ounded Rectangle 46"/>
          <p:cNvSpPr/>
          <p:nvPr/>
        </p:nvSpPr>
        <p:spPr>
          <a:xfrm>
            <a:off x="6309360" y="2542032"/>
            <a:ext cx="5349240" cy="585216"/>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528816" y="2715768"/>
            <a:ext cx="658368" cy="256032"/>
          </a:xfrm>
          <a:prstGeom prst="rect">
            <a:avLst/>
          </a:prstGeom>
          <a:noFill/>
        </p:spPr>
        <p:txBody>
          <a:bodyPr wrap="square" lIns="0" rIns="0" tIns="0" bIns="0" anchor="t">
            <a:spAutoFit/>
          </a:bodyPr>
          <a:lstStyle/>
          <a:p>
            <a:pPr algn="l"/>
            <a:r>
              <a:rPr sz="1350" b="1" i="0">
                <a:solidFill>
                  <a:srgbClr val="13EF93"/>
                </a:solidFill>
                <a:latin typeface="Courier New"/>
              </a:rPr>
              <a:t>2:15</a:t>
            </a:r>
          </a:p>
        </p:txBody>
      </p:sp>
      <p:sp>
        <p:nvSpPr>
          <p:cNvPr id="49" name="TextBox 48"/>
          <p:cNvSpPr txBox="1"/>
          <p:nvPr/>
        </p:nvSpPr>
        <p:spPr>
          <a:xfrm>
            <a:off x="7242048" y="2697480"/>
            <a:ext cx="1874519" cy="274320"/>
          </a:xfrm>
          <a:prstGeom prst="rect">
            <a:avLst/>
          </a:prstGeom>
          <a:noFill/>
        </p:spPr>
        <p:txBody>
          <a:bodyPr wrap="square" lIns="0" rIns="0" tIns="0" bIns="0" anchor="t">
            <a:spAutoFit/>
          </a:bodyPr>
          <a:lstStyle/>
          <a:p>
            <a:pPr algn="l"/>
            <a:r>
              <a:rPr sz="1400" b="1" i="0">
                <a:solidFill>
                  <a:srgbClr val="FFFFFF"/>
                </a:solidFill>
                <a:latin typeface="Calibri"/>
              </a:rPr>
              <a:t>Make it yours</a:t>
            </a:r>
          </a:p>
        </p:txBody>
      </p:sp>
      <p:sp>
        <p:nvSpPr>
          <p:cNvPr id="50" name="TextBox 49"/>
          <p:cNvSpPr txBox="1"/>
          <p:nvPr/>
        </p:nvSpPr>
        <p:spPr>
          <a:xfrm>
            <a:off x="9107424" y="2724912"/>
            <a:ext cx="2121408" cy="256032"/>
          </a:xfrm>
          <a:prstGeom prst="rect">
            <a:avLst/>
          </a:prstGeom>
          <a:noFill/>
        </p:spPr>
        <p:txBody>
          <a:bodyPr wrap="square" lIns="0" rIns="0" tIns="0" bIns="0" anchor="t">
            <a:spAutoFit/>
          </a:bodyPr>
          <a:lstStyle/>
          <a:p>
            <a:pPr algn="l"/>
            <a:r>
              <a:rPr sz="1150" b="0" i="0">
                <a:solidFill>
                  <a:srgbClr val="8FA0B3"/>
                </a:solidFill>
                <a:latin typeface="Calibri"/>
              </a:rPr>
              <a:t>Prompt, persona, voice, model</a:t>
            </a:r>
          </a:p>
        </p:txBody>
      </p:sp>
      <p:sp>
        <p:nvSpPr>
          <p:cNvPr id="51" name="Oval 50"/>
          <p:cNvSpPr/>
          <p:nvPr/>
        </p:nvSpPr>
        <p:spPr>
          <a:xfrm>
            <a:off x="11274552" y="2715768"/>
            <a:ext cx="237744" cy="237744"/>
          </a:xfrm>
          <a:prstGeom prst="ellipse">
            <a:avLst/>
          </a:prstGeom>
          <a:noFill/>
          <a:ln w="1905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11339931" y="2784713"/>
            <a:ext cx="26151" cy="99852"/>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11420764" y="2784713"/>
            <a:ext cx="26151" cy="99852"/>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Rounded Rectangle 53"/>
          <p:cNvSpPr/>
          <p:nvPr/>
        </p:nvSpPr>
        <p:spPr>
          <a:xfrm>
            <a:off x="6309360" y="3236976"/>
            <a:ext cx="5349240" cy="585216"/>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528816" y="3410712"/>
            <a:ext cx="658368" cy="256032"/>
          </a:xfrm>
          <a:prstGeom prst="rect">
            <a:avLst/>
          </a:prstGeom>
          <a:noFill/>
        </p:spPr>
        <p:txBody>
          <a:bodyPr wrap="square" lIns="0" rIns="0" tIns="0" bIns="0" anchor="t">
            <a:spAutoFit/>
          </a:bodyPr>
          <a:lstStyle/>
          <a:p>
            <a:pPr algn="l"/>
            <a:r>
              <a:rPr sz="1350" b="1" i="0">
                <a:solidFill>
                  <a:srgbClr val="13EF93"/>
                </a:solidFill>
                <a:latin typeface="Courier New"/>
              </a:rPr>
              <a:t>2:35</a:t>
            </a:r>
          </a:p>
        </p:txBody>
      </p:sp>
      <p:sp>
        <p:nvSpPr>
          <p:cNvPr id="56" name="TextBox 55"/>
          <p:cNvSpPr txBox="1"/>
          <p:nvPr/>
        </p:nvSpPr>
        <p:spPr>
          <a:xfrm>
            <a:off x="7242048" y="3392424"/>
            <a:ext cx="1874519" cy="274320"/>
          </a:xfrm>
          <a:prstGeom prst="rect">
            <a:avLst/>
          </a:prstGeom>
          <a:noFill/>
        </p:spPr>
        <p:txBody>
          <a:bodyPr wrap="square" lIns="0" rIns="0" tIns="0" bIns="0" anchor="t">
            <a:spAutoFit/>
          </a:bodyPr>
          <a:lstStyle/>
          <a:p>
            <a:pPr algn="l"/>
            <a:r>
              <a:rPr sz="1400" b="1" i="0">
                <a:solidFill>
                  <a:srgbClr val="FFFFFF"/>
                </a:solidFill>
                <a:latin typeface="Calibri"/>
              </a:rPr>
              <a:t>Function calling</a:t>
            </a:r>
          </a:p>
        </p:txBody>
      </p:sp>
      <p:sp>
        <p:nvSpPr>
          <p:cNvPr id="57" name="TextBox 56"/>
          <p:cNvSpPr txBox="1"/>
          <p:nvPr/>
        </p:nvSpPr>
        <p:spPr>
          <a:xfrm>
            <a:off x="9107424" y="3419856"/>
            <a:ext cx="2121408" cy="256032"/>
          </a:xfrm>
          <a:prstGeom prst="rect">
            <a:avLst/>
          </a:prstGeom>
          <a:noFill/>
        </p:spPr>
        <p:txBody>
          <a:bodyPr wrap="square" lIns="0" rIns="0" tIns="0" bIns="0" anchor="t">
            <a:spAutoFit/>
          </a:bodyPr>
          <a:lstStyle/>
          <a:p>
            <a:pPr algn="l"/>
            <a:r>
              <a:rPr sz="1150" b="0" i="0">
                <a:solidFill>
                  <a:srgbClr val="8FA0B3"/>
                </a:solidFill>
                <a:latin typeface="Calibri"/>
              </a:rPr>
              <a:t>The agent runs your Python</a:t>
            </a:r>
          </a:p>
        </p:txBody>
      </p:sp>
      <p:sp>
        <p:nvSpPr>
          <p:cNvPr id="58" name="Oval 57"/>
          <p:cNvSpPr/>
          <p:nvPr/>
        </p:nvSpPr>
        <p:spPr>
          <a:xfrm>
            <a:off x="11274552" y="3410712"/>
            <a:ext cx="237744" cy="237744"/>
          </a:xfrm>
          <a:prstGeom prst="ellipse">
            <a:avLst/>
          </a:prstGeom>
          <a:noFill/>
          <a:ln w="1905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Rectangle 58"/>
          <p:cNvSpPr/>
          <p:nvPr/>
        </p:nvSpPr>
        <p:spPr>
          <a:xfrm>
            <a:off x="11339931" y="3479657"/>
            <a:ext cx="26151" cy="99852"/>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Rectangle 59"/>
          <p:cNvSpPr/>
          <p:nvPr/>
        </p:nvSpPr>
        <p:spPr>
          <a:xfrm>
            <a:off x="11420764" y="3479657"/>
            <a:ext cx="26151" cy="99852"/>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Rounded Rectangle 60"/>
          <p:cNvSpPr/>
          <p:nvPr/>
        </p:nvSpPr>
        <p:spPr>
          <a:xfrm>
            <a:off x="6309360" y="3931920"/>
            <a:ext cx="5349240" cy="585216"/>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6528816" y="4105656"/>
            <a:ext cx="658368" cy="256032"/>
          </a:xfrm>
          <a:prstGeom prst="rect">
            <a:avLst/>
          </a:prstGeom>
          <a:noFill/>
        </p:spPr>
        <p:txBody>
          <a:bodyPr wrap="square" lIns="0" rIns="0" tIns="0" bIns="0" anchor="t">
            <a:spAutoFit/>
          </a:bodyPr>
          <a:lstStyle/>
          <a:p>
            <a:pPr algn="l"/>
            <a:r>
              <a:rPr sz="1350" b="1" i="0">
                <a:solidFill>
                  <a:srgbClr val="13EF93"/>
                </a:solidFill>
                <a:latin typeface="Courier New"/>
              </a:rPr>
              <a:t>3:05</a:t>
            </a:r>
          </a:p>
        </p:txBody>
      </p:sp>
      <p:sp>
        <p:nvSpPr>
          <p:cNvPr id="63" name="TextBox 62"/>
          <p:cNvSpPr txBox="1"/>
          <p:nvPr/>
        </p:nvSpPr>
        <p:spPr>
          <a:xfrm>
            <a:off x="7242048" y="4087368"/>
            <a:ext cx="1874519" cy="274320"/>
          </a:xfrm>
          <a:prstGeom prst="rect">
            <a:avLst/>
          </a:prstGeom>
          <a:noFill/>
        </p:spPr>
        <p:txBody>
          <a:bodyPr wrap="square" lIns="0" rIns="0" tIns="0" bIns="0" anchor="t">
            <a:spAutoFit/>
          </a:bodyPr>
          <a:lstStyle/>
          <a:p>
            <a:pPr algn="l"/>
            <a:r>
              <a:rPr sz="1400" b="1" i="0">
                <a:solidFill>
                  <a:srgbClr val="FFFFFF"/>
                </a:solidFill>
                <a:latin typeface="Calibri"/>
              </a:rPr>
              <a:t>Optimization</a:t>
            </a:r>
          </a:p>
        </p:txBody>
      </p:sp>
      <p:sp>
        <p:nvSpPr>
          <p:cNvPr id="64" name="TextBox 63"/>
          <p:cNvSpPr txBox="1"/>
          <p:nvPr/>
        </p:nvSpPr>
        <p:spPr>
          <a:xfrm>
            <a:off x="9107424" y="4114800"/>
            <a:ext cx="2121408" cy="256032"/>
          </a:xfrm>
          <a:prstGeom prst="rect">
            <a:avLst/>
          </a:prstGeom>
          <a:noFill/>
        </p:spPr>
        <p:txBody>
          <a:bodyPr wrap="square" lIns="0" rIns="0" tIns="0" bIns="0" anchor="t">
            <a:spAutoFit/>
          </a:bodyPr>
          <a:lstStyle/>
          <a:p>
            <a:pPr algn="l"/>
            <a:r>
              <a:rPr sz="1150" b="0" i="0">
                <a:solidFill>
                  <a:srgbClr val="8FA0B3"/>
                </a:solidFill>
                <a:latin typeface="Calibri"/>
              </a:rPr>
              <a:t>End-of-turn thresholds and latency</a:t>
            </a:r>
          </a:p>
        </p:txBody>
      </p:sp>
      <p:sp>
        <p:nvSpPr>
          <p:cNvPr id="65" name="Rounded Rectangle 64"/>
          <p:cNvSpPr/>
          <p:nvPr/>
        </p:nvSpPr>
        <p:spPr>
          <a:xfrm>
            <a:off x="6309360" y="4626864"/>
            <a:ext cx="5349240" cy="585216"/>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6528816" y="4800600"/>
            <a:ext cx="658368" cy="256032"/>
          </a:xfrm>
          <a:prstGeom prst="rect">
            <a:avLst/>
          </a:prstGeom>
          <a:noFill/>
        </p:spPr>
        <p:txBody>
          <a:bodyPr wrap="square" lIns="0" rIns="0" tIns="0" bIns="0" anchor="t">
            <a:spAutoFit/>
          </a:bodyPr>
          <a:lstStyle/>
          <a:p>
            <a:pPr algn="l"/>
            <a:r>
              <a:rPr sz="1350" b="1" i="0">
                <a:solidFill>
                  <a:srgbClr val="13EF93"/>
                </a:solidFill>
                <a:latin typeface="Courier New"/>
              </a:rPr>
              <a:t>3:20</a:t>
            </a:r>
          </a:p>
        </p:txBody>
      </p:sp>
      <p:sp>
        <p:nvSpPr>
          <p:cNvPr id="67" name="TextBox 66"/>
          <p:cNvSpPr txBox="1"/>
          <p:nvPr/>
        </p:nvSpPr>
        <p:spPr>
          <a:xfrm>
            <a:off x="7242048" y="4782312"/>
            <a:ext cx="1874519" cy="274320"/>
          </a:xfrm>
          <a:prstGeom prst="rect">
            <a:avLst/>
          </a:prstGeom>
          <a:noFill/>
        </p:spPr>
        <p:txBody>
          <a:bodyPr wrap="square" lIns="0" rIns="0" tIns="0" bIns="0" anchor="t">
            <a:spAutoFit/>
          </a:bodyPr>
          <a:lstStyle/>
          <a:p>
            <a:pPr algn="l"/>
            <a:r>
              <a:rPr sz="1400" b="1" i="0">
                <a:solidFill>
                  <a:srgbClr val="FFFFFF"/>
                </a:solidFill>
                <a:latin typeface="Calibri"/>
              </a:rPr>
              <a:t>Wrap</a:t>
            </a:r>
          </a:p>
        </p:txBody>
      </p:sp>
      <p:sp>
        <p:nvSpPr>
          <p:cNvPr id="68" name="TextBox 67"/>
          <p:cNvSpPr txBox="1"/>
          <p:nvPr/>
        </p:nvSpPr>
        <p:spPr>
          <a:xfrm>
            <a:off x="9107424" y="4809744"/>
            <a:ext cx="2121408" cy="256032"/>
          </a:xfrm>
          <a:prstGeom prst="rect">
            <a:avLst/>
          </a:prstGeom>
          <a:noFill/>
        </p:spPr>
        <p:txBody>
          <a:bodyPr wrap="square" lIns="0" rIns="0" tIns="0" bIns="0" anchor="t">
            <a:spAutoFit/>
          </a:bodyPr>
          <a:lstStyle/>
          <a:p>
            <a:pPr algn="l"/>
            <a:r>
              <a:rPr sz="1150" b="0" i="0">
                <a:solidFill>
                  <a:srgbClr val="8FA0B3"/>
                </a:solidFill>
                <a:latin typeface="Calibri"/>
              </a:rPr>
              <a:t>Where to go next, and questions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4070A"/>
        </a:solidFill>
        <a:effectLst/>
      </p:bgPr>
    </p:bg>
    <p:spTree>
      <p:nvGrpSpPr>
        <p:cNvPr id="1" name=""/>
        <p:cNvGrpSpPr/>
        <p:nvPr/>
      </p:nvGrpSpPr>
      <p:grpSpPr/>
      <p:sp>
        <p:nvSpPr>
          <p:cNvPr id="2" name="TextBox 1"/>
          <p:cNvSpPr txBox="1"/>
          <p:nvPr/>
        </p:nvSpPr>
        <p:spPr>
          <a:xfrm>
            <a:off x="7985455" y="502920"/>
            <a:ext cx="3749039" cy="3108960"/>
          </a:xfrm>
          <a:prstGeom prst="rect">
            <a:avLst/>
          </a:prstGeom>
          <a:noFill/>
        </p:spPr>
        <p:txBody>
          <a:bodyPr wrap="square" lIns="0" rIns="0" tIns="0" bIns="0" anchor="t">
            <a:spAutoFit/>
          </a:bodyPr>
          <a:lstStyle/>
          <a:p>
            <a:pPr algn="r"/>
            <a:r>
              <a:rPr sz="22000" b="1" i="0">
                <a:solidFill>
                  <a:srgbClr val="0C1A15"/>
                </a:solidFill>
                <a:latin typeface="Calibri"/>
              </a:rPr>
              <a:t>01</a:t>
            </a:r>
          </a:p>
        </p:txBody>
      </p:sp>
      <p:sp>
        <p:nvSpPr>
          <p:cNvPr id="3" name="Rectangle 2"/>
          <p:cNvSpPr/>
          <p:nvPr/>
        </p:nvSpPr>
        <p:spPr>
          <a:xfrm>
            <a:off x="685800" y="2798064"/>
            <a:ext cx="822960" cy="45720"/>
          </a:xfrm>
          <a:prstGeom prst="rect">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685800" y="2148840"/>
            <a:ext cx="7315200" cy="365760"/>
          </a:xfrm>
          <a:prstGeom prst="rect">
            <a:avLst/>
          </a:prstGeom>
          <a:noFill/>
        </p:spPr>
        <p:txBody>
          <a:bodyPr wrap="square" lIns="0" rIns="0" tIns="0" bIns="0" anchor="t">
            <a:spAutoFit/>
          </a:bodyPr>
          <a:lstStyle/>
          <a:p>
            <a:pPr algn="l"/>
            <a:r>
              <a:rPr sz="1250" b="1" i="0">
                <a:solidFill>
                  <a:srgbClr val="13EF93"/>
                </a:solidFill>
                <a:latin typeface="Calibri"/>
              </a:rPr>
              <a:t>SECTION 01</a:t>
            </a:r>
          </a:p>
        </p:txBody>
      </p:sp>
      <p:sp>
        <p:nvSpPr>
          <p:cNvPr id="5" name="TextBox 4"/>
          <p:cNvSpPr txBox="1"/>
          <p:nvPr/>
        </p:nvSpPr>
        <p:spPr>
          <a:xfrm>
            <a:off x="685800" y="3035808"/>
            <a:ext cx="8595360" cy="914400"/>
          </a:xfrm>
          <a:prstGeom prst="rect">
            <a:avLst/>
          </a:prstGeom>
          <a:noFill/>
        </p:spPr>
        <p:txBody>
          <a:bodyPr wrap="square" lIns="0" rIns="0" tIns="0" bIns="0" anchor="t">
            <a:spAutoFit/>
          </a:bodyPr>
          <a:lstStyle/>
          <a:p>
            <a:pPr algn="l"/>
            <a:r>
              <a:rPr sz="5200" b="1" i="0">
                <a:solidFill>
                  <a:srgbClr val="FFFFFF"/>
                </a:solidFill>
                <a:latin typeface="Calibri"/>
              </a:rPr>
              <a:t>Foundations</a:t>
            </a:r>
          </a:p>
        </p:txBody>
      </p:sp>
      <p:sp>
        <p:nvSpPr>
          <p:cNvPr id="6" name="TextBox 5"/>
          <p:cNvSpPr txBox="1"/>
          <p:nvPr/>
        </p:nvSpPr>
        <p:spPr>
          <a:xfrm>
            <a:off x="685800" y="4096512"/>
            <a:ext cx="7863840" cy="822960"/>
          </a:xfrm>
          <a:prstGeom prst="rect">
            <a:avLst/>
          </a:prstGeom>
          <a:noFill/>
        </p:spPr>
        <p:txBody>
          <a:bodyPr wrap="square" lIns="0" rIns="0" tIns="0" bIns="0" anchor="t">
            <a:spAutoFit/>
          </a:bodyPr>
          <a:lstStyle/>
          <a:p>
            <a:pPr algn="l">
              <a:lnSpc>
                <a:spcPct val="120000"/>
              </a:lnSpc>
            </a:pPr>
            <a:r>
              <a:rPr sz="1700" b="0" i="0">
                <a:solidFill>
                  <a:srgbClr val="8FA0B3"/>
                </a:solidFill>
                <a:latin typeface="Calibri"/>
              </a:rPr>
              <a:t>The three models, what the API orchestrates, and the one thing Flux changes about where turn-taking lives.</a:t>
            </a:r>
          </a:p>
        </p:txBody>
      </p:sp>
      <p:sp>
        <p:nvSpPr>
          <p:cNvPr id="7" name="TextBox 6"/>
          <p:cNvSpPr txBox="1"/>
          <p:nvPr/>
        </p:nvSpPr>
        <p:spPr>
          <a:xfrm>
            <a:off x="685800" y="5138928"/>
            <a:ext cx="7863840" cy="365760"/>
          </a:xfrm>
          <a:prstGeom prst="rect">
            <a:avLst/>
          </a:prstGeom>
          <a:noFill/>
        </p:spPr>
        <p:txBody>
          <a:bodyPr wrap="square" lIns="0" rIns="0" tIns="0" bIns="0" anchor="t">
            <a:spAutoFit/>
          </a:bodyPr>
          <a:lstStyle/>
          <a:p>
            <a:pPr algn="l"/>
            <a:r>
              <a:rPr sz="1300" b="0" i="0">
                <a:solidFill>
                  <a:srgbClr val="5D6E80"/>
                </a:solidFill>
                <a:latin typeface="Courier New"/>
              </a:rPr>
              <a:t>Step 0  ·  0:00 – 0:10  ·  the only block where you talk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85800" y="566928"/>
            <a:ext cx="10820095" cy="658368"/>
          </a:xfrm>
          <a:prstGeom prst="rect">
            <a:avLst/>
          </a:prstGeom>
          <a:noFill/>
        </p:spPr>
        <p:txBody>
          <a:bodyPr wrap="square" lIns="0" rIns="0" tIns="0" bIns="0" anchor="t">
            <a:spAutoFit/>
          </a:bodyPr>
          <a:lstStyle/>
          <a:p>
            <a:pPr algn="l"/>
            <a:r>
              <a:rPr sz="3600" b="1" i="0">
                <a:solidFill>
                  <a:srgbClr val="FFFFFF"/>
                </a:solidFill>
                <a:latin typeface="Calibri"/>
              </a:rPr>
              <a:t>A voice agent is three models in a loop</a:t>
            </a:r>
          </a:p>
        </p:txBody>
      </p:sp>
      <p:sp>
        <p:nvSpPr>
          <p:cNvPr id="3" name="TextBox 2"/>
          <p:cNvSpPr txBox="1"/>
          <p:nvPr/>
        </p:nvSpPr>
        <p:spPr>
          <a:xfrm>
            <a:off x="685800" y="1280160"/>
            <a:ext cx="10820095" cy="640080"/>
          </a:xfrm>
          <a:prstGeom prst="rect">
            <a:avLst/>
          </a:prstGeom>
          <a:noFill/>
        </p:spPr>
        <p:txBody>
          <a:bodyPr wrap="square" lIns="0" rIns="0" tIns="0" bIns="0" anchor="t">
            <a:spAutoFit/>
          </a:bodyPr>
          <a:lstStyle/>
          <a:p>
            <a:pPr algn="l">
              <a:lnSpc>
                <a:spcPct val="115000"/>
              </a:lnSpc>
            </a:pPr>
            <a:r>
              <a:rPr sz="1600" b="0" i="0">
                <a:solidFill>
                  <a:srgbClr val="8FA0B3"/>
                </a:solidFill>
                <a:latin typeface="Calibri"/>
              </a:rPr>
              <a:t>Audio comes in, audio goes out, and a model in the middle decides what to say.</a:t>
            </a:r>
          </a:p>
        </p:txBody>
      </p:sp>
      <p:sp>
        <p:nvSpPr>
          <p:cNvPr id="4" name="Rounded Rectangle 3"/>
          <p:cNvSpPr/>
          <p:nvPr/>
        </p:nvSpPr>
        <p:spPr>
          <a:xfrm>
            <a:off x="2331720" y="2212848"/>
            <a:ext cx="2615184" cy="1389888"/>
          </a:xfrm>
          <a:prstGeom prst="roundRect">
            <a:avLst>
              <a:gd name="adj" fmla="val 6000"/>
            </a:avLst>
          </a:prstGeom>
          <a:solidFill>
            <a:srgbClr val="15202B"/>
          </a:solidFill>
          <a:ln w="12700">
            <a:solidFill>
              <a:srgbClr val="1C2A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2569463" y="2432304"/>
            <a:ext cx="2157984" cy="310896"/>
          </a:xfrm>
          <a:prstGeom prst="rect">
            <a:avLst/>
          </a:prstGeom>
          <a:noFill/>
        </p:spPr>
        <p:txBody>
          <a:bodyPr wrap="square" lIns="0" rIns="0" tIns="0" bIns="0" anchor="t">
            <a:spAutoFit/>
          </a:bodyPr>
          <a:lstStyle/>
          <a:p>
            <a:pPr algn="l"/>
            <a:r>
              <a:rPr sz="1500" b="1" i="0">
                <a:solidFill>
                  <a:srgbClr val="FFFFFF"/>
                </a:solidFill>
                <a:latin typeface="Calibri"/>
              </a:rPr>
              <a:t>Speech to text</a:t>
            </a:r>
          </a:p>
        </p:txBody>
      </p:sp>
      <p:sp>
        <p:nvSpPr>
          <p:cNvPr id="6" name="TextBox 5"/>
          <p:cNvSpPr txBox="1"/>
          <p:nvPr/>
        </p:nvSpPr>
        <p:spPr>
          <a:xfrm>
            <a:off x="2569463" y="2779776"/>
            <a:ext cx="2157984" cy="310896"/>
          </a:xfrm>
          <a:prstGeom prst="rect">
            <a:avLst/>
          </a:prstGeom>
          <a:noFill/>
        </p:spPr>
        <p:txBody>
          <a:bodyPr wrap="square" lIns="0" rIns="0" tIns="0" bIns="0" anchor="t">
            <a:spAutoFit/>
          </a:bodyPr>
          <a:lstStyle/>
          <a:p>
            <a:pPr algn="l"/>
            <a:r>
              <a:rPr sz="1400" b="0" i="0">
                <a:solidFill>
                  <a:srgbClr val="13EF93"/>
                </a:solidFill>
                <a:latin typeface="Courier New"/>
              </a:rPr>
              <a:t>Flux</a:t>
            </a:r>
          </a:p>
        </p:txBody>
      </p:sp>
      <p:sp>
        <p:nvSpPr>
          <p:cNvPr id="7" name="TextBox 6"/>
          <p:cNvSpPr txBox="1"/>
          <p:nvPr/>
        </p:nvSpPr>
        <p:spPr>
          <a:xfrm>
            <a:off x="2569463" y="3145536"/>
            <a:ext cx="2157984" cy="274320"/>
          </a:xfrm>
          <a:prstGeom prst="rect">
            <a:avLst/>
          </a:prstGeom>
          <a:noFill/>
        </p:spPr>
        <p:txBody>
          <a:bodyPr wrap="square" lIns="0" rIns="0" tIns="0" bIns="0" anchor="t">
            <a:spAutoFit/>
          </a:bodyPr>
          <a:lstStyle/>
          <a:p>
            <a:pPr algn="l"/>
            <a:r>
              <a:rPr sz="1200" b="0" i="0">
                <a:solidFill>
                  <a:srgbClr val="8FA0B3"/>
                </a:solidFill>
                <a:latin typeface="Calibri"/>
              </a:rPr>
              <a:t>hears you</a:t>
            </a:r>
          </a:p>
        </p:txBody>
      </p:sp>
      <p:sp>
        <p:nvSpPr>
          <p:cNvPr id="8" name="Chevron 7"/>
          <p:cNvSpPr/>
          <p:nvPr/>
        </p:nvSpPr>
        <p:spPr>
          <a:xfrm>
            <a:off x="5093208" y="2761488"/>
            <a:ext cx="384048" cy="310896"/>
          </a:xfrm>
          <a:prstGeom prst="chevron">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605272" y="2212848"/>
            <a:ext cx="2615184" cy="1389888"/>
          </a:xfrm>
          <a:prstGeom prst="roundRect">
            <a:avLst>
              <a:gd name="adj" fmla="val 6000"/>
            </a:avLst>
          </a:prstGeom>
          <a:solidFill>
            <a:srgbClr val="15202B"/>
          </a:solidFill>
          <a:ln w="12700">
            <a:solidFill>
              <a:srgbClr val="1C2A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843016" y="2432304"/>
            <a:ext cx="2157984" cy="310896"/>
          </a:xfrm>
          <a:prstGeom prst="rect">
            <a:avLst/>
          </a:prstGeom>
          <a:noFill/>
        </p:spPr>
        <p:txBody>
          <a:bodyPr wrap="square" lIns="0" rIns="0" tIns="0" bIns="0" anchor="t">
            <a:spAutoFit/>
          </a:bodyPr>
          <a:lstStyle/>
          <a:p>
            <a:pPr algn="l"/>
            <a:r>
              <a:rPr sz="1500" b="1" i="0">
                <a:solidFill>
                  <a:srgbClr val="FFFFFF"/>
                </a:solidFill>
                <a:latin typeface="Calibri"/>
              </a:rPr>
              <a:t>LLM</a:t>
            </a:r>
          </a:p>
        </p:txBody>
      </p:sp>
      <p:sp>
        <p:nvSpPr>
          <p:cNvPr id="11" name="TextBox 10"/>
          <p:cNvSpPr txBox="1"/>
          <p:nvPr/>
        </p:nvSpPr>
        <p:spPr>
          <a:xfrm>
            <a:off x="5843016" y="2779776"/>
            <a:ext cx="2157984" cy="310896"/>
          </a:xfrm>
          <a:prstGeom prst="rect">
            <a:avLst/>
          </a:prstGeom>
          <a:noFill/>
        </p:spPr>
        <p:txBody>
          <a:bodyPr wrap="square" lIns="0" rIns="0" tIns="0" bIns="0" anchor="t">
            <a:spAutoFit/>
          </a:bodyPr>
          <a:lstStyle/>
          <a:p>
            <a:pPr algn="l"/>
            <a:r>
              <a:rPr sz="1400" b="0" i="0">
                <a:solidFill>
                  <a:srgbClr val="FFFFFF"/>
                </a:solidFill>
                <a:latin typeface="Courier New"/>
              </a:rPr>
              <a:t>gpt-4o-mini</a:t>
            </a:r>
          </a:p>
        </p:txBody>
      </p:sp>
      <p:sp>
        <p:nvSpPr>
          <p:cNvPr id="12" name="TextBox 11"/>
          <p:cNvSpPr txBox="1"/>
          <p:nvPr/>
        </p:nvSpPr>
        <p:spPr>
          <a:xfrm>
            <a:off x="5843016" y="3145536"/>
            <a:ext cx="2157984" cy="274320"/>
          </a:xfrm>
          <a:prstGeom prst="rect">
            <a:avLst/>
          </a:prstGeom>
          <a:noFill/>
        </p:spPr>
        <p:txBody>
          <a:bodyPr wrap="square" lIns="0" rIns="0" tIns="0" bIns="0" anchor="t">
            <a:spAutoFit/>
          </a:bodyPr>
          <a:lstStyle/>
          <a:p>
            <a:pPr algn="l"/>
            <a:r>
              <a:rPr sz="1200" b="0" i="0">
                <a:solidFill>
                  <a:srgbClr val="8FA0B3"/>
                </a:solidFill>
                <a:latin typeface="Calibri"/>
              </a:rPr>
              <a:t>decides what to say</a:t>
            </a:r>
          </a:p>
        </p:txBody>
      </p:sp>
      <p:sp>
        <p:nvSpPr>
          <p:cNvPr id="13" name="Chevron 12"/>
          <p:cNvSpPr/>
          <p:nvPr/>
        </p:nvSpPr>
        <p:spPr>
          <a:xfrm>
            <a:off x="8366760" y="2761488"/>
            <a:ext cx="384048" cy="310896"/>
          </a:xfrm>
          <a:prstGeom prst="chevron">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8878824" y="2212848"/>
            <a:ext cx="2615184" cy="1389888"/>
          </a:xfrm>
          <a:prstGeom prst="roundRect">
            <a:avLst>
              <a:gd name="adj" fmla="val 6000"/>
            </a:avLst>
          </a:prstGeom>
          <a:solidFill>
            <a:srgbClr val="15202B"/>
          </a:solidFill>
          <a:ln w="12700">
            <a:solidFill>
              <a:srgbClr val="1C2A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116568" y="2432304"/>
            <a:ext cx="2157984" cy="310896"/>
          </a:xfrm>
          <a:prstGeom prst="rect">
            <a:avLst/>
          </a:prstGeom>
          <a:noFill/>
        </p:spPr>
        <p:txBody>
          <a:bodyPr wrap="square" lIns="0" rIns="0" tIns="0" bIns="0" anchor="t">
            <a:spAutoFit/>
          </a:bodyPr>
          <a:lstStyle/>
          <a:p>
            <a:pPr algn="l"/>
            <a:r>
              <a:rPr sz="1500" b="1" i="0">
                <a:solidFill>
                  <a:srgbClr val="FFFFFF"/>
                </a:solidFill>
                <a:latin typeface="Calibri"/>
              </a:rPr>
              <a:t>Text to speech</a:t>
            </a:r>
          </a:p>
        </p:txBody>
      </p:sp>
      <p:sp>
        <p:nvSpPr>
          <p:cNvPr id="16" name="TextBox 15"/>
          <p:cNvSpPr txBox="1"/>
          <p:nvPr/>
        </p:nvSpPr>
        <p:spPr>
          <a:xfrm>
            <a:off x="9116568" y="2779776"/>
            <a:ext cx="2157984" cy="310896"/>
          </a:xfrm>
          <a:prstGeom prst="rect">
            <a:avLst/>
          </a:prstGeom>
          <a:noFill/>
        </p:spPr>
        <p:txBody>
          <a:bodyPr wrap="square" lIns="0" rIns="0" tIns="0" bIns="0" anchor="t">
            <a:spAutoFit/>
          </a:bodyPr>
          <a:lstStyle/>
          <a:p>
            <a:pPr algn="l"/>
            <a:r>
              <a:rPr sz="1400" b="0" i="0">
                <a:solidFill>
                  <a:srgbClr val="13EF93"/>
                </a:solidFill>
                <a:latin typeface="Courier New"/>
              </a:rPr>
              <a:t>Flux TTS</a:t>
            </a:r>
          </a:p>
        </p:txBody>
      </p:sp>
      <p:sp>
        <p:nvSpPr>
          <p:cNvPr id="17" name="TextBox 16"/>
          <p:cNvSpPr txBox="1"/>
          <p:nvPr/>
        </p:nvSpPr>
        <p:spPr>
          <a:xfrm>
            <a:off x="9116568" y="3145536"/>
            <a:ext cx="2157984" cy="274320"/>
          </a:xfrm>
          <a:prstGeom prst="rect">
            <a:avLst/>
          </a:prstGeom>
          <a:noFill/>
        </p:spPr>
        <p:txBody>
          <a:bodyPr wrap="square" lIns="0" rIns="0" tIns="0" bIns="0" anchor="t">
            <a:spAutoFit/>
          </a:bodyPr>
          <a:lstStyle/>
          <a:p>
            <a:pPr algn="l"/>
            <a:r>
              <a:rPr sz="1200" b="0" i="0">
                <a:solidFill>
                  <a:srgbClr val="8FA0B3"/>
                </a:solidFill>
                <a:latin typeface="Calibri"/>
              </a:rPr>
              <a:t>says it</a:t>
            </a:r>
          </a:p>
        </p:txBody>
      </p:sp>
      <p:sp>
        <p:nvSpPr>
          <p:cNvPr id="18" name="Oval 17"/>
          <p:cNvSpPr/>
          <p:nvPr/>
        </p:nvSpPr>
        <p:spPr>
          <a:xfrm>
            <a:off x="868680" y="2615184"/>
            <a:ext cx="603504" cy="603504"/>
          </a:xfrm>
          <a:prstGeom prst="ellipse">
            <a:avLst/>
          </a:prstGeom>
          <a:solidFill>
            <a:srgbClr val="1C2A38"/>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2779776"/>
            <a:ext cx="603504" cy="274320"/>
          </a:xfrm>
          <a:prstGeom prst="rect">
            <a:avLst/>
          </a:prstGeom>
          <a:noFill/>
        </p:spPr>
        <p:txBody>
          <a:bodyPr wrap="square" lIns="0" rIns="0" tIns="0" bIns="0" anchor="t">
            <a:spAutoFit/>
          </a:bodyPr>
          <a:lstStyle/>
          <a:p>
            <a:pPr algn="ctr"/>
            <a:r>
              <a:rPr sz="1150" b="0" i="0">
                <a:solidFill>
                  <a:srgbClr val="13EF93"/>
                </a:solidFill>
                <a:latin typeface="Calibri"/>
              </a:rPr>
              <a:t>mic</a:t>
            </a:r>
          </a:p>
        </p:txBody>
      </p:sp>
      <p:sp>
        <p:nvSpPr>
          <p:cNvPr id="20" name="Chevron 19"/>
          <p:cNvSpPr/>
          <p:nvPr/>
        </p:nvSpPr>
        <p:spPr>
          <a:xfrm>
            <a:off x="1627632" y="2761488"/>
            <a:ext cx="384048" cy="310896"/>
          </a:xfrm>
          <a:prstGeom prst="chevron">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10744200" y="2615184"/>
            <a:ext cx="603504" cy="603504"/>
          </a:xfrm>
          <a:prstGeom prst="ellipse">
            <a:avLst/>
          </a:prstGeom>
          <a:solidFill>
            <a:srgbClr val="1C2A38"/>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744200" y="2779776"/>
            <a:ext cx="603504" cy="274320"/>
          </a:xfrm>
          <a:prstGeom prst="rect">
            <a:avLst/>
          </a:prstGeom>
          <a:noFill/>
        </p:spPr>
        <p:txBody>
          <a:bodyPr wrap="square" lIns="0" rIns="0" tIns="0" bIns="0" anchor="t">
            <a:spAutoFit/>
          </a:bodyPr>
          <a:lstStyle/>
          <a:p>
            <a:pPr algn="ctr"/>
            <a:r>
              <a:rPr sz="1150" b="0" i="0">
                <a:solidFill>
                  <a:srgbClr val="13EF93"/>
                </a:solidFill>
                <a:latin typeface="Calibri"/>
              </a:rPr>
              <a:t>out</a:t>
            </a:r>
          </a:p>
        </p:txBody>
      </p:sp>
      <p:sp>
        <p:nvSpPr>
          <p:cNvPr id="23" name="Rounded Rectangle 22"/>
          <p:cNvSpPr/>
          <p:nvPr/>
        </p:nvSpPr>
        <p:spPr>
          <a:xfrm>
            <a:off x="685800" y="4041648"/>
            <a:ext cx="10820095" cy="1572768"/>
          </a:xfrm>
          <a:prstGeom prst="roundRect">
            <a:avLst>
              <a:gd name="adj" fmla="val 6000"/>
            </a:avLst>
          </a:prstGeom>
          <a:solidFill>
            <a:srgbClr val="1C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69848" y="4279392"/>
            <a:ext cx="10058400" cy="1133856"/>
          </a:xfrm>
          <a:prstGeom prst="rect">
            <a:avLst/>
          </a:prstGeom>
          <a:noFill/>
        </p:spPr>
        <p:txBody>
          <a:bodyPr wrap="square" lIns="0" rIns="0" tIns="0" bIns="0" anchor="t">
            <a:spAutoFit/>
          </a:bodyPr>
          <a:lstStyle/>
          <a:p>
            <a:pPr algn="l">
              <a:spcAft>
                <a:spcPts val="800"/>
              </a:spcAft>
            </a:pPr>
            <a:r>
              <a:rPr sz="1900" b="1" i="0">
                <a:solidFill>
                  <a:srgbClr val="13EF93"/>
                </a:solidFill>
                <a:latin typeface="Calibri"/>
              </a:rPr>
              <a:t>One WebSocket carries all of it.</a:t>
            </a:r>
          </a:p>
          <a:p>
            <a:pPr algn="l">
              <a:lnSpc>
                <a:spcPct val="115000"/>
              </a:lnSpc>
            </a:pPr>
            <a:r>
              <a:rPr sz="1450" b="0" i="0">
                <a:solidFill>
                  <a:srgbClr val="D8E0EA"/>
                </a:solidFill>
                <a:latin typeface="Calibri"/>
              </a:rPr>
              <a:t>You could wire the three together yourself — your STT call, piped into your LLM call, piped into your TTS call. You would spend most of your time on plumbing and latency, and very little on what the agent actually does.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85800" y="566928"/>
            <a:ext cx="10820095" cy="658368"/>
          </a:xfrm>
          <a:prstGeom prst="rect">
            <a:avLst/>
          </a:prstGeom>
          <a:noFill/>
        </p:spPr>
        <p:txBody>
          <a:bodyPr wrap="square" lIns="0" rIns="0" tIns="0" bIns="0" anchor="t">
            <a:spAutoFit/>
          </a:bodyPr>
          <a:lstStyle/>
          <a:p>
            <a:pPr algn="l"/>
            <a:r>
              <a:rPr sz="3600" b="1" i="0">
                <a:solidFill>
                  <a:srgbClr val="FFFFFF"/>
                </a:solidFill>
                <a:latin typeface="Calibri"/>
              </a:rPr>
              <a:t>What each model is doing</a:t>
            </a:r>
          </a:p>
        </p:txBody>
      </p:sp>
      <p:sp>
        <p:nvSpPr>
          <p:cNvPr id="3" name="Rounded Rectangle 2"/>
          <p:cNvSpPr/>
          <p:nvPr/>
        </p:nvSpPr>
        <p:spPr>
          <a:xfrm>
            <a:off x="685800" y="1481328"/>
            <a:ext cx="3438144" cy="276148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60120" y="1737360"/>
            <a:ext cx="2926080" cy="365760"/>
          </a:xfrm>
          <a:prstGeom prst="rect">
            <a:avLst/>
          </a:prstGeom>
          <a:noFill/>
        </p:spPr>
        <p:txBody>
          <a:bodyPr wrap="square" lIns="0" rIns="0" tIns="0" bIns="0" anchor="t">
            <a:spAutoFit/>
          </a:bodyPr>
          <a:lstStyle/>
          <a:p>
            <a:pPr algn="l"/>
            <a:r>
              <a:rPr sz="1900" b="1" i="0">
                <a:solidFill>
                  <a:srgbClr val="13EF93"/>
                </a:solidFill>
                <a:latin typeface="Courier New"/>
              </a:rPr>
              <a:t>Flux</a:t>
            </a:r>
          </a:p>
        </p:txBody>
      </p:sp>
      <p:sp>
        <p:nvSpPr>
          <p:cNvPr id="5" name="TextBox 4"/>
          <p:cNvSpPr txBox="1"/>
          <p:nvPr/>
        </p:nvSpPr>
        <p:spPr>
          <a:xfrm>
            <a:off x="960120" y="2157984"/>
            <a:ext cx="2926080" cy="274320"/>
          </a:xfrm>
          <a:prstGeom prst="rect">
            <a:avLst/>
          </a:prstGeom>
          <a:noFill/>
        </p:spPr>
        <p:txBody>
          <a:bodyPr wrap="square" lIns="0" rIns="0" tIns="0" bIns="0" anchor="t">
            <a:spAutoFit/>
          </a:bodyPr>
          <a:lstStyle/>
          <a:p>
            <a:pPr algn="l"/>
            <a:r>
              <a:rPr sz="1050" b="1" i="0">
                <a:solidFill>
                  <a:srgbClr val="5D6E80"/>
                </a:solidFill>
                <a:latin typeface="Calibri"/>
              </a:rPr>
              <a:t>SPEECH TO TEXT</a:t>
            </a:r>
          </a:p>
        </p:txBody>
      </p:sp>
      <p:sp>
        <p:nvSpPr>
          <p:cNvPr id="6" name="TextBox 5"/>
          <p:cNvSpPr txBox="1"/>
          <p:nvPr/>
        </p:nvSpPr>
        <p:spPr>
          <a:xfrm>
            <a:off x="960120" y="2542032"/>
            <a:ext cx="2926080" cy="1645920"/>
          </a:xfrm>
          <a:prstGeom prst="rect">
            <a:avLst/>
          </a:prstGeom>
          <a:noFill/>
        </p:spPr>
        <p:txBody>
          <a:bodyPr wrap="square" lIns="0" rIns="0" tIns="0" bIns="0" anchor="t">
            <a:spAutoFit/>
          </a:bodyPr>
          <a:lstStyle/>
          <a:p>
            <a:pPr algn="l">
              <a:lnSpc>
                <a:spcPct val="116000"/>
              </a:lnSpc>
            </a:pPr>
            <a:r>
              <a:rPr sz="1300" b="0" i="0">
                <a:solidFill>
                  <a:srgbClr val="D8E0EA"/>
                </a:solidFill>
                <a:latin typeface="Calibri"/>
              </a:rPr>
              <a:t>Deepgram's conversational speech-to-text model. Streams transcripts as you speak, so nothing waits for a complete utterance — and it scores end-of-turn confidence while the audio is still arriving.</a:t>
            </a:r>
          </a:p>
        </p:txBody>
      </p:sp>
      <p:sp>
        <p:nvSpPr>
          <p:cNvPr id="7" name="Rounded Rectangle 6"/>
          <p:cNvSpPr/>
          <p:nvPr/>
        </p:nvSpPr>
        <p:spPr>
          <a:xfrm>
            <a:off x="4379976" y="1481328"/>
            <a:ext cx="3438144" cy="276148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654296" y="1737360"/>
            <a:ext cx="2926080" cy="365760"/>
          </a:xfrm>
          <a:prstGeom prst="rect">
            <a:avLst/>
          </a:prstGeom>
          <a:noFill/>
        </p:spPr>
        <p:txBody>
          <a:bodyPr wrap="square" lIns="0" rIns="0" tIns="0" bIns="0" anchor="t">
            <a:spAutoFit/>
          </a:bodyPr>
          <a:lstStyle/>
          <a:p>
            <a:pPr algn="l"/>
            <a:r>
              <a:rPr sz="1900" b="1" i="0">
                <a:solidFill>
                  <a:srgbClr val="FFFFFF"/>
                </a:solidFill>
                <a:latin typeface="Courier New"/>
              </a:rPr>
              <a:t>gpt-4o-mini</a:t>
            </a:r>
          </a:p>
        </p:txBody>
      </p:sp>
      <p:sp>
        <p:nvSpPr>
          <p:cNvPr id="9" name="TextBox 8"/>
          <p:cNvSpPr txBox="1"/>
          <p:nvPr/>
        </p:nvSpPr>
        <p:spPr>
          <a:xfrm>
            <a:off x="4654296" y="2157984"/>
            <a:ext cx="2926080" cy="274320"/>
          </a:xfrm>
          <a:prstGeom prst="rect">
            <a:avLst/>
          </a:prstGeom>
          <a:noFill/>
        </p:spPr>
        <p:txBody>
          <a:bodyPr wrap="square" lIns="0" rIns="0" tIns="0" bIns="0" anchor="t">
            <a:spAutoFit/>
          </a:bodyPr>
          <a:lstStyle/>
          <a:p>
            <a:pPr algn="l"/>
            <a:r>
              <a:rPr sz="1050" b="1" i="0">
                <a:solidFill>
                  <a:srgbClr val="5D6E80"/>
                </a:solidFill>
                <a:latin typeface="Calibri"/>
              </a:rPr>
              <a:t>THE BRAIN</a:t>
            </a:r>
          </a:p>
        </p:txBody>
      </p:sp>
      <p:sp>
        <p:nvSpPr>
          <p:cNvPr id="10" name="TextBox 9"/>
          <p:cNvSpPr txBox="1"/>
          <p:nvPr/>
        </p:nvSpPr>
        <p:spPr>
          <a:xfrm>
            <a:off x="4654296" y="2542032"/>
            <a:ext cx="2926080" cy="1645920"/>
          </a:xfrm>
          <a:prstGeom prst="rect">
            <a:avLst/>
          </a:prstGeom>
          <a:noFill/>
        </p:spPr>
        <p:txBody>
          <a:bodyPr wrap="square" lIns="0" rIns="0" tIns="0" bIns="0" anchor="t">
            <a:spAutoFit/>
          </a:bodyPr>
          <a:lstStyle/>
          <a:p>
            <a:pPr algn="l">
              <a:lnSpc>
                <a:spcPct val="116000"/>
              </a:lnSpc>
            </a:pPr>
            <a:r>
              <a:rPr sz="1300" b="0" i="0">
                <a:solidFill>
                  <a:srgbClr val="D8E0EA"/>
                </a:solidFill>
                <a:latin typeface="Calibri"/>
              </a:rPr>
              <a:t>Takes the transcript, mixes it with the conversation history and the agent's standing instructions, and decides what to say back. Fast and cheap beats capable when somebody is waiting to hear a reply.</a:t>
            </a:r>
          </a:p>
        </p:txBody>
      </p:sp>
      <p:sp>
        <p:nvSpPr>
          <p:cNvPr id="11" name="Rounded Rectangle 10"/>
          <p:cNvSpPr/>
          <p:nvPr/>
        </p:nvSpPr>
        <p:spPr>
          <a:xfrm>
            <a:off x="8074152" y="1481328"/>
            <a:ext cx="3438144" cy="276148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348472" y="1737360"/>
            <a:ext cx="2926080" cy="365760"/>
          </a:xfrm>
          <a:prstGeom prst="rect">
            <a:avLst/>
          </a:prstGeom>
          <a:noFill/>
        </p:spPr>
        <p:txBody>
          <a:bodyPr wrap="square" lIns="0" rIns="0" tIns="0" bIns="0" anchor="t">
            <a:spAutoFit/>
          </a:bodyPr>
          <a:lstStyle/>
          <a:p>
            <a:pPr algn="l"/>
            <a:r>
              <a:rPr sz="1900" b="1" i="0">
                <a:solidFill>
                  <a:srgbClr val="13EF93"/>
                </a:solidFill>
                <a:latin typeface="Courier New"/>
              </a:rPr>
              <a:t>Flux TTS</a:t>
            </a:r>
          </a:p>
        </p:txBody>
      </p:sp>
      <p:sp>
        <p:nvSpPr>
          <p:cNvPr id="13" name="TextBox 12"/>
          <p:cNvSpPr txBox="1"/>
          <p:nvPr/>
        </p:nvSpPr>
        <p:spPr>
          <a:xfrm>
            <a:off x="8348472" y="2157984"/>
            <a:ext cx="2926080" cy="274320"/>
          </a:xfrm>
          <a:prstGeom prst="rect">
            <a:avLst/>
          </a:prstGeom>
          <a:noFill/>
        </p:spPr>
        <p:txBody>
          <a:bodyPr wrap="square" lIns="0" rIns="0" tIns="0" bIns="0" anchor="t">
            <a:spAutoFit/>
          </a:bodyPr>
          <a:lstStyle/>
          <a:p>
            <a:pPr algn="l"/>
            <a:r>
              <a:rPr sz="1050" b="1" i="0">
                <a:solidFill>
                  <a:srgbClr val="5D6E80"/>
                </a:solidFill>
                <a:latin typeface="Calibri"/>
              </a:rPr>
              <a:t>TEXT TO SPEECH</a:t>
            </a:r>
          </a:p>
        </p:txBody>
      </p:sp>
      <p:sp>
        <p:nvSpPr>
          <p:cNvPr id="14" name="TextBox 13"/>
          <p:cNvSpPr txBox="1"/>
          <p:nvPr/>
        </p:nvSpPr>
        <p:spPr>
          <a:xfrm>
            <a:off x="8348472" y="2542032"/>
            <a:ext cx="2926080" cy="1645920"/>
          </a:xfrm>
          <a:prstGeom prst="rect">
            <a:avLst/>
          </a:prstGeom>
          <a:noFill/>
        </p:spPr>
        <p:txBody>
          <a:bodyPr wrap="square" lIns="0" rIns="0" tIns="0" bIns="0" anchor="t">
            <a:spAutoFit/>
          </a:bodyPr>
          <a:lstStyle/>
          <a:p>
            <a:pPr algn="l">
              <a:lnSpc>
                <a:spcPct val="116000"/>
              </a:lnSpc>
            </a:pPr>
            <a:r>
              <a:rPr sz="1300" b="0" i="0">
                <a:solidFill>
                  <a:srgbClr val="D8E0EA"/>
                </a:solidFill>
                <a:latin typeface="Calibri"/>
              </a:rPr>
              <a:t>Deepgram's streaming voice engine, built for conversation. Turns the reply into 24 kHz PCM that arrives in bursts while the sentence is still being generated.</a:t>
            </a:r>
          </a:p>
        </p:txBody>
      </p:sp>
      <p:sp>
        <p:nvSpPr>
          <p:cNvPr id="15" name="Rounded Rectangle 14"/>
          <p:cNvSpPr/>
          <p:nvPr/>
        </p:nvSpPr>
        <p:spPr>
          <a:xfrm>
            <a:off x="685800" y="4590288"/>
            <a:ext cx="10820095" cy="1005840"/>
          </a:xfrm>
          <a:prstGeom prst="roundRect">
            <a:avLst>
              <a:gd name="adj" fmla="val 6000"/>
            </a:avLst>
          </a:prstGeom>
          <a:solidFill>
            <a:srgbClr val="0A2A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69848" y="4846320"/>
            <a:ext cx="10241280" cy="548640"/>
          </a:xfrm>
          <a:prstGeom prst="rect">
            <a:avLst/>
          </a:prstGeom>
          <a:noFill/>
        </p:spPr>
        <p:txBody>
          <a:bodyPr wrap="square" lIns="0" rIns="0" tIns="0" bIns="0" anchor="t">
            <a:spAutoFit/>
          </a:bodyPr>
          <a:lstStyle/>
          <a:p>
            <a:pPr algn="l">
              <a:lnSpc>
                <a:spcPct val="112000"/>
              </a:lnSpc>
            </a:pPr>
            <a:r>
              <a:rPr sz="1450" b="0" i="0">
                <a:solidFill>
                  <a:srgbClr val="D8E0EA"/>
                </a:solidFill>
                <a:latin typeface="Calibri"/>
              </a:rPr>
              <a:t>The LLM is the only one of the three that remembers anything. Deepgram keeps the history and re-sends it every turn — which is why a long prompt costs you latency on every reply, not just the first.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85800" y="566928"/>
            <a:ext cx="10820095" cy="658368"/>
          </a:xfrm>
          <a:prstGeom prst="rect">
            <a:avLst/>
          </a:prstGeom>
          <a:noFill/>
        </p:spPr>
        <p:txBody>
          <a:bodyPr wrap="square" lIns="0" rIns="0" tIns="0" bIns="0" anchor="t">
            <a:spAutoFit/>
          </a:bodyPr>
          <a:lstStyle/>
          <a:p>
            <a:pPr algn="l"/>
            <a:r>
              <a:rPr sz="3600" b="1" i="0">
                <a:solidFill>
                  <a:srgbClr val="FFFFFF"/>
                </a:solidFill>
                <a:latin typeface="Calibri"/>
              </a:rPr>
              <a:t>The API does the orchestration</a:t>
            </a:r>
          </a:p>
        </p:txBody>
      </p:sp>
      <p:sp>
        <p:nvSpPr>
          <p:cNvPr id="3" name="Rounded Rectangle 2"/>
          <p:cNvSpPr/>
          <p:nvPr/>
        </p:nvSpPr>
        <p:spPr>
          <a:xfrm>
            <a:off x="685800" y="1426464"/>
            <a:ext cx="5257800" cy="312724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96696" y="1682496"/>
            <a:ext cx="4617720" cy="310896"/>
          </a:xfrm>
          <a:prstGeom prst="rect">
            <a:avLst/>
          </a:prstGeom>
          <a:noFill/>
        </p:spPr>
        <p:txBody>
          <a:bodyPr wrap="square" lIns="0" rIns="0" tIns="0" bIns="0" anchor="t">
            <a:spAutoFit/>
          </a:bodyPr>
          <a:lstStyle/>
          <a:p>
            <a:pPr algn="l"/>
            <a:r>
              <a:rPr sz="1100" b="1" i="0">
                <a:solidFill>
                  <a:srgbClr val="FF7A6B"/>
                </a:solidFill>
                <a:latin typeface="Calibri"/>
              </a:rPr>
              <a:t>WIRE IT YOURSELF</a:t>
            </a:r>
          </a:p>
        </p:txBody>
      </p:sp>
      <p:sp>
        <p:nvSpPr>
          <p:cNvPr id="5" name="Oval 4"/>
          <p:cNvSpPr/>
          <p:nvPr/>
        </p:nvSpPr>
        <p:spPr>
          <a:xfrm>
            <a:off x="996696" y="2221991"/>
            <a:ext cx="91440" cy="91440"/>
          </a:xfrm>
          <a:prstGeom prst="ellipse">
            <a:avLst/>
          </a:prstGeom>
          <a:solidFill>
            <a:srgbClr val="FF7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307592" y="2121408"/>
            <a:ext cx="4306824" cy="502919"/>
          </a:xfrm>
          <a:prstGeom prst="rect">
            <a:avLst/>
          </a:prstGeom>
          <a:noFill/>
        </p:spPr>
        <p:txBody>
          <a:bodyPr wrap="square" lIns="0" rIns="0" tIns="0" bIns="0" anchor="t">
            <a:spAutoFit/>
          </a:bodyPr>
          <a:lstStyle/>
          <a:p>
            <a:pPr algn="l"/>
            <a:r>
              <a:rPr sz="1400" b="0" i="0">
                <a:solidFill>
                  <a:srgbClr val="D8E0EA"/>
                </a:solidFill>
                <a:latin typeface="Calibri"/>
              </a:rPr>
              <a:t>Three services and the glue between them</a:t>
            </a:r>
          </a:p>
        </p:txBody>
      </p:sp>
      <p:sp>
        <p:nvSpPr>
          <p:cNvPr id="7" name="Oval 6"/>
          <p:cNvSpPr/>
          <p:nvPr/>
        </p:nvSpPr>
        <p:spPr>
          <a:xfrm>
            <a:off x="996696" y="2770632"/>
            <a:ext cx="91440" cy="91440"/>
          </a:xfrm>
          <a:prstGeom prst="ellipse">
            <a:avLst/>
          </a:prstGeom>
          <a:solidFill>
            <a:srgbClr val="FF7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07592" y="2670048"/>
            <a:ext cx="4306824" cy="502919"/>
          </a:xfrm>
          <a:prstGeom prst="rect">
            <a:avLst/>
          </a:prstGeom>
          <a:noFill/>
        </p:spPr>
        <p:txBody>
          <a:bodyPr wrap="square" lIns="0" rIns="0" tIns="0" bIns="0" anchor="t">
            <a:spAutoFit/>
          </a:bodyPr>
          <a:lstStyle/>
          <a:p>
            <a:pPr algn="l"/>
            <a:r>
              <a:rPr sz="1400" b="0" i="0">
                <a:solidFill>
                  <a:srgbClr val="D8E0EA"/>
                </a:solidFill>
                <a:latin typeface="Calibri"/>
              </a:rPr>
              <a:t>You own the handoffs and the buffering</a:t>
            </a:r>
          </a:p>
        </p:txBody>
      </p:sp>
      <p:sp>
        <p:nvSpPr>
          <p:cNvPr id="9" name="Oval 8"/>
          <p:cNvSpPr/>
          <p:nvPr/>
        </p:nvSpPr>
        <p:spPr>
          <a:xfrm>
            <a:off x="996696" y="3319271"/>
            <a:ext cx="91440" cy="91440"/>
          </a:xfrm>
          <a:prstGeom prst="ellipse">
            <a:avLst/>
          </a:prstGeom>
          <a:solidFill>
            <a:srgbClr val="FF7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07592" y="3218687"/>
            <a:ext cx="4306824" cy="502919"/>
          </a:xfrm>
          <a:prstGeom prst="rect">
            <a:avLst/>
          </a:prstGeom>
          <a:noFill/>
        </p:spPr>
        <p:txBody>
          <a:bodyPr wrap="square" lIns="0" rIns="0" tIns="0" bIns="0" anchor="t">
            <a:spAutoFit/>
          </a:bodyPr>
          <a:lstStyle/>
          <a:p>
            <a:pPr algn="l"/>
            <a:r>
              <a:rPr sz="1400" b="0" i="0">
                <a:solidFill>
                  <a:srgbClr val="D8E0EA"/>
                </a:solidFill>
                <a:latin typeface="Calibri"/>
              </a:rPr>
              <a:t>You own every millisecond between hops</a:t>
            </a:r>
          </a:p>
        </p:txBody>
      </p:sp>
      <p:sp>
        <p:nvSpPr>
          <p:cNvPr id="11" name="Oval 10"/>
          <p:cNvSpPr/>
          <p:nvPr/>
        </p:nvSpPr>
        <p:spPr>
          <a:xfrm>
            <a:off x="996696" y="3867911"/>
            <a:ext cx="91440" cy="91440"/>
          </a:xfrm>
          <a:prstGeom prst="ellipse">
            <a:avLst/>
          </a:prstGeom>
          <a:solidFill>
            <a:srgbClr val="FF7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07592" y="3767327"/>
            <a:ext cx="4306824" cy="502919"/>
          </a:xfrm>
          <a:prstGeom prst="rect">
            <a:avLst/>
          </a:prstGeom>
          <a:noFill/>
        </p:spPr>
        <p:txBody>
          <a:bodyPr wrap="square" lIns="0" rIns="0" tIns="0" bIns="0" anchor="t">
            <a:spAutoFit/>
          </a:bodyPr>
          <a:lstStyle/>
          <a:p>
            <a:pPr algn="l"/>
            <a:r>
              <a:rPr sz="1400" b="0" i="0">
                <a:solidFill>
                  <a:srgbClr val="D8E0EA"/>
                </a:solidFill>
                <a:latin typeface="Calibri"/>
              </a:rPr>
              <a:t>You own turn-taking, in your client</a:t>
            </a:r>
          </a:p>
        </p:txBody>
      </p:sp>
      <p:sp>
        <p:nvSpPr>
          <p:cNvPr id="13" name="Rounded Rectangle 12"/>
          <p:cNvSpPr/>
          <p:nvPr/>
        </p:nvSpPr>
        <p:spPr>
          <a:xfrm>
            <a:off x="6263640" y="1426464"/>
            <a:ext cx="5239512" cy="3127248"/>
          </a:xfrm>
          <a:prstGeom prst="roundRect">
            <a:avLst>
              <a:gd name="adj" fmla="val 6000"/>
            </a:avLst>
          </a:prstGeom>
          <a:solidFill>
            <a:srgbClr val="15202B"/>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74536" y="1682496"/>
            <a:ext cx="4617720" cy="310896"/>
          </a:xfrm>
          <a:prstGeom prst="rect">
            <a:avLst/>
          </a:prstGeom>
          <a:noFill/>
        </p:spPr>
        <p:txBody>
          <a:bodyPr wrap="square" lIns="0" rIns="0" tIns="0" bIns="0" anchor="t">
            <a:spAutoFit/>
          </a:bodyPr>
          <a:lstStyle/>
          <a:p>
            <a:pPr algn="l"/>
            <a:r>
              <a:rPr sz="1100" b="1" i="0">
                <a:solidFill>
                  <a:srgbClr val="13EF93"/>
                </a:solidFill>
                <a:latin typeface="Calibri"/>
              </a:rPr>
              <a:t>VOICE AGENT API</a:t>
            </a:r>
          </a:p>
        </p:txBody>
      </p:sp>
      <p:sp>
        <p:nvSpPr>
          <p:cNvPr id="15" name="Oval 14"/>
          <p:cNvSpPr/>
          <p:nvPr/>
        </p:nvSpPr>
        <p:spPr>
          <a:xfrm>
            <a:off x="6574536" y="2221991"/>
            <a:ext cx="91440" cy="91440"/>
          </a:xfrm>
          <a:prstGeom prst="ellipse">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85432" y="2121408"/>
            <a:ext cx="4306824" cy="502919"/>
          </a:xfrm>
          <a:prstGeom prst="rect">
            <a:avLst/>
          </a:prstGeom>
          <a:noFill/>
        </p:spPr>
        <p:txBody>
          <a:bodyPr wrap="square" lIns="0" rIns="0" tIns="0" bIns="0" anchor="t">
            <a:spAutoFit/>
          </a:bodyPr>
          <a:lstStyle/>
          <a:p>
            <a:pPr algn="l"/>
            <a:r>
              <a:rPr sz="1400" b="0" i="0">
                <a:solidFill>
                  <a:srgbClr val="D8E0EA"/>
                </a:solidFill>
                <a:latin typeface="Calibri"/>
              </a:rPr>
              <a:t>One WebSocket, one settings message</a:t>
            </a:r>
          </a:p>
        </p:txBody>
      </p:sp>
      <p:sp>
        <p:nvSpPr>
          <p:cNvPr id="17" name="Oval 16"/>
          <p:cNvSpPr/>
          <p:nvPr/>
        </p:nvSpPr>
        <p:spPr>
          <a:xfrm>
            <a:off x="6574536" y="2770632"/>
            <a:ext cx="91440" cy="91440"/>
          </a:xfrm>
          <a:prstGeom prst="ellipse">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885432" y="2670048"/>
            <a:ext cx="4306824" cy="502919"/>
          </a:xfrm>
          <a:prstGeom prst="rect">
            <a:avLst/>
          </a:prstGeom>
          <a:noFill/>
        </p:spPr>
        <p:txBody>
          <a:bodyPr wrap="square" lIns="0" rIns="0" tIns="0" bIns="0" anchor="t">
            <a:spAutoFit/>
          </a:bodyPr>
          <a:lstStyle/>
          <a:p>
            <a:pPr algn="l"/>
            <a:r>
              <a:rPr sz="1400" b="0" i="0">
                <a:solidFill>
                  <a:srgbClr val="D8E0EA"/>
                </a:solidFill>
                <a:latin typeface="Calibri"/>
              </a:rPr>
              <a:t>Deepgram runs the pipeline server-side</a:t>
            </a:r>
          </a:p>
        </p:txBody>
      </p:sp>
      <p:sp>
        <p:nvSpPr>
          <p:cNvPr id="19" name="Oval 18"/>
          <p:cNvSpPr/>
          <p:nvPr/>
        </p:nvSpPr>
        <p:spPr>
          <a:xfrm>
            <a:off x="6574536" y="3319271"/>
            <a:ext cx="91440" cy="91440"/>
          </a:xfrm>
          <a:prstGeom prst="ellipse">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85432" y="3218687"/>
            <a:ext cx="4306824" cy="502919"/>
          </a:xfrm>
          <a:prstGeom prst="rect">
            <a:avLst/>
          </a:prstGeom>
          <a:noFill/>
        </p:spPr>
        <p:txBody>
          <a:bodyPr wrap="square" lIns="0" rIns="0" tIns="0" bIns="0" anchor="t">
            <a:spAutoFit/>
          </a:bodyPr>
          <a:lstStyle/>
          <a:p>
            <a:pPr algn="l"/>
            <a:r>
              <a:rPr sz="1400" b="0" i="0">
                <a:solidFill>
                  <a:srgbClr val="D8E0EA"/>
                </a:solidFill>
                <a:latin typeface="Calibri"/>
              </a:rPr>
              <a:t>Audio bytes in, audio bytes out</a:t>
            </a:r>
          </a:p>
        </p:txBody>
      </p:sp>
      <p:sp>
        <p:nvSpPr>
          <p:cNvPr id="21" name="Oval 20"/>
          <p:cNvSpPr/>
          <p:nvPr/>
        </p:nvSpPr>
        <p:spPr>
          <a:xfrm>
            <a:off x="6574536" y="3867911"/>
            <a:ext cx="91440" cy="91440"/>
          </a:xfrm>
          <a:prstGeom prst="ellipse">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85432" y="3767327"/>
            <a:ext cx="4306824" cy="502919"/>
          </a:xfrm>
          <a:prstGeom prst="rect">
            <a:avLst/>
          </a:prstGeom>
          <a:noFill/>
        </p:spPr>
        <p:txBody>
          <a:bodyPr wrap="square" lIns="0" rIns="0" tIns="0" bIns="0" anchor="t">
            <a:spAutoFit/>
          </a:bodyPr>
          <a:lstStyle/>
          <a:p>
            <a:pPr algn="l"/>
            <a:r>
              <a:rPr sz="1400" b="0" i="0">
                <a:solidFill>
                  <a:srgbClr val="D8E0EA"/>
                </a:solidFill>
                <a:latin typeface="Calibri"/>
              </a:rPr>
              <a:t>Turn-taking happens inside the model</a:t>
            </a:r>
          </a:p>
        </p:txBody>
      </p:sp>
      <p:sp>
        <p:nvSpPr>
          <p:cNvPr id="23" name="Rounded Rectangle 22"/>
          <p:cNvSpPr/>
          <p:nvPr/>
        </p:nvSpPr>
        <p:spPr>
          <a:xfrm>
            <a:off x="685800" y="4754880"/>
            <a:ext cx="5257800" cy="1371600"/>
          </a:xfrm>
          <a:prstGeom prst="roundRect">
            <a:avLst>
              <a:gd name="adj" fmla="val 5000"/>
            </a:avLst>
          </a:prstGeom>
          <a:solidFill>
            <a:srgbClr val="0C13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41832" y="4937760"/>
            <a:ext cx="4800600" cy="237744"/>
          </a:xfrm>
          <a:prstGeom prst="rect">
            <a:avLst/>
          </a:prstGeom>
          <a:noFill/>
        </p:spPr>
        <p:txBody>
          <a:bodyPr wrap="square" lIns="0" rIns="0" tIns="0" bIns="0" anchor="t">
            <a:spAutoFit/>
          </a:bodyPr>
          <a:lstStyle/>
          <a:p>
            <a:pPr algn="l"/>
            <a:r>
              <a:rPr sz="1050" b="1" i="0">
                <a:solidFill>
                  <a:srgbClr val="5D6E80"/>
                </a:solidFill>
                <a:latin typeface="Calibri"/>
              </a:rPr>
              <a:t>YOU DESCRIBE WHAT YOU WANT</a:t>
            </a:r>
          </a:p>
        </p:txBody>
      </p:sp>
      <p:sp>
        <p:nvSpPr>
          <p:cNvPr id="25" name="TextBox 24"/>
          <p:cNvSpPr txBox="1"/>
          <p:nvPr/>
        </p:nvSpPr>
        <p:spPr>
          <a:xfrm>
            <a:off x="941832" y="5266944"/>
            <a:ext cx="4800600" cy="722376"/>
          </a:xfrm>
          <a:prstGeom prst="rect">
            <a:avLst/>
          </a:prstGeom>
          <a:noFill/>
        </p:spPr>
        <p:txBody>
          <a:bodyPr wrap="square" lIns="0" rIns="0" tIns="0" bIns="0" anchor="t">
            <a:spAutoFit/>
          </a:bodyPr>
          <a:lstStyle/>
          <a:p>
            <a:pPr algn="l">
              <a:lnSpc>
                <a:spcPct val="100000"/>
              </a:lnSpc>
              <a:spcAft>
                <a:spcPts val="300"/>
              </a:spcAft>
            </a:pPr>
            <a:r>
              <a:rPr sz="1250" b="0" i="0">
                <a:solidFill>
                  <a:srgbClr val="13EF93"/>
                </a:solidFill>
                <a:latin typeface="Courier New"/>
              </a:rPr>
              <a:t>listen  →  flux-general-en</a:t>
            </a:r>
          </a:p>
          <a:p>
            <a:pPr algn="l">
              <a:lnSpc>
                <a:spcPct val="100000"/>
              </a:lnSpc>
              <a:spcAft>
                <a:spcPts val="300"/>
              </a:spcAft>
            </a:pPr>
            <a:r>
              <a:rPr sz="1250" b="0" i="0">
                <a:solidFill>
                  <a:srgbClr val="FFFFFF"/>
                </a:solidFill>
                <a:latin typeface="Courier New"/>
              </a:rPr>
              <a:t>think   →  gpt-4o-mini</a:t>
            </a:r>
          </a:p>
          <a:p>
            <a:pPr algn="l">
              <a:lnSpc>
                <a:spcPct val="100000"/>
              </a:lnSpc>
              <a:spcAft>
                <a:spcPts val="300"/>
              </a:spcAft>
            </a:pPr>
            <a:r>
              <a:rPr sz="1250" b="0" i="0">
                <a:solidFill>
                  <a:srgbClr val="13EF93"/>
                </a:solidFill>
                <a:latin typeface="Courier New"/>
              </a:rPr>
              <a:t>speak   →  flux-alexis-en</a:t>
            </a:r>
          </a:p>
        </p:txBody>
      </p:sp>
      <p:sp>
        <p:nvSpPr>
          <p:cNvPr id="26" name="TextBox 25"/>
          <p:cNvSpPr txBox="1"/>
          <p:nvPr/>
        </p:nvSpPr>
        <p:spPr>
          <a:xfrm>
            <a:off x="6263640" y="4882896"/>
            <a:ext cx="5239512" cy="1188720"/>
          </a:xfrm>
          <a:prstGeom prst="rect">
            <a:avLst/>
          </a:prstGeom>
          <a:noFill/>
        </p:spPr>
        <p:txBody>
          <a:bodyPr wrap="square" lIns="0" rIns="0" tIns="0" bIns="0" anchor="t">
            <a:spAutoFit/>
          </a:bodyPr>
          <a:lstStyle/>
          <a:p>
            <a:pPr algn="l">
              <a:lnSpc>
                <a:spcPct val="115000"/>
              </a:lnSpc>
              <a:spcAft>
                <a:spcPts val="800"/>
              </a:spcAft>
            </a:pPr>
            <a:r>
              <a:rPr sz="1550" b="0" i="0">
                <a:solidFill>
                  <a:srgbClr val="D8E0EA"/>
                </a:solidFill>
                <a:latin typeface="Calibri"/>
              </a:rPr>
              <a:t>Over the next eight steps you configure that orchestrator and react to what it sends you.</a:t>
            </a:r>
          </a:p>
          <a:p>
            <a:pPr algn="l"/>
            <a:r>
              <a:rPr sz="1700" b="1" i="0">
                <a:solidFill>
                  <a:srgbClr val="13EF93"/>
                </a:solidFill>
                <a:latin typeface="Calibri"/>
              </a:rPr>
              <a:t>You will never reimplement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85800" y="566928"/>
            <a:ext cx="10820095" cy="658368"/>
          </a:xfrm>
          <a:prstGeom prst="rect">
            <a:avLst/>
          </a:prstGeom>
          <a:noFill/>
        </p:spPr>
        <p:txBody>
          <a:bodyPr wrap="square" lIns="0" rIns="0" tIns="0" bIns="0" anchor="t">
            <a:spAutoFit/>
          </a:bodyPr>
          <a:lstStyle/>
          <a:p>
            <a:pPr algn="l"/>
            <a:r>
              <a:rPr sz="3600" b="1" i="0">
                <a:solidFill>
                  <a:srgbClr val="FFFFFF"/>
                </a:solidFill>
                <a:latin typeface="Calibri"/>
              </a:rPr>
              <a:t>What Flux changes</a:t>
            </a:r>
          </a:p>
        </p:txBody>
      </p:sp>
      <p:sp>
        <p:nvSpPr>
          <p:cNvPr id="3" name="TextBox 2"/>
          <p:cNvSpPr txBox="1"/>
          <p:nvPr/>
        </p:nvSpPr>
        <p:spPr>
          <a:xfrm>
            <a:off x="685800" y="1280160"/>
            <a:ext cx="10424160" cy="640080"/>
          </a:xfrm>
          <a:prstGeom prst="rect">
            <a:avLst/>
          </a:prstGeom>
          <a:noFill/>
        </p:spPr>
        <p:txBody>
          <a:bodyPr wrap="square" lIns="0" rIns="0" tIns="0" bIns="0" anchor="t">
            <a:spAutoFit/>
          </a:bodyPr>
          <a:lstStyle/>
          <a:p>
            <a:pPr algn="l">
              <a:lnSpc>
                <a:spcPct val="115000"/>
              </a:lnSpc>
            </a:pPr>
            <a:r>
              <a:rPr sz="1600" b="0" i="0">
                <a:solidFill>
                  <a:srgbClr val="8FA0B3"/>
                </a:solidFill>
                <a:latin typeface="Calibri"/>
              </a:rPr>
              <a:t>This is the part worth slowing down for, because it's where voice agents differ most from what you'd expect.</a:t>
            </a:r>
          </a:p>
        </p:txBody>
      </p:sp>
      <p:sp>
        <p:nvSpPr>
          <p:cNvPr id="4" name="Rounded Rectangle 3"/>
          <p:cNvSpPr/>
          <p:nvPr/>
        </p:nvSpPr>
        <p:spPr>
          <a:xfrm>
            <a:off x="685800" y="1956816"/>
            <a:ext cx="5257800" cy="221284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996696" y="2194560"/>
            <a:ext cx="4617720" cy="1737360"/>
          </a:xfrm>
          <a:prstGeom prst="rect">
            <a:avLst/>
          </a:prstGeom>
          <a:noFill/>
        </p:spPr>
        <p:txBody>
          <a:bodyPr wrap="square" lIns="0" rIns="0" tIns="0" bIns="0" anchor="t">
            <a:spAutoFit/>
          </a:bodyPr>
          <a:lstStyle/>
          <a:p>
            <a:pPr algn="l">
              <a:spcAft>
                <a:spcPts val="800"/>
              </a:spcAft>
            </a:pPr>
            <a:r>
              <a:rPr sz="1700" b="1" i="0">
                <a:solidFill>
                  <a:srgbClr val="FF7A6B"/>
                </a:solidFill>
                <a:latin typeface="Calibri"/>
              </a:rPr>
              <a:t>Traditional pipeline</a:t>
            </a:r>
          </a:p>
          <a:p>
            <a:pPr algn="l">
              <a:lnSpc>
                <a:spcPct val="115000"/>
              </a:lnSpc>
            </a:pPr>
            <a:r>
              <a:rPr sz="1400" b="0" i="0">
                <a:solidFill>
                  <a:srgbClr val="8FA0B3"/>
                </a:solidFill>
                <a:latin typeface="Calibri"/>
              </a:rPr>
              <a:t>Your client decides when the user has stopped talking. You measure audio energy, you set a silence threshold, you write voice activity detection — and you get it slightly wrong forever.</a:t>
            </a:r>
          </a:p>
        </p:txBody>
      </p:sp>
      <p:sp>
        <p:nvSpPr>
          <p:cNvPr id="6" name="Rounded Rectangle 5"/>
          <p:cNvSpPr/>
          <p:nvPr/>
        </p:nvSpPr>
        <p:spPr>
          <a:xfrm>
            <a:off x="6263640" y="1956816"/>
            <a:ext cx="5239512" cy="2212848"/>
          </a:xfrm>
          <a:prstGeom prst="roundRect">
            <a:avLst>
              <a:gd name="adj" fmla="val 6000"/>
            </a:avLst>
          </a:prstGeom>
          <a:solidFill>
            <a:srgbClr val="15202B"/>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74536" y="2194560"/>
            <a:ext cx="4617720" cy="1737360"/>
          </a:xfrm>
          <a:prstGeom prst="rect">
            <a:avLst/>
          </a:prstGeom>
          <a:noFill/>
        </p:spPr>
        <p:txBody>
          <a:bodyPr wrap="square" lIns="0" rIns="0" tIns="0" bIns="0" anchor="t">
            <a:spAutoFit/>
          </a:bodyPr>
          <a:lstStyle/>
          <a:p>
            <a:pPr algn="l">
              <a:spcAft>
                <a:spcPts val="800"/>
              </a:spcAft>
            </a:pPr>
            <a:r>
              <a:rPr sz="1700" b="1" i="0">
                <a:solidFill>
                  <a:srgbClr val="13EF93"/>
                </a:solidFill>
                <a:latin typeface="Calibri"/>
              </a:rPr>
              <a:t>With Flux</a:t>
            </a:r>
          </a:p>
          <a:p>
            <a:pPr algn="l">
              <a:lnSpc>
                <a:spcPct val="115000"/>
              </a:lnSpc>
            </a:pPr>
            <a:r>
              <a:rPr sz="1400" b="0" i="0">
                <a:solidFill>
                  <a:srgbClr val="D8E0EA"/>
                </a:solidFill>
                <a:latin typeface="Calibri"/>
              </a:rPr>
              <a:t>Turn detection happens inside the model. Flux scores every turn for end-of-turn confidence as the audio streams in, and tells you what it concluded.</a:t>
            </a:r>
          </a:p>
        </p:txBody>
      </p:sp>
      <p:sp>
        <p:nvSpPr>
          <p:cNvPr id="8" name="Rounded Rectangle 7"/>
          <p:cNvSpPr/>
          <p:nvPr/>
        </p:nvSpPr>
        <p:spPr>
          <a:xfrm>
            <a:off x="685800" y="4443984"/>
            <a:ext cx="10820095" cy="1225296"/>
          </a:xfrm>
          <a:prstGeom prst="roundRect">
            <a:avLst>
              <a:gd name="adj" fmla="val 6000"/>
            </a:avLst>
          </a:prstGeom>
          <a:solidFill>
            <a:srgbClr val="0A2A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69848" y="4718304"/>
            <a:ext cx="10241280" cy="731520"/>
          </a:xfrm>
          <a:prstGeom prst="rect">
            <a:avLst/>
          </a:prstGeom>
          <a:noFill/>
        </p:spPr>
        <p:txBody>
          <a:bodyPr wrap="square" lIns="0" rIns="0" tIns="0" bIns="0" anchor="t">
            <a:spAutoFit/>
          </a:bodyPr>
          <a:lstStyle/>
          <a:p>
            <a:pPr algn="l"/>
            <a:r>
              <a:rPr sz="2500" b="1" i="0">
                <a:solidFill>
                  <a:srgbClr val="13EF93"/>
                </a:solidFill>
                <a:latin typeface="Calibri"/>
              </a:rPr>
              <a:t>You will not write a silence threshold anywhere in this workshop.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85800" y="1188720"/>
            <a:ext cx="10424160" cy="384048"/>
          </a:xfrm>
          <a:prstGeom prst="rect">
            <a:avLst/>
          </a:prstGeom>
          <a:noFill/>
        </p:spPr>
        <p:txBody>
          <a:bodyPr wrap="square" lIns="0" rIns="0" tIns="0" bIns="0" anchor="t">
            <a:spAutoFit/>
          </a:bodyPr>
          <a:lstStyle/>
          <a:p>
            <a:pPr algn="l"/>
            <a:r>
              <a:rPr sz="1300" b="1" i="0">
                <a:solidFill>
                  <a:srgbClr val="FFB454"/>
                </a:solidFill>
                <a:latin typeface="Calibri"/>
              </a:rPr>
              <a:t>WHAT THAT LEAVES YOU</a:t>
            </a:r>
          </a:p>
        </p:txBody>
      </p:sp>
      <p:sp>
        <p:nvSpPr>
          <p:cNvPr id="3" name="TextBox 2"/>
          <p:cNvSpPr txBox="1"/>
          <p:nvPr/>
        </p:nvSpPr>
        <p:spPr>
          <a:xfrm>
            <a:off x="685800" y="1700784"/>
            <a:ext cx="10607040" cy="1828800"/>
          </a:xfrm>
          <a:prstGeom prst="rect">
            <a:avLst/>
          </a:prstGeom>
          <a:noFill/>
        </p:spPr>
        <p:txBody>
          <a:bodyPr wrap="square" lIns="0" rIns="0" tIns="0" bIns="0" anchor="t">
            <a:spAutoFit/>
          </a:bodyPr>
          <a:lstStyle/>
          <a:p>
            <a:pPr algn="l">
              <a:lnSpc>
                <a:spcPct val="105000"/>
              </a:lnSpc>
              <a:spcAft>
                <a:spcPts val="400"/>
              </a:spcAft>
            </a:pPr>
            <a:r>
              <a:rPr sz="4000" b="1" i="0">
                <a:solidFill>
                  <a:srgbClr val="FFFFFF"/>
                </a:solidFill>
                <a:latin typeface="Calibri"/>
              </a:rPr>
              <a:t>When Flux says the user started talking,</a:t>
            </a:r>
          </a:p>
          <a:p>
            <a:pPr algn="l">
              <a:lnSpc>
                <a:spcPct val="105000"/>
              </a:lnSpc>
            </a:pPr>
            <a:r>
              <a:rPr sz="4000" b="1" i="0">
                <a:solidFill>
                  <a:srgbClr val="FFB454"/>
                </a:solidFill>
                <a:latin typeface="Calibri"/>
              </a:rPr>
              <a:t>stop your speaker immediately.</a:t>
            </a:r>
          </a:p>
        </p:txBody>
      </p:sp>
      <p:sp>
        <p:nvSpPr>
          <p:cNvPr id="4" name="Rounded Rectangle 3"/>
          <p:cNvSpPr/>
          <p:nvPr/>
        </p:nvSpPr>
        <p:spPr>
          <a:xfrm>
            <a:off x="685800" y="3712463"/>
            <a:ext cx="10820095" cy="138988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069848" y="3950208"/>
            <a:ext cx="10241280" cy="1005840"/>
          </a:xfrm>
          <a:prstGeom prst="rect">
            <a:avLst/>
          </a:prstGeom>
          <a:noFill/>
        </p:spPr>
        <p:txBody>
          <a:bodyPr wrap="square" lIns="0" rIns="0" tIns="0" bIns="0" anchor="t">
            <a:spAutoFit/>
          </a:bodyPr>
          <a:lstStyle/>
          <a:p>
            <a:pPr algn="l">
              <a:lnSpc>
                <a:spcPct val="120000"/>
              </a:lnSpc>
            </a:pPr>
            <a:r>
              <a:rPr sz="1600" b="0" i="0">
                <a:solidFill>
                  <a:srgbClr val="D8E0EA"/>
                </a:solidFill>
                <a:latin typeface="Calibri"/>
              </a:rPr>
              <a:t>The agent stops generating the moment it knows. But whatever it already sent is sitting in your playback buffer — easily a second or two of speech — and it will keep talking over the user until you throw it away.</a:t>
            </a:r>
          </a:p>
        </p:txBody>
      </p:sp>
      <p:sp>
        <p:nvSpPr>
          <p:cNvPr id="6" name="TextBox 5"/>
          <p:cNvSpPr txBox="1"/>
          <p:nvPr/>
        </p:nvSpPr>
        <p:spPr>
          <a:xfrm>
            <a:off x="685800" y="5431536"/>
            <a:ext cx="10424160" cy="457200"/>
          </a:xfrm>
          <a:prstGeom prst="rect">
            <a:avLst/>
          </a:prstGeom>
          <a:noFill/>
        </p:spPr>
        <p:txBody>
          <a:bodyPr wrap="square" lIns="0" rIns="0" tIns="0" bIns="0" anchor="t">
            <a:spAutoFit/>
          </a:bodyPr>
          <a:lstStyle/>
          <a:p>
            <a:pPr algn="l"/>
            <a:r>
              <a:rPr sz="1450" b="0" i="1">
                <a:solidFill>
                  <a:srgbClr val="8FA0B3"/>
                </a:solidFill>
                <a:latin typeface="Calibri"/>
              </a:rPr>
              <a:t>That single responsibility gets its own step. It is the difference between a demo and something a person would willingly talk to.</a:t>
            </a:r>
          </a:p>
        </p:txBody>
      </p:sp>
      <p:sp>
        <p:nvSpPr>
          <p:cNvPr id="7" name="Rounded Rectangle 6"/>
          <p:cNvSpPr/>
          <p:nvPr/>
        </p:nvSpPr>
        <p:spPr>
          <a:xfrm>
            <a:off x="685800" y="5998464"/>
            <a:ext cx="2203704" cy="292608"/>
          </a:xfrm>
          <a:prstGeom prst="roundRect">
            <a:avLst>
              <a:gd name="adj" fmla="val 50000"/>
            </a:avLst>
          </a:prstGeom>
          <a:solidFill>
            <a:srgbClr val="2E231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FFB454"/>
                </a:solidFill>
                <a:latin typeface="Calibri"/>
              </a:rPr>
              <a:t>COMING UP — STEP 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85800" y="566928"/>
            <a:ext cx="10820095" cy="658368"/>
          </a:xfrm>
          <a:prstGeom prst="rect">
            <a:avLst/>
          </a:prstGeom>
          <a:noFill/>
        </p:spPr>
        <p:txBody>
          <a:bodyPr wrap="square" lIns="0" rIns="0" tIns="0" bIns="0" anchor="t">
            <a:spAutoFit/>
          </a:bodyPr>
          <a:lstStyle/>
          <a:p>
            <a:pPr algn="l"/>
            <a:r>
              <a:rPr sz="3600" b="1" i="0">
                <a:solidFill>
                  <a:srgbClr val="FFFFFF"/>
                </a:solidFill>
                <a:latin typeface="Calibri"/>
              </a:rPr>
              <a:t>How the workshop is laid out</a:t>
            </a:r>
          </a:p>
        </p:txBody>
      </p:sp>
      <p:sp>
        <p:nvSpPr>
          <p:cNvPr id="3" name="TextBox 2"/>
          <p:cNvSpPr txBox="1"/>
          <p:nvPr/>
        </p:nvSpPr>
        <p:spPr>
          <a:xfrm>
            <a:off x="685800" y="1280160"/>
            <a:ext cx="10820095" cy="640080"/>
          </a:xfrm>
          <a:prstGeom prst="rect">
            <a:avLst/>
          </a:prstGeom>
          <a:noFill/>
        </p:spPr>
        <p:txBody>
          <a:bodyPr wrap="square" lIns="0" rIns="0" tIns="0" bIns="0" anchor="t">
            <a:spAutoFit/>
          </a:bodyPr>
          <a:lstStyle/>
          <a:p>
            <a:pPr algn="l">
              <a:lnSpc>
                <a:spcPct val="115000"/>
              </a:lnSpc>
            </a:pPr>
            <a:r>
              <a:rPr sz="1600" b="0" i="0">
                <a:solidFill>
                  <a:srgbClr val="8FA0B3"/>
                </a:solidFill>
                <a:latin typeface="Calibri"/>
              </a:rPr>
              <a:t>Every step folder holds the finished state of the step before it.</a:t>
            </a:r>
          </a:p>
        </p:txBody>
      </p:sp>
      <p:sp>
        <p:nvSpPr>
          <p:cNvPr id="4" name="Oval 3"/>
          <p:cNvSpPr/>
          <p:nvPr/>
        </p:nvSpPr>
        <p:spPr>
          <a:xfrm>
            <a:off x="685800" y="1984248"/>
            <a:ext cx="128016" cy="128016"/>
          </a:xfrm>
          <a:prstGeom prst="ellipse">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996696" y="1883664"/>
            <a:ext cx="6455664" cy="1088136"/>
          </a:xfrm>
          <a:prstGeom prst="rect">
            <a:avLst/>
          </a:prstGeom>
          <a:noFill/>
        </p:spPr>
        <p:txBody>
          <a:bodyPr wrap="square" lIns="0" rIns="0" tIns="0" bIns="0" anchor="t">
            <a:spAutoFit/>
          </a:bodyPr>
          <a:lstStyle/>
          <a:p>
            <a:pPr algn="l">
              <a:spcAft>
                <a:spcPts val="100"/>
              </a:spcAft>
            </a:pPr>
            <a:r>
              <a:rPr sz="1650" b="1" i="0">
                <a:solidFill>
                  <a:srgbClr val="FFFFFF"/>
                </a:solidFill>
                <a:latin typeface="Calibri"/>
              </a:rPr>
              <a:t>Every step is a complete, working program</a:t>
            </a:r>
          </a:p>
          <a:p>
            <a:pPr algn="l">
              <a:lnSpc>
                <a:spcPct val="105000"/>
              </a:lnSpc>
            </a:pPr>
            <a:r>
              <a:rPr sz="1300" b="0" i="0">
                <a:solidFill>
                  <a:srgbClr val="8FA0B3"/>
                </a:solidFill>
                <a:latin typeface="Calibri"/>
              </a:rPr>
              <a:t>steps/03-hear-the-agent/main.py already does everything Steps 1 and 2 built. You open it, run it, and add the piece that step is about.</a:t>
            </a:r>
          </a:p>
        </p:txBody>
      </p:sp>
      <p:sp>
        <p:nvSpPr>
          <p:cNvPr id="6" name="Oval 5"/>
          <p:cNvSpPr/>
          <p:nvPr/>
        </p:nvSpPr>
        <p:spPr>
          <a:xfrm>
            <a:off x="685800" y="3118103"/>
            <a:ext cx="128016" cy="128016"/>
          </a:xfrm>
          <a:prstGeom prst="ellipse">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96696" y="3017520"/>
            <a:ext cx="6455664" cy="1088136"/>
          </a:xfrm>
          <a:prstGeom prst="rect">
            <a:avLst/>
          </a:prstGeom>
          <a:noFill/>
        </p:spPr>
        <p:txBody>
          <a:bodyPr wrap="square" lIns="0" rIns="0" tIns="0" bIns="0" anchor="t">
            <a:spAutoFit/>
          </a:bodyPr>
          <a:lstStyle/>
          <a:p>
            <a:pPr algn="l">
              <a:spcAft>
                <a:spcPts val="100"/>
              </a:spcAft>
            </a:pPr>
            <a:r>
              <a:rPr sz="1650" b="1" i="0">
                <a:solidFill>
                  <a:srgbClr val="FFFFFF"/>
                </a:solidFill>
                <a:latin typeface="Calibri"/>
              </a:rPr>
              <a:t>Falling behind is survivable</a:t>
            </a:r>
          </a:p>
          <a:p>
            <a:pPr algn="l">
              <a:lnSpc>
                <a:spcPct val="105000"/>
              </a:lnSpc>
            </a:pPr>
            <a:r>
              <a:rPr sz="1300" b="0" i="0">
                <a:solidFill>
                  <a:srgbClr val="8FA0B3"/>
                </a:solidFill>
                <a:latin typeface="Calibri"/>
              </a:rPr>
              <a:t>Stuck on Step 3 when the room hits Step 5? Skip to steps/05-barge-in/ and keep going. You lose the typing, not the workshop.</a:t>
            </a:r>
          </a:p>
        </p:txBody>
      </p:sp>
      <p:sp>
        <p:nvSpPr>
          <p:cNvPr id="8" name="Oval 7"/>
          <p:cNvSpPr/>
          <p:nvPr/>
        </p:nvSpPr>
        <p:spPr>
          <a:xfrm>
            <a:off x="685800" y="4251960"/>
            <a:ext cx="128016" cy="128016"/>
          </a:xfrm>
          <a:prstGeom prst="ellipse">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96696" y="4151376"/>
            <a:ext cx="6455664" cy="1088136"/>
          </a:xfrm>
          <a:prstGeom prst="rect">
            <a:avLst/>
          </a:prstGeom>
          <a:noFill/>
        </p:spPr>
        <p:txBody>
          <a:bodyPr wrap="square" lIns="0" rIns="0" tIns="0" bIns="0" anchor="t">
            <a:spAutoFit/>
          </a:bodyPr>
          <a:lstStyle/>
          <a:p>
            <a:pPr algn="l">
              <a:spcAft>
                <a:spcPts val="100"/>
              </a:spcAft>
            </a:pPr>
            <a:r>
              <a:rPr sz="1650" b="1" i="0">
                <a:solidFill>
                  <a:srgbClr val="FFFFFF"/>
                </a:solidFill>
                <a:latin typeface="Calibri"/>
              </a:rPr>
              <a:t>The next folder is the answer key</a:t>
            </a:r>
          </a:p>
          <a:p>
            <a:pPr algn="l">
              <a:lnSpc>
                <a:spcPct val="105000"/>
              </a:lnSpc>
            </a:pPr>
            <a:r>
              <a:rPr sz="1300" b="0" i="0">
                <a:solidFill>
                  <a:srgbClr val="8FA0B3"/>
                </a:solidFill>
                <a:latin typeface="Calibri"/>
              </a:rPr>
              <a:t>steps/04-talk-to-the-agent/main.py is Step 3, finished. Check it when you're stuck rather than waiting for a helper.</a:t>
            </a:r>
          </a:p>
        </p:txBody>
      </p:sp>
      <p:sp>
        <p:nvSpPr>
          <p:cNvPr id="10" name="Rounded Rectangle 9"/>
          <p:cNvSpPr/>
          <p:nvPr/>
        </p:nvSpPr>
        <p:spPr>
          <a:xfrm>
            <a:off x="7818120" y="1883664"/>
            <a:ext cx="3685032" cy="3035808"/>
          </a:xfrm>
          <a:prstGeom prst="roundRect">
            <a:avLst>
              <a:gd name="adj" fmla="val 5000"/>
            </a:avLst>
          </a:prstGeom>
          <a:solidFill>
            <a:srgbClr val="0C13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074152" y="2084832"/>
            <a:ext cx="3227832" cy="2697479"/>
          </a:xfrm>
          <a:prstGeom prst="rect">
            <a:avLst/>
          </a:prstGeom>
          <a:noFill/>
        </p:spPr>
        <p:txBody>
          <a:bodyPr wrap="square" lIns="0" rIns="0" tIns="0" bIns="0" anchor="t">
            <a:spAutoFit/>
          </a:bodyPr>
          <a:lstStyle/>
          <a:p>
            <a:pPr algn="l">
              <a:lnSpc>
                <a:spcPct val="100000"/>
              </a:lnSpc>
              <a:spcAft>
                <a:spcPts val="300"/>
              </a:spcAft>
            </a:pPr>
            <a:r>
              <a:rPr sz="1200" b="0" i="0">
                <a:solidFill>
                  <a:srgbClr val="8FA0B3"/>
                </a:solidFill>
                <a:latin typeface="Courier New"/>
              </a:rPr>
              <a:t>steps/</a:t>
            </a:r>
          </a:p>
          <a:p>
            <a:pPr algn="l">
              <a:lnSpc>
                <a:spcPct val="100000"/>
              </a:lnSpc>
              <a:spcAft>
                <a:spcPts val="300"/>
              </a:spcAft>
            </a:pPr>
            <a:r>
              <a:rPr sz="1200" b="0" i="0">
                <a:solidFill>
                  <a:srgbClr val="5D6E80"/>
                </a:solidFill>
                <a:latin typeface="Courier New"/>
              </a:rPr>
              <a:t>  00-overview/</a:t>
            </a:r>
          </a:p>
          <a:p>
            <a:pPr algn="l">
              <a:lnSpc>
                <a:spcPct val="100000"/>
              </a:lnSpc>
              <a:spcAft>
                <a:spcPts val="300"/>
              </a:spcAft>
            </a:pPr>
            <a:r>
              <a:rPr sz="1200" b="0" i="0">
                <a:solidFill>
                  <a:srgbClr val="5D6E80"/>
                </a:solidFill>
                <a:latin typeface="Courier New"/>
              </a:rPr>
              <a:t>  01-setup/</a:t>
            </a:r>
          </a:p>
          <a:p>
            <a:pPr algn="l">
              <a:lnSpc>
                <a:spcPct val="100000"/>
              </a:lnSpc>
              <a:spcAft>
                <a:spcPts val="300"/>
              </a:spcAft>
            </a:pPr>
            <a:r>
              <a:rPr sz="1200" b="0" i="0">
                <a:solidFill>
                  <a:srgbClr val="5D6E80"/>
                </a:solidFill>
                <a:latin typeface="Courier New"/>
              </a:rPr>
              <a:t>  02-connect/</a:t>
            </a:r>
          </a:p>
          <a:p>
            <a:pPr algn="l">
              <a:lnSpc>
                <a:spcPct val="100000"/>
              </a:lnSpc>
              <a:spcAft>
                <a:spcPts val="300"/>
              </a:spcAft>
            </a:pPr>
            <a:r>
              <a:rPr sz="1200" b="0" i="0">
                <a:solidFill>
                  <a:srgbClr val="13EF93"/>
                </a:solidFill>
                <a:latin typeface="Courier New"/>
              </a:rPr>
              <a:t>  03-hear-the-agent/</a:t>
            </a:r>
          </a:p>
          <a:p>
            <a:pPr algn="l">
              <a:lnSpc>
                <a:spcPct val="100000"/>
              </a:lnSpc>
              <a:spcAft>
                <a:spcPts val="300"/>
              </a:spcAft>
            </a:pPr>
            <a:r>
              <a:rPr sz="1200" b="0" i="0">
                <a:solidFill>
                  <a:srgbClr val="8FA0B3"/>
                </a:solidFill>
                <a:latin typeface="Courier New"/>
              </a:rPr>
              <a:t>     LAB.md</a:t>
            </a:r>
          </a:p>
          <a:p>
            <a:pPr algn="l">
              <a:lnSpc>
                <a:spcPct val="100000"/>
              </a:lnSpc>
              <a:spcAft>
                <a:spcPts val="300"/>
              </a:spcAft>
            </a:pPr>
            <a:r>
              <a:rPr sz="1200" b="0" i="0">
                <a:solidFill>
                  <a:srgbClr val="13EF93"/>
                </a:solidFill>
                <a:latin typeface="Courier New"/>
              </a:rPr>
              <a:t>     main.py   ← you</a:t>
            </a:r>
          </a:p>
          <a:p>
            <a:pPr algn="l">
              <a:lnSpc>
                <a:spcPct val="100000"/>
              </a:lnSpc>
              <a:spcAft>
                <a:spcPts val="300"/>
              </a:spcAft>
            </a:pPr>
            <a:r>
              <a:rPr sz="1200" b="0" i="0">
                <a:solidFill>
                  <a:srgbClr val="13EF93"/>
                </a:solidFill>
                <a:latin typeface="Courier New"/>
              </a:rPr>
              <a:t>  04-talk-to-the-agent/</a:t>
            </a:r>
          </a:p>
          <a:p>
            <a:pPr algn="l">
              <a:lnSpc>
                <a:spcPct val="100000"/>
              </a:lnSpc>
              <a:spcAft>
                <a:spcPts val="300"/>
              </a:spcAft>
            </a:pPr>
            <a:r>
              <a:rPr sz="1200" b="0" i="0">
                <a:solidFill>
                  <a:srgbClr val="FFB454"/>
                </a:solidFill>
                <a:latin typeface="Courier New"/>
              </a:rPr>
              <a:t>     main.py   ← answers</a:t>
            </a:r>
          </a:p>
          <a:p>
            <a:pPr algn="l">
              <a:lnSpc>
                <a:spcPct val="100000"/>
              </a:lnSpc>
              <a:spcAft>
                <a:spcPts val="300"/>
              </a:spcAft>
            </a:pPr>
            <a:r>
              <a:rPr sz="1200" b="0" i="0">
                <a:solidFill>
                  <a:srgbClr val="5D6E80"/>
                </a:solidFill>
                <a:latin typeface="Courier New"/>
              </a:rPr>
              <a:t>  ...</a:t>
            </a:r>
          </a:p>
          <a:p>
            <a:pPr algn="l">
              <a:lnSpc>
                <a:spcPct val="100000"/>
              </a:lnSpc>
              <a:spcAft>
                <a:spcPts val="300"/>
              </a:spcAft>
            </a:pPr>
            <a:r>
              <a:rPr sz="1200" b="0" i="0">
                <a:solidFill>
                  <a:srgbClr val="5D6E80"/>
                </a:solidFill>
                <a:latin typeface="Courier New"/>
              </a:rPr>
              <a:t>  99-final/</a:t>
            </a:r>
          </a:p>
        </p:txBody>
      </p:sp>
      <p:sp>
        <p:nvSpPr>
          <p:cNvPr id="12" name="Rounded Rectangle 11"/>
          <p:cNvSpPr/>
          <p:nvPr/>
        </p:nvSpPr>
        <p:spPr>
          <a:xfrm>
            <a:off x="685800" y="5230368"/>
            <a:ext cx="10820095" cy="822960"/>
          </a:xfrm>
          <a:prstGeom prst="roundRect">
            <a:avLst>
              <a:gd name="adj" fmla="val 6000"/>
            </a:avLst>
          </a:prstGeom>
          <a:solidFill>
            <a:srgbClr val="1C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69848" y="5413248"/>
            <a:ext cx="10241280" cy="457200"/>
          </a:xfrm>
          <a:prstGeom prst="rect">
            <a:avLst/>
          </a:prstGeom>
          <a:noFill/>
        </p:spPr>
        <p:txBody>
          <a:bodyPr wrap="square" lIns="0" rIns="0" tIns="0" bIns="0" anchor="t">
            <a:spAutoFit/>
          </a:bodyPr>
          <a:lstStyle/>
          <a:p>
            <a:pPr algn="l"/>
            <a:r>
              <a:rPr sz="1450" b="0" i="0">
                <a:solidFill>
                  <a:srgbClr val="D8E0EA"/>
                </a:solidFill>
                <a:latin typeface="Calibri"/>
              </a:rPr>
              <a:t>Work the TODO (Step N.x) blocks in main.py, in order. LAB.md explains why each one matters, and marks where we regroup.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4070A"/>
        </a:solidFill>
        <a:effectLst/>
      </p:bgPr>
    </p:bg>
    <p:spTree>
      <p:nvGrpSpPr>
        <p:cNvPr id="1" name=""/>
        <p:cNvGrpSpPr/>
        <p:nvPr/>
      </p:nvGrpSpPr>
      <p:grpSpPr/>
      <p:sp>
        <p:nvSpPr>
          <p:cNvPr id="2" name="TextBox 1"/>
          <p:cNvSpPr txBox="1"/>
          <p:nvPr/>
        </p:nvSpPr>
        <p:spPr>
          <a:xfrm>
            <a:off x="7985455" y="502920"/>
            <a:ext cx="3749039" cy="3108960"/>
          </a:xfrm>
          <a:prstGeom prst="rect">
            <a:avLst/>
          </a:prstGeom>
          <a:noFill/>
        </p:spPr>
        <p:txBody>
          <a:bodyPr wrap="square" lIns="0" rIns="0" tIns="0" bIns="0" anchor="t">
            <a:spAutoFit/>
          </a:bodyPr>
          <a:lstStyle/>
          <a:p>
            <a:pPr algn="r"/>
            <a:r>
              <a:rPr sz="22000" b="1" i="0">
                <a:solidFill>
                  <a:srgbClr val="0C1A15"/>
                </a:solidFill>
                <a:latin typeface="Calibri"/>
              </a:rPr>
              <a:t>02</a:t>
            </a:r>
          </a:p>
        </p:txBody>
      </p:sp>
      <p:sp>
        <p:nvSpPr>
          <p:cNvPr id="3" name="Rectangle 2"/>
          <p:cNvSpPr/>
          <p:nvPr/>
        </p:nvSpPr>
        <p:spPr>
          <a:xfrm>
            <a:off x="685800" y="2798064"/>
            <a:ext cx="822960" cy="45720"/>
          </a:xfrm>
          <a:prstGeom prst="rect">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685800" y="2148840"/>
            <a:ext cx="7315200" cy="365760"/>
          </a:xfrm>
          <a:prstGeom prst="rect">
            <a:avLst/>
          </a:prstGeom>
          <a:noFill/>
        </p:spPr>
        <p:txBody>
          <a:bodyPr wrap="square" lIns="0" rIns="0" tIns="0" bIns="0" anchor="t">
            <a:spAutoFit/>
          </a:bodyPr>
          <a:lstStyle/>
          <a:p>
            <a:pPr algn="l"/>
            <a:r>
              <a:rPr sz="1250" b="1" i="0">
                <a:solidFill>
                  <a:srgbClr val="13EF93"/>
                </a:solidFill>
                <a:latin typeface="Calibri"/>
              </a:rPr>
              <a:t>SECTION 02</a:t>
            </a:r>
          </a:p>
        </p:txBody>
      </p:sp>
      <p:sp>
        <p:nvSpPr>
          <p:cNvPr id="5" name="TextBox 4"/>
          <p:cNvSpPr txBox="1"/>
          <p:nvPr/>
        </p:nvSpPr>
        <p:spPr>
          <a:xfrm>
            <a:off x="685800" y="3035808"/>
            <a:ext cx="8595360" cy="914400"/>
          </a:xfrm>
          <a:prstGeom prst="rect">
            <a:avLst/>
          </a:prstGeom>
          <a:noFill/>
        </p:spPr>
        <p:txBody>
          <a:bodyPr wrap="square" lIns="0" rIns="0" tIns="0" bIns="0" anchor="t">
            <a:spAutoFit/>
          </a:bodyPr>
          <a:lstStyle/>
          <a:p>
            <a:pPr algn="l"/>
            <a:r>
              <a:rPr sz="5200" b="1" i="0">
                <a:solidFill>
                  <a:srgbClr val="FFFFFF"/>
                </a:solidFill>
                <a:latin typeface="Calibri"/>
              </a:rPr>
              <a:t>Build the agent</a:t>
            </a:r>
          </a:p>
        </p:txBody>
      </p:sp>
      <p:sp>
        <p:nvSpPr>
          <p:cNvPr id="6" name="TextBox 5"/>
          <p:cNvSpPr txBox="1"/>
          <p:nvPr/>
        </p:nvSpPr>
        <p:spPr>
          <a:xfrm>
            <a:off x="685800" y="4096512"/>
            <a:ext cx="7863840" cy="822960"/>
          </a:xfrm>
          <a:prstGeom prst="rect">
            <a:avLst/>
          </a:prstGeom>
          <a:noFill/>
        </p:spPr>
        <p:txBody>
          <a:bodyPr wrap="square" lIns="0" rIns="0" tIns="0" bIns="0" anchor="t">
            <a:spAutoFit/>
          </a:bodyPr>
          <a:lstStyle/>
          <a:p>
            <a:pPr algn="l">
              <a:lnSpc>
                <a:spcPct val="120000"/>
              </a:lnSpc>
            </a:pPr>
            <a:r>
              <a:rPr sz="1700" b="0" i="0">
                <a:solidFill>
                  <a:srgbClr val="8FA0B3"/>
                </a:solidFill>
                <a:latin typeface="Calibri"/>
              </a:rPr>
              <a:t>Connect, hear it, talk to it, and make it yield the floor. Five steps that end with a voice agent you can hold a conversation with.</a:t>
            </a:r>
          </a:p>
        </p:txBody>
      </p:sp>
      <p:sp>
        <p:nvSpPr>
          <p:cNvPr id="7" name="TextBox 6"/>
          <p:cNvSpPr txBox="1"/>
          <p:nvPr/>
        </p:nvSpPr>
        <p:spPr>
          <a:xfrm>
            <a:off x="685800" y="5138928"/>
            <a:ext cx="7863840" cy="365760"/>
          </a:xfrm>
          <a:prstGeom prst="rect">
            <a:avLst/>
          </a:prstGeom>
          <a:noFill/>
        </p:spPr>
        <p:txBody>
          <a:bodyPr wrap="square" lIns="0" rIns="0" tIns="0" bIns="0" anchor="t">
            <a:spAutoFit/>
          </a:bodyPr>
          <a:lstStyle/>
          <a:p>
            <a:pPr algn="l"/>
            <a:r>
              <a:rPr sz="1300" b="0" i="0">
                <a:solidFill>
                  <a:srgbClr val="5D6E80"/>
                </a:solidFill>
                <a:latin typeface="Courier New"/>
              </a:rPr>
              <a:t>Steps 1 – 5  ·  0:10 – 2:15  ·  the core of the workshop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Rounded Rectangle 1"/>
          <p:cNvSpPr/>
          <p:nvPr/>
        </p:nvSpPr>
        <p:spPr>
          <a:xfrm>
            <a:off x="685800" y="384048"/>
            <a:ext cx="941832" cy="292608"/>
          </a:xfrm>
          <a:prstGeom prst="roundRect">
            <a:avLst>
              <a:gd name="adj" fmla="val 50000"/>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04120C"/>
                </a:solidFill>
                <a:latin typeface="Calibri"/>
              </a:rPr>
              <a:t>STEP 1</a:t>
            </a:r>
          </a:p>
        </p:txBody>
      </p:sp>
      <p:sp>
        <p:nvSpPr>
          <p:cNvPr id="3" name="TextBox 2"/>
          <p:cNvSpPr txBox="1"/>
          <p:nvPr/>
        </p:nvSpPr>
        <p:spPr>
          <a:xfrm>
            <a:off x="1828800" y="402336"/>
            <a:ext cx="3108960" cy="274320"/>
          </a:xfrm>
          <a:prstGeom prst="rect">
            <a:avLst/>
          </a:prstGeom>
          <a:noFill/>
        </p:spPr>
        <p:txBody>
          <a:bodyPr wrap="square" lIns="0" rIns="0" tIns="0" bIns="0" anchor="t">
            <a:spAutoFit/>
          </a:bodyPr>
          <a:lstStyle/>
          <a:p>
            <a:pPr algn="l"/>
            <a:r>
              <a:rPr sz="1250" b="1" i="0">
                <a:solidFill>
                  <a:srgbClr val="8FA0B3"/>
                </a:solidFill>
                <a:latin typeface="Calibri"/>
              </a:rPr>
              <a:t>0:10  ·  15 min</a:t>
            </a:r>
          </a:p>
        </p:txBody>
      </p:sp>
      <p:sp>
        <p:nvSpPr>
          <p:cNvPr id="4" name="Rounded Rectangle 3"/>
          <p:cNvSpPr/>
          <p:nvPr/>
        </p:nvSpPr>
        <p:spPr>
          <a:xfrm>
            <a:off x="9505188" y="384048"/>
            <a:ext cx="2000707" cy="292608"/>
          </a:xfrm>
          <a:prstGeom prst="roundRect">
            <a:avLst>
              <a:gd name="adj" fmla="val 50000"/>
            </a:avLst>
          </a:prstGeom>
          <a:solidFill>
            <a:srgbClr val="070B10"/>
          </a:solidFill>
          <a:ln w="12700">
            <a:solidFill>
              <a:srgbClr val="2C3A4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i="0">
                <a:solidFill>
                  <a:srgbClr val="5D6E80"/>
                </a:solidFill>
                <a:latin typeface="Calibri"/>
              </a:rPr>
              <a:t>EASY MODE — LAB 1</a:t>
            </a:r>
          </a:p>
        </p:txBody>
      </p:sp>
      <p:sp>
        <p:nvSpPr>
          <p:cNvPr id="5" name="TextBox 4"/>
          <p:cNvSpPr txBox="1"/>
          <p:nvPr/>
        </p:nvSpPr>
        <p:spPr>
          <a:xfrm>
            <a:off x="685800" y="859536"/>
            <a:ext cx="10820095" cy="658368"/>
          </a:xfrm>
          <a:prstGeom prst="rect">
            <a:avLst/>
          </a:prstGeom>
          <a:noFill/>
        </p:spPr>
        <p:txBody>
          <a:bodyPr wrap="square" lIns="0" rIns="0" tIns="0" bIns="0" anchor="t">
            <a:spAutoFit/>
          </a:bodyPr>
          <a:lstStyle/>
          <a:p>
            <a:pPr algn="l"/>
            <a:r>
              <a:rPr sz="3600" b="1" i="0">
                <a:solidFill>
                  <a:srgbClr val="FFFFFF"/>
                </a:solidFill>
                <a:latin typeface="Calibri"/>
              </a:rPr>
              <a:t>Setup</a:t>
            </a:r>
          </a:p>
        </p:txBody>
      </p:sp>
      <p:sp>
        <p:nvSpPr>
          <p:cNvPr id="6" name="TextBox 5"/>
          <p:cNvSpPr txBox="1"/>
          <p:nvPr/>
        </p:nvSpPr>
        <p:spPr>
          <a:xfrm>
            <a:off x="685800" y="1591056"/>
            <a:ext cx="10424160" cy="640080"/>
          </a:xfrm>
          <a:prstGeom prst="rect">
            <a:avLst/>
          </a:prstGeom>
          <a:noFill/>
        </p:spPr>
        <p:txBody>
          <a:bodyPr wrap="square" lIns="0" rIns="0" tIns="0" bIns="0" anchor="t">
            <a:spAutoFit/>
          </a:bodyPr>
          <a:lstStyle/>
          <a:p>
            <a:pPr algn="l">
              <a:lnSpc>
                <a:spcPct val="115000"/>
              </a:lnSpc>
            </a:pPr>
            <a:r>
              <a:rPr sz="1600" b="0" i="0">
                <a:solidFill>
                  <a:srgbClr val="8FA0B3"/>
                </a:solidFill>
                <a:latin typeface="Calibri"/>
              </a:rPr>
              <a:t>Prove this machine can reach Deepgram and move audio in both directions, before any of it matters.</a:t>
            </a:r>
          </a:p>
        </p:txBody>
      </p:sp>
      <p:sp>
        <p:nvSpPr>
          <p:cNvPr id="7" name="Rounded Rectangle 6"/>
          <p:cNvSpPr/>
          <p:nvPr/>
        </p:nvSpPr>
        <p:spPr>
          <a:xfrm>
            <a:off x="685800" y="2157984"/>
            <a:ext cx="5257800" cy="1700784"/>
          </a:xfrm>
          <a:prstGeom prst="roundRect">
            <a:avLst>
              <a:gd name="adj" fmla="val 5000"/>
            </a:avLst>
          </a:prstGeom>
          <a:solidFill>
            <a:srgbClr val="0C13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2340864"/>
            <a:ext cx="4800600" cy="237744"/>
          </a:xfrm>
          <a:prstGeom prst="rect">
            <a:avLst/>
          </a:prstGeom>
          <a:noFill/>
        </p:spPr>
        <p:txBody>
          <a:bodyPr wrap="square" lIns="0" rIns="0" tIns="0" bIns="0" anchor="t">
            <a:spAutoFit/>
          </a:bodyPr>
          <a:lstStyle/>
          <a:p>
            <a:pPr algn="l"/>
            <a:r>
              <a:rPr sz="1050" b="1" i="0">
                <a:solidFill>
                  <a:srgbClr val="5D6E80"/>
                </a:solidFill>
                <a:latin typeface="Calibri"/>
              </a:rPr>
              <a:t>RUN THIS</a:t>
            </a:r>
          </a:p>
        </p:txBody>
      </p:sp>
      <p:sp>
        <p:nvSpPr>
          <p:cNvPr id="9" name="TextBox 8"/>
          <p:cNvSpPr txBox="1"/>
          <p:nvPr/>
        </p:nvSpPr>
        <p:spPr>
          <a:xfrm>
            <a:off x="941832" y="2670048"/>
            <a:ext cx="4800600" cy="1051560"/>
          </a:xfrm>
          <a:prstGeom prst="rect">
            <a:avLst/>
          </a:prstGeom>
          <a:noFill/>
        </p:spPr>
        <p:txBody>
          <a:bodyPr wrap="square" lIns="0" rIns="0" tIns="0" bIns="0" anchor="t">
            <a:spAutoFit/>
          </a:bodyPr>
          <a:lstStyle/>
          <a:p>
            <a:pPr algn="l">
              <a:lnSpc>
                <a:spcPct val="100000"/>
              </a:lnSpc>
              <a:spcAft>
                <a:spcPts val="300"/>
              </a:spcAft>
            </a:pPr>
            <a:r>
              <a:rPr sz="1350" b="0" i="0">
                <a:solidFill>
                  <a:srgbClr val="13EF93"/>
                </a:solidFill>
                <a:latin typeface="Courier New"/>
              </a:rPr>
              <a:t>uv sync</a:t>
            </a:r>
          </a:p>
          <a:p>
            <a:pPr algn="l">
              <a:lnSpc>
                <a:spcPct val="100000"/>
              </a:lnSpc>
              <a:spcAft>
                <a:spcPts val="300"/>
              </a:spcAft>
            </a:pPr>
            <a:r>
              <a:rPr sz="1350" b="0" i="0">
                <a:solidFill>
                  <a:srgbClr val="13EF93"/>
                </a:solidFill>
                <a:latin typeface="Courier New"/>
              </a:rPr>
              <a:t>cp .env.example .env</a:t>
            </a:r>
          </a:p>
          <a:p>
            <a:pPr algn="l">
              <a:lnSpc>
                <a:spcPct val="100000"/>
              </a:lnSpc>
              <a:spcAft>
                <a:spcPts val="300"/>
              </a:spcAft>
            </a:pPr>
            <a:r>
              <a:rPr sz="1350" b="0" i="0">
                <a:solidFill>
                  <a:srgbClr val="13EF93"/>
                </a:solidFill>
                <a:latin typeface="Courier New"/>
              </a:rPr>
              <a:t>uv run steps/01-setup/main.py</a:t>
            </a:r>
          </a:p>
        </p:txBody>
      </p:sp>
      <p:sp>
        <p:nvSpPr>
          <p:cNvPr id="10" name="TextBox 9"/>
          <p:cNvSpPr txBox="1"/>
          <p:nvPr/>
        </p:nvSpPr>
        <p:spPr>
          <a:xfrm>
            <a:off x="685800" y="4005072"/>
            <a:ext cx="5257800" cy="914400"/>
          </a:xfrm>
          <a:prstGeom prst="rect">
            <a:avLst/>
          </a:prstGeom>
          <a:noFill/>
        </p:spPr>
        <p:txBody>
          <a:bodyPr wrap="square" lIns="0" rIns="0" tIns="0" bIns="0" anchor="t">
            <a:spAutoFit/>
          </a:bodyPr>
          <a:lstStyle/>
          <a:p>
            <a:pPr algn="l">
              <a:lnSpc>
                <a:spcPct val="112000"/>
              </a:lnSpc>
            </a:pPr>
            <a:r>
              <a:rPr sz="1350" b="0" i="0">
                <a:solidFill>
                  <a:srgbClr val="8FA0B3"/>
                </a:solidFill>
                <a:latin typeface="Calibri"/>
              </a:rPr>
              <a:t>One virtual environment serves every step. They run uv sync once.</a:t>
            </a:r>
          </a:p>
        </p:txBody>
      </p:sp>
      <p:sp>
        <p:nvSpPr>
          <p:cNvPr id="11" name="Rounded Rectangle 10"/>
          <p:cNvSpPr/>
          <p:nvPr/>
        </p:nvSpPr>
        <p:spPr>
          <a:xfrm>
            <a:off x="6263640" y="2157984"/>
            <a:ext cx="5239512" cy="3054096"/>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74536" y="2377440"/>
            <a:ext cx="4617720" cy="274320"/>
          </a:xfrm>
          <a:prstGeom prst="rect">
            <a:avLst/>
          </a:prstGeom>
          <a:noFill/>
        </p:spPr>
        <p:txBody>
          <a:bodyPr wrap="square" lIns="0" rIns="0" tIns="0" bIns="0" anchor="t">
            <a:spAutoFit/>
          </a:bodyPr>
          <a:lstStyle/>
          <a:p>
            <a:pPr algn="l"/>
            <a:r>
              <a:rPr sz="1100" b="1" i="0">
                <a:solidFill>
                  <a:srgbClr val="13EF93"/>
                </a:solidFill>
                <a:latin typeface="Calibri"/>
              </a:rPr>
              <a:t>WHAT IT ACTUALLY CHECKS</a:t>
            </a:r>
          </a:p>
        </p:txBody>
      </p:sp>
      <p:sp>
        <p:nvSpPr>
          <p:cNvPr id="13" name="Oval 12"/>
          <p:cNvSpPr/>
          <p:nvPr/>
        </p:nvSpPr>
        <p:spPr>
          <a:xfrm>
            <a:off x="6574536" y="2862072"/>
            <a:ext cx="91440" cy="91440"/>
          </a:xfrm>
          <a:prstGeom prst="ellipse">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85432" y="2761488"/>
            <a:ext cx="4306824" cy="448056"/>
          </a:xfrm>
          <a:prstGeom prst="rect">
            <a:avLst/>
          </a:prstGeom>
          <a:noFill/>
        </p:spPr>
        <p:txBody>
          <a:bodyPr wrap="square" lIns="0" rIns="0" tIns="0" bIns="0" anchor="t">
            <a:spAutoFit/>
          </a:bodyPr>
          <a:lstStyle/>
          <a:p>
            <a:pPr algn="l"/>
            <a:r>
              <a:rPr sz="1350" b="0" i="0">
                <a:solidFill>
                  <a:srgbClr val="D8E0EA"/>
                </a:solidFill>
                <a:latin typeface="Calibri"/>
              </a:rPr>
              <a:t>The key, with a real authenticated call</a:t>
            </a:r>
          </a:p>
        </p:txBody>
      </p:sp>
      <p:sp>
        <p:nvSpPr>
          <p:cNvPr id="15" name="Oval 14"/>
          <p:cNvSpPr/>
          <p:nvPr/>
        </p:nvSpPr>
        <p:spPr>
          <a:xfrm>
            <a:off x="6574536" y="3355848"/>
            <a:ext cx="91440" cy="91440"/>
          </a:xfrm>
          <a:prstGeom prst="ellipse">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85432" y="3255264"/>
            <a:ext cx="4306824" cy="448056"/>
          </a:xfrm>
          <a:prstGeom prst="rect">
            <a:avLst/>
          </a:prstGeom>
          <a:noFill/>
        </p:spPr>
        <p:txBody>
          <a:bodyPr wrap="square" lIns="0" rIns="0" tIns="0" bIns="0" anchor="t">
            <a:spAutoFit/>
          </a:bodyPr>
          <a:lstStyle/>
          <a:p>
            <a:pPr algn="l"/>
            <a:r>
              <a:rPr sz="1350" b="0" i="0">
                <a:solidFill>
                  <a:srgbClr val="D8E0EA"/>
                </a:solidFill>
                <a:latin typeface="Calibri"/>
              </a:rPr>
              <a:t>The region, and whether it serves all three models</a:t>
            </a:r>
          </a:p>
        </p:txBody>
      </p:sp>
      <p:sp>
        <p:nvSpPr>
          <p:cNvPr id="17" name="Oval 16"/>
          <p:cNvSpPr/>
          <p:nvPr/>
        </p:nvSpPr>
        <p:spPr>
          <a:xfrm>
            <a:off x="6574536" y="3849624"/>
            <a:ext cx="91440" cy="91440"/>
          </a:xfrm>
          <a:prstGeom prst="ellipse">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885432" y="3749039"/>
            <a:ext cx="4306824" cy="448056"/>
          </a:xfrm>
          <a:prstGeom prst="rect">
            <a:avLst/>
          </a:prstGeom>
          <a:noFill/>
        </p:spPr>
        <p:txBody>
          <a:bodyPr wrap="square" lIns="0" rIns="0" tIns="0" bIns="0" anchor="t">
            <a:spAutoFit/>
          </a:bodyPr>
          <a:lstStyle/>
          <a:p>
            <a:pPr algn="l"/>
            <a:r>
              <a:rPr sz="1350" b="0" i="0">
                <a:solidFill>
                  <a:srgbClr val="D8E0EA"/>
                </a:solidFill>
                <a:latin typeface="Calibri"/>
              </a:rPr>
              <a:t>Secure context — 127.0.0.1, not a LAN address</a:t>
            </a:r>
          </a:p>
        </p:txBody>
      </p:sp>
      <p:sp>
        <p:nvSpPr>
          <p:cNvPr id="19" name="Oval 18"/>
          <p:cNvSpPr/>
          <p:nvPr/>
        </p:nvSpPr>
        <p:spPr>
          <a:xfrm>
            <a:off x="6574536" y="4343400"/>
            <a:ext cx="91440" cy="91440"/>
          </a:xfrm>
          <a:prstGeom prst="ellipse">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85432" y="4242816"/>
            <a:ext cx="4306824" cy="448056"/>
          </a:xfrm>
          <a:prstGeom prst="rect">
            <a:avLst/>
          </a:prstGeom>
          <a:noFill/>
        </p:spPr>
        <p:txBody>
          <a:bodyPr wrap="square" lIns="0" rIns="0" tIns="0" bIns="0" anchor="t">
            <a:spAutoFit/>
          </a:bodyPr>
          <a:lstStyle/>
          <a:p>
            <a:pPr algn="l"/>
            <a:r>
              <a:rPr sz="1350" b="0" i="0">
                <a:solidFill>
                  <a:srgbClr val="D8E0EA"/>
                </a:solidFill>
                <a:latin typeface="Calibri"/>
              </a:rPr>
              <a:t>Microphone permission and input level</a:t>
            </a:r>
          </a:p>
        </p:txBody>
      </p:sp>
      <p:sp>
        <p:nvSpPr>
          <p:cNvPr id="21" name="Oval 20"/>
          <p:cNvSpPr/>
          <p:nvPr/>
        </p:nvSpPr>
        <p:spPr>
          <a:xfrm>
            <a:off x="6574536" y="4837176"/>
            <a:ext cx="91440" cy="91440"/>
          </a:xfrm>
          <a:prstGeom prst="ellipse">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85432" y="4736592"/>
            <a:ext cx="4306824" cy="448056"/>
          </a:xfrm>
          <a:prstGeom prst="rect">
            <a:avLst/>
          </a:prstGeom>
          <a:noFill/>
        </p:spPr>
        <p:txBody>
          <a:bodyPr wrap="square" lIns="0" rIns="0" tIns="0" bIns="0" anchor="t">
            <a:spAutoFit/>
          </a:bodyPr>
          <a:lstStyle/>
          <a:p>
            <a:pPr algn="l"/>
            <a:r>
              <a:rPr sz="1350" b="0" i="0">
                <a:solidFill>
                  <a:srgbClr val="D8E0EA"/>
                </a:solidFill>
                <a:latin typeface="Calibri"/>
              </a:rPr>
              <a:t>Speaker output, with an audible tone</a:t>
            </a:r>
          </a:p>
        </p:txBody>
      </p:sp>
      <p:sp>
        <p:nvSpPr>
          <p:cNvPr id="23" name="Rounded Rectangle 22"/>
          <p:cNvSpPr/>
          <p:nvPr/>
        </p:nvSpPr>
        <p:spPr>
          <a:xfrm>
            <a:off x="685800" y="5870448"/>
            <a:ext cx="10820095" cy="658368"/>
          </a:xfrm>
          <a:prstGeom prst="roundRect">
            <a:avLst>
              <a:gd name="adj" fmla="val 9000"/>
            </a:avLst>
          </a:prstGeom>
          <a:solidFill>
            <a:srgbClr val="2E231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950976" y="6044184"/>
            <a:ext cx="310896" cy="310896"/>
          </a:xfrm>
          <a:prstGeom prst="ellipse">
            <a:avLst/>
          </a:prstGeom>
          <a:noFill/>
          <a:ln w="1905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1036472" y="6134343"/>
            <a:ext cx="34198" cy="130576"/>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1142177" y="6134343"/>
            <a:ext cx="34198" cy="130576"/>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435607" y="5961888"/>
            <a:ext cx="1417320" cy="219456"/>
          </a:xfrm>
          <a:prstGeom prst="rect">
            <a:avLst/>
          </a:prstGeom>
          <a:noFill/>
        </p:spPr>
        <p:txBody>
          <a:bodyPr wrap="square" lIns="0" rIns="0" tIns="0" bIns="0" anchor="t">
            <a:spAutoFit/>
          </a:bodyPr>
          <a:lstStyle/>
          <a:p>
            <a:pPr algn="l"/>
            <a:r>
              <a:rPr sz="950" b="1" i="0">
                <a:solidFill>
                  <a:srgbClr val="FFB454"/>
                </a:solidFill>
                <a:latin typeface="Calibri"/>
              </a:rPr>
              <a:t>HOLD THE ROOM</a:t>
            </a:r>
          </a:p>
        </p:txBody>
      </p:sp>
      <p:sp>
        <p:nvSpPr>
          <p:cNvPr id="28" name="TextBox 27"/>
          <p:cNvSpPr txBox="1"/>
          <p:nvPr/>
        </p:nvSpPr>
        <p:spPr>
          <a:xfrm>
            <a:off x="1435607" y="6163056"/>
            <a:ext cx="9768535" cy="310896"/>
          </a:xfrm>
          <a:prstGeom prst="rect">
            <a:avLst/>
          </a:prstGeom>
          <a:noFill/>
        </p:spPr>
        <p:txBody>
          <a:bodyPr wrap="square" lIns="0" rIns="0" tIns="0" bIns="0" anchor="t">
            <a:spAutoFit/>
          </a:bodyPr>
          <a:lstStyle/>
          <a:p>
            <a:pPr algn="l"/>
            <a:r>
              <a:rPr sz="1400" b="0" i="0">
                <a:solidFill>
                  <a:srgbClr val="D8E0EA"/>
                </a:solidFill>
                <a:latin typeface="Calibri"/>
              </a:rPr>
              <a:t>Nobody proceeds without a green key line and a green “Agent started” line.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85800" y="566928"/>
            <a:ext cx="10820095" cy="658368"/>
          </a:xfrm>
          <a:prstGeom prst="rect">
            <a:avLst/>
          </a:prstGeom>
          <a:noFill/>
        </p:spPr>
        <p:txBody>
          <a:bodyPr wrap="square" lIns="0" rIns="0" tIns="0" bIns="0" anchor="t">
            <a:spAutoFit/>
          </a:bodyPr>
          <a:lstStyle/>
          <a:p>
            <a:pPr algn="l"/>
            <a:r>
              <a:rPr sz="3600" b="1" i="0">
                <a:solidFill>
                  <a:srgbClr val="FFFFFF"/>
                </a:solidFill>
                <a:latin typeface="Calibri"/>
              </a:rPr>
              <a:t>Step 1 — what “working” looks like</a:t>
            </a:r>
          </a:p>
        </p:txBody>
      </p:sp>
      <p:sp>
        <p:nvSpPr>
          <p:cNvPr id="3" name="Rounded Rectangle 2"/>
          <p:cNvSpPr/>
          <p:nvPr/>
        </p:nvSpPr>
        <p:spPr>
          <a:xfrm>
            <a:off x="685800" y="1389888"/>
            <a:ext cx="5532120" cy="2212848"/>
          </a:xfrm>
          <a:prstGeom prst="roundRect">
            <a:avLst>
              <a:gd name="adj" fmla="val 5000"/>
            </a:avLst>
          </a:prstGeom>
          <a:solidFill>
            <a:srgbClr val="0C13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41832" y="1572768"/>
            <a:ext cx="5074920" cy="237744"/>
          </a:xfrm>
          <a:prstGeom prst="rect">
            <a:avLst/>
          </a:prstGeom>
          <a:noFill/>
        </p:spPr>
        <p:txBody>
          <a:bodyPr wrap="square" lIns="0" rIns="0" tIns="0" bIns="0" anchor="t">
            <a:spAutoFit/>
          </a:bodyPr>
          <a:lstStyle/>
          <a:p>
            <a:pPr algn="l"/>
            <a:r>
              <a:rPr sz="1050" b="1" i="0">
                <a:solidFill>
                  <a:srgbClr val="5D6E80"/>
                </a:solidFill>
                <a:latin typeface="Calibri"/>
              </a:rPr>
              <a:t>IN THE TERMINAL</a:t>
            </a:r>
          </a:p>
        </p:txBody>
      </p:sp>
      <p:sp>
        <p:nvSpPr>
          <p:cNvPr id="5" name="TextBox 4"/>
          <p:cNvSpPr txBox="1"/>
          <p:nvPr/>
        </p:nvSpPr>
        <p:spPr>
          <a:xfrm>
            <a:off x="941832" y="1901952"/>
            <a:ext cx="5074920" cy="1563624"/>
          </a:xfrm>
          <a:prstGeom prst="rect">
            <a:avLst/>
          </a:prstGeom>
          <a:noFill/>
        </p:spPr>
        <p:txBody>
          <a:bodyPr wrap="square" lIns="0" rIns="0" tIns="0" bIns="0" anchor="t">
            <a:spAutoFit/>
          </a:bodyPr>
          <a:lstStyle/>
          <a:p>
            <a:pPr algn="l">
              <a:lnSpc>
                <a:spcPct val="100000"/>
              </a:lnSpc>
              <a:spcAft>
                <a:spcPts val="300"/>
              </a:spcAft>
            </a:pPr>
            <a:r>
              <a:rPr sz="1250" b="0" i="0">
                <a:solidFill>
                  <a:srgbClr val="13EF93"/>
                </a:solidFill>
                <a:latin typeface="Courier New"/>
              </a:rPr>
              <a:t>[  OK  ] DEEPGRAM_API_KEY found (84de...c2db)</a:t>
            </a:r>
          </a:p>
          <a:p>
            <a:pPr algn="l">
              <a:lnSpc>
                <a:spcPct val="100000"/>
              </a:lnSpc>
              <a:spcAft>
                <a:spcPts val="300"/>
              </a:spcAft>
            </a:pPr>
            <a:r>
              <a:rPr sz="1250" b="0" i="0">
                <a:solidFill>
                  <a:srgbClr val="13EF93"/>
                </a:solidFill>
                <a:latin typeface="Courier New"/>
              </a:rPr>
              <a:t>[  OK  ] Deepgram accepted the key</a:t>
            </a:r>
          </a:p>
          <a:p>
            <a:pPr algn="l">
              <a:lnSpc>
                <a:spcPct val="100000"/>
              </a:lnSpc>
              <a:spcAft>
                <a:spcPts val="300"/>
              </a:spcAft>
            </a:pPr>
            <a:r>
              <a:rPr sz="1250" b="0" i="0">
                <a:solidFill>
                  <a:srgbClr val="13EF93"/>
                </a:solidFill>
                <a:latin typeface="Courier New"/>
              </a:rPr>
              <a:t>[  OK  ] Region: global</a:t>
            </a:r>
          </a:p>
          <a:p>
            <a:pPr algn="l">
              <a:lnSpc>
                <a:spcPct val="100000"/>
              </a:lnSpc>
              <a:spcAft>
                <a:spcPts val="300"/>
              </a:spcAft>
            </a:pPr>
            <a:r>
              <a:rPr sz="1250" b="0" i="0">
                <a:solidFill>
                  <a:srgbClr val="13EF93"/>
                </a:solidFill>
                <a:latin typeface="Courier New"/>
              </a:rPr>
              <a:t>[  OK  ] Agent started</a:t>
            </a:r>
          </a:p>
          <a:p>
            <a:pPr algn="l">
              <a:lnSpc>
                <a:spcPct val="100000"/>
              </a:lnSpc>
              <a:spcAft>
                <a:spcPts val="300"/>
              </a:spcAft>
            </a:pPr>
            <a:r>
              <a:rPr sz="1250" b="0" i="0">
                <a:solidFill>
                  <a:srgbClr val="8FA0B3"/>
                </a:solidFill>
                <a:latin typeface="Courier New"/>
              </a:rPr>
              <a:t>         flux-general-en + gpt-4o-mini</a:t>
            </a:r>
          </a:p>
          <a:p>
            <a:pPr algn="l">
              <a:lnSpc>
                <a:spcPct val="100000"/>
              </a:lnSpc>
              <a:spcAft>
                <a:spcPts val="300"/>
              </a:spcAft>
            </a:pPr>
            <a:r>
              <a:rPr sz="1250" b="0" i="0">
                <a:solidFill>
                  <a:srgbClr val="8FA0B3"/>
                </a:solidFill>
                <a:latin typeface="Courier New"/>
              </a:rPr>
              <a:t>         + flux-alexis-en</a:t>
            </a:r>
          </a:p>
        </p:txBody>
      </p:sp>
      <p:sp>
        <p:nvSpPr>
          <p:cNvPr id="6" name="Rounded Rectangle 5"/>
          <p:cNvSpPr/>
          <p:nvPr/>
        </p:nvSpPr>
        <p:spPr>
          <a:xfrm>
            <a:off x="6537960" y="1389888"/>
            <a:ext cx="4965192" cy="2212848"/>
          </a:xfrm>
          <a:prstGeom prst="roundRect">
            <a:avLst>
              <a:gd name="adj" fmla="val 5000"/>
            </a:avLst>
          </a:prstGeom>
          <a:solidFill>
            <a:srgbClr val="0C13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793992" y="1572768"/>
            <a:ext cx="4507992" cy="237744"/>
          </a:xfrm>
          <a:prstGeom prst="rect">
            <a:avLst/>
          </a:prstGeom>
          <a:noFill/>
        </p:spPr>
        <p:txBody>
          <a:bodyPr wrap="square" lIns="0" rIns="0" tIns="0" bIns="0" anchor="t">
            <a:spAutoFit/>
          </a:bodyPr>
          <a:lstStyle/>
          <a:p>
            <a:pPr algn="l"/>
            <a:r>
              <a:rPr sz="1050" b="1" i="0">
                <a:solidFill>
                  <a:srgbClr val="5D6E80"/>
                </a:solidFill>
                <a:latin typeface="Calibri"/>
              </a:rPr>
              <a:t>IN THE BROWSER PAGE</a:t>
            </a:r>
          </a:p>
        </p:txBody>
      </p:sp>
      <p:sp>
        <p:nvSpPr>
          <p:cNvPr id="8" name="TextBox 7"/>
          <p:cNvSpPr txBox="1"/>
          <p:nvPr/>
        </p:nvSpPr>
        <p:spPr>
          <a:xfrm>
            <a:off x="6793992" y="1901952"/>
            <a:ext cx="4507992" cy="1563624"/>
          </a:xfrm>
          <a:prstGeom prst="rect">
            <a:avLst/>
          </a:prstGeom>
          <a:noFill/>
        </p:spPr>
        <p:txBody>
          <a:bodyPr wrap="square" lIns="0" rIns="0" tIns="0" bIns="0" anchor="t">
            <a:spAutoFit/>
          </a:bodyPr>
          <a:lstStyle/>
          <a:p>
            <a:pPr algn="l">
              <a:lnSpc>
                <a:spcPct val="100000"/>
              </a:lnSpc>
              <a:spcAft>
                <a:spcPts val="300"/>
              </a:spcAft>
            </a:pPr>
            <a:r>
              <a:rPr sz="1250" b="0" i="0">
                <a:solidFill>
                  <a:srgbClr val="13EF93"/>
                </a:solidFill>
                <a:latin typeface="Courier New"/>
              </a:rPr>
              <a:t>OK   Secure context</a:t>
            </a:r>
          </a:p>
          <a:p>
            <a:pPr algn="l">
              <a:lnSpc>
                <a:spcPct val="100000"/>
              </a:lnSpc>
              <a:spcAft>
                <a:spcPts val="300"/>
              </a:spcAft>
            </a:pPr>
            <a:r>
              <a:rPr sz="1250" b="0" i="0">
                <a:solidFill>
                  <a:srgbClr val="13EF93"/>
                </a:solidFill>
                <a:latin typeface="Courier New"/>
              </a:rPr>
              <a:t>OK   Audio support</a:t>
            </a:r>
          </a:p>
          <a:p>
            <a:pPr algn="l">
              <a:lnSpc>
                <a:spcPct val="100000"/>
              </a:lnSpc>
              <a:spcAft>
                <a:spcPts val="300"/>
              </a:spcAft>
            </a:pPr>
            <a:r>
              <a:rPr sz="1250" b="0" i="0">
                <a:solidFill>
                  <a:srgbClr val="13EF93"/>
                </a:solidFill>
                <a:latin typeface="Courier New"/>
              </a:rPr>
              <a:t>OK   Deepgram API key</a:t>
            </a:r>
          </a:p>
          <a:p>
            <a:pPr algn="l">
              <a:lnSpc>
                <a:spcPct val="100000"/>
              </a:lnSpc>
              <a:spcAft>
                <a:spcPts val="300"/>
              </a:spcAft>
            </a:pPr>
            <a:r>
              <a:rPr sz="1250" b="0" i="0">
                <a:solidFill>
                  <a:srgbClr val="13EF93"/>
                </a:solidFill>
                <a:latin typeface="Courier New"/>
              </a:rPr>
              <a:t>OK   Microphone      (peak 0.34)</a:t>
            </a:r>
          </a:p>
          <a:p>
            <a:pPr algn="l">
              <a:lnSpc>
                <a:spcPct val="100000"/>
              </a:lnSpc>
              <a:spcAft>
                <a:spcPts val="300"/>
              </a:spcAft>
            </a:pPr>
            <a:r>
              <a:rPr sz="1250" b="0" i="0">
                <a:solidFill>
                  <a:srgbClr val="13EF93"/>
                </a:solidFill>
                <a:latin typeface="Courier New"/>
              </a:rPr>
              <a:t>OK   Speaker         tone played</a:t>
            </a:r>
          </a:p>
        </p:txBody>
      </p:sp>
      <p:sp>
        <p:nvSpPr>
          <p:cNvPr id="9" name="Rounded Rectangle 8"/>
          <p:cNvSpPr/>
          <p:nvPr/>
        </p:nvSpPr>
        <p:spPr>
          <a:xfrm>
            <a:off x="685800" y="3840480"/>
            <a:ext cx="10820095" cy="1737360"/>
          </a:xfrm>
          <a:prstGeom prst="roundRect">
            <a:avLst>
              <a:gd name="adj" fmla="val 6000"/>
            </a:avLst>
          </a:prstGeom>
          <a:solidFill>
            <a:srgbClr val="1C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69848" y="4078224"/>
            <a:ext cx="10241280" cy="1280160"/>
          </a:xfrm>
          <a:prstGeom prst="rect">
            <a:avLst/>
          </a:prstGeom>
          <a:noFill/>
        </p:spPr>
        <p:txBody>
          <a:bodyPr wrap="square" lIns="0" rIns="0" tIns="0" bIns="0" anchor="t">
            <a:spAutoFit/>
          </a:bodyPr>
          <a:lstStyle/>
          <a:p>
            <a:pPr algn="l">
              <a:spcAft>
                <a:spcPts val="800"/>
              </a:spcAft>
            </a:pPr>
            <a:r>
              <a:rPr sz="1700" b="1" i="0">
                <a:solidFill>
                  <a:srgbClr val="13EF93"/>
                </a:solidFill>
                <a:latin typeface="Calibri"/>
              </a:rPr>
              <a:t>That fourth line is the one worth explaining.</a:t>
            </a:r>
          </a:p>
          <a:p>
            <a:pPr algn="l">
              <a:lnSpc>
                <a:spcPct val="116000"/>
              </a:lnSpc>
            </a:pPr>
            <a:r>
              <a:rPr sz="1450" b="0" i="0">
                <a:solidFill>
                  <a:srgbClr val="D8E0EA"/>
                </a:solidFill>
                <a:latin typeface="Calibri"/>
              </a:rPr>
              <a:t>The check opens the same WebSocket Step 2 opens, with the same three models, waits for the server to accept them, then hangs up without sending a byte of audio. A key that authenticates and a model that is actually served where you're connecting are two different questions — this is the one that answers the second.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Rounded Rectangle 1"/>
          <p:cNvSpPr/>
          <p:nvPr/>
        </p:nvSpPr>
        <p:spPr>
          <a:xfrm>
            <a:off x="685800" y="384048"/>
            <a:ext cx="941832" cy="292608"/>
          </a:xfrm>
          <a:prstGeom prst="roundRect">
            <a:avLst>
              <a:gd name="adj" fmla="val 50000"/>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04120C"/>
                </a:solidFill>
                <a:latin typeface="Calibri"/>
              </a:rPr>
              <a:t>STEP 2</a:t>
            </a:r>
          </a:p>
        </p:txBody>
      </p:sp>
      <p:sp>
        <p:nvSpPr>
          <p:cNvPr id="3" name="TextBox 2"/>
          <p:cNvSpPr txBox="1"/>
          <p:nvPr/>
        </p:nvSpPr>
        <p:spPr>
          <a:xfrm>
            <a:off x="1828800" y="402336"/>
            <a:ext cx="3108960" cy="274320"/>
          </a:xfrm>
          <a:prstGeom prst="rect">
            <a:avLst/>
          </a:prstGeom>
          <a:noFill/>
        </p:spPr>
        <p:txBody>
          <a:bodyPr wrap="square" lIns="0" rIns="0" tIns="0" bIns="0" anchor="t">
            <a:spAutoFit/>
          </a:bodyPr>
          <a:lstStyle/>
          <a:p>
            <a:pPr algn="l"/>
            <a:r>
              <a:rPr sz="1250" b="1" i="0">
                <a:solidFill>
                  <a:srgbClr val="8FA0B3"/>
                </a:solidFill>
                <a:latin typeface="Calibri"/>
              </a:rPr>
              <a:t>0:25  ·  20 min</a:t>
            </a:r>
          </a:p>
        </p:txBody>
      </p:sp>
      <p:sp>
        <p:nvSpPr>
          <p:cNvPr id="4" name="Rounded Rectangle 3"/>
          <p:cNvSpPr/>
          <p:nvPr/>
        </p:nvSpPr>
        <p:spPr>
          <a:xfrm>
            <a:off x="9505188" y="384048"/>
            <a:ext cx="2000707" cy="292608"/>
          </a:xfrm>
          <a:prstGeom prst="roundRect">
            <a:avLst>
              <a:gd name="adj" fmla="val 50000"/>
            </a:avLst>
          </a:prstGeom>
          <a:solidFill>
            <a:srgbClr val="070B10"/>
          </a:solidFill>
          <a:ln w="12700">
            <a:solidFill>
              <a:srgbClr val="2C3A4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i="0">
                <a:solidFill>
                  <a:srgbClr val="5D6E80"/>
                </a:solidFill>
                <a:latin typeface="Calibri"/>
              </a:rPr>
              <a:t>EASY MODE — LAB 1</a:t>
            </a:r>
          </a:p>
        </p:txBody>
      </p:sp>
      <p:sp>
        <p:nvSpPr>
          <p:cNvPr id="5" name="TextBox 4"/>
          <p:cNvSpPr txBox="1"/>
          <p:nvPr/>
        </p:nvSpPr>
        <p:spPr>
          <a:xfrm>
            <a:off x="685800" y="859536"/>
            <a:ext cx="10820095" cy="658368"/>
          </a:xfrm>
          <a:prstGeom prst="rect">
            <a:avLst/>
          </a:prstGeom>
          <a:noFill/>
        </p:spPr>
        <p:txBody>
          <a:bodyPr wrap="square" lIns="0" rIns="0" tIns="0" bIns="0" anchor="t">
            <a:spAutoFit/>
          </a:bodyPr>
          <a:lstStyle/>
          <a:p>
            <a:pPr algn="l"/>
            <a:r>
              <a:rPr sz="3600" b="1" i="0">
                <a:solidFill>
                  <a:srgbClr val="FFFFFF"/>
                </a:solidFill>
                <a:latin typeface="Calibri"/>
              </a:rPr>
              <a:t>Connect</a:t>
            </a:r>
          </a:p>
        </p:txBody>
      </p:sp>
      <p:sp>
        <p:nvSpPr>
          <p:cNvPr id="6" name="TextBox 5"/>
          <p:cNvSpPr txBox="1"/>
          <p:nvPr/>
        </p:nvSpPr>
        <p:spPr>
          <a:xfrm>
            <a:off x="685800" y="1591056"/>
            <a:ext cx="10424160" cy="640080"/>
          </a:xfrm>
          <a:prstGeom prst="rect">
            <a:avLst/>
          </a:prstGeom>
          <a:noFill/>
        </p:spPr>
        <p:txBody>
          <a:bodyPr wrap="square" lIns="0" rIns="0" tIns="0" bIns="0" anchor="t">
            <a:spAutoFit/>
          </a:bodyPr>
          <a:lstStyle/>
          <a:p>
            <a:pPr algn="l">
              <a:lnSpc>
                <a:spcPct val="115000"/>
              </a:lnSpc>
            </a:pPr>
            <a:r>
              <a:rPr sz="1600" b="0" i="0">
                <a:solidFill>
                  <a:srgbClr val="8FA0B3"/>
                </a:solidFill>
                <a:latin typeface="Calibri"/>
              </a:rPr>
              <a:t>Open a WebSocket, describe the agent you want, and confirm the server accepted it.</a:t>
            </a:r>
          </a:p>
        </p:txBody>
      </p:sp>
      <p:sp>
        <p:nvSpPr>
          <p:cNvPr id="7" name="TextBox 6"/>
          <p:cNvSpPr txBox="1"/>
          <p:nvPr/>
        </p:nvSpPr>
        <p:spPr>
          <a:xfrm>
            <a:off x="685800" y="2139696"/>
            <a:ext cx="5394960" cy="274320"/>
          </a:xfrm>
          <a:prstGeom prst="rect">
            <a:avLst/>
          </a:prstGeom>
          <a:noFill/>
        </p:spPr>
        <p:txBody>
          <a:bodyPr wrap="square" lIns="0" rIns="0" tIns="0" bIns="0" anchor="t">
            <a:spAutoFit/>
          </a:bodyPr>
          <a:lstStyle/>
          <a:p>
            <a:pPr algn="l"/>
            <a:r>
              <a:rPr sz="1100" b="1" i="0">
                <a:solidFill>
                  <a:srgbClr val="13EF93"/>
                </a:solidFill>
                <a:latin typeface="Calibri"/>
              </a:rPr>
              <a:t>ONE OBJECT CONFIGURES ALL THREE</a:t>
            </a:r>
          </a:p>
        </p:txBody>
      </p:sp>
      <p:sp>
        <p:nvSpPr>
          <p:cNvPr id="8" name="Rounded Rectangle 7"/>
          <p:cNvSpPr/>
          <p:nvPr/>
        </p:nvSpPr>
        <p:spPr>
          <a:xfrm>
            <a:off x="685800" y="2505456"/>
            <a:ext cx="5394960" cy="56692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660904"/>
            <a:ext cx="1188720" cy="274320"/>
          </a:xfrm>
          <a:prstGeom prst="rect">
            <a:avLst/>
          </a:prstGeom>
          <a:noFill/>
        </p:spPr>
        <p:txBody>
          <a:bodyPr wrap="square" lIns="0" rIns="0" tIns="0" bIns="0" anchor="t">
            <a:spAutoFit/>
          </a:bodyPr>
          <a:lstStyle/>
          <a:p>
            <a:pPr algn="l"/>
            <a:r>
              <a:rPr sz="1400" b="1" i="0">
                <a:solidFill>
                  <a:srgbClr val="13EF93"/>
                </a:solidFill>
                <a:latin typeface="Courier New"/>
              </a:rPr>
              <a:t>listen</a:t>
            </a:r>
          </a:p>
        </p:txBody>
      </p:sp>
      <p:sp>
        <p:nvSpPr>
          <p:cNvPr id="10" name="TextBox 9"/>
          <p:cNvSpPr txBox="1"/>
          <p:nvPr/>
        </p:nvSpPr>
        <p:spPr>
          <a:xfrm>
            <a:off x="2112264" y="2679192"/>
            <a:ext cx="3840480" cy="274320"/>
          </a:xfrm>
          <a:prstGeom prst="rect">
            <a:avLst/>
          </a:prstGeom>
          <a:noFill/>
        </p:spPr>
        <p:txBody>
          <a:bodyPr wrap="square" lIns="0" rIns="0" tIns="0" bIns="0" anchor="t">
            <a:spAutoFit/>
          </a:bodyPr>
          <a:lstStyle/>
          <a:p>
            <a:pPr algn="l"/>
            <a:r>
              <a:rPr sz="1200" b="0" i="0">
                <a:solidFill>
                  <a:srgbClr val="8FA0B3"/>
                </a:solidFill>
                <a:latin typeface="Calibri"/>
              </a:rPr>
              <a:t>Flux. Turn detection lives inside the model.</a:t>
            </a:r>
          </a:p>
        </p:txBody>
      </p:sp>
      <p:sp>
        <p:nvSpPr>
          <p:cNvPr id="11" name="Rounded Rectangle 10"/>
          <p:cNvSpPr/>
          <p:nvPr/>
        </p:nvSpPr>
        <p:spPr>
          <a:xfrm>
            <a:off x="685800" y="3163824"/>
            <a:ext cx="5394960" cy="56692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3319272"/>
            <a:ext cx="1188720" cy="274320"/>
          </a:xfrm>
          <a:prstGeom prst="rect">
            <a:avLst/>
          </a:prstGeom>
          <a:noFill/>
        </p:spPr>
        <p:txBody>
          <a:bodyPr wrap="square" lIns="0" rIns="0" tIns="0" bIns="0" anchor="t">
            <a:spAutoFit/>
          </a:bodyPr>
          <a:lstStyle/>
          <a:p>
            <a:pPr algn="l"/>
            <a:r>
              <a:rPr sz="1400" b="1" i="0">
                <a:solidFill>
                  <a:srgbClr val="FFFFFF"/>
                </a:solidFill>
                <a:latin typeface="Courier New"/>
              </a:rPr>
              <a:t>think</a:t>
            </a:r>
          </a:p>
        </p:txBody>
      </p:sp>
      <p:sp>
        <p:nvSpPr>
          <p:cNvPr id="13" name="TextBox 12"/>
          <p:cNvSpPr txBox="1"/>
          <p:nvPr/>
        </p:nvSpPr>
        <p:spPr>
          <a:xfrm>
            <a:off x="2112264" y="3337560"/>
            <a:ext cx="3840480" cy="274320"/>
          </a:xfrm>
          <a:prstGeom prst="rect">
            <a:avLst/>
          </a:prstGeom>
          <a:noFill/>
        </p:spPr>
        <p:txBody>
          <a:bodyPr wrap="square" lIns="0" rIns="0" tIns="0" bIns="0" anchor="t">
            <a:spAutoFit/>
          </a:bodyPr>
          <a:lstStyle/>
          <a:p>
            <a:pPr algn="l"/>
            <a:r>
              <a:rPr sz="1200" b="0" i="0">
                <a:solidFill>
                  <a:srgbClr val="8FA0B3"/>
                </a:solidFill>
                <a:latin typeface="Calibri"/>
              </a:rPr>
              <a:t>The LLM. Brokered by Deepgram, so your key covers it.</a:t>
            </a:r>
          </a:p>
        </p:txBody>
      </p:sp>
      <p:sp>
        <p:nvSpPr>
          <p:cNvPr id="14" name="Rounded Rectangle 13"/>
          <p:cNvSpPr/>
          <p:nvPr/>
        </p:nvSpPr>
        <p:spPr>
          <a:xfrm>
            <a:off x="685800" y="3822191"/>
            <a:ext cx="5394960" cy="56692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23544" y="3977639"/>
            <a:ext cx="1188720" cy="274320"/>
          </a:xfrm>
          <a:prstGeom prst="rect">
            <a:avLst/>
          </a:prstGeom>
          <a:noFill/>
        </p:spPr>
        <p:txBody>
          <a:bodyPr wrap="square" lIns="0" rIns="0" tIns="0" bIns="0" anchor="t">
            <a:spAutoFit/>
          </a:bodyPr>
          <a:lstStyle/>
          <a:p>
            <a:pPr algn="l"/>
            <a:r>
              <a:rPr sz="1400" b="1" i="0">
                <a:solidFill>
                  <a:srgbClr val="13EF93"/>
                </a:solidFill>
                <a:latin typeface="Courier New"/>
              </a:rPr>
              <a:t>speak</a:t>
            </a:r>
          </a:p>
        </p:txBody>
      </p:sp>
      <p:sp>
        <p:nvSpPr>
          <p:cNvPr id="16" name="TextBox 15"/>
          <p:cNvSpPr txBox="1"/>
          <p:nvPr/>
        </p:nvSpPr>
        <p:spPr>
          <a:xfrm>
            <a:off x="2112264" y="3995928"/>
            <a:ext cx="3840480" cy="274320"/>
          </a:xfrm>
          <a:prstGeom prst="rect">
            <a:avLst/>
          </a:prstGeom>
          <a:noFill/>
        </p:spPr>
        <p:txBody>
          <a:bodyPr wrap="square" lIns="0" rIns="0" tIns="0" bIns="0" anchor="t">
            <a:spAutoFit/>
          </a:bodyPr>
          <a:lstStyle/>
          <a:p>
            <a:pPr algn="l"/>
            <a:r>
              <a:rPr sz="1200" b="0" i="0">
                <a:solidFill>
                  <a:srgbClr val="8FA0B3"/>
                </a:solidFill>
                <a:latin typeface="Calibri"/>
              </a:rPr>
              <a:t>Flux TTS. The flux- prefix routes to v2 Speak.</a:t>
            </a:r>
          </a:p>
        </p:txBody>
      </p:sp>
      <p:sp>
        <p:nvSpPr>
          <p:cNvPr id="17" name="Rounded Rectangle 16"/>
          <p:cNvSpPr/>
          <p:nvPr/>
        </p:nvSpPr>
        <p:spPr>
          <a:xfrm>
            <a:off x="685800" y="4480560"/>
            <a:ext cx="5394960" cy="56692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23544" y="4636008"/>
            <a:ext cx="1188720" cy="274320"/>
          </a:xfrm>
          <a:prstGeom prst="rect">
            <a:avLst/>
          </a:prstGeom>
          <a:noFill/>
        </p:spPr>
        <p:txBody>
          <a:bodyPr wrap="square" lIns="0" rIns="0" tIns="0" bIns="0" anchor="t">
            <a:spAutoFit/>
          </a:bodyPr>
          <a:lstStyle/>
          <a:p>
            <a:pPr algn="l"/>
            <a:r>
              <a:rPr sz="1400" b="1" i="0">
                <a:solidFill>
                  <a:srgbClr val="FFB454"/>
                </a:solidFill>
                <a:latin typeface="Courier New"/>
              </a:rPr>
              <a:t>greeting</a:t>
            </a:r>
          </a:p>
        </p:txBody>
      </p:sp>
      <p:sp>
        <p:nvSpPr>
          <p:cNvPr id="19" name="TextBox 18"/>
          <p:cNvSpPr txBox="1"/>
          <p:nvPr/>
        </p:nvSpPr>
        <p:spPr>
          <a:xfrm>
            <a:off x="2112264" y="4654296"/>
            <a:ext cx="3840480" cy="274320"/>
          </a:xfrm>
          <a:prstGeom prst="rect">
            <a:avLst/>
          </a:prstGeom>
          <a:noFill/>
        </p:spPr>
        <p:txBody>
          <a:bodyPr wrap="square" lIns="0" rIns="0" tIns="0" bIns="0" anchor="t">
            <a:spAutoFit/>
          </a:bodyPr>
          <a:lstStyle/>
          <a:p>
            <a:pPr algn="l"/>
            <a:r>
              <a:rPr sz="1200" b="0" i="0">
                <a:solidFill>
                  <a:srgbClr val="8FA0B3"/>
                </a:solidFill>
                <a:latin typeface="Calibri"/>
              </a:rPr>
              <a:t>What it says first, added to the history for you.</a:t>
            </a:r>
          </a:p>
        </p:txBody>
      </p:sp>
      <p:sp>
        <p:nvSpPr>
          <p:cNvPr id="20" name="Rounded Rectangle 19"/>
          <p:cNvSpPr/>
          <p:nvPr/>
        </p:nvSpPr>
        <p:spPr>
          <a:xfrm>
            <a:off x="6400800" y="2103120"/>
            <a:ext cx="5102352" cy="2999232"/>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93408" y="2322576"/>
            <a:ext cx="4526280" cy="274320"/>
          </a:xfrm>
          <a:prstGeom prst="rect">
            <a:avLst/>
          </a:prstGeom>
          <a:noFill/>
        </p:spPr>
        <p:txBody>
          <a:bodyPr wrap="square" lIns="0" rIns="0" tIns="0" bIns="0" anchor="t">
            <a:spAutoFit/>
          </a:bodyPr>
          <a:lstStyle/>
          <a:p>
            <a:pPr algn="l"/>
            <a:r>
              <a:rPr sz="1100" b="1" i="0">
                <a:solidFill>
                  <a:srgbClr val="13EF93"/>
                </a:solidFill>
                <a:latin typeface="Calibri"/>
              </a:rPr>
              <a:t>WHAT THEY WRITE</a:t>
            </a:r>
          </a:p>
        </p:txBody>
      </p:sp>
      <p:sp>
        <p:nvSpPr>
          <p:cNvPr id="22" name="TextBox 21"/>
          <p:cNvSpPr txBox="1"/>
          <p:nvPr/>
        </p:nvSpPr>
        <p:spPr>
          <a:xfrm>
            <a:off x="6693408" y="2688336"/>
            <a:ext cx="4526280" cy="2286000"/>
          </a:xfrm>
          <a:prstGeom prst="rect">
            <a:avLst/>
          </a:prstGeom>
          <a:noFill/>
        </p:spPr>
        <p:txBody>
          <a:bodyPr wrap="square" lIns="0" rIns="0" tIns="0" bIns="0" anchor="t">
            <a:spAutoFit/>
          </a:bodyPr>
          <a:lstStyle/>
          <a:p>
            <a:pPr algn="l">
              <a:spcAft>
                <a:spcPts val="400"/>
              </a:spcAft>
            </a:pPr>
            <a:r>
              <a:rPr sz="1400" b="1" i="0">
                <a:solidFill>
                  <a:srgbClr val="FFFFFF"/>
                </a:solidFill>
                <a:latin typeface="Courier New"/>
              </a:rPr>
              <a:t>TODO 2.1  ·  on_message</a:t>
            </a:r>
          </a:p>
          <a:p>
            <a:pPr algn="l">
              <a:lnSpc>
                <a:spcPct val="110000"/>
              </a:lnSpc>
              <a:spcAft>
                <a:spcPts val="1400"/>
              </a:spcAft>
            </a:pPr>
            <a:r>
              <a:rPr sz="1250" b="0" i="0">
                <a:solidFill>
                  <a:srgbClr val="8FA0B3"/>
                </a:solidFill>
                <a:latin typeface="Calibri"/>
              </a:rPr>
              <a:t>Check isinstance(message, bytes) first — audio frames have no .type. Let the final else print rather than ignore: new server events surface instead of vanishing.</a:t>
            </a:r>
          </a:p>
          <a:p>
            <a:pPr algn="l">
              <a:spcAft>
                <a:spcPts val="400"/>
              </a:spcAft>
            </a:pPr>
            <a:r>
              <a:rPr sz="1400" b="1" i="0">
                <a:solidFill>
                  <a:srgbClr val="FFFFFF"/>
                </a:solidFill>
                <a:latin typeface="Courier New"/>
              </a:rPr>
              <a:t>TODO 2.2  ·  bridge.run(...)</a:t>
            </a:r>
          </a:p>
          <a:p>
            <a:pPr algn="l">
              <a:lnSpc>
                <a:spcPct val="110000"/>
              </a:lnSpc>
            </a:pPr>
            <a:r>
              <a:rPr sz="1250" b="0" i="0">
                <a:solidFill>
                  <a:srgbClr val="8FA0B3"/>
                </a:solidFill>
                <a:latin typeface="Calibri"/>
              </a:rPr>
              <a:t>Pass settings and on_message. Note what is NOT passed: on_media. Without it the bridge never opens the microphone — which is why the agent hangs up after about fifteen seconds.</a:t>
            </a:r>
          </a:p>
        </p:txBody>
      </p:sp>
      <p:sp>
        <p:nvSpPr>
          <p:cNvPr id="23" name="Rounded Rectangle 22"/>
          <p:cNvSpPr/>
          <p:nvPr/>
        </p:nvSpPr>
        <p:spPr>
          <a:xfrm>
            <a:off x="685800" y="5870448"/>
            <a:ext cx="10820095" cy="658368"/>
          </a:xfrm>
          <a:prstGeom prst="roundRect">
            <a:avLst>
              <a:gd name="adj" fmla="val 9000"/>
            </a:avLst>
          </a:prstGeom>
          <a:solidFill>
            <a:srgbClr val="2E231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950976" y="6044184"/>
            <a:ext cx="310896" cy="310896"/>
          </a:xfrm>
          <a:prstGeom prst="ellipse">
            <a:avLst/>
          </a:prstGeom>
          <a:noFill/>
          <a:ln w="1905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1036472" y="6134343"/>
            <a:ext cx="34198" cy="130576"/>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1142177" y="6134343"/>
            <a:ext cx="34198" cy="130576"/>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435607" y="5961888"/>
            <a:ext cx="1417320" cy="219456"/>
          </a:xfrm>
          <a:prstGeom prst="rect">
            <a:avLst/>
          </a:prstGeom>
          <a:noFill/>
        </p:spPr>
        <p:txBody>
          <a:bodyPr wrap="square" lIns="0" rIns="0" tIns="0" bIns="0" anchor="t">
            <a:spAutoFit/>
          </a:bodyPr>
          <a:lstStyle/>
          <a:p>
            <a:pPr algn="l"/>
            <a:r>
              <a:rPr sz="950" b="1" i="0">
                <a:solidFill>
                  <a:srgbClr val="FFB454"/>
                </a:solidFill>
                <a:latin typeface="Calibri"/>
              </a:rPr>
              <a:t>HOLD THE ROOM</a:t>
            </a:r>
          </a:p>
        </p:txBody>
      </p:sp>
      <p:sp>
        <p:nvSpPr>
          <p:cNvPr id="28" name="TextBox 27"/>
          <p:cNvSpPr txBox="1"/>
          <p:nvPr/>
        </p:nvSpPr>
        <p:spPr>
          <a:xfrm>
            <a:off x="1435607" y="6163056"/>
            <a:ext cx="9768535" cy="310896"/>
          </a:xfrm>
          <a:prstGeom prst="rect">
            <a:avLst/>
          </a:prstGeom>
          <a:noFill/>
        </p:spPr>
        <p:txBody>
          <a:bodyPr wrap="square" lIns="0" rIns="0" tIns="0" bIns="0" anchor="t">
            <a:spAutoFit/>
          </a:bodyPr>
          <a:lstStyle/>
          <a:p>
            <a:pPr algn="l"/>
            <a:r>
              <a:rPr sz="1400" b="0" i="0">
                <a:solidFill>
                  <a:srgbClr val="D8E0EA"/>
                </a:solidFill>
                <a:latin typeface="Calibri"/>
              </a:rPr>
              <a:t>Everyone sees “&gt;&gt; Settings applied” and an [assistant] line before moving 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85800" y="566928"/>
            <a:ext cx="10820095" cy="658368"/>
          </a:xfrm>
          <a:prstGeom prst="rect">
            <a:avLst/>
          </a:prstGeom>
          <a:noFill/>
        </p:spPr>
        <p:txBody>
          <a:bodyPr wrap="square" lIns="0" rIns="0" tIns="0" bIns="0" anchor="t">
            <a:spAutoFit/>
          </a:bodyPr>
          <a:lstStyle/>
          <a:p>
            <a:pPr algn="l"/>
            <a:r>
              <a:rPr sz="3600" b="1" i="0">
                <a:solidFill>
                  <a:srgbClr val="FFFFFF"/>
                </a:solidFill>
                <a:latin typeface="Calibri"/>
              </a:rPr>
              <a:t>The ordering that everything else depends on</a:t>
            </a:r>
          </a:p>
        </p:txBody>
      </p:sp>
      <p:sp>
        <p:nvSpPr>
          <p:cNvPr id="3" name="TextBox 2"/>
          <p:cNvSpPr txBox="1"/>
          <p:nvPr/>
        </p:nvSpPr>
        <p:spPr>
          <a:xfrm>
            <a:off x="685800" y="1280160"/>
            <a:ext cx="10424160" cy="640080"/>
          </a:xfrm>
          <a:prstGeom prst="rect">
            <a:avLst/>
          </a:prstGeom>
          <a:noFill/>
        </p:spPr>
        <p:txBody>
          <a:bodyPr wrap="square" lIns="0" rIns="0" tIns="0" bIns="0" anchor="t">
            <a:spAutoFit/>
          </a:bodyPr>
          <a:lstStyle/>
          <a:p>
            <a:pPr algn="l">
              <a:lnSpc>
                <a:spcPct val="115000"/>
              </a:lnSpc>
            </a:pPr>
            <a:r>
              <a:rPr sz="1600" b="0" i="0">
                <a:solidFill>
                  <a:srgbClr val="8FA0B3"/>
                </a:solidFill>
                <a:latin typeface="Calibri"/>
              </a:rPr>
              <a:t>Inside web/session.py, _run() is six lines long and every later step leans on this sequence.</a:t>
            </a:r>
          </a:p>
        </p:txBody>
      </p:sp>
      <p:sp>
        <p:nvSpPr>
          <p:cNvPr id="4" name="Oval 3"/>
          <p:cNvSpPr/>
          <p:nvPr/>
        </p:nvSpPr>
        <p:spPr>
          <a:xfrm>
            <a:off x="685800" y="1938528"/>
            <a:ext cx="384048" cy="384048"/>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2011680"/>
            <a:ext cx="384048" cy="274320"/>
          </a:xfrm>
          <a:prstGeom prst="rect">
            <a:avLst/>
          </a:prstGeom>
          <a:noFill/>
        </p:spPr>
        <p:txBody>
          <a:bodyPr wrap="square" lIns="0" rIns="0" tIns="0" bIns="0" anchor="t">
            <a:spAutoFit/>
          </a:bodyPr>
          <a:lstStyle/>
          <a:p>
            <a:pPr algn="ctr"/>
            <a:r>
              <a:rPr sz="1300" b="1" i="0">
                <a:solidFill>
                  <a:srgbClr val="13EF93"/>
                </a:solidFill>
                <a:latin typeface="Calibri"/>
              </a:rPr>
              <a:t>1</a:t>
            </a:r>
          </a:p>
        </p:txBody>
      </p:sp>
      <p:sp>
        <p:nvSpPr>
          <p:cNvPr id="6" name="TextBox 5"/>
          <p:cNvSpPr txBox="1"/>
          <p:nvPr/>
        </p:nvSpPr>
        <p:spPr>
          <a:xfrm>
            <a:off x="1252728" y="1956816"/>
            <a:ext cx="3977639" cy="292608"/>
          </a:xfrm>
          <a:prstGeom prst="rect">
            <a:avLst/>
          </a:prstGeom>
          <a:noFill/>
        </p:spPr>
        <p:txBody>
          <a:bodyPr wrap="square" lIns="0" rIns="0" tIns="0" bIns="0" anchor="t">
            <a:spAutoFit/>
          </a:bodyPr>
          <a:lstStyle/>
          <a:p>
            <a:pPr algn="l"/>
            <a:r>
              <a:rPr sz="1500" b="1" i="0">
                <a:solidFill>
                  <a:srgbClr val="FFFFFF"/>
                </a:solidFill>
                <a:latin typeface="Courier New"/>
              </a:rPr>
              <a:t>open the socket</a:t>
            </a:r>
          </a:p>
        </p:txBody>
      </p:sp>
      <p:sp>
        <p:nvSpPr>
          <p:cNvPr id="7" name="Oval 6"/>
          <p:cNvSpPr/>
          <p:nvPr/>
        </p:nvSpPr>
        <p:spPr>
          <a:xfrm>
            <a:off x="685800" y="2560320"/>
            <a:ext cx="384048" cy="384048"/>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2633472"/>
            <a:ext cx="384048" cy="274320"/>
          </a:xfrm>
          <a:prstGeom prst="rect">
            <a:avLst/>
          </a:prstGeom>
          <a:noFill/>
        </p:spPr>
        <p:txBody>
          <a:bodyPr wrap="square" lIns="0" rIns="0" tIns="0" bIns="0" anchor="t">
            <a:spAutoFit/>
          </a:bodyPr>
          <a:lstStyle/>
          <a:p>
            <a:pPr algn="ctr"/>
            <a:r>
              <a:rPr sz="1300" b="1" i="0">
                <a:solidFill>
                  <a:srgbClr val="13EF93"/>
                </a:solidFill>
                <a:latin typeface="Calibri"/>
              </a:rPr>
              <a:t>2</a:t>
            </a:r>
          </a:p>
        </p:txBody>
      </p:sp>
      <p:sp>
        <p:nvSpPr>
          <p:cNvPr id="9" name="TextBox 8"/>
          <p:cNvSpPr txBox="1"/>
          <p:nvPr/>
        </p:nvSpPr>
        <p:spPr>
          <a:xfrm>
            <a:off x="1252728" y="2578608"/>
            <a:ext cx="3977639" cy="292608"/>
          </a:xfrm>
          <a:prstGeom prst="rect">
            <a:avLst/>
          </a:prstGeom>
          <a:noFill/>
        </p:spPr>
        <p:txBody>
          <a:bodyPr wrap="square" lIns="0" rIns="0" tIns="0" bIns="0" anchor="t">
            <a:spAutoFit/>
          </a:bodyPr>
          <a:lstStyle/>
          <a:p>
            <a:pPr algn="l"/>
            <a:r>
              <a:rPr sz="1500" b="1" i="0">
                <a:solidFill>
                  <a:srgbClr val="FFFFFF"/>
                </a:solidFill>
                <a:latin typeface="Courier New"/>
              </a:rPr>
              <a:t>register handlers</a:t>
            </a:r>
          </a:p>
        </p:txBody>
      </p:sp>
      <p:sp>
        <p:nvSpPr>
          <p:cNvPr id="10" name="TextBox 9"/>
          <p:cNvSpPr txBox="1"/>
          <p:nvPr/>
        </p:nvSpPr>
        <p:spPr>
          <a:xfrm>
            <a:off x="5303520" y="2615184"/>
            <a:ext cx="2057400" cy="274320"/>
          </a:xfrm>
          <a:prstGeom prst="rect">
            <a:avLst/>
          </a:prstGeom>
          <a:noFill/>
        </p:spPr>
        <p:txBody>
          <a:bodyPr wrap="square" lIns="0" rIns="0" tIns="0" bIns="0" anchor="t">
            <a:spAutoFit/>
          </a:bodyPr>
          <a:lstStyle/>
          <a:p>
            <a:pPr algn="l"/>
            <a:r>
              <a:rPr sz="1100" b="0" i="0">
                <a:solidFill>
                  <a:srgbClr val="5D6E80"/>
                </a:solidFill>
                <a:latin typeface="Calibri"/>
              </a:rPr>
              <a:t>before listening, or the first events go nowhere</a:t>
            </a:r>
          </a:p>
        </p:txBody>
      </p:sp>
      <p:sp>
        <p:nvSpPr>
          <p:cNvPr id="11" name="Oval 10"/>
          <p:cNvSpPr/>
          <p:nvPr/>
        </p:nvSpPr>
        <p:spPr>
          <a:xfrm>
            <a:off x="685800" y="3182112"/>
            <a:ext cx="384048" cy="384048"/>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3255264"/>
            <a:ext cx="384048" cy="274320"/>
          </a:xfrm>
          <a:prstGeom prst="rect">
            <a:avLst/>
          </a:prstGeom>
          <a:noFill/>
        </p:spPr>
        <p:txBody>
          <a:bodyPr wrap="square" lIns="0" rIns="0" tIns="0" bIns="0" anchor="t">
            <a:spAutoFit/>
          </a:bodyPr>
          <a:lstStyle/>
          <a:p>
            <a:pPr algn="ctr"/>
            <a:r>
              <a:rPr sz="1300" b="1" i="0">
                <a:solidFill>
                  <a:srgbClr val="13EF93"/>
                </a:solidFill>
                <a:latin typeface="Calibri"/>
              </a:rPr>
              <a:t>3</a:t>
            </a:r>
          </a:p>
        </p:txBody>
      </p:sp>
      <p:sp>
        <p:nvSpPr>
          <p:cNvPr id="13" name="TextBox 12"/>
          <p:cNvSpPr txBox="1"/>
          <p:nvPr/>
        </p:nvSpPr>
        <p:spPr>
          <a:xfrm>
            <a:off x="1252728" y="3200400"/>
            <a:ext cx="3977639" cy="292608"/>
          </a:xfrm>
          <a:prstGeom prst="rect">
            <a:avLst/>
          </a:prstGeom>
          <a:noFill/>
        </p:spPr>
        <p:txBody>
          <a:bodyPr wrap="square" lIns="0" rIns="0" tIns="0" bIns="0" anchor="t">
            <a:spAutoFit/>
          </a:bodyPr>
          <a:lstStyle/>
          <a:p>
            <a:pPr algn="l"/>
            <a:r>
              <a:rPr sz="1500" b="1" i="0">
                <a:solidFill>
                  <a:srgbClr val="FFFFFF"/>
                </a:solidFill>
                <a:latin typeface="Courier New"/>
              </a:rPr>
              <a:t>start the listener</a:t>
            </a:r>
          </a:p>
        </p:txBody>
      </p:sp>
      <p:sp>
        <p:nvSpPr>
          <p:cNvPr id="14" name="TextBox 13"/>
          <p:cNvSpPr txBox="1"/>
          <p:nvPr/>
        </p:nvSpPr>
        <p:spPr>
          <a:xfrm>
            <a:off x="5303520" y="3236976"/>
            <a:ext cx="2057400" cy="274320"/>
          </a:xfrm>
          <a:prstGeom prst="rect">
            <a:avLst/>
          </a:prstGeom>
          <a:noFill/>
        </p:spPr>
        <p:txBody>
          <a:bodyPr wrap="square" lIns="0" rIns="0" tIns="0" bIns="0" anchor="t">
            <a:spAutoFit/>
          </a:bodyPr>
          <a:lstStyle/>
          <a:p>
            <a:pPr algn="l"/>
            <a:r>
              <a:rPr sz="1100" b="0" i="0">
                <a:solidFill>
                  <a:srgbClr val="5D6E80"/>
                </a:solidFill>
                <a:latin typeface="Calibri"/>
              </a:rPr>
              <a:t>the receive loop blocks, so it gets its own thread</a:t>
            </a:r>
          </a:p>
        </p:txBody>
      </p:sp>
      <p:sp>
        <p:nvSpPr>
          <p:cNvPr id="15" name="Oval 14"/>
          <p:cNvSpPr/>
          <p:nvPr/>
        </p:nvSpPr>
        <p:spPr>
          <a:xfrm>
            <a:off x="685800" y="3803903"/>
            <a:ext cx="384048" cy="384048"/>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3877055"/>
            <a:ext cx="384048" cy="274320"/>
          </a:xfrm>
          <a:prstGeom prst="rect">
            <a:avLst/>
          </a:prstGeom>
          <a:noFill/>
        </p:spPr>
        <p:txBody>
          <a:bodyPr wrap="square" lIns="0" rIns="0" tIns="0" bIns="0" anchor="t">
            <a:spAutoFit/>
          </a:bodyPr>
          <a:lstStyle/>
          <a:p>
            <a:pPr algn="ctr"/>
            <a:r>
              <a:rPr sz="1300" b="1" i="0">
                <a:solidFill>
                  <a:srgbClr val="13EF93"/>
                </a:solidFill>
                <a:latin typeface="Calibri"/>
              </a:rPr>
              <a:t>4</a:t>
            </a:r>
          </a:p>
        </p:txBody>
      </p:sp>
      <p:sp>
        <p:nvSpPr>
          <p:cNvPr id="17" name="TextBox 16"/>
          <p:cNvSpPr txBox="1"/>
          <p:nvPr/>
        </p:nvSpPr>
        <p:spPr>
          <a:xfrm>
            <a:off x="1252728" y="3822191"/>
            <a:ext cx="3977639" cy="292608"/>
          </a:xfrm>
          <a:prstGeom prst="rect">
            <a:avLst/>
          </a:prstGeom>
          <a:noFill/>
        </p:spPr>
        <p:txBody>
          <a:bodyPr wrap="square" lIns="0" rIns="0" tIns="0" bIns="0" anchor="t">
            <a:spAutoFit/>
          </a:bodyPr>
          <a:lstStyle/>
          <a:p>
            <a:pPr algn="l"/>
            <a:r>
              <a:rPr sz="1500" b="1" i="0">
                <a:solidFill>
                  <a:srgbClr val="FFFFFF"/>
                </a:solidFill>
                <a:latin typeface="Courier New"/>
              </a:rPr>
              <a:t>send SETTINGS</a:t>
            </a:r>
          </a:p>
        </p:txBody>
      </p:sp>
      <p:sp>
        <p:nvSpPr>
          <p:cNvPr id="18" name="Oval 17"/>
          <p:cNvSpPr/>
          <p:nvPr/>
        </p:nvSpPr>
        <p:spPr>
          <a:xfrm>
            <a:off x="685800" y="4425696"/>
            <a:ext cx="384048" cy="384048"/>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5800" y="4498848"/>
            <a:ext cx="384048" cy="274320"/>
          </a:xfrm>
          <a:prstGeom prst="rect">
            <a:avLst/>
          </a:prstGeom>
          <a:noFill/>
        </p:spPr>
        <p:txBody>
          <a:bodyPr wrap="square" lIns="0" rIns="0" tIns="0" bIns="0" anchor="t">
            <a:spAutoFit/>
          </a:bodyPr>
          <a:lstStyle/>
          <a:p>
            <a:pPr algn="ctr"/>
            <a:r>
              <a:rPr sz="1300" b="1" i="0">
                <a:solidFill>
                  <a:srgbClr val="13EF93"/>
                </a:solidFill>
                <a:latin typeface="Calibri"/>
              </a:rPr>
              <a:t>5</a:t>
            </a:r>
          </a:p>
        </p:txBody>
      </p:sp>
      <p:sp>
        <p:nvSpPr>
          <p:cNvPr id="20" name="TextBox 19"/>
          <p:cNvSpPr txBox="1"/>
          <p:nvPr/>
        </p:nvSpPr>
        <p:spPr>
          <a:xfrm>
            <a:off x="1252728" y="4443984"/>
            <a:ext cx="3977639" cy="292608"/>
          </a:xfrm>
          <a:prstGeom prst="rect">
            <a:avLst/>
          </a:prstGeom>
          <a:noFill/>
        </p:spPr>
        <p:txBody>
          <a:bodyPr wrap="square" lIns="0" rIns="0" tIns="0" bIns="0" anchor="t">
            <a:spAutoFit/>
          </a:bodyPr>
          <a:lstStyle/>
          <a:p>
            <a:pPr algn="l"/>
            <a:r>
              <a:rPr sz="1500" b="1" i="0">
                <a:solidFill>
                  <a:srgbClr val="FFFFFF"/>
                </a:solidFill>
                <a:latin typeface="Courier New"/>
              </a:rPr>
              <a:t>wait for SettingsApplied</a:t>
            </a:r>
          </a:p>
        </p:txBody>
      </p:sp>
      <p:sp>
        <p:nvSpPr>
          <p:cNvPr id="21" name="TextBox 20"/>
          <p:cNvSpPr txBox="1"/>
          <p:nvPr/>
        </p:nvSpPr>
        <p:spPr>
          <a:xfrm>
            <a:off x="5303520" y="4480560"/>
            <a:ext cx="2057400" cy="274320"/>
          </a:xfrm>
          <a:prstGeom prst="rect">
            <a:avLst/>
          </a:prstGeom>
          <a:noFill/>
        </p:spPr>
        <p:txBody>
          <a:bodyPr wrap="square" lIns="0" rIns="0" tIns="0" bIns="0" anchor="t">
            <a:spAutoFit/>
          </a:bodyPr>
          <a:lstStyle/>
          <a:p>
            <a:pPr algn="l"/>
            <a:r>
              <a:rPr sz="1100" b="0" i="0">
                <a:solidFill>
                  <a:srgbClr val="5D6E80"/>
                </a:solidFill>
                <a:latin typeface="Calibri"/>
              </a:rPr>
              <a:t>up to ten seconds</a:t>
            </a:r>
          </a:p>
        </p:txBody>
      </p:sp>
      <p:sp>
        <p:nvSpPr>
          <p:cNvPr id="22" name="Oval 21"/>
          <p:cNvSpPr/>
          <p:nvPr/>
        </p:nvSpPr>
        <p:spPr>
          <a:xfrm>
            <a:off x="685800" y="5047488"/>
            <a:ext cx="384048" cy="384048"/>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5800" y="5120640"/>
            <a:ext cx="384048" cy="274320"/>
          </a:xfrm>
          <a:prstGeom prst="rect">
            <a:avLst/>
          </a:prstGeom>
          <a:noFill/>
        </p:spPr>
        <p:txBody>
          <a:bodyPr wrap="square" lIns="0" rIns="0" tIns="0" bIns="0" anchor="t">
            <a:spAutoFit/>
          </a:bodyPr>
          <a:lstStyle/>
          <a:p>
            <a:pPr algn="ctr"/>
            <a:r>
              <a:rPr sz="1300" b="1" i="0">
                <a:solidFill>
                  <a:srgbClr val="13EF93"/>
                </a:solidFill>
                <a:latin typeface="Calibri"/>
              </a:rPr>
              <a:t>6</a:t>
            </a:r>
          </a:p>
        </p:txBody>
      </p:sp>
      <p:sp>
        <p:nvSpPr>
          <p:cNvPr id="24" name="TextBox 23"/>
          <p:cNvSpPr txBox="1"/>
          <p:nvPr/>
        </p:nvSpPr>
        <p:spPr>
          <a:xfrm>
            <a:off x="1252728" y="5065776"/>
            <a:ext cx="3977639" cy="292608"/>
          </a:xfrm>
          <a:prstGeom prst="rect">
            <a:avLst/>
          </a:prstGeom>
          <a:noFill/>
        </p:spPr>
        <p:txBody>
          <a:bodyPr wrap="square" lIns="0" rIns="0" tIns="0" bIns="0" anchor="t">
            <a:spAutoFit/>
          </a:bodyPr>
          <a:lstStyle/>
          <a:p>
            <a:pPr algn="l"/>
            <a:r>
              <a:rPr sz="1500" b="1" i="0">
                <a:solidFill>
                  <a:srgbClr val="FFFFFF"/>
                </a:solidFill>
                <a:latin typeface="Courier New"/>
              </a:rPr>
              <a:t>only now: tell the browser it may capture</a:t>
            </a:r>
          </a:p>
        </p:txBody>
      </p:sp>
      <p:sp>
        <p:nvSpPr>
          <p:cNvPr id="25" name="Rounded Rectangle 24"/>
          <p:cNvSpPr/>
          <p:nvPr/>
        </p:nvSpPr>
        <p:spPr>
          <a:xfrm>
            <a:off x="7635240" y="1883664"/>
            <a:ext cx="3867912" cy="3200400"/>
          </a:xfrm>
          <a:prstGeom prst="roundRect">
            <a:avLst>
              <a:gd name="adj" fmla="val 6000"/>
            </a:avLst>
          </a:prstGeom>
          <a:solidFill>
            <a:srgbClr val="15202B"/>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927848" y="2139696"/>
            <a:ext cx="3291840" cy="2743200"/>
          </a:xfrm>
          <a:prstGeom prst="rect">
            <a:avLst/>
          </a:prstGeom>
          <a:noFill/>
        </p:spPr>
        <p:txBody>
          <a:bodyPr wrap="square" lIns="0" rIns="0" tIns="0" bIns="0" anchor="t">
            <a:spAutoFit/>
          </a:bodyPr>
          <a:lstStyle/>
          <a:p>
            <a:pPr algn="l">
              <a:spcAft>
                <a:spcPts val="1000"/>
              </a:spcAft>
            </a:pPr>
            <a:r>
              <a:rPr sz="1700" b="1" i="0">
                <a:solidFill>
                  <a:srgbClr val="13EF93"/>
                </a:solidFill>
                <a:latin typeface="Calibri"/>
              </a:rPr>
              <a:t>Why it matters</a:t>
            </a:r>
          </a:p>
          <a:p>
            <a:pPr algn="l">
              <a:lnSpc>
                <a:spcPct val="114000"/>
              </a:lnSpc>
              <a:spcAft>
                <a:spcPts val="1200"/>
              </a:spcAft>
            </a:pPr>
            <a:r>
              <a:rPr sz="1350" b="0" i="0">
                <a:solidFill>
                  <a:srgbClr val="D8E0EA"/>
                </a:solidFill>
                <a:latin typeface="Calibri"/>
              </a:rPr>
              <a:t>The agent discards any media that arrives before the handshake completes.</a:t>
            </a:r>
          </a:p>
          <a:p>
            <a:pPr algn="l">
              <a:lnSpc>
                <a:spcPct val="114000"/>
              </a:lnSpc>
              <a:spcAft>
                <a:spcPts val="1200"/>
              </a:spcAft>
            </a:pPr>
            <a:r>
              <a:rPr sz="1350" b="0" i="0">
                <a:solidFill>
                  <a:srgbClr val="8FA0B3"/>
                </a:solidFill>
                <a:latin typeface="Calibri"/>
              </a:rPr>
              <a:t>Audio sent early is not queued. It is silently lost — which in practice means the user's first words.</a:t>
            </a:r>
          </a:p>
          <a:p>
            <a:pPr algn="l">
              <a:lnSpc>
                <a:spcPct val="114000"/>
              </a:lnSpc>
            </a:pPr>
            <a:r>
              <a:rPr sz="1300" b="0" i="1">
                <a:solidFill>
                  <a:srgbClr val="5D6E80"/>
                </a:solidFill>
                <a:latin typeface="Calibri"/>
              </a:rPr>
              <a:t>You will write this sequence yourself the first time you build one of these without a bridge. Read it now, while it is small.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Rounded Rectangle 1"/>
          <p:cNvSpPr/>
          <p:nvPr/>
        </p:nvSpPr>
        <p:spPr>
          <a:xfrm>
            <a:off x="685800" y="384048"/>
            <a:ext cx="941832" cy="292608"/>
          </a:xfrm>
          <a:prstGeom prst="roundRect">
            <a:avLst>
              <a:gd name="adj" fmla="val 50000"/>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04120C"/>
                </a:solidFill>
                <a:latin typeface="Calibri"/>
              </a:rPr>
              <a:t>STEP 3</a:t>
            </a:r>
          </a:p>
        </p:txBody>
      </p:sp>
      <p:sp>
        <p:nvSpPr>
          <p:cNvPr id="3" name="TextBox 2"/>
          <p:cNvSpPr txBox="1"/>
          <p:nvPr/>
        </p:nvSpPr>
        <p:spPr>
          <a:xfrm>
            <a:off x="1828800" y="402336"/>
            <a:ext cx="3108960" cy="274320"/>
          </a:xfrm>
          <a:prstGeom prst="rect">
            <a:avLst/>
          </a:prstGeom>
          <a:noFill/>
        </p:spPr>
        <p:txBody>
          <a:bodyPr wrap="square" lIns="0" rIns="0" tIns="0" bIns="0" anchor="t">
            <a:spAutoFit/>
          </a:bodyPr>
          <a:lstStyle/>
          <a:p>
            <a:pPr algn="l"/>
            <a:r>
              <a:rPr sz="1250" b="1" i="0">
                <a:solidFill>
                  <a:srgbClr val="8FA0B3"/>
                </a:solidFill>
                <a:latin typeface="Calibri"/>
              </a:rPr>
              <a:t>0:45  ·  25 min</a:t>
            </a:r>
          </a:p>
        </p:txBody>
      </p:sp>
      <p:sp>
        <p:nvSpPr>
          <p:cNvPr id="4" name="Rounded Rectangle 3"/>
          <p:cNvSpPr/>
          <p:nvPr/>
        </p:nvSpPr>
        <p:spPr>
          <a:xfrm>
            <a:off x="9505188" y="384048"/>
            <a:ext cx="2000707" cy="292608"/>
          </a:xfrm>
          <a:prstGeom prst="roundRect">
            <a:avLst>
              <a:gd name="adj" fmla="val 50000"/>
            </a:avLst>
          </a:prstGeom>
          <a:solidFill>
            <a:srgbClr val="070B10"/>
          </a:solidFill>
          <a:ln w="12700">
            <a:solidFill>
              <a:srgbClr val="2C3A4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i="0">
                <a:solidFill>
                  <a:srgbClr val="5D6E80"/>
                </a:solidFill>
                <a:latin typeface="Calibri"/>
              </a:rPr>
              <a:t>EASY MODE — LAB 1</a:t>
            </a:r>
          </a:p>
        </p:txBody>
      </p:sp>
      <p:sp>
        <p:nvSpPr>
          <p:cNvPr id="5" name="TextBox 4"/>
          <p:cNvSpPr txBox="1"/>
          <p:nvPr/>
        </p:nvSpPr>
        <p:spPr>
          <a:xfrm>
            <a:off x="685800" y="859536"/>
            <a:ext cx="10820095" cy="658368"/>
          </a:xfrm>
          <a:prstGeom prst="rect">
            <a:avLst/>
          </a:prstGeom>
          <a:noFill/>
        </p:spPr>
        <p:txBody>
          <a:bodyPr wrap="square" lIns="0" rIns="0" tIns="0" bIns="0" anchor="t">
            <a:spAutoFit/>
          </a:bodyPr>
          <a:lstStyle/>
          <a:p>
            <a:pPr algn="l"/>
            <a:r>
              <a:rPr sz="3600" b="1" i="0">
                <a:solidFill>
                  <a:srgbClr val="FFFFFF"/>
                </a:solidFill>
                <a:latin typeface="Calibri"/>
              </a:rPr>
              <a:t>Hear the agent</a:t>
            </a:r>
          </a:p>
        </p:txBody>
      </p:sp>
      <p:sp>
        <p:nvSpPr>
          <p:cNvPr id="6" name="TextBox 5"/>
          <p:cNvSpPr txBox="1"/>
          <p:nvPr/>
        </p:nvSpPr>
        <p:spPr>
          <a:xfrm>
            <a:off x="685800" y="1591056"/>
            <a:ext cx="10424160" cy="640080"/>
          </a:xfrm>
          <a:prstGeom prst="rect">
            <a:avLst/>
          </a:prstGeom>
          <a:noFill/>
        </p:spPr>
        <p:txBody>
          <a:bodyPr wrap="square" lIns="0" rIns="0" tIns="0" bIns="0" anchor="t">
            <a:spAutoFit/>
          </a:bodyPr>
          <a:lstStyle/>
          <a:p>
            <a:pPr algn="l">
              <a:lnSpc>
                <a:spcPct val="115000"/>
              </a:lnSpc>
            </a:pPr>
            <a:r>
              <a:rPr sz="1600" b="0" i="0">
                <a:solidFill>
                  <a:srgbClr val="8FA0B3"/>
                </a:solidFill>
                <a:latin typeface="Calibri"/>
              </a:rPr>
              <a:t>Route the agent's Flux TTS audio to your speaker and hear the greeting out loud.</a:t>
            </a:r>
          </a:p>
        </p:txBody>
      </p:sp>
      <p:sp>
        <p:nvSpPr>
          <p:cNvPr id="7" name="Rounded Rectangle 6"/>
          <p:cNvSpPr/>
          <p:nvPr/>
        </p:nvSpPr>
        <p:spPr>
          <a:xfrm>
            <a:off x="685800" y="2139696"/>
            <a:ext cx="5394960" cy="2962656"/>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60120" y="2359152"/>
            <a:ext cx="4846320" cy="274320"/>
          </a:xfrm>
          <a:prstGeom prst="rect">
            <a:avLst/>
          </a:prstGeom>
          <a:noFill/>
        </p:spPr>
        <p:txBody>
          <a:bodyPr wrap="square" lIns="0" rIns="0" tIns="0" bIns="0" anchor="t">
            <a:spAutoFit/>
          </a:bodyPr>
          <a:lstStyle/>
          <a:p>
            <a:pPr algn="l"/>
            <a:r>
              <a:rPr sz="1100" b="1" i="0">
                <a:solidFill>
                  <a:srgbClr val="13EF93"/>
                </a:solidFill>
                <a:latin typeface="Calibri"/>
              </a:rPr>
              <a:t>THE MENTAL MODEL</a:t>
            </a:r>
          </a:p>
        </p:txBody>
      </p:sp>
      <p:sp>
        <p:nvSpPr>
          <p:cNvPr id="9" name="TextBox 8"/>
          <p:cNvSpPr txBox="1"/>
          <p:nvPr/>
        </p:nvSpPr>
        <p:spPr>
          <a:xfrm>
            <a:off x="960120" y="2724912"/>
            <a:ext cx="4846320" cy="2194560"/>
          </a:xfrm>
          <a:prstGeom prst="rect">
            <a:avLst/>
          </a:prstGeom>
          <a:noFill/>
        </p:spPr>
        <p:txBody>
          <a:bodyPr wrap="square" lIns="0" rIns="0" tIns="0" bIns="0" anchor="t">
            <a:spAutoFit/>
          </a:bodyPr>
          <a:lstStyle/>
          <a:p>
            <a:pPr algn="l">
              <a:lnSpc>
                <a:spcPct val="115000"/>
              </a:lnSpc>
              <a:spcAft>
                <a:spcPts val="1000"/>
              </a:spcAft>
            </a:pPr>
            <a:r>
              <a:rPr sz="1350" b="0" i="0">
                <a:solidFill>
                  <a:srgbClr val="D8E0EA"/>
                </a:solidFill>
                <a:latin typeface="Calibri"/>
              </a:rPr>
              <a:t>Audio arrives from the network in bursts — a few hundred milliseconds whenever Flux finishes a chunk. Your sound hardware consumes it at a constant rate, asking for exactly 128 samples every 5.3 ms and refusing to wait.</a:t>
            </a:r>
          </a:p>
          <a:p>
            <a:pPr algn="l">
              <a:lnSpc>
                <a:spcPct val="115000"/>
              </a:lnSpc>
            </a:pPr>
            <a:r>
              <a:rPr sz="1350" b="0" i="0">
                <a:solidFill>
                  <a:srgbClr val="8FA0B3"/>
                </a:solidFill>
                <a:latin typeface="Calibri"/>
              </a:rPr>
              <a:t>Something has to absorb that difference. If it ever runs dry, you hear a click — which is why the queue fills a shortfall with silence rather than stale audio.</a:t>
            </a:r>
          </a:p>
        </p:txBody>
      </p:sp>
      <p:sp>
        <p:nvSpPr>
          <p:cNvPr id="10" name="Rounded Rectangle 9"/>
          <p:cNvSpPr/>
          <p:nvPr/>
        </p:nvSpPr>
        <p:spPr>
          <a:xfrm>
            <a:off x="6400800" y="2139696"/>
            <a:ext cx="5102352" cy="2962656"/>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693408" y="2359152"/>
            <a:ext cx="4526280" cy="274320"/>
          </a:xfrm>
          <a:prstGeom prst="rect">
            <a:avLst/>
          </a:prstGeom>
          <a:noFill/>
        </p:spPr>
        <p:txBody>
          <a:bodyPr wrap="square" lIns="0" rIns="0" tIns="0" bIns="0" anchor="t">
            <a:spAutoFit/>
          </a:bodyPr>
          <a:lstStyle/>
          <a:p>
            <a:pPr algn="l"/>
            <a:r>
              <a:rPr sz="1100" b="1" i="0">
                <a:solidFill>
                  <a:srgbClr val="13EF93"/>
                </a:solidFill>
                <a:latin typeface="Calibri"/>
              </a:rPr>
              <a:t>WHAT THEY WRITE</a:t>
            </a:r>
          </a:p>
        </p:txBody>
      </p:sp>
      <p:sp>
        <p:nvSpPr>
          <p:cNvPr id="12" name="TextBox 11"/>
          <p:cNvSpPr txBox="1"/>
          <p:nvPr/>
        </p:nvSpPr>
        <p:spPr>
          <a:xfrm>
            <a:off x="6693408" y="2724912"/>
            <a:ext cx="4526280" cy="2194560"/>
          </a:xfrm>
          <a:prstGeom prst="rect">
            <a:avLst/>
          </a:prstGeom>
          <a:noFill/>
        </p:spPr>
        <p:txBody>
          <a:bodyPr wrap="square" lIns="0" rIns="0" tIns="0" bIns="0" anchor="t">
            <a:spAutoFit/>
          </a:bodyPr>
          <a:lstStyle/>
          <a:p>
            <a:pPr algn="l">
              <a:spcAft>
                <a:spcPts val="400"/>
              </a:spcAft>
            </a:pPr>
            <a:r>
              <a:rPr sz="1400" b="1" i="0">
                <a:solidFill>
                  <a:srgbClr val="FFFFFF"/>
                </a:solidFill>
                <a:latin typeface="Courier New"/>
              </a:rPr>
              <a:t>TODO 3.1  ·  player.send(message)</a:t>
            </a:r>
          </a:p>
          <a:p>
            <a:pPr algn="l">
              <a:lnSpc>
                <a:spcPct val="110000"/>
              </a:lnSpc>
              <a:spcAft>
                <a:spcPts val="1400"/>
              </a:spcAft>
            </a:pPr>
            <a:r>
              <a:rPr sz="1250" b="0" i="0">
                <a:solidFill>
                  <a:srgbClr val="8FA0B3"/>
                </a:solidFill>
                <a:latin typeface="Calibri"/>
              </a:rPr>
              <a:t>One line. No error handling, no buffering, no device setup — a chunk the speaker can't play is the bridge's problem.</a:t>
            </a:r>
          </a:p>
          <a:p>
            <a:pPr algn="l">
              <a:spcAft>
                <a:spcPts val="400"/>
              </a:spcAft>
            </a:pPr>
            <a:r>
              <a:rPr sz="1400" b="1" i="0">
                <a:solidFill>
                  <a:srgbClr val="FFFFFF"/>
                </a:solidFill>
                <a:latin typeface="Courier New"/>
              </a:rPr>
              <a:t>TODO 3.2  ·  narrate the turn</a:t>
            </a:r>
          </a:p>
          <a:p>
            <a:pPr algn="l">
              <a:lnSpc>
                <a:spcPct val="110000"/>
              </a:lnSpc>
            </a:pPr>
            <a:r>
              <a:rPr sz="1250" b="0" i="0">
                <a:solidFill>
                  <a:srgbClr val="8FA0B3"/>
                </a:solidFill>
                <a:latin typeface="Calibri"/>
              </a:rPr>
              <a:t>Give AgentThinking, AgentStartedSpeaking, and AgentAudioDone their own branches so the console reads like a transcript.</a:t>
            </a:r>
          </a:p>
        </p:txBody>
      </p:sp>
      <p:sp>
        <p:nvSpPr>
          <p:cNvPr id="13" name="Rounded Rectangle 12"/>
          <p:cNvSpPr/>
          <p:nvPr/>
        </p:nvSpPr>
        <p:spPr>
          <a:xfrm>
            <a:off x="685800" y="5870448"/>
            <a:ext cx="10820095" cy="658368"/>
          </a:xfrm>
          <a:prstGeom prst="roundRect">
            <a:avLst>
              <a:gd name="adj" fmla="val 9000"/>
            </a:avLst>
          </a:prstGeom>
          <a:solidFill>
            <a:srgbClr val="2E231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950976" y="6044184"/>
            <a:ext cx="310896" cy="310896"/>
          </a:xfrm>
          <a:prstGeom prst="ellipse">
            <a:avLst/>
          </a:prstGeom>
          <a:noFill/>
          <a:ln w="1905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1036472" y="6134343"/>
            <a:ext cx="34198" cy="130576"/>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1142177" y="6134343"/>
            <a:ext cx="34198" cy="130576"/>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435607" y="5961888"/>
            <a:ext cx="1417320" cy="219456"/>
          </a:xfrm>
          <a:prstGeom prst="rect">
            <a:avLst/>
          </a:prstGeom>
          <a:noFill/>
        </p:spPr>
        <p:txBody>
          <a:bodyPr wrap="square" lIns="0" rIns="0" tIns="0" bIns="0" anchor="t">
            <a:spAutoFit/>
          </a:bodyPr>
          <a:lstStyle/>
          <a:p>
            <a:pPr algn="l"/>
            <a:r>
              <a:rPr sz="950" b="1" i="0">
                <a:solidFill>
                  <a:srgbClr val="FFB454"/>
                </a:solidFill>
                <a:latin typeface="Calibri"/>
              </a:rPr>
              <a:t>HOLD THE ROOM</a:t>
            </a:r>
          </a:p>
        </p:txBody>
      </p:sp>
      <p:sp>
        <p:nvSpPr>
          <p:cNvPr id="18" name="TextBox 17"/>
          <p:cNvSpPr txBox="1"/>
          <p:nvPr/>
        </p:nvSpPr>
        <p:spPr>
          <a:xfrm>
            <a:off x="1435607" y="6163056"/>
            <a:ext cx="9768535" cy="310896"/>
          </a:xfrm>
          <a:prstGeom prst="rect">
            <a:avLst/>
          </a:prstGeom>
          <a:noFill/>
        </p:spPr>
        <p:txBody>
          <a:bodyPr wrap="square" lIns="0" rIns="0" tIns="0" bIns="0" anchor="t">
            <a:spAutoFit/>
          </a:bodyPr>
          <a:lstStyle/>
          <a:p>
            <a:pPr algn="l"/>
            <a:r>
              <a:rPr sz="1400" b="0" i="0">
                <a:solidFill>
                  <a:srgbClr val="D8E0EA"/>
                </a:solidFill>
                <a:latin typeface="Calibri"/>
              </a:rPr>
              <a:t>Everyone hears the greeting out loud. Silent machines get fixed now, not in Step 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Rounded Rectangle 1"/>
          <p:cNvSpPr/>
          <p:nvPr/>
        </p:nvSpPr>
        <p:spPr>
          <a:xfrm>
            <a:off x="685800" y="384048"/>
            <a:ext cx="941832" cy="292608"/>
          </a:xfrm>
          <a:prstGeom prst="roundRect">
            <a:avLst>
              <a:gd name="adj" fmla="val 50000"/>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04120C"/>
                </a:solidFill>
                <a:latin typeface="Calibri"/>
              </a:rPr>
              <a:t>STEP 4</a:t>
            </a:r>
          </a:p>
        </p:txBody>
      </p:sp>
      <p:sp>
        <p:nvSpPr>
          <p:cNvPr id="3" name="TextBox 2"/>
          <p:cNvSpPr txBox="1"/>
          <p:nvPr/>
        </p:nvSpPr>
        <p:spPr>
          <a:xfrm>
            <a:off x="1828800" y="402336"/>
            <a:ext cx="3108960" cy="274320"/>
          </a:xfrm>
          <a:prstGeom prst="rect">
            <a:avLst/>
          </a:prstGeom>
          <a:noFill/>
        </p:spPr>
        <p:txBody>
          <a:bodyPr wrap="square" lIns="0" rIns="0" tIns="0" bIns="0" anchor="t">
            <a:spAutoFit/>
          </a:bodyPr>
          <a:lstStyle/>
          <a:p>
            <a:pPr algn="l"/>
            <a:r>
              <a:rPr sz="1250" b="1" i="0">
                <a:solidFill>
                  <a:srgbClr val="8FA0B3"/>
                </a:solidFill>
                <a:latin typeface="Calibri"/>
              </a:rPr>
              <a:t>1:10  ·  30 min</a:t>
            </a:r>
          </a:p>
        </p:txBody>
      </p:sp>
      <p:sp>
        <p:nvSpPr>
          <p:cNvPr id="4" name="Rounded Rectangle 3"/>
          <p:cNvSpPr/>
          <p:nvPr/>
        </p:nvSpPr>
        <p:spPr>
          <a:xfrm>
            <a:off x="9505188" y="384048"/>
            <a:ext cx="2000707" cy="292608"/>
          </a:xfrm>
          <a:prstGeom prst="roundRect">
            <a:avLst>
              <a:gd name="adj" fmla="val 50000"/>
            </a:avLst>
          </a:prstGeom>
          <a:solidFill>
            <a:srgbClr val="070B10"/>
          </a:solidFill>
          <a:ln w="12700">
            <a:solidFill>
              <a:srgbClr val="2C3A4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i="0">
                <a:solidFill>
                  <a:srgbClr val="5D6E80"/>
                </a:solidFill>
                <a:latin typeface="Calibri"/>
              </a:rPr>
              <a:t>EASY MODE — LAB 1</a:t>
            </a:r>
          </a:p>
        </p:txBody>
      </p:sp>
      <p:sp>
        <p:nvSpPr>
          <p:cNvPr id="5" name="TextBox 4"/>
          <p:cNvSpPr txBox="1"/>
          <p:nvPr/>
        </p:nvSpPr>
        <p:spPr>
          <a:xfrm>
            <a:off x="685800" y="859536"/>
            <a:ext cx="10820095" cy="658368"/>
          </a:xfrm>
          <a:prstGeom prst="rect">
            <a:avLst/>
          </a:prstGeom>
          <a:noFill/>
        </p:spPr>
        <p:txBody>
          <a:bodyPr wrap="square" lIns="0" rIns="0" tIns="0" bIns="0" anchor="t">
            <a:spAutoFit/>
          </a:bodyPr>
          <a:lstStyle/>
          <a:p>
            <a:pPr algn="l"/>
            <a:r>
              <a:rPr sz="3600" b="1" i="0">
                <a:solidFill>
                  <a:srgbClr val="FFFFFF"/>
                </a:solidFill>
                <a:latin typeface="Calibri"/>
              </a:rPr>
              <a:t>Talk to the agent</a:t>
            </a:r>
          </a:p>
        </p:txBody>
      </p:sp>
      <p:sp>
        <p:nvSpPr>
          <p:cNvPr id="6" name="TextBox 5"/>
          <p:cNvSpPr txBox="1"/>
          <p:nvPr/>
        </p:nvSpPr>
        <p:spPr>
          <a:xfrm>
            <a:off x="685800" y="1591056"/>
            <a:ext cx="10424160" cy="640080"/>
          </a:xfrm>
          <a:prstGeom prst="rect">
            <a:avLst/>
          </a:prstGeom>
          <a:noFill/>
        </p:spPr>
        <p:txBody>
          <a:bodyPr wrap="square" lIns="0" rIns="0" tIns="0" bIns="0" anchor="t">
            <a:spAutoFit/>
          </a:bodyPr>
          <a:lstStyle/>
          <a:p>
            <a:pPr algn="l">
              <a:lnSpc>
                <a:spcPct val="115000"/>
              </a:lnSpc>
            </a:pPr>
            <a:r>
              <a:rPr sz="1600" b="0" i="0">
                <a:solidFill>
                  <a:srgbClr val="8FA0B3"/>
                </a:solidFill>
                <a:latin typeface="Calibri"/>
              </a:rPr>
              <a:t>Stream microphone audio to the agent and hold an actual conversation. This is the step where it becomes a voice agent.</a:t>
            </a:r>
          </a:p>
        </p:txBody>
      </p:sp>
      <p:sp>
        <p:nvSpPr>
          <p:cNvPr id="7" name="Rounded Rectangle 6"/>
          <p:cNvSpPr/>
          <p:nvPr/>
        </p:nvSpPr>
        <p:spPr>
          <a:xfrm>
            <a:off x="685800" y="2212848"/>
            <a:ext cx="5852160" cy="1371600"/>
          </a:xfrm>
          <a:prstGeom prst="roundRect">
            <a:avLst>
              <a:gd name="adj" fmla="val 5000"/>
            </a:avLst>
          </a:prstGeom>
          <a:solidFill>
            <a:srgbClr val="0C13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2395728"/>
            <a:ext cx="5394960" cy="237744"/>
          </a:xfrm>
          <a:prstGeom prst="rect">
            <a:avLst/>
          </a:prstGeom>
          <a:noFill/>
        </p:spPr>
        <p:txBody>
          <a:bodyPr wrap="square" lIns="0" rIns="0" tIns="0" bIns="0" anchor="t">
            <a:spAutoFit/>
          </a:bodyPr>
          <a:lstStyle/>
          <a:p>
            <a:pPr algn="l"/>
            <a:r>
              <a:rPr sz="1050" b="1" i="0">
                <a:solidFill>
                  <a:srgbClr val="5D6E80"/>
                </a:solidFill>
                <a:latin typeface="Calibri"/>
              </a:rPr>
              <a:t>THE ENTIRE OUTBOUND SIDE</a:t>
            </a:r>
          </a:p>
        </p:txBody>
      </p:sp>
      <p:sp>
        <p:nvSpPr>
          <p:cNvPr id="9" name="TextBox 8"/>
          <p:cNvSpPr txBox="1"/>
          <p:nvPr/>
        </p:nvSpPr>
        <p:spPr>
          <a:xfrm>
            <a:off x="941832" y="2724912"/>
            <a:ext cx="5394960" cy="722375"/>
          </a:xfrm>
          <a:prstGeom prst="rect">
            <a:avLst/>
          </a:prstGeom>
          <a:noFill/>
        </p:spPr>
        <p:txBody>
          <a:bodyPr wrap="square" lIns="0" rIns="0" tIns="0" bIns="0" anchor="t">
            <a:spAutoFit/>
          </a:bodyPr>
          <a:lstStyle/>
          <a:p>
            <a:pPr algn="l">
              <a:lnSpc>
                <a:spcPct val="100000"/>
              </a:lnSpc>
              <a:spcAft>
                <a:spcPts val="300"/>
              </a:spcAft>
            </a:pPr>
            <a:r>
              <a:rPr sz="1400" b="0" i="0">
                <a:solidFill>
                  <a:srgbClr val="FFFFFF"/>
                </a:solidFill>
                <a:latin typeface="Courier New"/>
              </a:rPr>
              <a:t>def on_media(agent, audio):</a:t>
            </a:r>
          </a:p>
          <a:p>
            <a:pPr algn="l">
              <a:lnSpc>
                <a:spcPct val="100000"/>
              </a:lnSpc>
              <a:spcAft>
                <a:spcPts val="300"/>
              </a:spcAft>
            </a:pPr>
            <a:r>
              <a:rPr sz="1400" b="0" i="0">
                <a:solidFill>
                  <a:srgbClr val="13EF93"/>
                </a:solidFill>
                <a:latin typeface="Courier New"/>
              </a:rPr>
              <a:t>    agent.send_media(audio)</a:t>
            </a:r>
          </a:p>
        </p:txBody>
      </p:sp>
      <p:sp>
        <p:nvSpPr>
          <p:cNvPr id="10" name="TextBox 9"/>
          <p:cNvSpPr txBox="1"/>
          <p:nvPr/>
        </p:nvSpPr>
        <p:spPr>
          <a:xfrm>
            <a:off x="685800" y="3730752"/>
            <a:ext cx="5852160" cy="1371600"/>
          </a:xfrm>
          <a:prstGeom prst="rect">
            <a:avLst/>
          </a:prstGeom>
          <a:noFill/>
        </p:spPr>
        <p:txBody>
          <a:bodyPr wrap="square" lIns="0" rIns="0" tIns="0" bIns="0" anchor="t">
            <a:spAutoFit/>
          </a:bodyPr>
          <a:lstStyle/>
          <a:p>
            <a:pPr algn="l">
              <a:spcAft>
                <a:spcPts val="600"/>
              </a:spcAft>
            </a:pPr>
            <a:r>
              <a:rPr sz="1700" b="1" i="0">
                <a:solidFill>
                  <a:srgbClr val="13EF93"/>
                </a:solidFill>
                <a:latin typeface="Calibri"/>
              </a:rPr>
              <a:t>The shortness is the lesson.</a:t>
            </a:r>
          </a:p>
          <a:p>
            <a:pPr algn="l">
              <a:lnSpc>
                <a:spcPct val="115000"/>
              </a:lnSpc>
            </a:pPr>
            <a:r>
              <a:rPr sz="1400" b="0" i="0">
                <a:solidFill>
                  <a:srgbClr val="D8E0EA"/>
                </a:solidFill>
                <a:latin typeface="Calibri"/>
              </a:rPr>
              <a:t>No voice activity detection. No silence trimming. No energy threshold. No “has the user stopped talking” logic. Flux does all of it server-side — your job is keeping the pipe full.</a:t>
            </a:r>
          </a:p>
        </p:txBody>
      </p:sp>
      <p:sp>
        <p:nvSpPr>
          <p:cNvPr id="11" name="Rounded Rectangle 10"/>
          <p:cNvSpPr/>
          <p:nvPr/>
        </p:nvSpPr>
        <p:spPr>
          <a:xfrm>
            <a:off x="6903720" y="2212848"/>
            <a:ext cx="4599432" cy="3017520"/>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196328" y="2432304"/>
            <a:ext cx="4023360" cy="274320"/>
          </a:xfrm>
          <a:prstGeom prst="rect">
            <a:avLst/>
          </a:prstGeom>
          <a:noFill/>
        </p:spPr>
        <p:txBody>
          <a:bodyPr wrap="square" lIns="0" rIns="0" tIns="0" bIns="0" anchor="t">
            <a:spAutoFit/>
          </a:bodyPr>
          <a:lstStyle/>
          <a:p>
            <a:pPr algn="l"/>
            <a:r>
              <a:rPr sz="1100" b="1" i="0">
                <a:solidFill>
                  <a:srgbClr val="13EF93"/>
                </a:solidFill>
                <a:latin typeface="Calibri"/>
              </a:rPr>
              <a:t>DONE FOR YOU, IN THE WORKLET</a:t>
            </a:r>
          </a:p>
        </p:txBody>
      </p:sp>
      <p:sp>
        <p:nvSpPr>
          <p:cNvPr id="13" name="TextBox 12"/>
          <p:cNvSpPr txBox="1"/>
          <p:nvPr/>
        </p:nvSpPr>
        <p:spPr>
          <a:xfrm>
            <a:off x="7196328" y="2798064"/>
            <a:ext cx="4023360" cy="2286000"/>
          </a:xfrm>
          <a:prstGeom prst="rect">
            <a:avLst/>
          </a:prstGeom>
          <a:noFill/>
        </p:spPr>
        <p:txBody>
          <a:bodyPr wrap="square" lIns="0" rIns="0" tIns="0" bIns="0" anchor="t">
            <a:spAutoFit/>
          </a:bodyPr>
          <a:lstStyle/>
          <a:p>
            <a:pPr algn="l">
              <a:spcAft>
                <a:spcPts val="300"/>
              </a:spcAft>
            </a:pPr>
            <a:r>
              <a:rPr sz="1450" b="1" i="0">
                <a:solidFill>
                  <a:srgbClr val="FFFFFF"/>
                </a:solidFill>
                <a:latin typeface="Calibri"/>
              </a:rPr>
              <a:t>Chunking</a:t>
            </a:r>
          </a:p>
          <a:p>
            <a:pPr algn="l">
              <a:lnSpc>
                <a:spcPct val="110000"/>
              </a:lnSpc>
              <a:spcAft>
                <a:spcPts val="1400"/>
              </a:spcAft>
            </a:pPr>
            <a:r>
              <a:rPr sz="1250" b="0" i="0">
                <a:solidFill>
                  <a:srgbClr val="8FA0B3"/>
                </a:solidFill>
                <a:latin typeface="Calibri"/>
              </a:rPr>
              <a:t>Hardware delivers 128 frames at a time — about 5 ms. Flux wants 80 ms, which is 1920 frames at 24 kHz. Exactly fifteen blocks.</a:t>
            </a:r>
          </a:p>
          <a:p>
            <a:pPr algn="l">
              <a:spcAft>
                <a:spcPts val="300"/>
              </a:spcAft>
            </a:pPr>
            <a:r>
              <a:rPr sz="1450" b="1" i="0">
                <a:solidFill>
                  <a:srgbClr val="FFFFFF"/>
                </a:solidFill>
                <a:latin typeface="Calibri"/>
              </a:rPr>
              <a:t>Resampling</a:t>
            </a:r>
          </a:p>
          <a:p>
            <a:pPr algn="l">
              <a:lnSpc>
                <a:spcPct val="110000"/>
              </a:lnSpc>
            </a:pPr>
            <a:r>
              <a:rPr sz="1250" b="0" i="0">
                <a:solidFill>
                  <a:srgbClr val="8FA0B3"/>
                </a:solidFill>
                <a:latin typeface="Calibri"/>
              </a:rPr>
              <a:t>Most microphones run at 48 kHz; SETTINGS asked for 24 kHz. The page builds its AudioContext at 24 kHz and carries a fallback for browsers that ignore the request.</a:t>
            </a:r>
          </a:p>
        </p:txBody>
      </p:sp>
      <p:sp>
        <p:nvSpPr>
          <p:cNvPr id="14" name="Rounded Rectangle 13"/>
          <p:cNvSpPr/>
          <p:nvPr/>
        </p:nvSpPr>
        <p:spPr>
          <a:xfrm>
            <a:off x="685800" y="5870448"/>
            <a:ext cx="10820095" cy="658368"/>
          </a:xfrm>
          <a:prstGeom prst="roundRect">
            <a:avLst>
              <a:gd name="adj" fmla="val 9000"/>
            </a:avLst>
          </a:prstGeom>
          <a:solidFill>
            <a:srgbClr val="2E231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950976" y="6044184"/>
            <a:ext cx="310896" cy="310896"/>
          </a:xfrm>
          <a:prstGeom prst="ellipse">
            <a:avLst/>
          </a:prstGeom>
          <a:noFill/>
          <a:ln w="1905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1036472" y="6134343"/>
            <a:ext cx="34198" cy="130576"/>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1142177" y="6134343"/>
            <a:ext cx="34198" cy="130576"/>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5607" y="5961888"/>
            <a:ext cx="1417320" cy="219456"/>
          </a:xfrm>
          <a:prstGeom prst="rect">
            <a:avLst/>
          </a:prstGeom>
          <a:noFill/>
        </p:spPr>
        <p:txBody>
          <a:bodyPr wrap="square" lIns="0" rIns="0" tIns="0" bIns="0" anchor="t">
            <a:spAutoFit/>
          </a:bodyPr>
          <a:lstStyle/>
          <a:p>
            <a:pPr algn="l"/>
            <a:r>
              <a:rPr sz="950" b="1" i="0">
                <a:solidFill>
                  <a:srgbClr val="FFB454"/>
                </a:solidFill>
                <a:latin typeface="Calibri"/>
              </a:rPr>
              <a:t>HOLD THE ROOM</a:t>
            </a:r>
          </a:p>
        </p:txBody>
      </p:sp>
      <p:sp>
        <p:nvSpPr>
          <p:cNvPr id="19" name="TextBox 18"/>
          <p:cNvSpPr txBox="1"/>
          <p:nvPr/>
        </p:nvSpPr>
        <p:spPr>
          <a:xfrm>
            <a:off x="1435607" y="6163056"/>
            <a:ext cx="9768535" cy="310896"/>
          </a:xfrm>
          <a:prstGeom prst="rect">
            <a:avLst/>
          </a:prstGeom>
          <a:noFill/>
        </p:spPr>
        <p:txBody>
          <a:bodyPr wrap="square" lIns="0" rIns="0" tIns="0" bIns="0" anchor="t">
            <a:spAutoFit/>
          </a:bodyPr>
          <a:lstStyle/>
          <a:p>
            <a:pPr algn="l"/>
            <a:r>
              <a:rPr sz="1400" b="0" i="0">
                <a:solidFill>
                  <a:srgbClr val="D8E0EA"/>
                </a:solidFill>
                <a:latin typeface="Calibri"/>
              </a:rPr>
              <a:t>Everyone holds a real conversation. This is the high point — let it breathe.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4070A"/>
        </a:solidFill>
        <a:effectLst/>
      </p:bgPr>
    </p:bg>
    <p:spTree>
      <p:nvGrpSpPr>
        <p:cNvPr id="1" name=""/>
        <p:cNvGrpSpPr/>
        <p:nvPr/>
      </p:nvGrpSpPr>
      <p:grpSpPr/>
      <p:sp>
        <p:nvSpPr>
          <p:cNvPr id="2" name="TextBox 1"/>
          <p:cNvSpPr txBox="1"/>
          <p:nvPr/>
        </p:nvSpPr>
        <p:spPr>
          <a:xfrm>
            <a:off x="685800" y="2103120"/>
            <a:ext cx="10424160" cy="457200"/>
          </a:xfrm>
          <a:prstGeom prst="rect">
            <a:avLst/>
          </a:prstGeom>
          <a:noFill/>
        </p:spPr>
        <p:txBody>
          <a:bodyPr wrap="square" lIns="0" rIns="0" tIns="0" bIns="0" anchor="t">
            <a:spAutoFit/>
          </a:bodyPr>
          <a:lstStyle/>
          <a:p>
            <a:pPr algn="l"/>
            <a:r>
              <a:rPr sz="1500" b="1" i="0">
                <a:solidFill>
                  <a:srgbClr val="FFB454"/>
                </a:solidFill>
                <a:latin typeface="Courier New"/>
              </a:rPr>
              <a:t>1:40</a:t>
            </a:r>
          </a:p>
        </p:txBody>
      </p:sp>
      <p:sp>
        <p:nvSpPr>
          <p:cNvPr id="3" name="TextBox 2"/>
          <p:cNvSpPr txBox="1"/>
          <p:nvPr/>
        </p:nvSpPr>
        <p:spPr>
          <a:xfrm>
            <a:off x="685800" y="2615184"/>
            <a:ext cx="10424160" cy="1280160"/>
          </a:xfrm>
          <a:prstGeom prst="rect">
            <a:avLst/>
          </a:prstGeom>
          <a:noFill/>
        </p:spPr>
        <p:txBody>
          <a:bodyPr wrap="square" lIns="0" rIns="0" tIns="0" bIns="0" anchor="t">
            <a:spAutoFit/>
          </a:bodyPr>
          <a:lstStyle/>
          <a:p>
            <a:pPr algn="l"/>
            <a:r>
              <a:rPr sz="8600" b="1" i="0">
                <a:solidFill>
                  <a:srgbClr val="FFFFFF"/>
                </a:solidFill>
                <a:latin typeface="Calibri"/>
              </a:rPr>
              <a:t>Break</a:t>
            </a:r>
          </a:p>
        </p:txBody>
      </p:sp>
      <p:sp>
        <p:nvSpPr>
          <p:cNvPr id="4" name="TextBox 3"/>
          <p:cNvSpPr txBox="1"/>
          <p:nvPr/>
        </p:nvSpPr>
        <p:spPr>
          <a:xfrm>
            <a:off x="685800" y="3931920"/>
            <a:ext cx="8229600" cy="457200"/>
          </a:xfrm>
          <a:prstGeom prst="rect">
            <a:avLst/>
          </a:prstGeom>
          <a:noFill/>
        </p:spPr>
        <p:txBody>
          <a:bodyPr wrap="square" lIns="0" rIns="0" tIns="0" bIns="0" anchor="t">
            <a:spAutoFit/>
          </a:bodyPr>
          <a:lstStyle/>
          <a:p>
            <a:pPr algn="l"/>
            <a:r>
              <a:rPr sz="2000" b="0" i="0">
                <a:solidFill>
                  <a:srgbClr val="8FA0B3"/>
                </a:solidFill>
                <a:latin typeface="Calibri"/>
              </a:rPr>
              <a:t>Ten minutes. Back at:</a:t>
            </a:r>
          </a:p>
        </p:txBody>
      </p:sp>
      <p:sp>
        <p:nvSpPr>
          <p:cNvPr id="5" name="Rounded Rectangle 4"/>
          <p:cNvSpPr/>
          <p:nvPr/>
        </p:nvSpPr>
        <p:spPr>
          <a:xfrm>
            <a:off x="3931920" y="3877056"/>
            <a:ext cx="2194560" cy="621792"/>
          </a:xfrm>
          <a:prstGeom prst="roundRect">
            <a:avLst>
              <a:gd name="adj" fmla="val 12000"/>
            </a:avLst>
          </a:prstGeom>
          <a:no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685800" y="4956048"/>
            <a:ext cx="10820095" cy="1097280"/>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5175504"/>
            <a:ext cx="10241280" cy="731520"/>
          </a:xfrm>
          <a:prstGeom prst="rect">
            <a:avLst/>
          </a:prstGeom>
          <a:noFill/>
        </p:spPr>
        <p:txBody>
          <a:bodyPr wrap="square" lIns="0" rIns="0" tIns="0" bIns="0" anchor="t">
            <a:spAutoFit/>
          </a:bodyPr>
          <a:lstStyle/>
          <a:p>
            <a:pPr algn="l"/>
            <a:r>
              <a:rPr sz="1700" b="0" i="0">
                <a:solidFill>
                  <a:srgbClr val="D8E0EA"/>
                </a:solidFill>
                <a:latin typeface="Calibri"/>
              </a:rPr>
              <a:t>You have a working voice agent. After the break we break it — on purpose — and then fix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Rounded Rectangle 1"/>
          <p:cNvSpPr/>
          <p:nvPr/>
        </p:nvSpPr>
        <p:spPr>
          <a:xfrm>
            <a:off x="685800" y="384048"/>
            <a:ext cx="941832" cy="292608"/>
          </a:xfrm>
          <a:prstGeom prst="roundRect">
            <a:avLst>
              <a:gd name="adj" fmla="val 50000"/>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04120C"/>
                </a:solidFill>
                <a:latin typeface="Calibri"/>
              </a:rPr>
              <a:t>STEP 5</a:t>
            </a:r>
          </a:p>
        </p:txBody>
      </p:sp>
      <p:sp>
        <p:nvSpPr>
          <p:cNvPr id="3" name="TextBox 2"/>
          <p:cNvSpPr txBox="1"/>
          <p:nvPr/>
        </p:nvSpPr>
        <p:spPr>
          <a:xfrm>
            <a:off x="1828800" y="402336"/>
            <a:ext cx="3108960" cy="274320"/>
          </a:xfrm>
          <a:prstGeom prst="rect">
            <a:avLst/>
          </a:prstGeom>
          <a:noFill/>
        </p:spPr>
        <p:txBody>
          <a:bodyPr wrap="square" lIns="0" rIns="0" tIns="0" bIns="0" anchor="t">
            <a:spAutoFit/>
          </a:bodyPr>
          <a:lstStyle/>
          <a:p>
            <a:pPr algn="l"/>
            <a:r>
              <a:rPr sz="1250" b="1" i="0">
                <a:solidFill>
                  <a:srgbClr val="8FA0B3"/>
                </a:solidFill>
                <a:latin typeface="Calibri"/>
              </a:rPr>
              <a:t>1:50  ·  25 min</a:t>
            </a:r>
          </a:p>
        </p:txBody>
      </p:sp>
      <p:sp>
        <p:nvSpPr>
          <p:cNvPr id="4" name="Rounded Rectangle 3"/>
          <p:cNvSpPr/>
          <p:nvPr/>
        </p:nvSpPr>
        <p:spPr>
          <a:xfrm>
            <a:off x="10134295" y="384048"/>
            <a:ext cx="1371600" cy="292608"/>
          </a:xfrm>
          <a:prstGeom prst="roundRect">
            <a:avLst>
              <a:gd name="adj" fmla="val 50000"/>
            </a:avLst>
          </a:prstGeom>
          <a:solidFill>
            <a:srgbClr val="070B10"/>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i="0">
                <a:solidFill>
                  <a:srgbClr val="FFB454"/>
                </a:solidFill>
                <a:latin typeface="Calibri"/>
              </a:rPr>
              <a:t>DO NOT CUT</a:t>
            </a:r>
          </a:p>
        </p:txBody>
      </p:sp>
      <p:sp>
        <p:nvSpPr>
          <p:cNvPr id="5" name="Rounded Rectangle 4"/>
          <p:cNvSpPr/>
          <p:nvPr/>
        </p:nvSpPr>
        <p:spPr>
          <a:xfrm>
            <a:off x="7987283" y="384048"/>
            <a:ext cx="2000707" cy="292608"/>
          </a:xfrm>
          <a:prstGeom prst="roundRect">
            <a:avLst>
              <a:gd name="adj" fmla="val 50000"/>
            </a:avLst>
          </a:prstGeom>
          <a:solidFill>
            <a:srgbClr val="070B10"/>
          </a:solidFill>
          <a:ln w="12700">
            <a:solidFill>
              <a:srgbClr val="2C3A4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i="0">
                <a:solidFill>
                  <a:srgbClr val="5D6E80"/>
                </a:solidFill>
                <a:latin typeface="Calibri"/>
              </a:rPr>
              <a:t>EASY MODE — LAB 2</a:t>
            </a:r>
          </a:p>
        </p:txBody>
      </p:sp>
      <p:sp>
        <p:nvSpPr>
          <p:cNvPr id="6" name="TextBox 5"/>
          <p:cNvSpPr txBox="1"/>
          <p:nvPr/>
        </p:nvSpPr>
        <p:spPr>
          <a:xfrm>
            <a:off x="685800" y="859536"/>
            <a:ext cx="10820095" cy="658368"/>
          </a:xfrm>
          <a:prstGeom prst="rect">
            <a:avLst/>
          </a:prstGeom>
          <a:noFill/>
        </p:spPr>
        <p:txBody>
          <a:bodyPr wrap="square" lIns="0" rIns="0" tIns="0" bIns="0" anchor="t">
            <a:spAutoFit/>
          </a:bodyPr>
          <a:lstStyle/>
          <a:p>
            <a:pPr algn="l"/>
            <a:r>
              <a:rPr sz="3600" b="1" i="0">
                <a:solidFill>
                  <a:srgbClr val="FFFFFF"/>
                </a:solidFill>
                <a:latin typeface="Calibri"/>
              </a:rPr>
              <a:t>Barge-in — run it first</a:t>
            </a:r>
          </a:p>
        </p:txBody>
      </p:sp>
      <p:sp>
        <p:nvSpPr>
          <p:cNvPr id="7" name="TextBox 6"/>
          <p:cNvSpPr txBox="1"/>
          <p:nvPr/>
        </p:nvSpPr>
        <p:spPr>
          <a:xfrm>
            <a:off x="685800" y="1627632"/>
            <a:ext cx="10515600" cy="822960"/>
          </a:xfrm>
          <a:prstGeom prst="rect">
            <a:avLst/>
          </a:prstGeom>
          <a:noFill/>
        </p:spPr>
        <p:txBody>
          <a:bodyPr wrap="square" lIns="0" rIns="0" tIns="0" bIns="0" anchor="t">
            <a:spAutoFit/>
          </a:bodyPr>
          <a:lstStyle/>
          <a:p>
            <a:pPr algn="l"/>
            <a:r>
              <a:rPr sz="3000" b="1" i="0">
                <a:solidFill>
                  <a:srgbClr val="FFB454"/>
                </a:solidFill>
                <a:latin typeface="Calibri"/>
              </a:rPr>
              <a:t>Don't write anything yet. Interrupt it.</a:t>
            </a:r>
          </a:p>
        </p:txBody>
      </p:sp>
      <p:sp>
        <p:nvSpPr>
          <p:cNvPr id="8" name="Rounded Rectangle 7"/>
          <p:cNvSpPr/>
          <p:nvPr/>
        </p:nvSpPr>
        <p:spPr>
          <a:xfrm>
            <a:off x="685800" y="2615184"/>
            <a:ext cx="5623560" cy="2615184"/>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78408" y="2871216"/>
            <a:ext cx="5029200" cy="274320"/>
          </a:xfrm>
          <a:prstGeom prst="rect">
            <a:avLst/>
          </a:prstGeom>
          <a:noFill/>
        </p:spPr>
        <p:txBody>
          <a:bodyPr wrap="square" lIns="0" rIns="0" tIns="0" bIns="0" anchor="t">
            <a:spAutoFit/>
          </a:bodyPr>
          <a:lstStyle/>
          <a:p>
            <a:pPr algn="l"/>
            <a:r>
              <a:rPr sz="1100" b="1" i="0">
                <a:solidFill>
                  <a:srgbClr val="FFB454"/>
                </a:solidFill>
                <a:latin typeface="Calibri"/>
              </a:rPr>
              <a:t>DO THIS, TOGETHER</a:t>
            </a:r>
          </a:p>
        </p:txBody>
      </p:sp>
      <p:sp>
        <p:nvSpPr>
          <p:cNvPr id="10" name="Oval 9"/>
          <p:cNvSpPr/>
          <p:nvPr/>
        </p:nvSpPr>
        <p:spPr>
          <a:xfrm>
            <a:off x="978408" y="3410712"/>
            <a:ext cx="91440" cy="91440"/>
          </a:xfrm>
          <a:prstGeom prst="ellipse">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289304" y="3310128"/>
            <a:ext cx="4718304" cy="411480"/>
          </a:xfrm>
          <a:prstGeom prst="rect">
            <a:avLst/>
          </a:prstGeom>
          <a:noFill/>
        </p:spPr>
        <p:txBody>
          <a:bodyPr wrap="square" lIns="0" rIns="0" tIns="0" bIns="0" anchor="t">
            <a:spAutoFit/>
          </a:bodyPr>
          <a:lstStyle/>
          <a:p>
            <a:pPr algn="l"/>
            <a:r>
              <a:rPr sz="1350" b="0" i="0">
                <a:solidFill>
                  <a:srgbClr val="D8E0EA"/>
                </a:solidFill>
                <a:latin typeface="Calibri"/>
              </a:rPr>
              <a:t>Run steps/05-barge-in/main.py</a:t>
            </a:r>
          </a:p>
        </p:txBody>
      </p:sp>
      <p:sp>
        <p:nvSpPr>
          <p:cNvPr id="12" name="Oval 11"/>
          <p:cNvSpPr/>
          <p:nvPr/>
        </p:nvSpPr>
        <p:spPr>
          <a:xfrm>
            <a:off x="978408" y="3867912"/>
            <a:ext cx="91440" cy="91440"/>
          </a:xfrm>
          <a:prstGeom prst="ellipse">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289304" y="3767328"/>
            <a:ext cx="4718304" cy="411480"/>
          </a:xfrm>
          <a:prstGeom prst="rect">
            <a:avLst/>
          </a:prstGeom>
          <a:noFill/>
        </p:spPr>
        <p:txBody>
          <a:bodyPr wrap="square" lIns="0" rIns="0" tIns="0" bIns="0" anchor="t">
            <a:spAutoFit/>
          </a:bodyPr>
          <a:lstStyle/>
          <a:p>
            <a:pPr algn="l"/>
            <a:r>
              <a:rPr sz="1350" b="0" i="0">
                <a:solidFill>
                  <a:srgbClr val="D8E0EA"/>
                </a:solidFill>
                <a:latin typeface="Calibri"/>
              </a:rPr>
              <a:t>Ask it something open-ended</a:t>
            </a:r>
          </a:p>
        </p:txBody>
      </p:sp>
      <p:sp>
        <p:nvSpPr>
          <p:cNvPr id="14" name="Oval 13"/>
          <p:cNvSpPr/>
          <p:nvPr/>
        </p:nvSpPr>
        <p:spPr>
          <a:xfrm>
            <a:off x="978408" y="4325112"/>
            <a:ext cx="91440" cy="91440"/>
          </a:xfrm>
          <a:prstGeom prst="ellipse">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89304" y="4224528"/>
            <a:ext cx="4718304" cy="411480"/>
          </a:xfrm>
          <a:prstGeom prst="rect">
            <a:avLst/>
          </a:prstGeom>
          <a:noFill/>
        </p:spPr>
        <p:txBody>
          <a:bodyPr wrap="square" lIns="0" rIns="0" tIns="0" bIns="0" anchor="t">
            <a:spAutoFit/>
          </a:bodyPr>
          <a:lstStyle/>
          <a:p>
            <a:pPr algn="l"/>
            <a:r>
              <a:rPr sz="1350" b="0" i="0">
                <a:solidFill>
                  <a:srgbClr val="D8E0EA"/>
                </a:solidFill>
                <a:latin typeface="Calibri"/>
              </a:rPr>
              <a:t>Wait for it to really get going</a:t>
            </a:r>
          </a:p>
        </p:txBody>
      </p:sp>
      <p:sp>
        <p:nvSpPr>
          <p:cNvPr id="16" name="Oval 15"/>
          <p:cNvSpPr/>
          <p:nvPr/>
        </p:nvSpPr>
        <p:spPr>
          <a:xfrm>
            <a:off x="978408" y="4782312"/>
            <a:ext cx="91440" cy="91440"/>
          </a:xfrm>
          <a:prstGeom prst="ellipse">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289304" y="4681728"/>
            <a:ext cx="4718304" cy="411480"/>
          </a:xfrm>
          <a:prstGeom prst="rect">
            <a:avLst/>
          </a:prstGeom>
          <a:noFill/>
        </p:spPr>
        <p:txBody>
          <a:bodyPr wrap="square" lIns="0" rIns="0" tIns="0" bIns="0" anchor="t">
            <a:spAutoFit/>
          </a:bodyPr>
          <a:lstStyle/>
          <a:p>
            <a:pPr algn="l"/>
            <a:r>
              <a:rPr sz="1350" b="0" i="0">
                <a:solidFill>
                  <a:srgbClr val="D8E0EA"/>
                </a:solidFill>
                <a:latin typeface="Calibri"/>
              </a:rPr>
              <a:t>Talk over it</a:t>
            </a:r>
          </a:p>
        </p:txBody>
      </p:sp>
      <p:sp>
        <p:nvSpPr>
          <p:cNvPr id="18" name="Rounded Rectangle 17"/>
          <p:cNvSpPr/>
          <p:nvPr/>
        </p:nvSpPr>
        <p:spPr>
          <a:xfrm>
            <a:off x="6629400" y="2615184"/>
            <a:ext cx="4873752" cy="2615184"/>
          </a:xfrm>
          <a:prstGeom prst="roundRect">
            <a:avLst>
              <a:gd name="adj" fmla="val 6000"/>
            </a:avLst>
          </a:prstGeom>
          <a:solidFill>
            <a:srgbClr val="1C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22008" y="2871216"/>
            <a:ext cx="4297680" cy="2103120"/>
          </a:xfrm>
          <a:prstGeom prst="rect">
            <a:avLst/>
          </a:prstGeom>
          <a:noFill/>
        </p:spPr>
        <p:txBody>
          <a:bodyPr wrap="square" lIns="0" rIns="0" tIns="0" bIns="0" anchor="t">
            <a:spAutoFit/>
          </a:bodyPr>
          <a:lstStyle/>
          <a:p>
            <a:pPr algn="l">
              <a:spcAft>
                <a:spcPts val="800"/>
              </a:spcAft>
            </a:pPr>
            <a:r>
              <a:rPr sz="2000" b="1" i="0">
                <a:solidFill>
                  <a:srgbClr val="FFFFFF"/>
                </a:solidFill>
                <a:latin typeface="Calibri"/>
              </a:rPr>
              <a:t>It keeps going.</a:t>
            </a:r>
          </a:p>
          <a:p>
            <a:pPr algn="l">
              <a:lnSpc>
                <a:spcPct val="115000"/>
              </a:lnSpc>
            </a:pPr>
            <a:r>
              <a:rPr sz="1350" b="0" i="0">
                <a:solidFill>
                  <a:srgbClr val="D8E0EA"/>
                </a:solidFill>
                <a:latin typeface="Calibri"/>
              </a:rPr>
              <a:t>Cheerfully, right across you, while the console prints &gt;&gt; UserStartedSpeaking. The server knew you'd started talking and told you immediately — your speaker just didn't care.</a:t>
            </a:r>
          </a:p>
        </p:txBody>
      </p:sp>
      <p:sp>
        <p:nvSpPr>
          <p:cNvPr id="20" name="Rounded Rectangle 19"/>
          <p:cNvSpPr/>
          <p:nvPr/>
        </p:nvSpPr>
        <p:spPr>
          <a:xfrm>
            <a:off x="685800" y="5870448"/>
            <a:ext cx="10820095" cy="658368"/>
          </a:xfrm>
          <a:prstGeom prst="roundRect">
            <a:avLst>
              <a:gd name="adj" fmla="val 9000"/>
            </a:avLst>
          </a:prstGeom>
          <a:solidFill>
            <a:srgbClr val="2E231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950976" y="6044184"/>
            <a:ext cx="310896" cy="310896"/>
          </a:xfrm>
          <a:prstGeom prst="ellipse">
            <a:avLst/>
          </a:prstGeom>
          <a:noFill/>
          <a:ln w="1905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1036472" y="6134343"/>
            <a:ext cx="34198" cy="130576"/>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1142177" y="6134343"/>
            <a:ext cx="34198" cy="130576"/>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435607" y="5961888"/>
            <a:ext cx="1417320" cy="219456"/>
          </a:xfrm>
          <a:prstGeom prst="rect">
            <a:avLst/>
          </a:prstGeom>
          <a:noFill/>
        </p:spPr>
        <p:txBody>
          <a:bodyPr wrap="square" lIns="0" rIns="0" tIns="0" bIns="0" anchor="t">
            <a:spAutoFit/>
          </a:bodyPr>
          <a:lstStyle/>
          <a:p>
            <a:pPr algn="l"/>
            <a:r>
              <a:rPr sz="950" b="1" i="0">
                <a:solidFill>
                  <a:srgbClr val="FFB454"/>
                </a:solidFill>
                <a:latin typeface="Calibri"/>
              </a:rPr>
              <a:t>DO THIS TOGETHER</a:t>
            </a:r>
          </a:p>
        </p:txBody>
      </p:sp>
      <p:sp>
        <p:nvSpPr>
          <p:cNvPr id="25" name="TextBox 24"/>
          <p:cNvSpPr txBox="1"/>
          <p:nvPr/>
        </p:nvSpPr>
        <p:spPr>
          <a:xfrm>
            <a:off x="1435607" y="6163056"/>
            <a:ext cx="9768535" cy="310896"/>
          </a:xfrm>
          <a:prstGeom prst="rect">
            <a:avLst/>
          </a:prstGeom>
          <a:noFill/>
        </p:spPr>
        <p:txBody>
          <a:bodyPr wrap="square" lIns="0" rIns="0" tIns="0" bIns="0" anchor="t">
            <a:spAutoFit/>
          </a:bodyPr>
          <a:lstStyle/>
          <a:p>
            <a:pPr algn="l"/>
            <a:r>
              <a:rPr sz="1400" b="0" i="0">
                <a:solidFill>
                  <a:srgbClr val="D8E0EA"/>
                </a:solidFill>
                <a:latin typeface="Calibri"/>
              </a:rPr>
              <a:t>Everyone hears the agent talk over them at least once — before writing the fix.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85800" y="566928"/>
            <a:ext cx="10820095" cy="658368"/>
          </a:xfrm>
          <a:prstGeom prst="rect">
            <a:avLst/>
          </a:prstGeom>
          <a:noFill/>
        </p:spPr>
        <p:txBody>
          <a:bodyPr wrap="square" lIns="0" rIns="0" tIns="0" bIns="0" anchor="t">
            <a:spAutoFit/>
          </a:bodyPr>
          <a:lstStyle/>
          <a:p>
            <a:pPr algn="l"/>
            <a:r>
              <a:rPr sz="3600" b="1" i="0">
                <a:solidFill>
                  <a:srgbClr val="FFFFFF"/>
                </a:solidFill>
                <a:latin typeface="Calibri"/>
              </a:rPr>
              <a:t>Two queues sit between the agent and your ears</a:t>
            </a:r>
          </a:p>
        </p:txBody>
      </p:sp>
      <p:sp>
        <p:nvSpPr>
          <p:cNvPr id="3" name="TextBox 2"/>
          <p:cNvSpPr txBox="1"/>
          <p:nvPr/>
        </p:nvSpPr>
        <p:spPr>
          <a:xfrm>
            <a:off x="685800" y="1243584"/>
            <a:ext cx="10820095" cy="640080"/>
          </a:xfrm>
          <a:prstGeom prst="rect">
            <a:avLst/>
          </a:prstGeom>
          <a:noFill/>
        </p:spPr>
        <p:txBody>
          <a:bodyPr wrap="square" lIns="0" rIns="0" tIns="0" bIns="0" anchor="t">
            <a:spAutoFit/>
          </a:bodyPr>
          <a:lstStyle/>
          <a:p>
            <a:pPr algn="l">
              <a:lnSpc>
                <a:spcPct val="115000"/>
              </a:lnSpc>
            </a:pPr>
            <a:r>
              <a:rPr sz="1600" b="0" i="0">
                <a:solidFill>
                  <a:srgbClr val="8FA0B3"/>
                </a:solidFill>
                <a:latin typeface="Calibri"/>
              </a:rPr>
              <a:t>Clearing only one leaves the bug in place — the pump simply refills it.</a:t>
            </a:r>
          </a:p>
        </p:txBody>
      </p:sp>
      <p:sp>
        <p:nvSpPr>
          <p:cNvPr id="4" name="Rounded Rectangle 3"/>
          <p:cNvSpPr/>
          <p:nvPr/>
        </p:nvSpPr>
        <p:spPr>
          <a:xfrm>
            <a:off x="685800" y="1920240"/>
            <a:ext cx="1417320" cy="749808"/>
          </a:xfrm>
          <a:prstGeom prst="roundRect">
            <a:avLst>
              <a:gd name="adj" fmla="val 6000"/>
            </a:avLst>
          </a:prstGeom>
          <a:solidFill>
            <a:srgbClr val="1C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2176272"/>
            <a:ext cx="1417320" cy="274320"/>
          </a:xfrm>
          <a:prstGeom prst="rect">
            <a:avLst/>
          </a:prstGeom>
          <a:noFill/>
        </p:spPr>
        <p:txBody>
          <a:bodyPr wrap="square" lIns="0" rIns="0" tIns="0" bIns="0" anchor="t">
            <a:spAutoFit/>
          </a:bodyPr>
          <a:lstStyle/>
          <a:p>
            <a:pPr algn="ctr"/>
            <a:r>
              <a:rPr sz="1250" b="0" i="0">
                <a:solidFill>
                  <a:srgbClr val="8FA0B3"/>
                </a:solidFill>
                <a:latin typeface="Calibri"/>
              </a:rPr>
              <a:t>Deepgram</a:t>
            </a:r>
          </a:p>
        </p:txBody>
      </p:sp>
      <p:sp>
        <p:nvSpPr>
          <p:cNvPr id="6" name="Chevron 5"/>
          <p:cNvSpPr/>
          <p:nvPr/>
        </p:nvSpPr>
        <p:spPr>
          <a:xfrm>
            <a:off x="2212848" y="2157984"/>
            <a:ext cx="310896" cy="274320"/>
          </a:xfrm>
          <a:prstGeom prst="chevron">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2633472" y="1920240"/>
            <a:ext cx="2057400" cy="749808"/>
          </a:xfrm>
          <a:prstGeom prst="roundRect">
            <a:avLst>
              <a:gd name="adj" fmla="val 6000"/>
            </a:avLst>
          </a:prstGeom>
          <a:solidFill>
            <a:srgbClr val="15202B"/>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633472" y="2176272"/>
            <a:ext cx="2057400" cy="274320"/>
          </a:xfrm>
          <a:prstGeom prst="rect">
            <a:avLst/>
          </a:prstGeom>
          <a:noFill/>
        </p:spPr>
        <p:txBody>
          <a:bodyPr wrap="square" lIns="0" rIns="0" tIns="0" bIns="0" anchor="t">
            <a:spAutoFit/>
          </a:bodyPr>
          <a:lstStyle/>
          <a:p>
            <a:pPr algn="ctr"/>
            <a:r>
              <a:rPr sz="1250" b="1" i="0">
                <a:solidFill>
                  <a:srgbClr val="FFB454"/>
                </a:solidFill>
                <a:latin typeface="Calibri"/>
              </a:rPr>
              <a:t>queue in Python</a:t>
            </a:r>
          </a:p>
        </p:txBody>
      </p:sp>
      <p:sp>
        <p:nvSpPr>
          <p:cNvPr id="9" name="Chevron 8"/>
          <p:cNvSpPr/>
          <p:nvPr/>
        </p:nvSpPr>
        <p:spPr>
          <a:xfrm>
            <a:off x="4800600" y="2157984"/>
            <a:ext cx="310896" cy="274320"/>
          </a:xfrm>
          <a:prstGeom prst="chevron">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5221224" y="1920240"/>
            <a:ext cx="1508760" cy="749808"/>
          </a:xfrm>
          <a:prstGeom prst="roundRect">
            <a:avLst>
              <a:gd name="adj" fmla="val 6000"/>
            </a:avLst>
          </a:prstGeom>
          <a:solidFill>
            <a:srgbClr val="1C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221224" y="2176272"/>
            <a:ext cx="1508760" cy="274320"/>
          </a:xfrm>
          <a:prstGeom prst="rect">
            <a:avLst/>
          </a:prstGeom>
          <a:noFill/>
        </p:spPr>
        <p:txBody>
          <a:bodyPr wrap="square" lIns="0" rIns="0" tIns="0" bIns="0" anchor="t">
            <a:spAutoFit/>
          </a:bodyPr>
          <a:lstStyle/>
          <a:p>
            <a:pPr algn="ctr"/>
            <a:r>
              <a:rPr sz="1250" b="0" i="0">
                <a:solidFill>
                  <a:srgbClr val="8FA0B3"/>
                </a:solidFill>
                <a:latin typeface="Calibri"/>
              </a:rPr>
              <a:t>WebSocket</a:t>
            </a:r>
          </a:p>
        </p:txBody>
      </p:sp>
      <p:sp>
        <p:nvSpPr>
          <p:cNvPr id="12" name="Chevron 11"/>
          <p:cNvSpPr/>
          <p:nvPr/>
        </p:nvSpPr>
        <p:spPr>
          <a:xfrm>
            <a:off x="6839712" y="2157984"/>
            <a:ext cx="310896" cy="274320"/>
          </a:xfrm>
          <a:prstGeom prst="chevron">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7260336" y="1920240"/>
            <a:ext cx="2240280" cy="749808"/>
          </a:xfrm>
          <a:prstGeom prst="roundRect">
            <a:avLst>
              <a:gd name="adj" fmla="val 6000"/>
            </a:avLst>
          </a:prstGeom>
          <a:solidFill>
            <a:srgbClr val="15202B"/>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260336" y="2176272"/>
            <a:ext cx="2240280" cy="274320"/>
          </a:xfrm>
          <a:prstGeom prst="rect">
            <a:avLst/>
          </a:prstGeom>
          <a:noFill/>
        </p:spPr>
        <p:txBody>
          <a:bodyPr wrap="square" lIns="0" rIns="0" tIns="0" bIns="0" anchor="t">
            <a:spAutoFit/>
          </a:bodyPr>
          <a:lstStyle/>
          <a:p>
            <a:pPr algn="ctr"/>
            <a:r>
              <a:rPr sz="1250" b="1" i="0">
                <a:solidFill>
                  <a:srgbClr val="FFB454"/>
                </a:solidFill>
                <a:latin typeface="Calibri"/>
              </a:rPr>
              <a:t>queue in the browser</a:t>
            </a:r>
          </a:p>
        </p:txBody>
      </p:sp>
      <p:sp>
        <p:nvSpPr>
          <p:cNvPr id="15" name="Chevron 14"/>
          <p:cNvSpPr/>
          <p:nvPr/>
        </p:nvSpPr>
        <p:spPr>
          <a:xfrm>
            <a:off x="9610344" y="2157984"/>
            <a:ext cx="310896" cy="274320"/>
          </a:xfrm>
          <a:prstGeom prst="chevron">
            <a:avLst/>
          </a:prstGeom>
          <a:solidFill>
            <a:srgbClr val="0D6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10030968" y="1920240"/>
            <a:ext cx="1325880" cy="749808"/>
          </a:xfrm>
          <a:prstGeom prst="roundRect">
            <a:avLst>
              <a:gd name="adj" fmla="val 6000"/>
            </a:avLst>
          </a:prstGeom>
          <a:solidFill>
            <a:srgbClr val="1C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30968" y="2176272"/>
            <a:ext cx="1325880" cy="274320"/>
          </a:xfrm>
          <a:prstGeom prst="rect">
            <a:avLst/>
          </a:prstGeom>
          <a:noFill/>
        </p:spPr>
        <p:txBody>
          <a:bodyPr wrap="square" lIns="0" rIns="0" tIns="0" bIns="0" anchor="t">
            <a:spAutoFit/>
          </a:bodyPr>
          <a:lstStyle/>
          <a:p>
            <a:pPr algn="ctr"/>
            <a:r>
              <a:rPr sz="1250" b="0" i="0">
                <a:solidFill>
                  <a:srgbClr val="8FA0B3"/>
                </a:solidFill>
                <a:latin typeface="Calibri"/>
              </a:rPr>
              <a:t>speaker</a:t>
            </a:r>
          </a:p>
        </p:txBody>
      </p:sp>
      <p:sp>
        <p:nvSpPr>
          <p:cNvPr id="18" name="TextBox 17"/>
          <p:cNvSpPr txBox="1"/>
          <p:nvPr/>
        </p:nvSpPr>
        <p:spPr>
          <a:xfrm>
            <a:off x="2286000" y="2761488"/>
            <a:ext cx="2011680" cy="274320"/>
          </a:xfrm>
          <a:prstGeom prst="rect">
            <a:avLst/>
          </a:prstGeom>
          <a:noFill/>
        </p:spPr>
        <p:txBody>
          <a:bodyPr wrap="square" lIns="0" rIns="0" tIns="0" bIns="0" anchor="t">
            <a:spAutoFit/>
          </a:bodyPr>
          <a:lstStyle/>
          <a:p>
            <a:pPr algn="ctr"/>
            <a:r>
              <a:rPr sz="1050" b="0" i="0">
                <a:solidFill>
                  <a:srgbClr val="5D6E80"/>
                </a:solidFill>
                <a:latin typeface="Calibri"/>
              </a:rPr>
              <a:t>Outbox · web/audio.py</a:t>
            </a:r>
          </a:p>
        </p:txBody>
      </p:sp>
      <p:sp>
        <p:nvSpPr>
          <p:cNvPr id="19" name="TextBox 18"/>
          <p:cNvSpPr txBox="1"/>
          <p:nvPr/>
        </p:nvSpPr>
        <p:spPr>
          <a:xfrm>
            <a:off x="6355080" y="2761488"/>
            <a:ext cx="2651760" cy="274320"/>
          </a:xfrm>
          <a:prstGeom prst="rect">
            <a:avLst/>
          </a:prstGeom>
          <a:noFill/>
        </p:spPr>
        <p:txBody>
          <a:bodyPr wrap="square" lIns="0" rIns="0" tIns="0" bIns="0" anchor="t">
            <a:spAutoFit/>
          </a:bodyPr>
          <a:lstStyle/>
          <a:p>
            <a:pPr algn="ctr"/>
            <a:r>
              <a:rPr sz="1050" b="0" i="0">
                <a:solidFill>
                  <a:srgbClr val="5D6E80"/>
                </a:solidFill>
                <a:latin typeface="Calibri"/>
              </a:rPr>
              <a:t>PlaybackProcessor · worklets.js</a:t>
            </a:r>
          </a:p>
        </p:txBody>
      </p:sp>
      <p:sp>
        <p:nvSpPr>
          <p:cNvPr id="20" name="Rounded Rectangle 19"/>
          <p:cNvSpPr/>
          <p:nvPr/>
        </p:nvSpPr>
        <p:spPr>
          <a:xfrm>
            <a:off x="685800" y="3291840"/>
            <a:ext cx="5623560" cy="1481328"/>
          </a:xfrm>
          <a:prstGeom prst="roundRect">
            <a:avLst>
              <a:gd name="adj" fmla="val 5000"/>
            </a:avLst>
          </a:prstGeom>
          <a:solidFill>
            <a:srgbClr val="0C13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41832" y="3474720"/>
            <a:ext cx="5166360" cy="237744"/>
          </a:xfrm>
          <a:prstGeom prst="rect">
            <a:avLst/>
          </a:prstGeom>
          <a:noFill/>
        </p:spPr>
        <p:txBody>
          <a:bodyPr wrap="square" lIns="0" rIns="0" tIns="0" bIns="0" anchor="t">
            <a:spAutoFit/>
          </a:bodyPr>
          <a:lstStyle/>
          <a:p>
            <a:pPr algn="l"/>
            <a:r>
              <a:rPr sz="1050" b="1" i="0">
                <a:solidFill>
                  <a:srgbClr val="5D6E80"/>
                </a:solidFill>
                <a:latin typeface="Calibri"/>
              </a:rPr>
              <a:t>TODO 5.1</a:t>
            </a:r>
          </a:p>
        </p:txBody>
      </p:sp>
      <p:sp>
        <p:nvSpPr>
          <p:cNvPr id="22" name="TextBox 21"/>
          <p:cNvSpPr txBox="1"/>
          <p:nvPr/>
        </p:nvSpPr>
        <p:spPr>
          <a:xfrm>
            <a:off x="941832" y="3803904"/>
            <a:ext cx="5166360" cy="832104"/>
          </a:xfrm>
          <a:prstGeom prst="rect">
            <a:avLst/>
          </a:prstGeom>
          <a:noFill/>
        </p:spPr>
        <p:txBody>
          <a:bodyPr wrap="square" lIns="0" rIns="0" tIns="0" bIns="0" anchor="t">
            <a:spAutoFit/>
          </a:bodyPr>
          <a:lstStyle/>
          <a:p>
            <a:pPr algn="l">
              <a:lnSpc>
                <a:spcPct val="100000"/>
              </a:lnSpc>
              <a:spcAft>
                <a:spcPts val="300"/>
              </a:spcAft>
            </a:pPr>
            <a:r>
              <a:rPr sz="1300" b="0" i="0">
                <a:solidFill>
                  <a:srgbClr val="FFFFFF"/>
                </a:solidFill>
                <a:latin typeface="Courier New"/>
              </a:rPr>
              <a:t>elif message_type == "UserStartedSpeaking":</a:t>
            </a:r>
          </a:p>
          <a:p>
            <a:pPr algn="l">
              <a:lnSpc>
                <a:spcPct val="100000"/>
              </a:lnSpc>
              <a:spcAft>
                <a:spcPts val="300"/>
              </a:spcAft>
            </a:pPr>
            <a:r>
              <a:rPr sz="1300" b="0" i="0">
                <a:solidFill>
                  <a:srgbClr val="13EF93"/>
                </a:solidFill>
                <a:latin typeface="Courier New"/>
              </a:rPr>
              <a:t>    player.clear()</a:t>
            </a:r>
          </a:p>
        </p:txBody>
      </p:sp>
      <p:sp>
        <p:nvSpPr>
          <p:cNvPr id="23" name="TextBox 22"/>
          <p:cNvSpPr txBox="1"/>
          <p:nvPr/>
        </p:nvSpPr>
        <p:spPr>
          <a:xfrm>
            <a:off x="685800" y="4901184"/>
            <a:ext cx="5623560" cy="731520"/>
          </a:xfrm>
          <a:prstGeom prst="rect">
            <a:avLst/>
          </a:prstGeom>
          <a:noFill/>
        </p:spPr>
        <p:txBody>
          <a:bodyPr wrap="square" lIns="0" rIns="0" tIns="0" bIns="0" anchor="t">
            <a:spAutoFit/>
          </a:bodyPr>
          <a:lstStyle/>
          <a:p>
            <a:pPr algn="l">
              <a:lnSpc>
                <a:spcPct val="112000"/>
              </a:lnSpc>
            </a:pPr>
            <a:r>
              <a:rPr sz="1300" b="0" i="0">
                <a:solidFill>
                  <a:srgbClr val="8FA0B3"/>
                </a:solidFill>
                <a:latin typeface="Calibri"/>
              </a:rPr>
              <a:t>clear() drops the Python side first, then tells the browser. Both go through call_soon_threadsafe, which is FIFO, so the ordering holds across threads.</a:t>
            </a:r>
          </a:p>
        </p:txBody>
      </p:sp>
      <p:sp>
        <p:nvSpPr>
          <p:cNvPr id="24" name="Rounded Rectangle 23"/>
          <p:cNvSpPr/>
          <p:nvPr/>
        </p:nvSpPr>
        <p:spPr>
          <a:xfrm>
            <a:off x="6629400" y="3291840"/>
            <a:ext cx="4873752" cy="2286000"/>
          </a:xfrm>
          <a:prstGeom prst="roundRect">
            <a:avLst>
              <a:gd name="adj" fmla="val 6000"/>
            </a:avLst>
          </a:prstGeom>
          <a:solidFill>
            <a:srgbClr val="15202B"/>
          </a:solidFill>
          <a:ln w="12700">
            <a:solidFill>
              <a:srgbClr val="FF7A6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22008" y="3529584"/>
            <a:ext cx="4297680" cy="1920240"/>
          </a:xfrm>
          <a:prstGeom prst="rect">
            <a:avLst/>
          </a:prstGeom>
          <a:noFill/>
        </p:spPr>
        <p:txBody>
          <a:bodyPr wrap="square" lIns="0" rIns="0" tIns="0" bIns="0" anchor="t">
            <a:spAutoFit/>
          </a:bodyPr>
          <a:lstStyle/>
          <a:p>
            <a:pPr algn="l">
              <a:spcAft>
                <a:spcPts val="800"/>
              </a:spcAft>
            </a:pPr>
            <a:r>
              <a:rPr sz="1500" b="1" i="0">
                <a:solidFill>
                  <a:srgbClr val="FF7A6B"/>
                </a:solidFill>
                <a:latin typeface="Calibri"/>
              </a:rPr>
              <a:t>The trap, if you ever write this yourself</a:t>
            </a:r>
          </a:p>
          <a:p>
            <a:pPr algn="l">
              <a:lnSpc>
                <a:spcPct val="112000"/>
              </a:lnSpc>
              <a:spcAft>
                <a:spcPts val="800"/>
              </a:spcAft>
            </a:pPr>
            <a:r>
              <a:rPr sz="1350" b="0" i="0">
                <a:solidFill>
                  <a:srgbClr val="D8E0EA"/>
                </a:solidFill>
                <a:latin typeface="Calibri"/>
              </a:rPr>
              <a:t>On the PortAudio path the choice is abort() versus stop().</a:t>
            </a:r>
          </a:p>
          <a:p>
            <a:pPr algn="l">
              <a:lnSpc>
                <a:spcPct val="112000"/>
              </a:lnSpc>
            </a:pPr>
            <a:r>
              <a:rPr sz="1300" b="0" i="0">
                <a:solidFill>
                  <a:srgbClr val="8FA0B3"/>
                </a:solidFill>
                <a:latin typeface="Calibri"/>
              </a:rPr>
              <a:t>stop() drains the buffer — it plays everything already queued and then stops, which is exactly the behaviour you're trying to eliminate. It survives code review easily, because stop() reads like the more polite call.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4070A"/>
        </a:solidFill>
        <a:effectLst/>
      </p:bgPr>
    </p:bg>
    <p:spTree>
      <p:nvGrpSpPr>
        <p:cNvPr id="1" name=""/>
        <p:cNvGrpSpPr/>
        <p:nvPr/>
      </p:nvGrpSpPr>
      <p:grpSpPr/>
      <p:sp>
        <p:nvSpPr>
          <p:cNvPr id="2" name="TextBox 1"/>
          <p:cNvSpPr txBox="1"/>
          <p:nvPr/>
        </p:nvSpPr>
        <p:spPr>
          <a:xfrm>
            <a:off x="7985455" y="502920"/>
            <a:ext cx="3749039" cy="3108960"/>
          </a:xfrm>
          <a:prstGeom prst="rect">
            <a:avLst/>
          </a:prstGeom>
          <a:noFill/>
        </p:spPr>
        <p:txBody>
          <a:bodyPr wrap="square" lIns="0" rIns="0" tIns="0" bIns="0" anchor="t">
            <a:spAutoFit/>
          </a:bodyPr>
          <a:lstStyle/>
          <a:p>
            <a:pPr algn="r"/>
            <a:r>
              <a:rPr sz="22000" b="1" i="0">
                <a:solidFill>
                  <a:srgbClr val="0C1A15"/>
                </a:solidFill>
                <a:latin typeface="Calibri"/>
              </a:rPr>
              <a:t>03</a:t>
            </a:r>
          </a:p>
        </p:txBody>
      </p:sp>
      <p:sp>
        <p:nvSpPr>
          <p:cNvPr id="3" name="Rectangle 2"/>
          <p:cNvSpPr/>
          <p:nvPr/>
        </p:nvSpPr>
        <p:spPr>
          <a:xfrm>
            <a:off x="685800" y="2798064"/>
            <a:ext cx="822960" cy="45720"/>
          </a:xfrm>
          <a:prstGeom prst="rect">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685800" y="2148840"/>
            <a:ext cx="7315200" cy="365760"/>
          </a:xfrm>
          <a:prstGeom prst="rect">
            <a:avLst/>
          </a:prstGeom>
          <a:noFill/>
        </p:spPr>
        <p:txBody>
          <a:bodyPr wrap="square" lIns="0" rIns="0" tIns="0" bIns="0" anchor="t">
            <a:spAutoFit/>
          </a:bodyPr>
          <a:lstStyle/>
          <a:p>
            <a:pPr algn="l"/>
            <a:r>
              <a:rPr sz="1250" b="1" i="0">
                <a:solidFill>
                  <a:srgbClr val="13EF93"/>
                </a:solidFill>
                <a:latin typeface="Calibri"/>
              </a:rPr>
              <a:t>SECTION 03</a:t>
            </a:r>
          </a:p>
        </p:txBody>
      </p:sp>
      <p:sp>
        <p:nvSpPr>
          <p:cNvPr id="5" name="TextBox 4"/>
          <p:cNvSpPr txBox="1"/>
          <p:nvPr/>
        </p:nvSpPr>
        <p:spPr>
          <a:xfrm>
            <a:off x="685800" y="3035808"/>
            <a:ext cx="8595360" cy="914400"/>
          </a:xfrm>
          <a:prstGeom prst="rect">
            <a:avLst/>
          </a:prstGeom>
          <a:noFill/>
        </p:spPr>
        <p:txBody>
          <a:bodyPr wrap="square" lIns="0" rIns="0" tIns="0" bIns="0" anchor="t">
            <a:spAutoFit/>
          </a:bodyPr>
          <a:lstStyle/>
          <a:p>
            <a:pPr algn="l"/>
            <a:r>
              <a:rPr sz="5200" b="1" i="0">
                <a:solidFill>
                  <a:srgbClr val="FFFFFF"/>
                </a:solidFill>
                <a:latin typeface="Calibri"/>
              </a:rPr>
              <a:t>Make it real</a:t>
            </a:r>
          </a:p>
        </p:txBody>
      </p:sp>
      <p:sp>
        <p:nvSpPr>
          <p:cNvPr id="6" name="TextBox 5"/>
          <p:cNvSpPr txBox="1"/>
          <p:nvPr/>
        </p:nvSpPr>
        <p:spPr>
          <a:xfrm>
            <a:off x="685800" y="4096512"/>
            <a:ext cx="7863840" cy="822960"/>
          </a:xfrm>
          <a:prstGeom prst="rect">
            <a:avLst/>
          </a:prstGeom>
          <a:noFill/>
        </p:spPr>
        <p:txBody>
          <a:bodyPr wrap="square" lIns="0" rIns="0" tIns="0" bIns="0" anchor="t">
            <a:spAutoFit/>
          </a:bodyPr>
          <a:lstStyle/>
          <a:p>
            <a:pPr algn="l">
              <a:lnSpc>
                <a:spcPct val="120000"/>
              </a:lnSpc>
            </a:pPr>
            <a:r>
              <a:rPr sz="1700" b="0" i="0">
                <a:solidFill>
                  <a:srgbClr val="8FA0B3"/>
                </a:solidFill>
                <a:latin typeface="Calibri"/>
              </a:rPr>
              <a:t>Give it a job and a voice, let it run your code, and tune how it feels. Everything here is optional; nothing here is filler.</a:t>
            </a:r>
          </a:p>
        </p:txBody>
      </p:sp>
      <p:sp>
        <p:nvSpPr>
          <p:cNvPr id="7" name="TextBox 6"/>
          <p:cNvSpPr txBox="1"/>
          <p:nvPr/>
        </p:nvSpPr>
        <p:spPr>
          <a:xfrm>
            <a:off x="685800" y="5138928"/>
            <a:ext cx="7863840" cy="365760"/>
          </a:xfrm>
          <a:prstGeom prst="rect">
            <a:avLst/>
          </a:prstGeom>
          <a:noFill/>
        </p:spPr>
        <p:txBody>
          <a:bodyPr wrap="square" lIns="0" rIns="0" tIns="0" bIns="0" anchor="t">
            <a:spAutoFit/>
          </a:bodyPr>
          <a:lstStyle/>
          <a:p>
            <a:pPr algn="l"/>
            <a:r>
              <a:rPr sz="1300" b="0" i="0">
                <a:solidFill>
                  <a:srgbClr val="5D6E80"/>
                </a:solidFill>
                <a:latin typeface="Courier New"/>
              </a:rPr>
              <a:t>Steps 6 – 8  ·  2:15 – 3:20  ·  Step 8 makes a clean take-home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Rounded Rectangle 1"/>
          <p:cNvSpPr/>
          <p:nvPr/>
        </p:nvSpPr>
        <p:spPr>
          <a:xfrm>
            <a:off x="685800" y="384048"/>
            <a:ext cx="941832" cy="292608"/>
          </a:xfrm>
          <a:prstGeom prst="roundRect">
            <a:avLst>
              <a:gd name="adj" fmla="val 50000"/>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04120C"/>
                </a:solidFill>
                <a:latin typeface="Calibri"/>
              </a:rPr>
              <a:t>STEP 6</a:t>
            </a:r>
          </a:p>
        </p:txBody>
      </p:sp>
      <p:sp>
        <p:nvSpPr>
          <p:cNvPr id="3" name="TextBox 2"/>
          <p:cNvSpPr txBox="1"/>
          <p:nvPr/>
        </p:nvSpPr>
        <p:spPr>
          <a:xfrm>
            <a:off x="1828800" y="402336"/>
            <a:ext cx="3108960" cy="274320"/>
          </a:xfrm>
          <a:prstGeom prst="rect">
            <a:avLst/>
          </a:prstGeom>
          <a:noFill/>
        </p:spPr>
        <p:txBody>
          <a:bodyPr wrap="square" lIns="0" rIns="0" tIns="0" bIns="0" anchor="t">
            <a:spAutoFit/>
          </a:bodyPr>
          <a:lstStyle/>
          <a:p>
            <a:pPr algn="l"/>
            <a:r>
              <a:rPr sz="1250" b="1" i="0">
                <a:solidFill>
                  <a:srgbClr val="8FA0B3"/>
                </a:solidFill>
                <a:latin typeface="Calibri"/>
              </a:rPr>
              <a:t>2:15  ·  20 min</a:t>
            </a:r>
          </a:p>
        </p:txBody>
      </p:sp>
      <p:sp>
        <p:nvSpPr>
          <p:cNvPr id="4" name="Rounded Rectangle 3"/>
          <p:cNvSpPr/>
          <p:nvPr/>
        </p:nvSpPr>
        <p:spPr>
          <a:xfrm>
            <a:off x="9505188" y="384048"/>
            <a:ext cx="2000707" cy="292608"/>
          </a:xfrm>
          <a:prstGeom prst="roundRect">
            <a:avLst>
              <a:gd name="adj" fmla="val 50000"/>
            </a:avLst>
          </a:prstGeom>
          <a:solidFill>
            <a:srgbClr val="070B10"/>
          </a:solidFill>
          <a:ln w="12700">
            <a:solidFill>
              <a:srgbClr val="2C3A4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i="0">
                <a:solidFill>
                  <a:srgbClr val="5D6E80"/>
                </a:solidFill>
                <a:latin typeface="Calibri"/>
              </a:rPr>
              <a:t>EASY MODE — LAB 4</a:t>
            </a:r>
          </a:p>
        </p:txBody>
      </p:sp>
      <p:sp>
        <p:nvSpPr>
          <p:cNvPr id="5" name="TextBox 4"/>
          <p:cNvSpPr txBox="1"/>
          <p:nvPr/>
        </p:nvSpPr>
        <p:spPr>
          <a:xfrm>
            <a:off x="685800" y="859536"/>
            <a:ext cx="10820095" cy="658368"/>
          </a:xfrm>
          <a:prstGeom prst="rect">
            <a:avLst/>
          </a:prstGeom>
          <a:noFill/>
        </p:spPr>
        <p:txBody>
          <a:bodyPr wrap="square" lIns="0" rIns="0" tIns="0" bIns="0" anchor="t">
            <a:spAutoFit/>
          </a:bodyPr>
          <a:lstStyle/>
          <a:p>
            <a:pPr algn="l"/>
            <a:r>
              <a:rPr sz="3600" b="1" i="0">
                <a:solidFill>
                  <a:srgbClr val="FFFFFF"/>
                </a:solidFill>
                <a:latin typeface="Calibri"/>
              </a:rPr>
              <a:t>Make it yours</a:t>
            </a:r>
          </a:p>
        </p:txBody>
      </p:sp>
      <p:sp>
        <p:nvSpPr>
          <p:cNvPr id="6" name="TextBox 5"/>
          <p:cNvSpPr txBox="1"/>
          <p:nvPr/>
        </p:nvSpPr>
        <p:spPr>
          <a:xfrm>
            <a:off x="685800" y="1591056"/>
            <a:ext cx="10820095" cy="640080"/>
          </a:xfrm>
          <a:prstGeom prst="rect">
            <a:avLst/>
          </a:prstGeom>
          <a:noFill/>
        </p:spPr>
        <p:txBody>
          <a:bodyPr wrap="square" lIns="0" rIns="0" tIns="0" bIns="0" anchor="t">
            <a:spAutoFit/>
          </a:bodyPr>
          <a:lstStyle/>
          <a:p>
            <a:pPr algn="l">
              <a:lnSpc>
                <a:spcPct val="115000"/>
              </a:lnSpc>
            </a:pPr>
            <a:r>
              <a:rPr sz="1600" b="0" i="0">
                <a:solidFill>
                  <a:srgbClr val="8FA0B3"/>
                </a:solidFill>
                <a:latin typeface="Calibri"/>
              </a:rPr>
              <a:t>The least code in the workshop and the most to play with.</a:t>
            </a:r>
          </a:p>
        </p:txBody>
      </p:sp>
      <p:sp>
        <p:nvSpPr>
          <p:cNvPr id="7" name="Rounded Rectangle 6"/>
          <p:cNvSpPr/>
          <p:nvPr/>
        </p:nvSpPr>
        <p:spPr>
          <a:xfrm>
            <a:off x="685800" y="2121408"/>
            <a:ext cx="3438144" cy="148132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2322576"/>
            <a:ext cx="3017520" cy="310896"/>
          </a:xfrm>
          <a:prstGeom prst="rect">
            <a:avLst/>
          </a:prstGeom>
          <a:noFill/>
        </p:spPr>
        <p:txBody>
          <a:bodyPr wrap="square" lIns="0" rIns="0" tIns="0" bIns="0" anchor="t">
            <a:spAutoFit/>
          </a:bodyPr>
          <a:lstStyle/>
          <a:p>
            <a:pPr algn="l"/>
            <a:r>
              <a:rPr sz="1350" b="1" i="0">
                <a:solidFill>
                  <a:srgbClr val="13EF93"/>
                </a:solidFill>
                <a:latin typeface="Courier New"/>
              </a:rPr>
              <a:t>prompt</a:t>
            </a:r>
          </a:p>
        </p:txBody>
      </p:sp>
      <p:sp>
        <p:nvSpPr>
          <p:cNvPr id="9" name="TextBox 8"/>
          <p:cNvSpPr txBox="1"/>
          <p:nvPr/>
        </p:nvSpPr>
        <p:spPr>
          <a:xfrm>
            <a:off x="941832" y="2706624"/>
            <a:ext cx="3017520" cy="822960"/>
          </a:xfrm>
          <a:prstGeom prst="rect">
            <a:avLst/>
          </a:prstGeom>
          <a:noFill/>
        </p:spPr>
        <p:txBody>
          <a:bodyPr wrap="square" lIns="0" rIns="0" tIns="0" bIns="0" anchor="t">
            <a:spAutoFit/>
          </a:bodyPr>
          <a:lstStyle/>
          <a:p>
            <a:pPr algn="l">
              <a:lnSpc>
                <a:spcPct val="112000"/>
              </a:lnSpc>
            </a:pPr>
            <a:r>
              <a:rPr sz="1250" b="0" i="0">
                <a:solidFill>
                  <a:srgbClr val="8FA0B3"/>
                </a:solidFill>
                <a:latin typeface="Calibri"/>
              </a:rPr>
              <a:t>Personality, job, boundaries. The standing instructions the model sees ahead of every user turn.</a:t>
            </a:r>
          </a:p>
        </p:txBody>
      </p:sp>
      <p:sp>
        <p:nvSpPr>
          <p:cNvPr id="10" name="Rounded Rectangle 9"/>
          <p:cNvSpPr/>
          <p:nvPr/>
        </p:nvSpPr>
        <p:spPr>
          <a:xfrm>
            <a:off x="4379976" y="2121408"/>
            <a:ext cx="3438144" cy="148132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636008" y="2322576"/>
            <a:ext cx="3017520" cy="310896"/>
          </a:xfrm>
          <a:prstGeom prst="rect">
            <a:avLst/>
          </a:prstGeom>
          <a:noFill/>
        </p:spPr>
        <p:txBody>
          <a:bodyPr wrap="square" lIns="0" rIns="0" tIns="0" bIns="0" anchor="t">
            <a:spAutoFit/>
          </a:bodyPr>
          <a:lstStyle/>
          <a:p>
            <a:pPr algn="l"/>
            <a:r>
              <a:rPr sz="1350" b="1" i="0">
                <a:solidFill>
                  <a:srgbClr val="13EF93"/>
                </a:solidFill>
                <a:latin typeface="Courier New"/>
              </a:rPr>
              <a:t>speak.provider.model</a:t>
            </a:r>
          </a:p>
        </p:txBody>
      </p:sp>
      <p:sp>
        <p:nvSpPr>
          <p:cNvPr id="12" name="TextBox 11"/>
          <p:cNvSpPr txBox="1"/>
          <p:nvPr/>
        </p:nvSpPr>
        <p:spPr>
          <a:xfrm>
            <a:off x="4636008" y="2706624"/>
            <a:ext cx="3017520" cy="822960"/>
          </a:xfrm>
          <a:prstGeom prst="rect">
            <a:avLst/>
          </a:prstGeom>
          <a:noFill/>
        </p:spPr>
        <p:txBody>
          <a:bodyPr wrap="square" lIns="0" rIns="0" tIns="0" bIns="0" anchor="t">
            <a:spAutoFit/>
          </a:bodyPr>
          <a:lstStyle/>
          <a:p>
            <a:pPr algn="l">
              <a:lnSpc>
                <a:spcPct val="112000"/>
              </a:lnSpc>
            </a:pPr>
            <a:r>
              <a:rPr sz="1250" b="0" i="0">
                <a:solidFill>
                  <a:srgbClr val="8FA0B3"/>
                </a:solidFill>
                <a:latin typeface="Calibri"/>
              </a:rPr>
              <a:t>The voice. Purely how it sounds — it changes nothing about what the agent says.</a:t>
            </a:r>
          </a:p>
        </p:txBody>
      </p:sp>
      <p:sp>
        <p:nvSpPr>
          <p:cNvPr id="13" name="Rounded Rectangle 12"/>
          <p:cNvSpPr/>
          <p:nvPr/>
        </p:nvSpPr>
        <p:spPr>
          <a:xfrm>
            <a:off x="8074152" y="2121408"/>
            <a:ext cx="3438144" cy="148132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330183" y="2322576"/>
            <a:ext cx="3017520" cy="310896"/>
          </a:xfrm>
          <a:prstGeom prst="rect">
            <a:avLst/>
          </a:prstGeom>
          <a:noFill/>
        </p:spPr>
        <p:txBody>
          <a:bodyPr wrap="square" lIns="0" rIns="0" tIns="0" bIns="0" anchor="t">
            <a:spAutoFit/>
          </a:bodyPr>
          <a:lstStyle/>
          <a:p>
            <a:pPr algn="l"/>
            <a:r>
              <a:rPr sz="1350" b="1" i="0">
                <a:solidFill>
                  <a:srgbClr val="13EF93"/>
                </a:solidFill>
                <a:latin typeface="Courier New"/>
              </a:rPr>
              <a:t>greeting</a:t>
            </a:r>
          </a:p>
        </p:txBody>
      </p:sp>
      <p:sp>
        <p:nvSpPr>
          <p:cNvPr id="15" name="TextBox 14"/>
          <p:cNvSpPr txBox="1"/>
          <p:nvPr/>
        </p:nvSpPr>
        <p:spPr>
          <a:xfrm>
            <a:off x="8330183" y="2706624"/>
            <a:ext cx="3017520" cy="822960"/>
          </a:xfrm>
          <a:prstGeom prst="rect">
            <a:avLst/>
          </a:prstGeom>
          <a:noFill/>
        </p:spPr>
        <p:txBody>
          <a:bodyPr wrap="square" lIns="0" rIns="0" tIns="0" bIns="0" anchor="t">
            <a:spAutoFit/>
          </a:bodyPr>
          <a:lstStyle/>
          <a:p>
            <a:pPr algn="l">
              <a:lnSpc>
                <a:spcPct val="112000"/>
              </a:lnSpc>
            </a:pPr>
            <a:r>
              <a:rPr sz="1250" b="0" i="0">
                <a:solidFill>
                  <a:srgbClr val="8FA0B3"/>
                </a:solidFill>
                <a:latin typeface="Calibri"/>
              </a:rPr>
              <a:t>The opening line, and the only thing it says before it knows anything about the user.</a:t>
            </a:r>
          </a:p>
        </p:txBody>
      </p:sp>
      <p:sp>
        <p:nvSpPr>
          <p:cNvPr id="16" name="Rounded Rectangle 15"/>
          <p:cNvSpPr/>
          <p:nvPr/>
        </p:nvSpPr>
        <p:spPr>
          <a:xfrm>
            <a:off x="685800" y="3785615"/>
            <a:ext cx="6949440" cy="1883664"/>
          </a:xfrm>
          <a:prstGeom prst="roundRect">
            <a:avLst>
              <a:gd name="adj" fmla="val 6000"/>
            </a:avLst>
          </a:prstGeom>
          <a:solidFill>
            <a:srgbClr val="1C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96696" y="3986784"/>
            <a:ext cx="6309360" cy="274320"/>
          </a:xfrm>
          <a:prstGeom prst="rect">
            <a:avLst/>
          </a:prstGeom>
          <a:noFill/>
        </p:spPr>
        <p:txBody>
          <a:bodyPr wrap="square" lIns="0" rIns="0" tIns="0" bIns="0" anchor="t">
            <a:spAutoFit/>
          </a:bodyPr>
          <a:lstStyle/>
          <a:p>
            <a:pPr algn="l"/>
            <a:r>
              <a:rPr sz="1100" b="1" i="0">
                <a:solidFill>
                  <a:srgbClr val="13EF93"/>
                </a:solidFill>
                <a:latin typeface="Calibri"/>
              </a:rPr>
              <a:t>THE TWO PROMPT RULES THAT MATTER FOR SPEECH</a:t>
            </a:r>
          </a:p>
        </p:txBody>
      </p:sp>
      <p:sp>
        <p:nvSpPr>
          <p:cNvPr id="18" name="TextBox 17"/>
          <p:cNvSpPr txBox="1"/>
          <p:nvPr/>
        </p:nvSpPr>
        <p:spPr>
          <a:xfrm>
            <a:off x="996696" y="4334256"/>
            <a:ext cx="6309360" cy="1188720"/>
          </a:xfrm>
          <a:prstGeom prst="rect">
            <a:avLst/>
          </a:prstGeom>
          <a:noFill/>
        </p:spPr>
        <p:txBody>
          <a:bodyPr wrap="square" lIns="0" rIns="0" tIns="0" bIns="0" anchor="t">
            <a:spAutoFit/>
          </a:bodyPr>
          <a:lstStyle/>
          <a:p>
            <a:pPr algn="l">
              <a:spcAft>
                <a:spcPts val="200"/>
              </a:spcAft>
            </a:pPr>
            <a:r>
              <a:rPr sz="1500" b="1" i="0">
                <a:solidFill>
                  <a:srgbClr val="FFFFFF"/>
                </a:solidFill>
                <a:latin typeface="Calibri"/>
              </a:rPr>
              <a:t>Tell it that it's speaking.</a:t>
            </a:r>
          </a:p>
          <a:p>
            <a:pPr algn="l">
              <a:lnSpc>
                <a:spcPct val="110000"/>
              </a:lnSpc>
              <a:spcAft>
                <a:spcPts val="1000"/>
              </a:spcAft>
            </a:pPr>
            <a:r>
              <a:rPr sz="1250" b="0" i="0">
                <a:solidFill>
                  <a:srgbClr val="8FA0B3"/>
                </a:solidFill>
                <a:latin typeface="Calibri"/>
              </a:rPr>
              <a:t>LLMs default to writing. Without an explicit instruction you get markdown read aloud — “asterisk asterisk important asterisk asterisk.”</a:t>
            </a:r>
          </a:p>
          <a:p>
            <a:pPr algn="l">
              <a:spcAft>
                <a:spcPts val="200"/>
              </a:spcAft>
            </a:pPr>
            <a:r>
              <a:rPr sz="1500" b="1" i="0">
                <a:solidFill>
                  <a:srgbClr val="FFFFFF"/>
                </a:solidFill>
                <a:latin typeface="Calibri"/>
              </a:rPr>
              <a:t>Tell it to be brief.</a:t>
            </a:r>
          </a:p>
          <a:p>
            <a:pPr algn="l">
              <a:lnSpc>
                <a:spcPct val="110000"/>
              </a:lnSpc>
            </a:pPr>
            <a:r>
              <a:rPr sz="1250" b="0" i="0">
                <a:solidFill>
                  <a:srgbClr val="8FA0B3"/>
                </a:solidFill>
                <a:latin typeface="Calibri"/>
              </a:rPr>
              <a:t>Four sentences that scan fine in a chat window feel interminable out loud.</a:t>
            </a:r>
          </a:p>
        </p:txBody>
      </p:sp>
      <p:sp>
        <p:nvSpPr>
          <p:cNvPr id="19" name="Rounded Rectangle 18"/>
          <p:cNvSpPr/>
          <p:nvPr/>
        </p:nvSpPr>
        <p:spPr>
          <a:xfrm>
            <a:off x="7818120" y="3785615"/>
            <a:ext cx="3685032" cy="1883664"/>
          </a:xfrm>
          <a:prstGeom prst="roundRect">
            <a:avLst>
              <a:gd name="adj" fmla="val 6000"/>
            </a:avLst>
          </a:prstGeom>
          <a:solidFill>
            <a:srgbClr val="15202B"/>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10727" y="3986784"/>
            <a:ext cx="3108960" cy="1554480"/>
          </a:xfrm>
          <a:prstGeom prst="rect">
            <a:avLst/>
          </a:prstGeom>
          <a:noFill/>
        </p:spPr>
        <p:txBody>
          <a:bodyPr wrap="square" lIns="0" rIns="0" tIns="0" bIns="0" anchor="t">
            <a:spAutoFit/>
          </a:bodyPr>
          <a:lstStyle/>
          <a:p>
            <a:pPr algn="l">
              <a:spcAft>
                <a:spcPts val="600"/>
              </a:spcAft>
            </a:pPr>
            <a:r>
              <a:rPr sz="1350" b="1" i="0">
                <a:solidFill>
                  <a:srgbClr val="FFB454"/>
                </a:solidFill>
                <a:latin typeface="Calibri"/>
              </a:rPr>
              <a:t>TODO 6.4 · Warning branch</a:t>
            </a:r>
          </a:p>
          <a:p>
            <a:pPr algn="l">
              <a:lnSpc>
                <a:spcPct val="112000"/>
              </a:lnSpc>
            </a:pPr>
            <a:r>
              <a:rPr sz="1200" b="0" i="0">
                <a:solidFill>
                  <a:srgbClr val="8FA0B3"/>
                </a:solidFill>
                <a:latin typeface="Calibri"/>
              </a:rPr>
              <a:t>Warnings are where rejected settings go. A misspelled voice arrives here instead of failing the handshake — so without this branch the agent silently ignores a bad setting and nothing seems to change.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Rounded Rectangle 1"/>
          <p:cNvSpPr/>
          <p:nvPr/>
        </p:nvSpPr>
        <p:spPr>
          <a:xfrm>
            <a:off x="685800" y="384048"/>
            <a:ext cx="941832" cy="292608"/>
          </a:xfrm>
          <a:prstGeom prst="roundRect">
            <a:avLst>
              <a:gd name="adj" fmla="val 50000"/>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04120C"/>
                </a:solidFill>
                <a:latin typeface="Calibri"/>
              </a:rPr>
              <a:t>STEP 7</a:t>
            </a:r>
          </a:p>
        </p:txBody>
      </p:sp>
      <p:sp>
        <p:nvSpPr>
          <p:cNvPr id="3" name="TextBox 2"/>
          <p:cNvSpPr txBox="1"/>
          <p:nvPr/>
        </p:nvSpPr>
        <p:spPr>
          <a:xfrm>
            <a:off x="1828800" y="402336"/>
            <a:ext cx="3108960" cy="274320"/>
          </a:xfrm>
          <a:prstGeom prst="rect">
            <a:avLst/>
          </a:prstGeom>
          <a:noFill/>
        </p:spPr>
        <p:txBody>
          <a:bodyPr wrap="square" lIns="0" rIns="0" tIns="0" bIns="0" anchor="t">
            <a:spAutoFit/>
          </a:bodyPr>
          <a:lstStyle/>
          <a:p>
            <a:pPr algn="l"/>
            <a:r>
              <a:rPr sz="1250" b="1" i="0">
                <a:solidFill>
                  <a:srgbClr val="8FA0B3"/>
                </a:solidFill>
                <a:latin typeface="Calibri"/>
              </a:rPr>
              <a:t>2:35  ·  30 min</a:t>
            </a:r>
          </a:p>
        </p:txBody>
      </p:sp>
      <p:sp>
        <p:nvSpPr>
          <p:cNvPr id="4" name="Rounded Rectangle 3"/>
          <p:cNvSpPr/>
          <p:nvPr/>
        </p:nvSpPr>
        <p:spPr>
          <a:xfrm>
            <a:off x="9505188" y="384048"/>
            <a:ext cx="2000707" cy="292608"/>
          </a:xfrm>
          <a:prstGeom prst="roundRect">
            <a:avLst>
              <a:gd name="adj" fmla="val 50000"/>
            </a:avLst>
          </a:prstGeom>
          <a:solidFill>
            <a:srgbClr val="070B10"/>
          </a:solidFill>
          <a:ln w="12700">
            <a:solidFill>
              <a:srgbClr val="2C3A4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i="0">
                <a:solidFill>
                  <a:srgbClr val="5D6E80"/>
                </a:solidFill>
                <a:latin typeface="Calibri"/>
              </a:rPr>
              <a:t>EASY MODE — LAB 5</a:t>
            </a:r>
          </a:p>
        </p:txBody>
      </p:sp>
      <p:sp>
        <p:nvSpPr>
          <p:cNvPr id="5" name="TextBox 4"/>
          <p:cNvSpPr txBox="1"/>
          <p:nvPr/>
        </p:nvSpPr>
        <p:spPr>
          <a:xfrm>
            <a:off x="685800" y="859536"/>
            <a:ext cx="10820095" cy="658368"/>
          </a:xfrm>
          <a:prstGeom prst="rect">
            <a:avLst/>
          </a:prstGeom>
          <a:noFill/>
        </p:spPr>
        <p:txBody>
          <a:bodyPr wrap="square" lIns="0" rIns="0" tIns="0" bIns="0" anchor="t">
            <a:spAutoFit/>
          </a:bodyPr>
          <a:lstStyle/>
          <a:p>
            <a:pPr algn="l"/>
            <a:r>
              <a:rPr sz="3600" b="1" i="0">
                <a:solidFill>
                  <a:srgbClr val="FFFFFF"/>
                </a:solidFill>
                <a:latin typeface="Calibri"/>
              </a:rPr>
              <a:t>Function calling</a:t>
            </a:r>
          </a:p>
        </p:txBody>
      </p:sp>
      <p:sp>
        <p:nvSpPr>
          <p:cNvPr id="6" name="TextBox 5"/>
          <p:cNvSpPr txBox="1"/>
          <p:nvPr/>
        </p:nvSpPr>
        <p:spPr>
          <a:xfrm>
            <a:off x="685800" y="1591056"/>
            <a:ext cx="10424160" cy="640080"/>
          </a:xfrm>
          <a:prstGeom prst="rect">
            <a:avLst/>
          </a:prstGeom>
          <a:noFill/>
        </p:spPr>
        <p:txBody>
          <a:bodyPr wrap="square" lIns="0" rIns="0" tIns="0" bIns="0" anchor="t">
            <a:spAutoFit/>
          </a:bodyPr>
          <a:lstStyle/>
          <a:p>
            <a:pPr algn="l">
              <a:lnSpc>
                <a:spcPct val="115000"/>
              </a:lnSpc>
            </a:pPr>
            <a:r>
              <a:rPr sz="1600" b="0" i="0">
                <a:solidFill>
                  <a:srgbClr val="8FA0B3"/>
                </a:solidFill>
                <a:latin typeface="Calibri"/>
              </a:rPr>
              <a:t>Ask it what time it is and it will confidently make something up, because an LLM has no clock. This step closes that gap and every gap like it.</a:t>
            </a:r>
          </a:p>
        </p:txBody>
      </p:sp>
      <p:sp>
        <p:nvSpPr>
          <p:cNvPr id="7" name="Oval 6"/>
          <p:cNvSpPr/>
          <p:nvPr/>
        </p:nvSpPr>
        <p:spPr>
          <a:xfrm>
            <a:off x="685800" y="2359152"/>
            <a:ext cx="457200" cy="457200"/>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2450592"/>
            <a:ext cx="457200" cy="274320"/>
          </a:xfrm>
          <a:prstGeom prst="rect">
            <a:avLst/>
          </a:prstGeom>
          <a:noFill/>
        </p:spPr>
        <p:txBody>
          <a:bodyPr wrap="square" lIns="0" rIns="0" tIns="0" bIns="0" anchor="t">
            <a:spAutoFit/>
          </a:bodyPr>
          <a:lstStyle/>
          <a:p>
            <a:pPr algn="ctr"/>
            <a:r>
              <a:rPr sz="1500" b="1" i="0">
                <a:solidFill>
                  <a:srgbClr val="13EF93"/>
                </a:solidFill>
                <a:latin typeface="Calibri"/>
              </a:rPr>
              <a:t>1</a:t>
            </a:r>
          </a:p>
        </p:txBody>
      </p:sp>
      <p:sp>
        <p:nvSpPr>
          <p:cNvPr id="9" name="TextBox 8"/>
          <p:cNvSpPr txBox="1"/>
          <p:nvPr/>
        </p:nvSpPr>
        <p:spPr>
          <a:xfrm>
            <a:off x="1362456" y="2340864"/>
            <a:ext cx="6400800" cy="292608"/>
          </a:xfrm>
          <a:prstGeom prst="rect">
            <a:avLst/>
          </a:prstGeom>
          <a:noFill/>
        </p:spPr>
        <p:txBody>
          <a:bodyPr wrap="square" lIns="0" rIns="0" tIns="0" bIns="0" anchor="t">
            <a:spAutoFit/>
          </a:bodyPr>
          <a:lstStyle/>
          <a:p>
            <a:pPr algn="l"/>
            <a:r>
              <a:rPr sz="1600" b="1" i="0">
                <a:solidFill>
                  <a:srgbClr val="FFFFFF"/>
                </a:solidFill>
                <a:latin typeface="Calibri"/>
              </a:rPr>
              <a:t>You advertise a function</a:t>
            </a:r>
          </a:p>
        </p:txBody>
      </p:sp>
      <p:sp>
        <p:nvSpPr>
          <p:cNvPr id="10" name="TextBox 9"/>
          <p:cNvSpPr txBox="1"/>
          <p:nvPr/>
        </p:nvSpPr>
        <p:spPr>
          <a:xfrm>
            <a:off x="1362456" y="2651760"/>
            <a:ext cx="6400800" cy="274320"/>
          </a:xfrm>
          <a:prstGeom prst="rect">
            <a:avLst/>
          </a:prstGeom>
          <a:noFill/>
        </p:spPr>
        <p:txBody>
          <a:bodyPr wrap="square" lIns="0" rIns="0" tIns="0" bIns="0" anchor="t">
            <a:spAutoFit/>
          </a:bodyPr>
          <a:lstStyle/>
          <a:p>
            <a:pPr algn="l"/>
            <a:r>
              <a:rPr sz="1250" b="0" i="0">
                <a:solidFill>
                  <a:srgbClr val="8FA0B3"/>
                </a:solidFill>
                <a:latin typeface="Calibri"/>
              </a:rPr>
              <a:t>name, description, and a JSON Schema for its parameters, in SETTINGS</a:t>
            </a:r>
          </a:p>
        </p:txBody>
      </p:sp>
      <p:sp>
        <p:nvSpPr>
          <p:cNvPr id="11" name="Oval 10"/>
          <p:cNvSpPr/>
          <p:nvPr/>
        </p:nvSpPr>
        <p:spPr>
          <a:xfrm>
            <a:off x="685800" y="3145536"/>
            <a:ext cx="457200" cy="457200"/>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3236976"/>
            <a:ext cx="457200" cy="274320"/>
          </a:xfrm>
          <a:prstGeom prst="rect">
            <a:avLst/>
          </a:prstGeom>
          <a:noFill/>
        </p:spPr>
        <p:txBody>
          <a:bodyPr wrap="square" lIns="0" rIns="0" tIns="0" bIns="0" anchor="t">
            <a:spAutoFit/>
          </a:bodyPr>
          <a:lstStyle/>
          <a:p>
            <a:pPr algn="ctr"/>
            <a:r>
              <a:rPr sz="1500" b="1" i="0">
                <a:solidFill>
                  <a:srgbClr val="13EF93"/>
                </a:solidFill>
                <a:latin typeface="Calibri"/>
              </a:rPr>
              <a:t>2</a:t>
            </a:r>
          </a:p>
        </p:txBody>
      </p:sp>
      <p:sp>
        <p:nvSpPr>
          <p:cNvPr id="13" name="TextBox 12"/>
          <p:cNvSpPr txBox="1"/>
          <p:nvPr/>
        </p:nvSpPr>
        <p:spPr>
          <a:xfrm>
            <a:off x="1362456" y="3127248"/>
            <a:ext cx="6400800" cy="292608"/>
          </a:xfrm>
          <a:prstGeom prst="rect">
            <a:avLst/>
          </a:prstGeom>
          <a:noFill/>
        </p:spPr>
        <p:txBody>
          <a:bodyPr wrap="square" lIns="0" rIns="0" tIns="0" bIns="0" anchor="t">
            <a:spAutoFit/>
          </a:bodyPr>
          <a:lstStyle/>
          <a:p>
            <a:pPr algn="l"/>
            <a:r>
              <a:rPr sz="1600" b="1" i="0">
                <a:solidFill>
                  <a:srgbClr val="FFFFFF"/>
                </a:solidFill>
                <a:latin typeface="Calibri"/>
              </a:rPr>
              <a:t>The LLM decides to call it</a:t>
            </a:r>
          </a:p>
        </p:txBody>
      </p:sp>
      <p:sp>
        <p:nvSpPr>
          <p:cNvPr id="14" name="TextBox 13"/>
          <p:cNvSpPr txBox="1"/>
          <p:nvPr/>
        </p:nvSpPr>
        <p:spPr>
          <a:xfrm>
            <a:off x="1362456" y="3438144"/>
            <a:ext cx="6400800" cy="274320"/>
          </a:xfrm>
          <a:prstGeom prst="rect">
            <a:avLst/>
          </a:prstGeom>
          <a:noFill/>
        </p:spPr>
        <p:txBody>
          <a:bodyPr wrap="square" lIns="0" rIns="0" tIns="0" bIns="0" anchor="t">
            <a:spAutoFit/>
          </a:bodyPr>
          <a:lstStyle/>
          <a:p>
            <a:pPr algn="l"/>
            <a:r>
              <a:rPr sz="1250" b="0" i="0">
                <a:solidFill>
                  <a:srgbClr val="8FA0B3"/>
                </a:solidFill>
                <a:latin typeface="Calibri"/>
              </a:rPr>
              <a:t>Deepgram sends you a FunctionCallRequest down the socket</a:t>
            </a:r>
          </a:p>
        </p:txBody>
      </p:sp>
      <p:sp>
        <p:nvSpPr>
          <p:cNvPr id="15" name="Oval 14"/>
          <p:cNvSpPr/>
          <p:nvPr/>
        </p:nvSpPr>
        <p:spPr>
          <a:xfrm>
            <a:off x="685800" y="3931920"/>
            <a:ext cx="457200" cy="457200"/>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4023359"/>
            <a:ext cx="457200" cy="274320"/>
          </a:xfrm>
          <a:prstGeom prst="rect">
            <a:avLst/>
          </a:prstGeom>
          <a:noFill/>
        </p:spPr>
        <p:txBody>
          <a:bodyPr wrap="square" lIns="0" rIns="0" tIns="0" bIns="0" anchor="t">
            <a:spAutoFit/>
          </a:bodyPr>
          <a:lstStyle/>
          <a:p>
            <a:pPr algn="ctr"/>
            <a:r>
              <a:rPr sz="1500" b="1" i="0">
                <a:solidFill>
                  <a:srgbClr val="13EF93"/>
                </a:solidFill>
                <a:latin typeface="Calibri"/>
              </a:rPr>
              <a:t>3</a:t>
            </a:r>
          </a:p>
        </p:txBody>
      </p:sp>
      <p:sp>
        <p:nvSpPr>
          <p:cNvPr id="17" name="TextBox 16"/>
          <p:cNvSpPr txBox="1"/>
          <p:nvPr/>
        </p:nvSpPr>
        <p:spPr>
          <a:xfrm>
            <a:off x="1362456" y="3913631"/>
            <a:ext cx="6400800" cy="292608"/>
          </a:xfrm>
          <a:prstGeom prst="rect">
            <a:avLst/>
          </a:prstGeom>
          <a:noFill/>
        </p:spPr>
        <p:txBody>
          <a:bodyPr wrap="square" lIns="0" rIns="0" tIns="0" bIns="0" anchor="t">
            <a:spAutoFit/>
          </a:bodyPr>
          <a:lstStyle/>
          <a:p>
            <a:pPr algn="l"/>
            <a:r>
              <a:rPr sz="1600" b="1" i="0">
                <a:solidFill>
                  <a:srgbClr val="FFFFFF"/>
                </a:solidFill>
                <a:latin typeface="Calibri"/>
              </a:rPr>
              <a:t>Your code runs and replies</a:t>
            </a:r>
          </a:p>
        </p:txBody>
      </p:sp>
      <p:sp>
        <p:nvSpPr>
          <p:cNvPr id="18" name="TextBox 17"/>
          <p:cNvSpPr txBox="1"/>
          <p:nvPr/>
        </p:nvSpPr>
        <p:spPr>
          <a:xfrm>
            <a:off x="1362456" y="4224528"/>
            <a:ext cx="6400800" cy="274320"/>
          </a:xfrm>
          <a:prstGeom prst="rect">
            <a:avLst/>
          </a:prstGeom>
          <a:noFill/>
        </p:spPr>
        <p:txBody>
          <a:bodyPr wrap="square" lIns="0" rIns="0" tIns="0" bIns="0" anchor="t">
            <a:spAutoFit/>
          </a:bodyPr>
          <a:lstStyle/>
          <a:p>
            <a:pPr algn="l"/>
            <a:r>
              <a:rPr sz="1250" b="0" i="0">
                <a:solidFill>
                  <a:srgbClr val="8FA0B3"/>
                </a:solidFill>
                <a:latin typeface="Calibri"/>
              </a:rPr>
              <a:t>you send back a FunctionCallResponse</a:t>
            </a:r>
          </a:p>
        </p:txBody>
      </p:sp>
      <p:sp>
        <p:nvSpPr>
          <p:cNvPr id="19" name="Oval 18"/>
          <p:cNvSpPr/>
          <p:nvPr/>
        </p:nvSpPr>
        <p:spPr>
          <a:xfrm>
            <a:off x="685800" y="4718304"/>
            <a:ext cx="457200" cy="457200"/>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5800" y="4809744"/>
            <a:ext cx="457200" cy="274320"/>
          </a:xfrm>
          <a:prstGeom prst="rect">
            <a:avLst/>
          </a:prstGeom>
          <a:noFill/>
        </p:spPr>
        <p:txBody>
          <a:bodyPr wrap="square" lIns="0" rIns="0" tIns="0" bIns="0" anchor="t">
            <a:spAutoFit/>
          </a:bodyPr>
          <a:lstStyle/>
          <a:p>
            <a:pPr algn="ctr"/>
            <a:r>
              <a:rPr sz="1500" b="1" i="0">
                <a:solidFill>
                  <a:srgbClr val="13EF93"/>
                </a:solidFill>
                <a:latin typeface="Calibri"/>
              </a:rPr>
              <a:t>4</a:t>
            </a:r>
          </a:p>
        </p:txBody>
      </p:sp>
      <p:sp>
        <p:nvSpPr>
          <p:cNvPr id="21" name="TextBox 20"/>
          <p:cNvSpPr txBox="1"/>
          <p:nvPr/>
        </p:nvSpPr>
        <p:spPr>
          <a:xfrm>
            <a:off x="1362456" y="4700016"/>
            <a:ext cx="6400800" cy="292608"/>
          </a:xfrm>
          <a:prstGeom prst="rect">
            <a:avLst/>
          </a:prstGeom>
          <a:noFill/>
        </p:spPr>
        <p:txBody>
          <a:bodyPr wrap="square" lIns="0" rIns="0" tIns="0" bIns="0" anchor="t">
            <a:spAutoFit/>
          </a:bodyPr>
          <a:lstStyle/>
          <a:p>
            <a:pPr algn="l"/>
            <a:r>
              <a:rPr sz="1600" b="1" i="0">
                <a:solidFill>
                  <a:srgbClr val="FFFFFF"/>
                </a:solidFill>
                <a:latin typeface="Calibri"/>
              </a:rPr>
              <a:t>The agent speaks the result</a:t>
            </a:r>
          </a:p>
        </p:txBody>
      </p:sp>
      <p:sp>
        <p:nvSpPr>
          <p:cNvPr id="22" name="TextBox 21"/>
          <p:cNvSpPr txBox="1"/>
          <p:nvPr/>
        </p:nvSpPr>
        <p:spPr>
          <a:xfrm>
            <a:off x="1362456" y="5010912"/>
            <a:ext cx="6400800" cy="274320"/>
          </a:xfrm>
          <a:prstGeom prst="rect">
            <a:avLst/>
          </a:prstGeom>
          <a:noFill/>
        </p:spPr>
        <p:txBody>
          <a:bodyPr wrap="square" lIns="0" rIns="0" tIns="0" bIns="0" anchor="t">
            <a:spAutoFit/>
          </a:bodyPr>
          <a:lstStyle/>
          <a:p>
            <a:pPr algn="l"/>
            <a:r>
              <a:rPr sz="1250" b="0" i="0">
                <a:solidFill>
                  <a:srgbClr val="8FA0B3"/>
                </a:solidFill>
                <a:latin typeface="Calibri"/>
              </a:rPr>
              <a:t>the LLM works your answer into its reply</a:t>
            </a:r>
          </a:p>
        </p:txBody>
      </p:sp>
      <p:sp>
        <p:nvSpPr>
          <p:cNvPr id="23" name="Rounded Rectangle 22"/>
          <p:cNvSpPr/>
          <p:nvPr/>
        </p:nvSpPr>
        <p:spPr>
          <a:xfrm>
            <a:off x="8229600" y="2286000"/>
            <a:ext cx="3273552" cy="2926080"/>
          </a:xfrm>
          <a:prstGeom prst="roundRect">
            <a:avLst>
              <a:gd name="adj" fmla="val 6000"/>
            </a:avLst>
          </a:prstGeom>
          <a:solidFill>
            <a:srgbClr val="15202B"/>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522208" y="2542032"/>
            <a:ext cx="2697480" cy="2468880"/>
          </a:xfrm>
          <a:prstGeom prst="rect">
            <a:avLst/>
          </a:prstGeom>
          <a:noFill/>
        </p:spPr>
        <p:txBody>
          <a:bodyPr wrap="square" lIns="0" rIns="0" tIns="0" bIns="0" anchor="t">
            <a:spAutoFit/>
          </a:bodyPr>
          <a:lstStyle/>
          <a:p>
            <a:pPr algn="l">
              <a:spcAft>
                <a:spcPts val="1000"/>
              </a:spcAft>
            </a:pPr>
            <a:r>
              <a:rPr sz="1400" b="1" i="0">
                <a:solidFill>
                  <a:srgbClr val="13EF93"/>
                </a:solidFill>
                <a:latin typeface="Calibri"/>
              </a:rPr>
              <a:t>Ask it for the time in Tokyo</a:t>
            </a:r>
          </a:p>
          <a:p>
            <a:pPr algn="l">
              <a:lnSpc>
                <a:spcPct val="110000"/>
              </a:lnSpc>
              <a:spcAft>
                <a:spcPts val="1200"/>
              </a:spcAft>
            </a:pPr>
            <a:r>
              <a:rPr sz="1100" b="0" i="0">
                <a:solidFill>
                  <a:srgbClr val="D8E0EA"/>
                </a:solidFill>
                <a:latin typeface="Courier New"/>
              </a:rPr>
              <a:t>get_current_time({"timezone": "Asia/Tokyo"})</a:t>
            </a:r>
          </a:p>
          <a:p>
            <a:pPr algn="l">
              <a:lnSpc>
                <a:spcPct val="114000"/>
              </a:lnSpc>
            </a:pPr>
            <a:r>
              <a:rPr sz="1250" b="0" i="0">
                <a:solidFill>
                  <a:srgbClr val="8FA0B3"/>
                </a:solidFill>
                <a:latin typeface="Calibri"/>
              </a:rPr>
              <a:t>The LLM translated “Tokyo” into the IANA identifier on its own. That's the schema description doing its job.</a:t>
            </a:r>
          </a:p>
        </p:txBody>
      </p:sp>
      <p:sp>
        <p:nvSpPr>
          <p:cNvPr id="25" name="Rounded Rectangle 24"/>
          <p:cNvSpPr/>
          <p:nvPr/>
        </p:nvSpPr>
        <p:spPr>
          <a:xfrm>
            <a:off x="685800" y="5870448"/>
            <a:ext cx="10820095" cy="658368"/>
          </a:xfrm>
          <a:prstGeom prst="roundRect">
            <a:avLst>
              <a:gd name="adj" fmla="val 9000"/>
            </a:avLst>
          </a:prstGeom>
          <a:solidFill>
            <a:srgbClr val="2E231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950976" y="6044184"/>
            <a:ext cx="310896" cy="310896"/>
          </a:xfrm>
          <a:prstGeom prst="ellipse">
            <a:avLst/>
          </a:prstGeom>
          <a:noFill/>
          <a:ln w="1905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1036472" y="6134343"/>
            <a:ext cx="34198" cy="130576"/>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1142177" y="6134343"/>
            <a:ext cx="34198" cy="130576"/>
          </a:xfrm>
          <a:prstGeom prst="rect">
            <a:avLst/>
          </a:prstGeom>
          <a:solidFill>
            <a:srgbClr val="FFB4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5607" y="5961888"/>
            <a:ext cx="1417320" cy="219456"/>
          </a:xfrm>
          <a:prstGeom prst="rect">
            <a:avLst/>
          </a:prstGeom>
          <a:noFill/>
        </p:spPr>
        <p:txBody>
          <a:bodyPr wrap="square" lIns="0" rIns="0" tIns="0" bIns="0" anchor="t">
            <a:spAutoFit/>
          </a:bodyPr>
          <a:lstStyle/>
          <a:p>
            <a:pPr algn="l"/>
            <a:r>
              <a:rPr sz="950" b="1" i="0">
                <a:solidFill>
                  <a:srgbClr val="FFB454"/>
                </a:solidFill>
                <a:latin typeface="Calibri"/>
              </a:rPr>
              <a:t>DO THIS FIRST</a:t>
            </a:r>
          </a:p>
        </p:txBody>
      </p:sp>
      <p:sp>
        <p:nvSpPr>
          <p:cNvPr id="30" name="TextBox 29"/>
          <p:cNvSpPr txBox="1"/>
          <p:nvPr/>
        </p:nvSpPr>
        <p:spPr>
          <a:xfrm>
            <a:off x="1435607" y="6163056"/>
            <a:ext cx="9768535" cy="310896"/>
          </a:xfrm>
          <a:prstGeom prst="rect">
            <a:avLst/>
          </a:prstGeom>
          <a:noFill/>
        </p:spPr>
        <p:txBody>
          <a:bodyPr wrap="square" lIns="0" rIns="0" tIns="0" bIns="0" anchor="t">
            <a:spAutoFit/>
          </a:bodyPr>
          <a:lstStyle/>
          <a:p>
            <a:pPr algn="l"/>
            <a:r>
              <a:rPr sz="1400" b="0" i="0">
                <a:solidFill>
                  <a:srgbClr val="D8E0EA"/>
                </a:solidFill>
                <a:latin typeface="Calibri"/>
              </a:rPr>
              <a:t>Before writing code: sketch a function for your own use case. Share one or two.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85800" y="566928"/>
            <a:ext cx="10820095" cy="658368"/>
          </a:xfrm>
          <a:prstGeom prst="rect">
            <a:avLst/>
          </a:prstGeom>
          <a:noFill/>
        </p:spPr>
        <p:txBody>
          <a:bodyPr wrap="square" lIns="0" rIns="0" tIns="0" bIns="0" anchor="t">
            <a:spAutoFit/>
          </a:bodyPr>
          <a:lstStyle/>
          <a:p>
            <a:pPr algn="l"/>
            <a:r>
              <a:rPr sz="3600" b="1" i="0">
                <a:solidFill>
                  <a:srgbClr val="FFFFFF"/>
                </a:solidFill>
                <a:latin typeface="Calibri"/>
              </a:rPr>
              <a:t>Three things that will bite them</a:t>
            </a:r>
          </a:p>
        </p:txBody>
      </p:sp>
      <p:sp>
        <p:nvSpPr>
          <p:cNvPr id="3" name="Rounded Rectangle 2"/>
          <p:cNvSpPr/>
          <p:nvPr/>
        </p:nvSpPr>
        <p:spPr>
          <a:xfrm>
            <a:off x="685800" y="1316736"/>
            <a:ext cx="10820095" cy="1316736"/>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996696" y="1719072"/>
            <a:ext cx="457200" cy="457200"/>
          </a:xfrm>
          <a:prstGeom prst="ellipse">
            <a:avLst/>
          </a:prstGeom>
          <a:solidFill>
            <a:srgbClr val="2E2313"/>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996696" y="1810512"/>
            <a:ext cx="457200" cy="274320"/>
          </a:xfrm>
          <a:prstGeom prst="rect">
            <a:avLst/>
          </a:prstGeom>
          <a:noFill/>
        </p:spPr>
        <p:txBody>
          <a:bodyPr wrap="square" lIns="0" rIns="0" tIns="0" bIns="0" anchor="t">
            <a:spAutoFit/>
          </a:bodyPr>
          <a:lstStyle/>
          <a:p>
            <a:pPr algn="ctr"/>
            <a:r>
              <a:rPr sz="1400" b="1" i="0">
                <a:solidFill>
                  <a:srgbClr val="FFB454"/>
                </a:solidFill>
                <a:latin typeface="Calibri"/>
              </a:rPr>
              <a:t>1</a:t>
            </a:r>
          </a:p>
        </p:txBody>
      </p:sp>
      <p:sp>
        <p:nvSpPr>
          <p:cNvPr id="6" name="TextBox 5"/>
          <p:cNvSpPr txBox="1"/>
          <p:nvPr/>
        </p:nvSpPr>
        <p:spPr>
          <a:xfrm>
            <a:off x="1673352" y="1517904"/>
            <a:ext cx="9509760" cy="310896"/>
          </a:xfrm>
          <a:prstGeom prst="rect">
            <a:avLst/>
          </a:prstGeom>
          <a:noFill/>
        </p:spPr>
        <p:txBody>
          <a:bodyPr wrap="square" lIns="0" rIns="0" tIns="0" bIns="0" anchor="t">
            <a:spAutoFit/>
          </a:bodyPr>
          <a:lstStyle/>
          <a:p>
            <a:pPr algn="l"/>
            <a:r>
              <a:rPr sz="1650" b="1" i="0">
                <a:solidFill>
                  <a:srgbClr val="FFFFFF"/>
                </a:solidFill>
                <a:latin typeface="Calibri"/>
              </a:rPr>
              <a:t>Omitting endpoint is what makes a function client-side</a:t>
            </a:r>
          </a:p>
        </p:txBody>
      </p:sp>
      <p:sp>
        <p:nvSpPr>
          <p:cNvPr id="7" name="TextBox 6"/>
          <p:cNvSpPr txBox="1"/>
          <p:nvPr/>
        </p:nvSpPr>
        <p:spPr>
          <a:xfrm>
            <a:off x="1673352" y="1901952"/>
            <a:ext cx="9509760" cy="658368"/>
          </a:xfrm>
          <a:prstGeom prst="rect">
            <a:avLst/>
          </a:prstGeom>
          <a:noFill/>
        </p:spPr>
        <p:txBody>
          <a:bodyPr wrap="square" lIns="0" rIns="0" tIns="0" bIns="0" anchor="t">
            <a:spAutoFit/>
          </a:bodyPr>
          <a:lstStyle/>
          <a:p>
            <a:pPr algn="l">
              <a:lnSpc>
                <a:spcPct val="112000"/>
              </a:lnSpc>
            </a:pPr>
            <a:r>
              <a:rPr sz="1300" b="0" i="0">
                <a:solidFill>
                  <a:srgbClr val="8FA0B3"/>
                </a:solidFill>
                <a:latin typeface="Calibri"/>
              </a:rPr>
              <a:t>Leave it unset and Deepgram sends the call down the socket to you. Set it and Deepgram calls your HTTP API itself and you never see it. Both are valid — client-side is what you want when the function touches local state or local credentials.</a:t>
            </a:r>
          </a:p>
        </p:txBody>
      </p:sp>
      <p:sp>
        <p:nvSpPr>
          <p:cNvPr id="8" name="Rounded Rectangle 7"/>
          <p:cNvSpPr/>
          <p:nvPr/>
        </p:nvSpPr>
        <p:spPr>
          <a:xfrm>
            <a:off x="685800" y="2798064"/>
            <a:ext cx="10820095" cy="1316736"/>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996696" y="3200400"/>
            <a:ext cx="457200" cy="457200"/>
          </a:xfrm>
          <a:prstGeom prst="ellipse">
            <a:avLst/>
          </a:prstGeom>
          <a:solidFill>
            <a:srgbClr val="2E2313"/>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96696" y="3291840"/>
            <a:ext cx="457200" cy="274320"/>
          </a:xfrm>
          <a:prstGeom prst="rect">
            <a:avLst/>
          </a:prstGeom>
          <a:noFill/>
        </p:spPr>
        <p:txBody>
          <a:bodyPr wrap="square" lIns="0" rIns="0" tIns="0" bIns="0" anchor="t">
            <a:spAutoFit/>
          </a:bodyPr>
          <a:lstStyle/>
          <a:p>
            <a:pPr algn="ctr"/>
            <a:r>
              <a:rPr sz="1400" b="1" i="0">
                <a:solidFill>
                  <a:srgbClr val="FFB454"/>
                </a:solidFill>
                <a:latin typeface="Calibri"/>
              </a:rPr>
              <a:t>2</a:t>
            </a:r>
          </a:p>
        </p:txBody>
      </p:sp>
      <p:sp>
        <p:nvSpPr>
          <p:cNvPr id="11" name="TextBox 10"/>
          <p:cNvSpPr txBox="1"/>
          <p:nvPr/>
        </p:nvSpPr>
        <p:spPr>
          <a:xfrm>
            <a:off x="1673352" y="2999232"/>
            <a:ext cx="9509760" cy="310896"/>
          </a:xfrm>
          <a:prstGeom prst="rect">
            <a:avLst/>
          </a:prstGeom>
          <a:noFill/>
        </p:spPr>
        <p:txBody>
          <a:bodyPr wrap="square" lIns="0" rIns="0" tIns="0" bIns="0" anchor="t">
            <a:spAutoFit/>
          </a:bodyPr>
          <a:lstStyle/>
          <a:p>
            <a:pPr algn="l"/>
            <a:r>
              <a:rPr sz="1650" b="1" i="0">
                <a:solidFill>
                  <a:srgbClr val="FFFFFF"/>
                </a:solidFill>
                <a:latin typeface="Calibri"/>
              </a:rPr>
              <a:t>The description is a prompt</a:t>
            </a:r>
          </a:p>
        </p:txBody>
      </p:sp>
      <p:sp>
        <p:nvSpPr>
          <p:cNvPr id="12" name="TextBox 11"/>
          <p:cNvSpPr txBox="1"/>
          <p:nvPr/>
        </p:nvSpPr>
        <p:spPr>
          <a:xfrm>
            <a:off x="1673352" y="3383280"/>
            <a:ext cx="9509760" cy="658368"/>
          </a:xfrm>
          <a:prstGeom prst="rect">
            <a:avLst/>
          </a:prstGeom>
          <a:noFill/>
        </p:spPr>
        <p:txBody>
          <a:bodyPr wrap="square" lIns="0" rIns="0" tIns="0" bIns="0" anchor="t">
            <a:spAutoFit/>
          </a:bodyPr>
          <a:lstStyle/>
          <a:p>
            <a:pPr algn="l">
              <a:lnSpc>
                <a:spcPct val="112000"/>
              </a:lnSpc>
            </a:pPr>
            <a:r>
              <a:rPr sz="1300" b="0" i="0">
                <a:solidFill>
                  <a:srgbClr val="8FA0B3"/>
                </a:solidFill>
                <a:latin typeface="Calibri"/>
              </a:rPr>
              <a:t>It's the only thing the LLM reads when deciding whether to call your function. Write it to say WHEN to use it, not just what it does. “Get the current time” is worse than “Get the current date and time in a given IANA timezone. Use this whenever the user asks what time it is.”</a:t>
            </a:r>
          </a:p>
        </p:txBody>
      </p:sp>
      <p:sp>
        <p:nvSpPr>
          <p:cNvPr id="13" name="Rounded Rectangle 12"/>
          <p:cNvSpPr/>
          <p:nvPr/>
        </p:nvSpPr>
        <p:spPr>
          <a:xfrm>
            <a:off x="685800" y="4279392"/>
            <a:ext cx="10820095" cy="1316736"/>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996696" y="4681728"/>
            <a:ext cx="457200" cy="457200"/>
          </a:xfrm>
          <a:prstGeom prst="ellipse">
            <a:avLst/>
          </a:prstGeom>
          <a:solidFill>
            <a:srgbClr val="2E2313"/>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96696" y="4773168"/>
            <a:ext cx="457200" cy="274320"/>
          </a:xfrm>
          <a:prstGeom prst="rect">
            <a:avLst/>
          </a:prstGeom>
          <a:noFill/>
        </p:spPr>
        <p:txBody>
          <a:bodyPr wrap="square" lIns="0" rIns="0" tIns="0" bIns="0" anchor="t">
            <a:spAutoFit/>
          </a:bodyPr>
          <a:lstStyle/>
          <a:p>
            <a:pPr algn="ctr"/>
            <a:r>
              <a:rPr sz="1400" b="1" i="0">
                <a:solidFill>
                  <a:srgbClr val="FFB454"/>
                </a:solidFill>
                <a:latin typeface="Calibri"/>
              </a:rPr>
              <a:t>3</a:t>
            </a:r>
          </a:p>
        </p:txBody>
      </p:sp>
      <p:sp>
        <p:nvSpPr>
          <p:cNvPr id="16" name="TextBox 15"/>
          <p:cNvSpPr txBox="1"/>
          <p:nvPr/>
        </p:nvSpPr>
        <p:spPr>
          <a:xfrm>
            <a:off x="1673352" y="4480559"/>
            <a:ext cx="9509760" cy="310896"/>
          </a:xfrm>
          <a:prstGeom prst="rect">
            <a:avLst/>
          </a:prstGeom>
          <a:noFill/>
        </p:spPr>
        <p:txBody>
          <a:bodyPr wrap="square" lIns="0" rIns="0" tIns="0" bIns="0" anchor="t">
            <a:spAutoFit/>
          </a:bodyPr>
          <a:lstStyle/>
          <a:p>
            <a:pPr algn="l"/>
            <a:r>
              <a:rPr sz="1650" b="1" i="0">
                <a:solidFill>
                  <a:srgbClr val="FFFFFF"/>
                </a:solidFill>
                <a:latin typeface="Calibri"/>
              </a:rPr>
              <a:t>Handlers run on the SDK's receive loop — the thread carrying audio</a:t>
            </a:r>
          </a:p>
        </p:txBody>
      </p:sp>
      <p:sp>
        <p:nvSpPr>
          <p:cNvPr id="17" name="TextBox 16"/>
          <p:cNvSpPr txBox="1"/>
          <p:nvPr/>
        </p:nvSpPr>
        <p:spPr>
          <a:xfrm>
            <a:off x="1673352" y="4864607"/>
            <a:ext cx="9509760" cy="658368"/>
          </a:xfrm>
          <a:prstGeom prst="rect">
            <a:avLst/>
          </a:prstGeom>
          <a:noFill/>
        </p:spPr>
        <p:txBody>
          <a:bodyPr wrap="square" lIns="0" rIns="0" tIns="0" bIns="0" anchor="t">
            <a:spAutoFit/>
          </a:bodyPr>
          <a:lstStyle/>
          <a:p>
            <a:pPr algn="l">
              <a:lnSpc>
                <a:spcPct val="112000"/>
              </a:lnSpc>
            </a:pPr>
            <a:r>
              <a:rPr sz="1300" b="0" i="0">
                <a:solidFill>
                  <a:srgbClr val="8FA0B3"/>
                </a:solidFill>
                <a:latin typeface="Calibri"/>
              </a:rPr>
              <a:t>A slow function stalls playback for the whole conversation. Keep handlers fast, or hand the work to a thread and reply when it finishes. This is a real production failure mode, not a workshop artifact.</a:t>
            </a:r>
          </a:p>
        </p:txBody>
      </p:sp>
      <p:sp>
        <p:nvSpPr>
          <p:cNvPr id="18" name="TextBox 17"/>
          <p:cNvSpPr txBox="1"/>
          <p:nvPr/>
        </p:nvSpPr>
        <p:spPr>
          <a:xfrm>
            <a:off x="685800" y="5870448"/>
            <a:ext cx="10820095" cy="457200"/>
          </a:xfrm>
          <a:prstGeom prst="rect">
            <a:avLst/>
          </a:prstGeom>
          <a:noFill/>
        </p:spPr>
        <p:txBody>
          <a:bodyPr wrap="square" lIns="0" rIns="0" tIns="0" bIns="0" anchor="t">
            <a:spAutoFit/>
          </a:bodyPr>
          <a:lstStyle/>
          <a:p>
            <a:pPr algn="l"/>
            <a:r>
              <a:rPr sz="1400" b="0" i="1">
                <a:solidFill>
                  <a:srgbClr val="13EF93"/>
                </a:solidFill>
                <a:latin typeface="Calibri"/>
              </a:rPr>
              <a:t>And one that isn't a trap so much as a habit: return a sentence, not a data structure. Whatever you return goes back to the LLM and comes out of the speaker.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Rounded Rectangle 1"/>
          <p:cNvSpPr/>
          <p:nvPr/>
        </p:nvSpPr>
        <p:spPr>
          <a:xfrm>
            <a:off x="685800" y="384048"/>
            <a:ext cx="941832" cy="292608"/>
          </a:xfrm>
          <a:prstGeom prst="roundRect">
            <a:avLst>
              <a:gd name="adj" fmla="val 50000"/>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04120C"/>
                </a:solidFill>
                <a:latin typeface="Calibri"/>
              </a:rPr>
              <a:t>STEP 8</a:t>
            </a:r>
          </a:p>
        </p:txBody>
      </p:sp>
      <p:sp>
        <p:nvSpPr>
          <p:cNvPr id="3" name="TextBox 2"/>
          <p:cNvSpPr txBox="1"/>
          <p:nvPr/>
        </p:nvSpPr>
        <p:spPr>
          <a:xfrm>
            <a:off x="1828800" y="402336"/>
            <a:ext cx="3108960" cy="274320"/>
          </a:xfrm>
          <a:prstGeom prst="rect">
            <a:avLst/>
          </a:prstGeom>
          <a:noFill/>
        </p:spPr>
        <p:txBody>
          <a:bodyPr wrap="square" lIns="0" rIns="0" tIns="0" bIns="0" anchor="t">
            <a:spAutoFit/>
          </a:bodyPr>
          <a:lstStyle/>
          <a:p>
            <a:pPr algn="l"/>
            <a:r>
              <a:rPr sz="1250" b="1" i="0">
                <a:solidFill>
                  <a:srgbClr val="8FA0B3"/>
                </a:solidFill>
                <a:latin typeface="Calibri"/>
              </a:rPr>
              <a:t>3:05  ·  15 min</a:t>
            </a:r>
          </a:p>
        </p:txBody>
      </p:sp>
      <p:sp>
        <p:nvSpPr>
          <p:cNvPr id="4" name="Rounded Rectangle 3"/>
          <p:cNvSpPr/>
          <p:nvPr/>
        </p:nvSpPr>
        <p:spPr>
          <a:xfrm>
            <a:off x="8652967" y="384048"/>
            <a:ext cx="2852928" cy="292608"/>
          </a:xfrm>
          <a:prstGeom prst="roundRect">
            <a:avLst>
              <a:gd name="adj" fmla="val 50000"/>
            </a:avLst>
          </a:prstGeom>
          <a:solidFill>
            <a:srgbClr val="070B10"/>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i="0">
                <a:solidFill>
                  <a:srgbClr val="FFB454"/>
                </a:solidFill>
                <a:latin typeface="Calibri"/>
              </a:rPr>
              <a:t>CUTTABLE — GOOD TAKE-HOME</a:t>
            </a:r>
          </a:p>
        </p:txBody>
      </p:sp>
      <p:sp>
        <p:nvSpPr>
          <p:cNvPr id="5" name="Rounded Rectangle 4"/>
          <p:cNvSpPr/>
          <p:nvPr/>
        </p:nvSpPr>
        <p:spPr>
          <a:xfrm>
            <a:off x="6505956" y="384048"/>
            <a:ext cx="2000707" cy="292608"/>
          </a:xfrm>
          <a:prstGeom prst="roundRect">
            <a:avLst>
              <a:gd name="adj" fmla="val 50000"/>
            </a:avLst>
          </a:prstGeom>
          <a:solidFill>
            <a:srgbClr val="070B10"/>
          </a:solidFill>
          <a:ln w="12700">
            <a:solidFill>
              <a:srgbClr val="2C3A4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i="0">
                <a:solidFill>
                  <a:srgbClr val="5D6E80"/>
                </a:solidFill>
                <a:latin typeface="Calibri"/>
              </a:rPr>
              <a:t>EASY MODE — LAB 3</a:t>
            </a:r>
          </a:p>
        </p:txBody>
      </p:sp>
      <p:sp>
        <p:nvSpPr>
          <p:cNvPr id="6" name="TextBox 5"/>
          <p:cNvSpPr txBox="1"/>
          <p:nvPr/>
        </p:nvSpPr>
        <p:spPr>
          <a:xfrm>
            <a:off x="685800" y="859536"/>
            <a:ext cx="10820095" cy="658368"/>
          </a:xfrm>
          <a:prstGeom prst="rect">
            <a:avLst/>
          </a:prstGeom>
          <a:noFill/>
        </p:spPr>
        <p:txBody>
          <a:bodyPr wrap="square" lIns="0" rIns="0" tIns="0" bIns="0" anchor="t">
            <a:spAutoFit/>
          </a:bodyPr>
          <a:lstStyle/>
          <a:p>
            <a:pPr algn="l"/>
            <a:r>
              <a:rPr sz="3600" b="1" i="0">
                <a:solidFill>
                  <a:srgbClr val="FFFFFF"/>
                </a:solidFill>
                <a:latin typeface="Calibri"/>
              </a:rPr>
              <a:t>Optimization</a:t>
            </a:r>
          </a:p>
        </p:txBody>
      </p:sp>
      <p:sp>
        <p:nvSpPr>
          <p:cNvPr id="7" name="TextBox 6"/>
          <p:cNvSpPr txBox="1"/>
          <p:nvPr/>
        </p:nvSpPr>
        <p:spPr>
          <a:xfrm>
            <a:off x="685800" y="1591056"/>
            <a:ext cx="10424160" cy="640080"/>
          </a:xfrm>
          <a:prstGeom prst="rect">
            <a:avLst/>
          </a:prstGeom>
          <a:noFill/>
        </p:spPr>
        <p:txBody>
          <a:bodyPr wrap="square" lIns="0" rIns="0" tIns="0" bIns="0" anchor="t">
            <a:spAutoFit/>
          </a:bodyPr>
          <a:lstStyle/>
          <a:p>
            <a:pPr algn="l">
              <a:lnSpc>
                <a:spcPct val="115000"/>
              </a:lnSpc>
            </a:pPr>
            <a:r>
              <a:rPr sz="1600" b="0" i="0">
                <a:solidFill>
                  <a:srgbClr val="8FA0B3"/>
                </a:solidFill>
                <a:latin typeface="Calibri"/>
              </a:rPr>
              <a:t>Your agent is finished. Everything from here is how it feels — and this is the step that decides whether people enjoy talking to what you built.</a:t>
            </a:r>
          </a:p>
        </p:txBody>
      </p:sp>
      <p:sp>
        <p:nvSpPr>
          <p:cNvPr id="8" name="Rounded Rectangle 7"/>
          <p:cNvSpPr/>
          <p:nvPr/>
        </p:nvSpPr>
        <p:spPr>
          <a:xfrm>
            <a:off x="685800" y="2231136"/>
            <a:ext cx="5394960" cy="1225296"/>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2414016"/>
            <a:ext cx="4846320" cy="310896"/>
          </a:xfrm>
          <a:prstGeom prst="rect">
            <a:avLst/>
          </a:prstGeom>
          <a:noFill/>
        </p:spPr>
        <p:txBody>
          <a:bodyPr wrap="square" lIns="0" rIns="0" tIns="0" bIns="0" anchor="t">
            <a:spAutoFit/>
          </a:bodyPr>
          <a:lstStyle/>
          <a:p>
            <a:pPr algn="l"/>
            <a:r>
              <a:rPr sz="1500" b="1" i="0">
                <a:solidFill>
                  <a:srgbClr val="13EF93"/>
                </a:solidFill>
                <a:latin typeface="Courier New"/>
              </a:rPr>
              <a:t>eot_threshold</a:t>
            </a:r>
          </a:p>
        </p:txBody>
      </p:sp>
      <p:sp>
        <p:nvSpPr>
          <p:cNvPr id="10" name="TextBox 9"/>
          <p:cNvSpPr txBox="1"/>
          <p:nvPr/>
        </p:nvSpPr>
        <p:spPr>
          <a:xfrm>
            <a:off x="960120" y="2761488"/>
            <a:ext cx="4846320" cy="603504"/>
          </a:xfrm>
          <a:prstGeom prst="rect">
            <a:avLst/>
          </a:prstGeom>
          <a:noFill/>
        </p:spPr>
        <p:txBody>
          <a:bodyPr wrap="square" lIns="0" rIns="0" tIns="0" bIns="0" anchor="t">
            <a:spAutoFit/>
          </a:bodyPr>
          <a:lstStyle/>
          <a:p>
            <a:pPr algn="l">
              <a:lnSpc>
                <a:spcPct val="110000"/>
              </a:lnSpc>
            </a:pPr>
            <a:r>
              <a:rPr sz="1250" b="0" i="0">
                <a:solidFill>
                  <a:srgbClr val="8FA0B3"/>
                </a:solidFill>
                <a:latin typeface="Calibri"/>
              </a:rPr>
              <a:t>0.5 – 0.9. How much confidence Flux needs before calling the turn over. Raise it and it stops interrupting people who pause to think.</a:t>
            </a:r>
          </a:p>
        </p:txBody>
      </p:sp>
      <p:sp>
        <p:nvSpPr>
          <p:cNvPr id="11" name="Rounded Rectangle 10"/>
          <p:cNvSpPr/>
          <p:nvPr/>
        </p:nvSpPr>
        <p:spPr>
          <a:xfrm>
            <a:off x="685800" y="3584448"/>
            <a:ext cx="5394960" cy="1225296"/>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0120" y="3767328"/>
            <a:ext cx="4846320" cy="310896"/>
          </a:xfrm>
          <a:prstGeom prst="rect">
            <a:avLst/>
          </a:prstGeom>
          <a:noFill/>
        </p:spPr>
        <p:txBody>
          <a:bodyPr wrap="square" lIns="0" rIns="0" tIns="0" bIns="0" anchor="t">
            <a:spAutoFit/>
          </a:bodyPr>
          <a:lstStyle/>
          <a:p>
            <a:pPr algn="l"/>
            <a:r>
              <a:rPr sz="1500" b="1" i="0">
                <a:solidFill>
                  <a:srgbClr val="13EF93"/>
                </a:solidFill>
                <a:latin typeface="Courier New"/>
              </a:rPr>
              <a:t>eot_timeout_ms</a:t>
            </a:r>
          </a:p>
        </p:txBody>
      </p:sp>
      <p:sp>
        <p:nvSpPr>
          <p:cNvPr id="13" name="TextBox 12"/>
          <p:cNvSpPr txBox="1"/>
          <p:nvPr/>
        </p:nvSpPr>
        <p:spPr>
          <a:xfrm>
            <a:off x="960120" y="4114800"/>
            <a:ext cx="4846320" cy="603504"/>
          </a:xfrm>
          <a:prstGeom prst="rect">
            <a:avLst/>
          </a:prstGeom>
          <a:noFill/>
        </p:spPr>
        <p:txBody>
          <a:bodyPr wrap="square" lIns="0" rIns="0" tIns="0" bIns="0" anchor="t">
            <a:spAutoFit/>
          </a:bodyPr>
          <a:lstStyle/>
          <a:p>
            <a:pPr algn="l">
              <a:lnSpc>
                <a:spcPct val="110000"/>
              </a:lnSpc>
            </a:pPr>
            <a:r>
              <a:rPr sz="1250" b="0" i="0">
                <a:solidFill>
                  <a:srgbClr val="8FA0B3"/>
                </a:solidFill>
                <a:latin typeface="Calibri"/>
              </a:rPr>
              <a:t>500 – 60000. The hard ceiling: end the turn after this much silence regardless of the score. Catches someone trailing off.</a:t>
            </a:r>
          </a:p>
        </p:txBody>
      </p:sp>
      <p:sp>
        <p:nvSpPr>
          <p:cNvPr id="14" name="Rounded Rectangle 13"/>
          <p:cNvSpPr/>
          <p:nvPr/>
        </p:nvSpPr>
        <p:spPr>
          <a:xfrm>
            <a:off x="6400800" y="2231136"/>
            <a:ext cx="5102352" cy="2578608"/>
          </a:xfrm>
          <a:prstGeom prst="roundRect">
            <a:avLst>
              <a:gd name="adj" fmla="val 6000"/>
            </a:avLst>
          </a:prstGeom>
          <a:solidFill>
            <a:srgbClr val="1C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693408" y="2468880"/>
            <a:ext cx="4526280" cy="2103120"/>
          </a:xfrm>
          <a:prstGeom prst="rect">
            <a:avLst/>
          </a:prstGeom>
          <a:noFill/>
        </p:spPr>
        <p:txBody>
          <a:bodyPr wrap="square" lIns="0" rIns="0" tIns="0" bIns="0" anchor="t">
            <a:spAutoFit/>
          </a:bodyPr>
          <a:lstStyle/>
          <a:p>
            <a:pPr algn="l">
              <a:spcAft>
                <a:spcPts val="800"/>
              </a:spcAft>
            </a:pPr>
            <a:r>
              <a:rPr sz="1900" b="1" i="0">
                <a:solidFill>
                  <a:srgbClr val="FFB454"/>
                </a:solidFill>
                <a:latin typeface="Calibri"/>
              </a:rPr>
              <a:t>An unwinnable trade</a:t>
            </a:r>
          </a:p>
          <a:p>
            <a:pPr algn="l">
              <a:lnSpc>
                <a:spcPct val="114000"/>
              </a:lnSpc>
              <a:spcAft>
                <a:spcPts val="1000"/>
              </a:spcAft>
            </a:pPr>
            <a:r>
              <a:rPr sz="1400" b="0" i="0">
                <a:solidFill>
                  <a:srgbClr val="D8E0EA"/>
                </a:solidFill>
                <a:latin typeface="Calibri"/>
              </a:rPr>
              <a:t>End the turn too early and you cut people off mid-thought. End it too late and every exchange has a dead pause in it.</a:t>
            </a:r>
          </a:p>
          <a:p>
            <a:pPr algn="l">
              <a:lnSpc>
                <a:spcPct val="114000"/>
              </a:lnSpc>
            </a:pPr>
            <a:r>
              <a:rPr sz="1400" b="0" i="0">
                <a:solidFill>
                  <a:srgbClr val="8FA0B3"/>
                </a:solidFill>
                <a:latin typeface="Calibri"/>
              </a:rPr>
              <a:t>No setting avoids both. The only question is which one fits your use case — and that is a product decision, not a tuning problem.</a:t>
            </a:r>
          </a:p>
        </p:txBody>
      </p:sp>
      <p:sp>
        <p:nvSpPr>
          <p:cNvPr id="16" name="Rounded Rectangle 15"/>
          <p:cNvSpPr/>
          <p:nvPr/>
        </p:nvSpPr>
        <p:spPr>
          <a:xfrm>
            <a:off x="685800" y="4974336"/>
            <a:ext cx="10820095" cy="786384"/>
          </a:xfrm>
          <a:prstGeom prst="roundRect">
            <a:avLst>
              <a:gd name="adj" fmla="val 5000"/>
            </a:avLst>
          </a:prstGeom>
          <a:solidFill>
            <a:srgbClr val="0C13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41832" y="5175504"/>
            <a:ext cx="10362895" cy="448056"/>
          </a:xfrm>
          <a:prstGeom prst="rect">
            <a:avLst/>
          </a:prstGeom>
          <a:noFill/>
        </p:spPr>
        <p:txBody>
          <a:bodyPr wrap="square" lIns="0" rIns="0" tIns="0" bIns="0" anchor="t">
            <a:spAutoFit/>
          </a:bodyPr>
          <a:lstStyle/>
          <a:p>
            <a:pPr algn="l">
              <a:lnSpc>
                <a:spcPct val="100000"/>
              </a:lnSpc>
              <a:spcAft>
                <a:spcPts val="300"/>
              </a:spcAft>
            </a:pPr>
            <a:r>
              <a:rPr sz="1150" b="0" i="0">
                <a:solidFill>
                  <a:srgbClr val="13EF93"/>
                </a:solidFill>
                <a:latin typeface="Courier New"/>
              </a:rPr>
              <a:t>TODO 8.1  ·  uncomment the LatencyReport branch — total_latency is end-of-utterance to first audio byte, and the only honest measure of a change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85800" y="566928"/>
            <a:ext cx="10820095" cy="658368"/>
          </a:xfrm>
          <a:prstGeom prst="rect">
            <a:avLst/>
          </a:prstGeom>
          <a:noFill/>
        </p:spPr>
        <p:txBody>
          <a:bodyPr wrap="square" lIns="0" rIns="0" tIns="0" bIns="0" anchor="t">
            <a:spAutoFit/>
          </a:bodyPr>
          <a:lstStyle/>
          <a:p>
            <a:pPr algn="l"/>
            <a:r>
              <a:rPr sz="3600" b="1" i="0">
                <a:solidFill>
                  <a:srgbClr val="FFFFFF"/>
                </a:solidFill>
                <a:latin typeface="Calibri"/>
              </a:rPr>
              <a:t>Find your setting</a:t>
            </a:r>
          </a:p>
        </p:txBody>
      </p:sp>
      <p:sp>
        <p:nvSpPr>
          <p:cNvPr id="3" name="TextBox 2"/>
          <p:cNvSpPr txBox="1"/>
          <p:nvPr/>
        </p:nvSpPr>
        <p:spPr>
          <a:xfrm>
            <a:off x="685800" y="1280160"/>
            <a:ext cx="10424160" cy="640080"/>
          </a:xfrm>
          <a:prstGeom prst="rect">
            <a:avLst/>
          </a:prstGeom>
          <a:noFill/>
        </p:spPr>
        <p:txBody>
          <a:bodyPr wrap="square" lIns="0" rIns="0" tIns="0" bIns="0" anchor="t">
            <a:spAutoFit/>
          </a:bodyPr>
          <a:lstStyle/>
          <a:p>
            <a:pPr algn="l">
              <a:lnSpc>
                <a:spcPct val="115000"/>
              </a:lnSpc>
            </a:pPr>
            <a:r>
              <a:rPr sz="1600" b="0" i="0">
                <a:solidFill>
                  <a:srgbClr val="8FA0B3"/>
                </a:solidFill>
                <a:latin typeface="Calibri"/>
              </a:rPr>
              <a:t>Run it four times, holding the same short conversation, and watch the latency line alongside.</a:t>
            </a:r>
          </a:p>
        </p:txBody>
      </p:sp>
      <p:sp>
        <p:nvSpPr>
          <p:cNvPr id="4" name="TextBox 3"/>
          <p:cNvSpPr txBox="1"/>
          <p:nvPr/>
        </p:nvSpPr>
        <p:spPr>
          <a:xfrm>
            <a:off x="960120" y="1975104"/>
            <a:ext cx="1828800" cy="274320"/>
          </a:xfrm>
          <a:prstGeom prst="rect">
            <a:avLst/>
          </a:prstGeom>
          <a:noFill/>
        </p:spPr>
        <p:txBody>
          <a:bodyPr wrap="square" lIns="0" rIns="0" tIns="0" bIns="0" anchor="t">
            <a:spAutoFit/>
          </a:bodyPr>
          <a:lstStyle/>
          <a:p>
            <a:pPr algn="l"/>
            <a:r>
              <a:rPr sz="1050" b="1" i="0">
                <a:solidFill>
                  <a:srgbClr val="5D6E80"/>
                </a:solidFill>
                <a:latin typeface="Calibri"/>
              </a:rPr>
              <a:t>EOT_THRESHOLD</a:t>
            </a:r>
          </a:p>
        </p:txBody>
      </p:sp>
      <p:sp>
        <p:nvSpPr>
          <p:cNvPr id="5" name="TextBox 4"/>
          <p:cNvSpPr txBox="1"/>
          <p:nvPr/>
        </p:nvSpPr>
        <p:spPr>
          <a:xfrm>
            <a:off x="2971800" y="1975104"/>
            <a:ext cx="2011680" cy="274320"/>
          </a:xfrm>
          <a:prstGeom prst="rect">
            <a:avLst/>
          </a:prstGeom>
          <a:noFill/>
        </p:spPr>
        <p:txBody>
          <a:bodyPr wrap="square" lIns="0" rIns="0" tIns="0" bIns="0" anchor="t">
            <a:spAutoFit/>
          </a:bodyPr>
          <a:lstStyle/>
          <a:p>
            <a:pPr algn="l"/>
            <a:r>
              <a:rPr sz="1050" b="1" i="0">
                <a:solidFill>
                  <a:srgbClr val="5D6E80"/>
                </a:solidFill>
                <a:latin typeface="Calibri"/>
              </a:rPr>
              <a:t>EOT_TIMEOUT_MS</a:t>
            </a:r>
          </a:p>
        </p:txBody>
      </p:sp>
      <p:sp>
        <p:nvSpPr>
          <p:cNvPr id="6" name="TextBox 5"/>
          <p:cNvSpPr txBox="1"/>
          <p:nvPr/>
        </p:nvSpPr>
        <p:spPr>
          <a:xfrm>
            <a:off x="5257800" y="1975104"/>
            <a:ext cx="5852160" cy="274320"/>
          </a:xfrm>
          <a:prstGeom prst="rect">
            <a:avLst/>
          </a:prstGeom>
          <a:noFill/>
        </p:spPr>
        <p:txBody>
          <a:bodyPr wrap="square" lIns="0" rIns="0" tIns="0" bIns="0" anchor="t">
            <a:spAutoFit/>
          </a:bodyPr>
          <a:lstStyle/>
          <a:p>
            <a:pPr algn="l"/>
            <a:r>
              <a:rPr sz="1050" b="1" i="0">
                <a:solidFill>
                  <a:srgbClr val="5D6E80"/>
                </a:solidFill>
                <a:latin typeface="Calibri"/>
              </a:rPr>
              <a:t>WHAT TO LISTEN FOR</a:t>
            </a:r>
          </a:p>
        </p:txBody>
      </p:sp>
      <p:sp>
        <p:nvSpPr>
          <p:cNvPr id="7" name="Rounded Rectangle 6"/>
          <p:cNvSpPr/>
          <p:nvPr/>
        </p:nvSpPr>
        <p:spPr>
          <a:xfrm>
            <a:off x="685800" y="2340864"/>
            <a:ext cx="10820095" cy="56692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60120" y="2496312"/>
            <a:ext cx="1828800" cy="274320"/>
          </a:xfrm>
          <a:prstGeom prst="rect">
            <a:avLst/>
          </a:prstGeom>
          <a:noFill/>
        </p:spPr>
        <p:txBody>
          <a:bodyPr wrap="square" lIns="0" rIns="0" tIns="0" bIns="0" anchor="t">
            <a:spAutoFit/>
          </a:bodyPr>
          <a:lstStyle/>
          <a:p>
            <a:pPr algn="l"/>
            <a:r>
              <a:rPr sz="1400" b="1" i="0">
                <a:solidFill>
                  <a:srgbClr val="FFFFFF"/>
                </a:solidFill>
                <a:latin typeface="Courier New"/>
              </a:rPr>
              <a:t>0.5</a:t>
            </a:r>
          </a:p>
        </p:txBody>
      </p:sp>
      <p:sp>
        <p:nvSpPr>
          <p:cNvPr id="9" name="TextBox 8"/>
          <p:cNvSpPr txBox="1"/>
          <p:nvPr/>
        </p:nvSpPr>
        <p:spPr>
          <a:xfrm>
            <a:off x="2971800" y="2496312"/>
            <a:ext cx="2011680" cy="274320"/>
          </a:xfrm>
          <a:prstGeom prst="rect">
            <a:avLst/>
          </a:prstGeom>
          <a:noFill/>
        </p:spPr>
        <p:txBody>
          <a:bodyPr wrap="square" lIns="0" rIns="0" tIns="0" bIns="0" anchor="t">
            <a:spAutoFit/>
          </a:bodyPr>
          <a:lstStyle/>
          <a:p>
            <a:pPr algn="l"/>
            <a:r>
              <a:rPr sz="1400" b="1" i="0">
                <a:solidFill>
                  <a:srgbClr val="FFFFFF"/>
                </a:solidFill>
                <a:latin typeface="Courier New"/>
              </a:rPr>
              <a:t>5000</a:t>
            </a:r>
          </a:p>
        </p:txBody>
      </p:sp>
      <p:sp>
        <p:nvSpPr>
          <p:cNvPr id="10" name="TextBox 9"/>
          <p:cNvSpPr txBox="1"/>
          <p:nvPr/>
        </p:nvSpPr>
        <p:spPr>
          <a:xfrm>
            <a:off x="5257800" y="2514600"/>
            <a:ext cx="5852160" cy="274320"/>
          </a:xfrm>
          <a:prstGeom prst="rect">
            <a:avLst/>
          </a:prstGeom>
          <a:noFill/>
        </p:spPr>
        <p:txBody>
          <a:bodyPr wrap="square" lIns="0" rIns="0" tIns="0" bIns="0" anchor="t">
            <a:spAutoFit/>
          </a:bodyPr>
          <a:lstStyle/>
          <a:p>
            <a:pPr algn="l"/>
            <a:r>
              <a:rPr sz="1350" b="0" i="0">
                <a:solidFill>
                  <a:srgbClr val="D8E0EA"/>
                </a:solidFill>
                <a:latin typeface="Calibri"/>
              </a:rPr>
              <a:t>Snappy, and it interrupts you when you pause</a:t>
            </a:r>
          </a:p>
        </p:txBody>
      </p:sp>
      <p:sp>
        <p:nvSpPr>
          <p:cNvPr id="11" name="Rounded Rectangle 10"/>
          <p:cNvSpPr/>
          <p:nvPr/>
        </p:nvSpPr>
        <p:spPr>
          <a:xfrm>
            <a:off x="685800" y="3017520"/>
            <a:ext cx="10820095" cy="56692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0120" y="3172968"/>
            <a:ext cx="1828800" cy="274320"/>
          </a:xfrm>
          <a:prstGeom prst="rect">
            <a:avLst/>
          </a:prstGeom>
          <a:noFill/>
        </p:spPr>
        <p:txBody>
          <a:bodyPr wrap="square" lIns="0" rIns="0" tIns="0" bIns="0" anchor="t">
            <a:spAutoFit/>
          </a:bodyPr>
          <a:lstStyle/>
          <a:p>
            <a:pPr algn="l"/>
            <a:r>
              <a:rPr sz="1400" b="1" i="0">
                <a:solidFill>
                  <a:srgbClr val="FFFFFF"/>
                </a:solidFill>
                <a:latin typeface="Courier New"/>
              </a:rPr>
              <a:t>0.9</a:t>
            </a:r>
          </a:p>
        </p:txBody>
      </p:sp>
      <p:sp>
        <p:nvSpPr>
          <p:cNvPr id="13" name="TextBox 12"/>
          <p:cNvSpPr txBox="1"/>
          <p:nvPr/>
        </p:nvSpPr>
        <p:spPr>
          <a:xfrm>
            <a:off x="2971800" y="3172968"/>
            <a:ext cx="2011680" cy="274320"/>
          </a:xfrm>
          <a:prstGeom prst="rect">
            <a:avLst/>
          </a:prstGeom>
          <a:noFill/>
        </p:spPr>
        <p:txBody>
          <a:bodyPr wrap="square" lIns="0" rIns="0" tIns="0" bIns="0" anchor="t">
            <a:spAutoFit/>
          </a:bodyPr>
          <a:lstStyle/>
          <a:p>
            <a:pPr algn="l"/>
            <a:r>
              <a:rPr sz="1400" b="1" i="0">
                <a:solidFill>
                  <a:srgbClr val="FFFFFF"/>
                </a:solidFill>
                <a:latin typeface="Courier New"/>
              </a:rPr>
              <a:t>5000</a:t>
            </a:r>
          </a:p>
        </p:txBody>
      </p:sp>
      <p:sp>
        <p:nvSpPr>
          <p:cNvPr id="14" name="TextBox 13"/>
          <p:cNvSpPr txBox="1"/>
          <p:nvPr/>
        </p:nvSpPr>
        <p:spPr>
          <a:xfrm>
            <a:off x="5257800" y="3191256"/>
            <a:ext cx="5852160" cy="274320"/>
          </a:xfrm>
          <a:prstGeom prst="rect">
            <a:avLst/>
          </a:prstGeom>
          <a:noFill/>
        </p:spPr>
        <p:txBody>
          <a:bodyPr wrap="square" lIns="0" rIns="0" tIns="0" bIns="0" anchor="t">
            <a:spAutoFit/>
          </a:bodyPr>
          <a:lstStyle/>
          <a:p>
            <a:pPr algn="l"/>
            <a:r>
              <a:rPr sz="1350" b="0" i="0">
                <a:solidFill>
                  <a:srgbClr val="D8E0EA"/>
                </a:solidFill>
                <a:latin typeface="Calibri"/>
              </a:rPr>
              <a:t>Patient to the point of feeling slow</a:t>
            </a:r>
          </a:p>
        </p:txBody>
      </p:sp>
      <p:sp>
        <p:nvSpPr>
          <p:cNvPr id="15" name="Rounded Rectangle 14"/>
          <p:cNvSpPr/>
          <p:nvPr/>
        </p:nvSpPr>
        <p:spPr>
          <a:xfrm>
            <a:off x="685800" y="3694176"/>
            <a:ext cx="10820095" cy="56692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60120" y="3849624"/>
            <a:ext cx="1828800" cy="274320"/>
          </a:xfrm>
          <a:prstGeom prst="rect">
            <a:avLst/>
          </a:prstGeom>
          <a:noFill/>
        </p:spPr>
        <p:txBody>
          <a:bodyPr wrap="square" lIns="0" rIns="0" tIns="0" bIns="0" anchor="t">
            <a:spAutoFit/>
          </a:bodyPr>
          <a:lstStyle/>
          <a:p>
            <a:pPr algn="l"/>
            <a:r>
              <a:rPr sz="1400" b="1" i="0">
                <a:solidFill>
                  <a:srgbClr val="FFFFFF"/>
                </a:solidFill>
                <a:latin typeface="Courier New"/>
              </a:rPr>
              <a:t>0.7</a:t>
            </a:r>
          </a:p>
        </p:txBody>
      </p:sp>
      <p:sp>
        <p:nvSpPr>
          <p:cNvPr id="17" name="TextBox 16"/>
          <p:cNvSpPr txBox="1"/>
          <p:nvPr/>
        </p:nvSpPr>
        <p:spPr>
          <a:xfrm>
            <a:off x="2971800" y="3849624"/>
            <a:ext cx="2011680" cy="274320"/>
          </a:xfrm>
          <a:prstGeom prst="rect">
            <a:avLst/>
          </a:prstGeom>
          <a:noFill/>
        </p:spPr>
        <p:txBody>
          <a:bodyPr wrap="square" lIns="0" rIns="0" tIns="0" bIns="0" anchor="t">
            <a:spAutoFit/>
          </a:bodyPr>
          <a:lstStyle/>
          <a:p>
            <a:pPr algn="l"/>
            <a:r>
              <a:rPr sz="1400" b="1" i="0">
                <a:solidFill>
                  <a:srgbClr val="FFFFFF"/>
                </a:solidFill>
                <a:latin typeface="Courier New"/>
              </a:rPr>
              <a:t>500</a:t>
            </a:r>
          </a:p>
        </p:txBody>
      </p:sp>
      <p:sp>
        <p:nvSpPr>
          <p:cNvPr id="18" name="TextBox 17"/>
          <p:cNvSpPr txBox="1"/>
          <p:nvPr/>
        </p:nvSpPr>
        <p:spPr>
          <a:xfrm>
            <a:off x="5257800" y="3867912"/>
            <a:ext cx="5852160" cy="274320"/>
          </a:xfrm>
          <a:prstGeom prst="rect">
            <a:avLst/>
          </a:prstGeom>
          <a:noFill/>
        </p:spPr>
        <p:txBody>
          <a:bodyPr wrap="square" lIns="0" rIns="0" tIns="0" bIns="0" anchor="t">
            <a:spAutoFit/>
          </a:bodyPr>
          <a:lstStyle/>
          <a:p>
            <a:pPr algn="l"/>
            <a:r>
              <a:rPr sz="1350" b="0" i="0">
                <a:solidFill>
                  <a:srgbClr val="D8E0EA"/>
                </a:solidFill>
                <a:latin typeface="Calibri"/>
              </a:rPr>
              <a:t>Cuts you off on any real pause</a:t>
            </a:r>
          </a:p>
        </p:txBody>
      </p:sp>
      <p:sp>
        <p:nvSpPr>
          <p:cNvPr id="19" name="Rounded Rectangle 18"/>
          <p:cNvSpPr/>
          <p:nvPr/>
        </p:nvSpPr>
        <p:spPr>
          <a:xfrm>
            <a:off x="685800" y="4370831"/>
            <a:ext cx="10820095" cy="566928"/>
          </a:xfrm>
          <a:prstGeom prst="roundRect">
            <a:avLst>
              <a:gd name="adj" fmla="val 6000"/>
            </a:avLst>
          </a:prstGeom>
          <a:solidFill>
            <a:srgbClr val="0A2A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60120" y="4526279"/>
            <a:ext cx="1828800" cy="274320"/>
          </a:xfrm>
          <a:prstGeom prst="rect">
            <a:avLst/>
          </a:prstGeom>
          <a:noFill/>
        </p:spPr>
        <p:txBody>
          <a:bodyPr wrap="square" lIns="0" rIns="0" tIns="0" bIns="0" anchor="t">
            <a:spAutoFit/>
          </a:bodyPr>
          <a:lstStyle/>
          <a:p>
            <a:pPr algn="l"/>
            <a:r>
              <a:rPr sz="1400" b="1" i="0">
                <a:solidFill>
                  <a:srgbClr val="13EF93"/>
                </a:solidFill>
                <a:latin typeface="Courier New"/>
              </a:rPr>
              <a:t>0.7</a:t>
            </a:r>
          </a:p>
        </p:txBody>
      </p:sp>
      <p:sp>
        <p:nvSpPr>
          <p:cNvPr id="21" name="TextBox 20"/>
          <p:cNvSpPr txBox="1"/>
          <p:nvPr/>
        </p:nvSpPr>
        <p:spPr>
          <a:xfrm>
            <a:off x="2971800" y="4526279"/>
            <a:ext cx="2011680" cy="274320"/>
          </a:xfrm>
          <a:prstGeom prst="rect">
            <a:avLst/>
          </a:prstGeom>
          <a:noFill/>
        </p:spPr>
        <p:txBody>
          <a:bodyPr wrap="square" lIns="0" rIns="0" tIns="0" bIns="0" anchor="t">
            <a:spAutoFit/>
          </a:bodyPr>
          <a:lstStyle/>
          <a:p>
            <a:pPr algn="l"/>
            <a:r>
              <a:rPr sz="1400" b="1" i="0">
                <a:solidFill>
                  <a:srgbClr val="13EF93"/>
                </a:solidFill>
                <a:latin typeface="Courier New"/>
              </a:rPr>
              <a:t>5000</a:t>
            </a:r>
          </a:p>
        </p:txBody>
      </p:sp>
      <p:sp>
        <p:nvSpPr>
          <p:cNvPr id="22" name="TextBox 21"/>
          <p:cNvSpPr txBox="1"/>
          <p:nvPr/>
        </p:nvSpPr>
        <p:spPr>
          <a:xfrm>
            <a:off x="5257800" y="4544568"/>
            <a:ext cx="5852160" cy="274320"/>
          </a:xfrm>
          <a:prstGeom prst="rect">
            <a:avLst/>
          </a:prstGeom>
          <a:noFill/>
        </p:spPr>
        <p:txBody>
          <a:bodyPr wrap="square" lIns="0" rIns="0" tIns="0" bIns="0" anchor="t">
            <a:spAutoFit/>
          </a:bodyPr>
          <a:lstStyle/>
          <a:p>
            <a:pPr algn="l"/>
            <a:r>
              <a:rPr sz="1350" b="0" i="0">
                <a:solidFill>
                  <a:srgbClr val="D8E0EA"/>
                </a:solidFill>
                <a:latin typeface="Calibri"/>
              </a:rPr>
              <a:t>Where you started — the balance you've used all workshop</a:t>
            </a:r>
          </a:p>
        </p:txBody>
      </p:sp>
      <p:sp>
        <p:nvSpPr>
          <p:cNvPr id="23" name="Rounded Rectangle 22"/>
          <p:cNvSpPr/>
          <p:nvPr/>
        </p:nvSpPr>
        <p:spPr>
          <a:xfrm>
            <a:off x="685800" y="5193792"/>
            <a:ext cx="10820095" cy="914400"/>
          </a:xfrm>
          <a:prstGeom prst="roundRect">
            <a:avLst>
              <a:gd name="adj" fmla="val 6000"/>
            </a:avLst>
          </a:prstGeom>
          <a:solidFill>
            <a:srgbClr val="1C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69848" y="5394960"/>
            <a:ext cx="10241280" cy="548640"/>
          </a:xfrm>
          <a:prstGeom prst="rect">
            <a:avLst/>
          </a:prstGeom>
          <a:noFill/>
        </p:spPr>
        <p:txBody>
          <a:bodyPr wrap="square" lIns="0" rIns="0" tIns="0" bIns="0" anchor="t">
            <a:spAutoFit/>
          </a:bodyPr>
          <a:lstStyle/>
          <a:p>
            <a:pPr algn="l"/>
            <a:r>
              <a:rPr sz="1500" b="0" i="0">
                <a:solidFill>
                  <a:srgbClr val="D8E0EA"/>
                </a:solidFill>
                <a:latin typeface="Calibri"/>
              </a:rPr>
              <a:t>There is no correct answer. A drive-through order taker wants low thresholds and fast turns. A therapy intake bot wants high thresholds and long silences.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4070A"/>
        </a:solidFill>
        <a:effectLst/>
      </p:bgPr>
    </p:bg>
    <p:spTree>
      <p:nvGrpSpPr>
        <p:cNvPr id="1" name=""/>
        <p:cNvGrpSpPr/>
        <p:nvPr/>
      </p:nvGrpSpPr>
      <p:grpSpPr/>
      <p:sp>
        <p:nvSpPr>
          <p:cNvPr id="2" name="TextBox 1"/>
          <p:cNvSpPr txBox="1"/>
          <p:nvPr/>
        </p:nvSpPr>
        <p:spPr>
          <a:xfrm>
            <a:off x="7985455" y="502920"/>
            <a:ext cx="3749039" cy="3108960"/>
          </a:xfrm>
          <a:prstGeom prst="rect">
            <a:avLst/>
          </a:prstGeom>
          <a:noFill/>
        </p:spPr>
        <p:txBody>
          <a:bodyPr wrap="square" lIns="0" rIns="0" tIns="0" bIns="0" anchor="t">
            <a:spAutoFit/>
          </a:bodyPr>
          <a:lstStyle/>
          <a:p>
            <a:pPr algn="r"/>
            <a:r>
              <a:rPr sz="22000" b="1" i="0">
                <a:solidFill>
                  <a:srgbClr val="0C1A15"/>
                </a:solidFill>
                <a:latin typeface="Calibri"/>
              </a:rPr>
              <a:t>04</a:t>
            </a:r>
          </a:p>
        </p:txBody>
      </p:sp>
      <p:sp>
        <p:nvSpPr>
          <p:cNvPr id="3" name="Rectangle 2"/>
          <p:cNvSpPr/>
          <p:nvPr/>
        </p:nvSpPr>
        <p:spPr>
          <a:xfrm>
            <a:off x="685800" y="2798064"/>
            <a:ext cx="822960" cy="45720"/>
          </a:xfrm>
          <a:prstGeom prst="rect">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685800" y="2148840"/>
            <a:ext cx="7315200" cy="365760"/>
          </a:xfrm>
          <a:prstGeom prst="rect">
            <a:avLst/>
          </a:prstGeom>
          <a:noFill/>
        </p:spPr>
        <p:txBody>
          <a:bodyPr wrap="square" lIns="0" rIns="0" tIns="0" bIns="0" anchor="t">
            <a:spAutoFit/>
          </a:bodyPr>
          <a:lstStyle/>
          <a:p>
            <a:pPr algn="l"/>
            <a:r>
              <a:rPr sz="1250" b="1" i="0">
                <a:solidFill>
                  <a:srgbClr val="13EF93"/>
                </a:solidFill>
                <a:latin typeface="Calibri"/>
              </a:rPr>
              <a:t>SECTION 04</a:t>
            </a:r>
          </a:p>
        </p:txBody>
      </p:sp>
      <p:sp>
        <p:nvSpPr>
          <p:cNvPr id="5" name="TextBox 4"/>
          <p:cNvSpPr txBox="1"/>
          <p:nvPr/>
        </p:nvSpPr>
        <p:spPr>
          <a:xfrm>
            <a:off x="685800" y="3035808"/>
            <a:ext cx="8595360" cy="914400"/>
          </a:xfrm>
          <a:prstGeom prst="rect">
            <a:avLst/>
          </a:prstGeom>
          <a:noFill/>
        </p:spPr>
        <p:txBody>
          <a:bodyPr wrap="square" lIns="0" rIns="0" tIns="0" bIns="0" anchor="t">
            <a:spAutoFit/>
          </a:bodyPr>
          <a:lstStyle/>
          <a:p>
            <a:pPr algn="l"/>
            <a:r>
              <a:rPr sz="5200" b="1" i="0">
                <a:solidFill>
                  <a:srgbClr val="FFFFFF"/>
                </a:solidFill>
                <a:latin typeface="Calibri"/>
              </a:rPr>
              <a:t>Wrap</a:t>
            </a:r>
          </a:p>
        </p:txBody>
      </p:sp>
      <p:sp>
        <p:nvSpPr>
          <p:cNvPr id="6" name="TextBox 5"/>
          <p:cNvSpPr txBox="1"/>
          <p:nvPr/>
        </p:nvSpPr>
        <p:spPr>
          <a:xfrm>
            <a:off x="685800" y="4096512"/>
            <a:ext cx="7863840" cy="822960"/>
          </a:xfrm>
          <a:prstGeom prst="rect">
            <a:avLst/>
          </a:prstGeom>
          <a:noFill/>
        </p:spPr>
        <p:txBody>
          <a:bodyPr wrap="square" lIns="0" rIns="0" tIns="0" bIns="0" anchor="t">
            <a:spAutoFit/>
          </a:bodyPr>
          <a:lstStyle/>
          <a:p>
            <a:pPr algn="l">
              <a:lnSpc>
                <a:spcPct val="120000"/>
              </a:lnSpc>
            </a:pPr>
            <a:r>
              <a:rPr sz="1700" b="0" i="0">
                <a:solidFill>
                  <a:srgbClr val="8FA0B3"/>
                </a:solidFill>
                <a:latin typeface="Calibri"/>
              </a:rPr>
              <a:t>What they built, what to try next, and where to ask questions when the room empties out.</a:t>
            </a:r>
          </a:p>
        </p:txBody>
      </p:sp>
      <p:sp>
        <p:nvSpPr>
          <p:cNvPr id="7" name="TextBox 6"/>
          <p:cNvSpPr txBox="1"/>
          <p:nvPr/>
        </p:nvSpPr>
        <p:spPr>
          <a:xfrm>
            <a:off x="685800" y="5138928"/>
            <a:ext cx="7863840" cy="365760"/>
          </a:xfrm>
          <a:prstGeom prst="rect">
            <a:avLst/>
          </a:prstGeom>
          <a:noFill/>
        </p:spPr>
        <p:txBody>
          <a:bodyPr wrap="square" lIns="0" rIns="0" tIns="0" bIns="0" anchor="t">
            <a:spAutoFit/>
          </a:bodyPr>
          <a:lstStyle/>
          <a:p>
            <a:pPr algn="l"/>
            <a:r>
              <a:rPr sz="1300" b="0" i="0">
                <a:solidFill>
                  <a:srgbClr val="5D6E80"/>
                </a:solidFill>
                <a:latin typeface="Courier New"/>
              </a:rPr>
              <a:t>3:20  ·  keep it short, leave room for questions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85800" y="566928"/>
            <a:ext cx="10820095" cy="658368"/>
          </a:xfrm>
          <a:prstGeom prst="rect">
            <a:avLst/>
          </a:prstGeom>
          <a:noFill/>
        </p:spPr>
        <p:txBody>
          <a:bodyPr wrap="square" lIns="0" rIns="0" tIns="0" bIns="0" anchor="t">
            <a:spAutoFit/>
          </a:bodyPr>
          <a:lstStyle/>
          <a:p>
            <a:pPr algn="l"/>
            <a:r>
              <a:rPr sz="3600" b="1" i="0">
                <a:solidFill>
                  <a:srgbClr val="FFFFFF"/>
                </a:solidFill>
                <a:latin typeface="Calibri"/>
              </a:rPr>
              <a:t>What you built</a:t>
            </a:r>
          </a:p>
        </p:txBody>
      </p:sp>
      <p:sp>
        <p:nvSpPr>
          <p:cNvPr id="3" name="TextBox 2"/>
          <p:cNvSpPr txBox="1"/>
          <p:nvPr/>
        </p:nvSpPr>
        <p:spPr>
          <a:xfrm>
            <a:off x="685800" y="1280160"/>
            <a:ext cx="10820095" cy="640080"/>
          </a:xfrm>
          <a:prstGeom prst="rect">
            <a:avLst/>
          </a:prstGeom>
          <a:noFill/>
        </p:spPr>
        <p:txBody>
          <a:bodyPr wrap="square" lIns="0" rIns="0" tIns="0" bIns="0" anchor="t">
            <a:spAutoFit/>
          </a:bodyPr>
          <a:lstStyle/>
          <a:p>
            <a:pPr algn="l">
              <a:lnSpc>
                <a:spcPct val="115000"/>
              </a:lnSpc>
            </a:pPr>
            <a:r>
              <a:rPr sz="1600" b="0" i="0">
                <a:solidFill>
                  <a:srgbClr val="8FA0B3"/>
                </a:solidFill>
                <a:latin typeface="Calibri"/>
              </a:rPr>
              <a:t>Roughly 350 lines, most of them comments.</a:t>
            </a:r>
          </a:p>
        </p:txBody>
      </p:sp>
      <p:sp>
        <p:nvSpPr>
          <p:cNvPr id="4" name="Oval 3"/>
          <p:cNvSpPr/>
          <p:nvPr/>
        </p:nvSpPr>
        <p:spPr>
          <a:xfrm>
            <a:off x="685800" y="1865376"/>
            <a:ext cx="310896" cy="310896"/>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804672" y="1975104"/>
            <a:ext cx="82296" cy="82296"/>
          </a:xfrm>
          <a:prstGeom prst="rect">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97864" y="1847088"/>
            <a:ext cx="6766560" cy="365760"/>
          </a:xfrm>
          <a:prstGeom prst="rect">
            <a:avLst/>
          </a:prstGeom>
          <a:noFill/>
        </p:spPr>
        <p:txBody>
          <a:bodyPr wrap="square" lIns="0" rIns="0" tIns="0" bIns="0" anchor="t">
            <a:spAutoFit/>
          </a:bodyPr>
          <a:lstStyle/>
          <a:p>
            <a:pPr algn="l"/>
            <a:r>
              <a:rPr sz="1550" b="0" i="0">
                <a:solidFill>
                  <a:srgbClr val="D8E0EA"/>
                </a:solidFill>
                <a:latin typeface="Calibri"/>
              </a:rPr>
              <a:t>Opens a WebSocket and negotiates an agent configuration</a:t>
            </a:r>
          </a:p>
        </p:txBody>
      </p:sp>
      <p:sp>
        <p:nvSpPr>
          <p:cNvPr id="7" name="Oval 6"/>
          <p:cNvSpPr/>
          <p:nvPr/>
        </p:nvSpPr>
        <p:spPr>
          <a:xfrm>
            <a:off x="685800" y="2468880"/>
            <a:ext cx="310896" cy="310896"/>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804672" y="2578608"/>
            <a:ext cx="82296" cy="82296"/>
          </a:xfrm>
          <a:prstGeom prst="rect">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197864" y="2450592"/>
            <a:ext cx="6766560" cy="365760"/>
          </a:xfrm>
          <a:prstGeom prst="rect">
            <a:avLst/>
          </a:prstGeom>
          <a:noFill/>
        </p:spPr>
        <p:txBody>
          <a:bodyPr wrap="square" lIns="0" rIns="0" tIns="0" bIns="0" anchor="t">
            <a:spAutoFit/>
          </a:bodyPr>
          <a:lstStyle/>
          <a:p>
            <a:pPr algn="l"/>
            <a:r>
              <a:rPr sz="1550" b="0" i="0">
                <a:solidFill>
                  <a:srgbClr val="D8E0EA"/>
                </a:solidFill>
                <a:latin typeface="Calibri"/>
              </a:rPr>
              <a:t>Streams microphone audio without blocking the thread that plays the reply</a:t>
            </a:r>
          </a:p>
        </p:txBody>
      </p:sp>
      <p:sp>
        <p:nvSpPr>
          <p:cNvPr id="10" name="Oval 9"/>
          <p:cNvSpPr/>
          <p:nvPr/>
        </p:nvSpPr>
        <p:spPr>
          <a:xfrm>
            <a:off x="685800" y="3072384"/>
            <a:ext cx="310896" cy="310896"/>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804672" y="3182112"/>
            <a:ext cx="82296" cy="82296"/>
          </a:xfrm>
          <a:prstGeom prst="rect">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197864" y="3054096"/>
            <a:ext cx="6766560" cy="365760"/>
          </a:xfrm>
          <a:prstGeom prst="rect">
            <a:avLst/>
          </a:prstGeom>
          <a:noFill/>
        </p:spPr>
        <p:txBody>
          <a:bodyPr wrap="square" lIns="0" rIns="0" tIns="0" bIns="0" anchor="t">
            <a:spAutoFit/>
          </a:bodyPr>
          <a:lstStyle/>
          <a:p>
            <a:pPr algn="l"/>
            <a:r>
              <a:rPr sz="1550" b="0" i="0">
                <a:solidFill>
                  <a:srgbClr val="D8E0EA"/>
                </a:solidFill>
                <a:latin typeface="Calibri"/>
              </a:rPr>
              <a:t>Plays the agent's speech as it arrives</a:t>
            </a:r>
          </a:p>
        </p:txBody>
      </p:sp>
      <p:sp>
        <p:nvSpPr>
          <p:cNvPr id="13" name="Oval 12"/>
          <p:cNvSpPr/>
          <p:nvPr/>
        </p:nvSpPr>
        <p:spPr>
          <a:xfrm>
            <a:off x="685800" y="3675887"/>
            <a:ext cx="310896" cy="310896"/>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04672" y="3785615"/>
            <a:ext cx="82296" cy="82296"/>
          </a:xfrm>
          <a:prstGeom prst="rect">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97864" y="3657600"/>
            <a:ext cx="6766560" cy="365760"/>
          </a:xfrm>
          <a:prstGeom prst="rect">
            <a:avLst/>
          </a:prstGeom>
          <a:noFill/>
        </p:spPr>
        <p:txBody>
          <a:bodyPr wrap="square" lIns="0" rIns="0" tIns="0" bIns="0" anchor="t">
            <a:spAutoFit/>
          </a:bodyPr>
          <a:lstStyle/>
          <a:p>
            <a:pPr algn="l"/>
            <a:r>
              <a:rPr sz="1550" b="0" i="0">
                <a:solidFill>
                  <a:srgbClr val="D8E0EA"/>
                </a:solidFill>
                <a:latin typeface="Calibri"/>
              </a:rPr>
              <a:t>Cuts playback the instant you interrupt</a:t>
            </a:r>
          </a:p>
        </p:txBody>
      </p:sp>
      <p:sp>
        <p:nvSpPr>
          <p:cNvPr id="16" name="Oval 15"/>
          <p:cNvSpPr/>
          <p:nvPr/>
        </p:nvSpPr>
        <p:spPr>
          <a:xfrm>
            <a:off x="685800" y="4279392"/>
            <a:ext cx="310896" cy="310896"/>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804672" y="4389120"/>
            <a:ext cx="82296" cy="82296"/>
          </a:xfrm>
          <a:prstGeom prst="rect">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197864" y="4261104"/>
            <a:ext cx="6766560" cy="365760"/>
          </a:xfrm>
          <a:prstGeom prst="rect">
            <a:avLst/>
          </a:prstGeom>
          <a:noFill/>
        </p:spPr>
        <p:txBody>
          <a:bodyPr wrap="square" lIns="0" rIns="0" tIns="0" bIns="0" anchor="t">
            <a:spAutoFit/>
          </a:bodyPr>
          <a:lstStyle/>
          <a:p>
            <a:pPr algn="l"/>
            <a:r>
              <a:rPr sz="1550" b="0" i="0">
                <a:solidFill>
                  <a:srgbClr val="D8E0EA"/>
                </a:solidFill>
                <a:latin typeface="Calibri"/>
              </a:rPr>
              <a:t>Calls your Python and speaks the result</a:t>
            </a:r>
          </a:p>
        </p:txBody>
      </p:sp>
      <p:sp>
        <p:nvSpPr>
          <p:cNvPr id="19" name="Oval 18"/>
          <p:cNvSpPr/>
          <p:nvPr/>
        </p:nvSpPr>
        <p:spPr>
          <a:xfrm>
            <a:off x="685800" y="4882896"/>
            <a:ext cx="310896" cy="310896"/>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04672" y="4992624"/>
            <a:ext cx="82296" cy="82296"/>
          </a:xfrm>
          <a:prstGeom prst="rect">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97864" y="4864608"/>
            <a:ext cx="6766560" cy="365760"/>
          </a:xfrm>
          <a:prstGeom prst="rect">
            <a:avLst/>
          </a:prstGeom>
          <a:noFill/>
        </p:spPr>
        <p:txBody>
          <a:bodyPr wrap="square" lIns="0" rIns="0" tIns="0" bIns="0" anchor="t">
            <a:spAutoFit/>
          </a:bodyPr>
          <a:lstStyle/>
          <a:p>
            <a:pPr algn="l"/>
            <a:r>
              <a:rPr sz="1550" b="0" i="0">
                <a:solidFill>
                  <a:srgbClr val="D8E0EA"/>
                </a:solidFill>
                <a:latin typeface="Calibri"/>
              </a:rPr>
              <a:t>Takes its turns on terms you chose, and measures what they cost</a:t>
            </a:r>
          </a:p>
        </p:txBody>
      </p:sp>
      <p:sp>
        <p:nvSpPr>
          <p:cNvPr id="22" name="Rounded Rectangle 21"/>
          <p:cNvSpPr/>
          <p:nvPr/>
        </p:nvSpPr>
        <p:spPr>
          <a:xfrm>
            <a:off x="7772400" y="1792224"/>
            <a:ext cx="3730752" cy="3218688"/>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065008" y="2048256"/>
            <a:ext cx="3154680" cy="2834640"/>
          </a:xfrm>
          <a:prstGeom prst="rect">
            <a:avLst/>
          </a:prstGeom>
          <a:noFill/>
        </p:spPr>
        <p:txBody>
          <a:bodyPr wrap="square" lIns="0" rIns="0" tIns="0" bIns="0" anchor="t">
            <a:spAutoFit/>
          </a:bodyPr>
          <a:lstStyle/>
          <a:p>
            <a:pPr algn="l">
              <a:spcAft>
                <a:spcPts val="1000"/>
              </a:spcAft>
            </a:pPr>
            <a:r>
              <a:rPr sz="1700" b="1" i="0">
                <a:solidFill>
                  <a:srgbClr val="13EF93"/>
                </a:solidFill>
                <a:latin typeface="Calibri"/>
              </a:rPr>
              <a:t>And what isn't in it</a:t>
            </a:r>
          </a:p>
          <a:p>
            <a:pPr algn="l">
              <a:lnSpc>
                <a:spcPct val="115000"/>
              </a:lnSpc>
              <a:spcAft>
                <a:spcPts val="1400"/>
              </a:spcAft>
            </a:pPr>
            <a:r>
              <a:rPr sz="1350" b="0" i="0">
                <a:solidFill>
                  <a:srgbClr val="D8E0EA"/>
                </a:solidFill>
                <a:latin typeface="Calibri"/>
              </a:rPr>
              <a:t>No device handling. No resampling. No chunking. No permission prompts. No voice activity detection. No silence threshold.</a:t>
            </a:r>
          </a:p>
          <a:p>
            <a:pPr algn="l">
              <a:lnSpc>
                <a:spcPct val="115000"/>
              </a:lnSpc>
            </a:pPr>
            <a:r>
              <a:rPr sz="1300" b="0" i="0">
                <a:solidFill>
                  <a:srgbClr val="8FA0B3"/>
                </a:solidFill>
                <a:latin typeface="Calibri"/>
              </a:rPr>
              <a:t>The audio layer lives in web/, which every step shares and nobody edits. Swapping it for a Twilio media stream is a real project — and it shouldn't require touching a line of agent code.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85800" y="566928"/>
            <a:ext cx="10820095" cy="658368"/>
          </a:xfrm>
          <a:prstGeom prst="rect">
            <a:avLst/>
          </a:prstGeom>
          <a:noFill/>
        </p:spPr>
        <p:txBody>
          <a:bodyPr wrap="square" lIns="0" rIns="0" tIns="0" bIns="0" anchor="t">
            <a:spAutoFit/>
          </a:bodyPr>
          <a:lstStyle/>
          <a:p>
            <a:pPr algn="l"/>
            <a:r>
              <a:rPr sz="3600" b="1" i="0">
                <a:solidFill>
                  <a:srgbClr val="FFFFFF"/>
                </a:solidFill>
                <a:latin typeface="Calibri"/>
              </a:rPr>
              <a:t>Where to go from here</a:t>
            </a:r>
          </a:p>
        </p:txBody>
      </p:sp>
      <p:sp>
        <p:nvSpPr>
          <p:cNvPr id="3" name="Rounded Rectangle 2"/>
          <p:cNvSpPr/>
          <p:nvPr/>
        </p:nvSpPr>
        <p:spPr>
          <a:xfrm>
            <a:off x="685800" y="1481328"/>
            <a:ext cx="3438144" cy="1975104"/>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41832" y="1719072"/>
            <a:ext cx="2926080" cy="310896"/>
          </a:xfrm>
          <a:prstGeom prst="rect">
            <a:avLst/>
          </a:prstGeom>
          <a:noFill/>
        </p:spPr>
        <p:txBody>
          <a:bodyPr wrap="square" lIns="0" rIns="0" tIns="0" bIns="0" anchor="t">
            <a:spAutoFit/>
          </a:bodyPr>
          <a:lstStyle/>
          <a:p>
            <a:pPr algn="l"/>
            <a:r>
              <a:rPr sz="1600" b="1" i="0">
                <a:solidFill>
                  <a:srgbClr val="13EF93"/>
                </a:solidFill>
                <a:latin typeface="Calibri"/>
              </a:rPr>
              <a:t>Telephony</a:t>
            </a:r>
          </a:p>
        </p:txBody>
      </p:sp>
      <p:sp>
        <p:nvSpPr>
          <p:cNvPr id="5" name="TextBox 4"/>
          <p:cNvSpPr txBox="1"/>
          <p:nvPr/>
        </p:nvSpPr>
        <p:spPr>
          <a:xfrm>
            <a:off x="941832" y="2139696"/>
            <a:ext cx="2926080" cy="1188720"/>
          </a:xfrm>
          <a:prstGeom prst="rect">
            <a:avLst/>
          </a:prstGeom>
          <a:noFill/>
        </p:spPr>
        <p:txBody>
          <a:bodyPr wrap="square" lIns="0" rIns="0" tIns="0" bIns="0" anchor="t">
            <a:spAutoFit/>
          </a:bodyPr>
          <a:lstStyle/>
          <a:p>
            <a:pPr algn="l">
              <a:lnSpc>
                <a:spcPct val="114000"/>
              </a:lnSpc>
            </a:pPr>
            <a:r>
              <a:rPr sz="1250" b="0" i="0">
                <a:solidFill>
                  <a:srgbClr val="8FA0B3"/>
                </a:solidFill>
                <a:latin typeface="Calibri"/>
              </a:rPr>
              <a:t>Drop SAMPLE_RATE to 8000 and switch encoding to mulaw. main.py is otherwise unchanged — replacing web/ with a Twilio media stream is the real work.</a:t>
            </a:r>
          </a:p>
        </p:txBody>
      </p:sp>
      <p:sp>
        <p:nvSpPr>
          <p:cNvPr id="6" name="Rounded Rectangle 5"/>
          <p:cNvSpPr/>
          <p:nvPr/>
        </p:nvSpPr>
        <p:spPr>
          <a:xfrm>
            <a:off x="4379976" y="1481328"/>
            <a:ext cx="3438144" cy="1975104"/>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636008" y="1719072"/>
            <a:ext cx="2926080" cy="310896"/>
          </a:xfrm>
          <a:prstGeom prst="rect">
            <a:avLst/>
          </a:prstGeom>
          <a:noFill/>
        </p:spPr>
        <p:txBody>
          <a:bodyPr wrap="square" lIns="0" rIns="0" tIns="0" bIns="0" anchor="t">
            <a:spAutoFit/>
          </a:bodyPr>
          <a:lstStyle/>
          <a:p>
            <a:pPr algn="l"/>
            <a:r>
              <a:rPr sz="1600" b="1" i="0">
                <a:solidFill>
                  <a:srgbClr val="13EF93"/>
                </a:solidFill>
                <a:latin typeface="Calibri"/>
              </a:rPr>
              <a:t>Multilingual</a:t>
            </a:r>
          </a:p>
        </p:txBody>
      </p:sp>
      <p:sp>
        <p:nvSpPr>
          <p:cNvPr id="8" name="TextBox 7"/>
          <p:cNvSpPr txBox="1"/>
          <p:nvPr/>
        </p:nvSpPr>
        <p:spPr>
          <a:xfrm>
            <a:off x="4636008" y="2139696"/>
            <a:ext cx="2926080" cy="1188720"/>
          </a:xfrm>
          <a:prstGeom prst="rect">
            <a:avLst/>
          </a:prstGeom>
          <a:noFill/>
        </p:spPr>
        <p:txBody>
          <a:bodyPr wrap="square" lIns="0" rIns="0" tIns="0" bIns="0" anchor="t">
            <a:spAutoFit/>
          </a:bodyPr>
          <a:lstStyle/>
          <a:p>
            <a:pPr algn="l">
              <a:lnSpc>
                <a:spcPct val="114000"/>
              </a:lnSpc>
            </a:pPr>
            <a:r>
              <a:rPr sz="1250" b="0" i="0">
                <a:solidFill>
                  <a:srgbClr val="8FA0B3"/>
                </a:solidFill>
                <a:latin typeface="Calibri"/>
              </a:rPr>
              <a:t>Change the listen model to flux-general-multi for automatic language detection, and pass language_hints when you know the likely languages.</a:t>
            </a:r>
          </a:p>
        </p:txBody>
      </p:sp>
      <p:sp>
        <p:nvSpPr>
          <p:cNvPr id="9" name="Rounded Rectangle 8"/>
          <p:cNvSpPr/>
          <p:nvPr/>
        </p:nvSpPr>
        <p:spPr>
          <a:xfrm>
            <a:off x="8074152" y="1481328"/>
            <a:ext cx="3438144" cy="1975104"/>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330183" y="1719072"/>
            <a:ext cx="2926080" cy="310896"/>
          </a:xfrm>
          <a:prstGeom prst="rect">
            <a:avLst/>
          </a:prstGeom>
          <a:noFill/>
        </p:spPr>
        <p:txBody>
          <a:bodyPr wrap="square" lIns="0" rIns="0" tIns="0" bIns="0" anchor="t">
            <a:spAutoFit/>
          </a:bodyPr>
          <a:lstStyle/>
          <a:p>
            <a:pPr algn="l"/>
            <a:r>
              <a:rPr sz="1600" b="1" i="0">
                <a:solidFill>
                  <a:srgbClr val="13EF93"/>
                </a:solidFill>
                <a:latin typeface="Calibri"/>
              </a:rPr>
              <a:t>Keyterms</a:t>
            </a:r>
          </a:p>
        </p:txBody>
      </p:sp>
      <p:sp>
        <p:nvSpPr>
          <p:cNvPr id="11" name="TextBox 10"/>
          <p:cNvSpPr txBox="1"/>
          <p:nvPr/>
        </p:nvSpPr>
        <p:spPr>
          <a:xfrm>
            <a:off x="8330183" y="2139696"/>
            <a:ext cx="2926080" cy="1188720"/>
          </a:xfrm>
          <a:prstGeom prst="rect">
            <a:avLst/>
          </a:prstGeom>
          <a:noFill/>
        </p:spPr>
        <p:txBody>
          <a:bodyPr wrap="square" lIns="0" rIns="0" tIns="0" bIns="0" anchor="t">
            <a:spAutoFit/>
          </a:bodyPr>
          <a:lstStyle/>
          <a:p>
            <a:pPr algn="l">
              <a:lnSpc>
                <a:spcPct val="114000"/>
              </a:lnSpc>
            </a:pPr>
            <a:r>
              <a:rPr sz="1250" b="0" i="0">
                <a:solidFill>
                  <a:srgbClr val="8FA0B3"/>
                </a:solidFill>
                <a:latin typeface="Calibri"/>
              </a:rPr>
              <a:t>Bias recognition toward product names, SKUs, or jargon Flux would otherwise mishear. Usually the highest-leverage accuracy fix for a domain agent.</a:t>
            </a:r>
          </a:p>
        </p:txBody>
      </p:sp>
      <p:sp>
        <p:nvSpPr>
          <p:cNvPr id="12" name="Rounded Rectangle 11"/>
          <p:cNvSpPr/>
          <p:nvPr/>
        </p:nvSpPr>
        <p:spPr>
          <a:xfrm>
            <a:off x="685800" y="3639312"/>
            <a:ext cx="3438144" cy="1975104"/>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41832" y="3877056"/>
            <a:ext cx="2926080" cy="310896"/>
          </a:xfrm>
          <a:prstGeom prst="rect">
            <a:avLst/>
          </a:prstGeom>
          <a:noFill/>
        </p:spPr>
        <p:txBody>
          <a:bodyPr wrap="square" lIns="0" rIns="0" tIns="0" bIns="0" anchor="t">
            <a:spAutoFit/>
          </a:bodyPr>
          <a:lstStyle/>
          <a:p>
            <a:pPr algn="l"/>
            <a:r>
              <a:rPr sz="1600" b="1" i="0">
                <a:solidFill>
                  <a:srgbClr val="13EF93"/>
                </a:solidFill>
                <a:latin typeface="Calibri"/>
              </a:rPr>
              <a:t>Eager end-of-turn</a:t>
            </a:r>
          </a:p>
        </p:txBody>
      </p:sp>
      <p:sp>
        <p:nvSpPr>
          <p:cNvPr id="14" name="TextBox 13"/>
          <p:cNvSpPr txBox="1"/>
          <p:nvPr/>
        </p:nvSpPr>
        <p:spPr>
          <a:xfrm>
            <a:off x="941832" y="4297680"/>
            <a:ext cx="2926080" cy="1188720"/>
          </a:xfrm>
          <a:prstGeom prst="rect">
            <a:avLst/>
          </a:prstGeom>
          <a:noFill/>
        </p:spPr>
        <p:txBody>
          <a:bodyPr wrap="square" lIns="0" rIns="0" tIns="0" bIns="0" anchor="t">
            <a:spAutoFit/>
          </a:bodyPr>
          <a:lstStyle/>
          <a:p>
            <a:pPr algn="l">
              <a:lnSpc>
                <a:spcPct val="114000"/>
              </a:lnSpc>
            </a:pPr>
            <a:r>
              <a:rPr sz="1250" b="0" i="0">
                <a:solidFill>
                  <a:srgbClr val="8FA0B3"/>
                </a:solidFill>
                <a:latin typeface="Calibri"/>
              </a:rPr>
              <a:t>eager_eot_threshold starts the LLM on a probable turn end and discards the work if the user keeps talking. Lower latency, more LLM calls.</a:t>
            </a:r>
          </a:p>
        </p:txBody>
      </p:sp>
      <p:sp>
        <p:nvSpPr>
          <p:cNvPr id="15" name="Rounded Rectangle 14"/>
          <p:cNvSpPr/>
          <p:nvPr/>
        </p:nvSpPr>
        <p:spPr>
          <a:xfrm>
            <a:off x="4379976" y="3639312"/>
            <a:ext cx="3438144" cy="1975104"/>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36008" y="3877056"/>
            <a:ext cx="2926080" cy="310896"/>
          </a:xfrm>
          <a:prstGeom prst="rect">
            <a:avLst/>
          </a:prstGeom>
          <a:noFill/>
        </p:spPr>
        <p:txBody>
          <a:bodyPr wrap="square" lIns="0" rIns="0" tIns="0" bIns="0" anchor="t">
            <a:spAutoFit/>
          </a:bodyPr>
          <a:lstStyle/>
          <a:p>
            <a:pPr algn="l"/>
            <a:r>
              <a:rPr sz="1600" b="1" i="0">
                <a:solidFill>
                  <a:srgbClr val="13EF93"/>
                </a:solidFill>
                <a:latin typeface="Calibri"/>
              </a:rPr>
              <a:t>Mid-conversation updates</a:t>
            </a:r>
          </a:p>
        </p:txBody>
      </p:sp>
      <p:sp>
        <p:nvSpPr>
          <p:cNvPr id="17" name="TextBox 16"/>
          <p:cNvSpPr txBox="1"/>
          <p:nvPr/>
        </p:nvSpPr>
        <p:spPr>
          <a:xfrm>
            <a:off x="4636008" y="4297680"/>
            <a:ext cx="2926080" cy="1188720"/>
          </a:xfrm>
          <a:prstGeom prst="rect">
            <a:avLst/>
          </a:prstGeom>
          <a:noFill/>
        </p:spPr>
        <p:txBody>
          <a:bodyPr wrap="square" lIns="0" rIns="0" tIns="0" bIns="0" anchor="t">
            <a:spAutoFit/>
          </a:bodyPr>
          <a:lstStyle/>
          <a:p>
            <a:pPr algn="l">
              <a:lnSpc>
                <a:spcPct val="114000"/>
              </a:lnSpc>
            </a:pPr>
            <a:r>
              <a:rPr sz="1250" b="0" i="0">
                <a:solidFill>
                  <a:srgbClr val="8FA0B3"/>
                </a:solidFill>
                <a:latin typeface="Calibri"/>
              </a:rPr>
              <a:t>send_update_prompt changes instructions without reconnecting; send_inject_user_message makes function calling testable with no microphone.</a:t>
            </a:r>
          </a:p>
        </p:txBody>
      </p:sp>
      <p:sp>
        <p:nvSpPr>
          <p:cNvPr id="18" name="Rounded Rectangle 17"/>
          <p:cNvSpPr/>
          <p:nvPr/>
        </p:nvSpPr>
        <p:spPr>
          <a:xfrm>
            <a:off x="8074152" y="3639312"/>
            <a:ext cx="3438144" cy="1975104"/>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330183" y="3877056"/>
            <a:ext cx="2926080" cy="310896"/>
          </a:xfrm>
          <a:prstGeom prst="rect">
            <a:avLst/>
          </a:prstGeom>
          <a:noFill/>
        </p:spPr>
        <p:txBody>
          <a:bodyPr wrap="square" lIns="0" rIns="0" tIns="0" bIns="0" anchor="t">
            <a:spAutoFit/>
          </a:bodyPr>
          <a:lstStyle/>
          <a:p>
            <a:pPr algn="l"/>
            <a:r>
              <a:rPr sz="1600" b="1" i="0">
                <a:solidFill>
                  <a:srgbClr val="13EF93"/>
                </a:solidFill>
                <a:latin typeface="Calibri"/>
              </a:rPr>
              <a:t>Server-side functions</a:t>
            </a:r>
          </a:p>
        </p:txBody>
      </p:sp>
      <p:sp>
        <p:nvSpPr>
          <p:cNvPr id="20" name="TextBox 19"/>
          <p:cNvSpPr txBox="1"/>
          <p:nvPr/>
        </p:nvSpPr>
        <p:spPr>
          <a:xfrm>
            <a:off x="8330183" y="4297680"/>
            <a:ext cx="2926080" cy="1188720"/>
          </a:xfrm>
          <a:prstGeom prst="rect">
            <a:avLst/>
          </a:prstGeom>
          <a:noFill/>
        </p:spPr>
        <p:txBody>
          <a:bodyPr wrap="square" lIns="0" rIns="0" tIns="0" bIns="0" anchor="t">
            <a:spAutoFit/>
          </a:bodyPr>
          <a:lstStyle/>
          <a:p>
            <a:pPr algn="l">
              <a:lnSpc>
                <a:spcPct val="114000"/>
              </a:lnSpc>
            </a:pPr>
            <a:r>
              <a:rPr sz="1250" b="0" i="0">
                <a:solidFill>
                  <a:srgbClr val="8FA0B3"/>
                </a:solidFill>
                <a:latin typeface="Calibri"/>
              </a:rPr>
              <a:t>Set endpoint and Deepgram calls your HTTP API directly. No FunctionCallRequest reaches your client at all.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85800" y="566928"/>
            <a:ext cx="10820095" cy="658368"/>
          </a:xfrm>
          <a:prstGeom prst="rect">
            <a:avLst/>
          </a:prstGeom>
          <a:noFill/>
        </p:spPr>
        <p:txBody>
          <a:bodyPr wrap="square" lIns="0" rIns="0" tIns="0" bIns="0" anchor="t">
            <a:spAutoFit/>
          </a:bodyPr>
          <a:lstStyle/>
          <a:p>
            <a:pPr algn="l"/>
            <a:r>
              <a:rPr sz="3600" b="1" i="0">
                <a:solidFill>
                  <a:srgbClr val="FFFFFF"/>
                </a:solidFill>
                <a:latin typeface="Calibri"/>
              </a:rPr>
              <a:t>Keep going</a:t>
            </a:r>
          </a:p>
        </p:txBody>
      </p:sp>
      <p:sp>
        <p:nvSpPr>
          <p:cNvPr id="3" name="TextBox 2"/>
          <p:cNvSpPr txBox="1"/>
          <p:nvPr/>
        </p:nvSpPr>
        <p:spPr>
          <a:xfrm>
            <a:off x="685800" y="1280160"/>
            <a:ext cx="10424160" cy="640080"/>
          </a:xfrm>
          <a:prstGeom prst="rect">
            <a:avLst/>
          </a:prstGeom>
          <a:noFill/>
        </p:spPr>
        <p:txBody>
          <a:bodyPr wrap="square" lIns="0" rIns="0" tIns="0" bIns="0" anchor="t">
            <a:spAutoFit/>
          </a:bodyPr>
          <a:lstStyle/>
          <a:p>
            <a:pPr algn="l">
              <a:lnSpc>
                <a:spcPct val="115000"/>
              </a:lnSpc>
            </a:pPr>
            <a:r>
              <a:rPr sz="1600" b="0" i="0">
                <a:solidFill>
                  <a:srgbClr val="8FA0B3"/>
                </a:solidFill>
                <a:latin typeface="Calibri"/>
              </a:rPr>
              <a:t>Bring the questions you didn't get to. Both channels are staffed by people who work on this.</a:t>
            </a:r>
          </a:p>
        </p:txBody>
      </p:sp>
      <p:sp>
        <p:nvSpPr>
          <p:cNvPr id="4" name="Rounded Rectangle 3"/>
          <p:cNvSpPr/>
          <p:nvPr/>
        </p:nvSpPr>
        <p:spPr>
          <a:xfrm>
            <a:off x="685800" y="1975104"/>
            <a:ext cx="5349240" cy="822960"/>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960120" y="2103120"/>
            <a:ext cx="4754880" cy="256032"/>
          </a:xfrm>
          <a:prstGeom prst="rect">
            <a:avLst/>
          </a:prstGeom>
          <a:noFill/>
        </p:spPr>
        <p:txBody>
          <a:bodyPr wrap="square" lIns="0" rIns="0" tIns="0" bIns="0" anchor="t">
            <a:spAutoFit/>
          </a:bodyPr>
          <a:lstStyle/>
          <a:p>
            <a:pPr algn="l"/>
            <a:r>
              <a:rPr sz="1200" b="1" i="0">
                <a:solidFill>
                  <a:srgbClr val="13EF93"/>
                </a:solidFill>
                <a:latin typeface="Calibri"/>
              </a:rPr>
              <a:t>Sign up / API key</a:t>
            </a:r>
          </a:p>
        </p:txBody>
      </p:sp>
      <p:sp>
        <p:nvSpPr>
          <p:cNvPr id="6" name="TextBox 5"/>
          <p:cNvSpPr txBox="1"/>
          <p:nvPr/>
        </p:nvSpPr>
        <p:spPr>
          <a:xfrm>
            <a:off x="960120" y="2395728"/>
            <a:ext cx="4754880" cy="274320"/>
          </a:xfrm>
          <a:prstGeom prst="rect">
            <a:avLst/>
          </a:prstGeom>
          <a:noFill/>
        </p:spPr>
        <p:txBody>
          <a:bodyPr wrap="square" lIns="0" rIns="0" tIns="0" bIns="0" anchor="t">
            <a:spAutoFit/>
          </a:bodyPr>
          <a:lstStyle/>
          <a:p>
            <a:pPr algn="l"/>
            <a:r>
              <a:rPr sz="1350" b="0" i="0">
                <a:solidFill>
                  <a:srgbClr val="D8E0EA"/>
                </a:solidFill>
                <a:latin typeface="Courier New"/>
              </a:rPr>
              <a:t>console.deepgram.com/signup</a:t>
            </a:r>
          </a:p>
        </p:txBody>
      </p:sp>
      <p:sp>
        <p:nvSpPr>
          <p:cNvPr id="7" name="Rounded Rectangle 6"/>
          <p:cNvSpPr/>
          <p:nvPr/>
        </p:nvSpPr>
        <p:spPr>
          <a:xfrm>
            <a:off x="6309360" y="1975104"/>
            <a:ext cx="5349240" cy="822960"/>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583680" y="2103120"/>
            <a:ext cx="4754880" cy="256032"/>
          </a:xfrm>
          <a:prstGeom prst="rect">
            <a:avLst/>
          </a:prstGeom>
          <a:noFill/>
        </p:spPr>
        <p:txBody>
          <a:bodyPr wrap="square" lIns="0" rIns="0" tIns="0" bIns="0" anchor="t">
            <a:spAutoFit/>
          </a:bodyPr>
          <a:lstStyle/>
          <a:p>
            <a:pPr algn="l"/>
            <a:r>
              <a:rPr sz="1200" b="1" i="0">
                <a:solidFill>
                  <a:srgbClr val="13EF93"/>
                </a:solidFill>
                <a:latin typeface="Calibri"/>
              </a:rPr>
              <a:t>Voice Agent docs</a:t>
            </a:r>
          </a:p>
        </p:txBody>
      </p:sp>
      <p:sp>
        <p:nvSpPr>
          <p:cNvPr id="9" name="TextBox 8"/>
          <p:cNvSpPr txBox="1"/>
          <p:nvPr/>
        </p:nvSpPr>
        <p:spPr>
          <a:xfrm>
            <a:off x="6583680" y="2395728"/>
            <a:ext cx="4754880" cy="274320"/>
          </a:xfrm>
          <a:prstGeom prst="rect">
            <a:avLst/>
          </a:prstGeom>
          <a:noFill/>
        </p:spPr>
        <p:txBody>
          <a:bodyPr wrap="square" lIns="0" rIns="0" tIns="0" bIns="0" anchor="t">
            <a:spAutoFit/>
          </a:bodyPr>
          <a:lstStyle/>
          <a:p>
            <a:pPr algn="l"/>
            <a:r>
              <a:rPr sz="1350" b="0" i="0">
                <a:solidFill>
                  <a:srgbClr val="D8E0EA"/>
                </a:solidFill>
                <a:latin typeface="Courier New"/>
              </a:rPr>
              <a:t>developers.deepgram.com/docs/voice-agent</a:t>
            </a:r>
          </a:p>
        </p:txBody>
      </p:sp>
      <p:sp>
        <p:nvSpPr>
          <p:cNvPr id="10" name="Rounded Rectangle 9"/>
          <p:cNvSpPr/>
          <p:nvPr/>
        </p:nvSpPr>
        <p:spPr>
          <a:xfrm>
            <a:off x="685800" y="2944368"/>
            <a:ext cx="5349240" cy="822960"/>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3072384"/>
            <a:ext cx="4754880" cy="256032"/>
          </a:xfrm>
          <a:prstGeom prst="rect">
            <a:avLst/>
          </a:prstGeom>
          <a:noFill/>
        </p:spPr>
        <p:txBody>
          <a:bodyPr wrap="square" lIns="0" rIns="0" tIns="0" bIns="0" anchor="t">
            <a:spAutoFit/>
          </a:bodyPr>
          <a:lstStyle/>
          <a:p>
            <a:pPr algn="l"/>
            <a:r>
              <a:rPr sz="1200" b="1" i="0">
                <a:solidFill>
                  <a:srgbClr val="13EF93"/>
                </a:solidFill>
                <a:latin typeface="Calibri"/>
              </a:rPr>
              <a:t>Flux docs</a:t>
            </a:r>
          </a:p>
        </p:txBody>
      </p:sp>
      <p:sp>
        <p:nvSpPr>
          <p:cNvPr id="12" name="TextBox 11"/>
          <p:cNvSpPr txBox="1"/>
          <p:nvPr/>
        </p:nvSpPr>
        <p:spPr>
          <a:xfrm>
            <a:off x="960120" y="3364992"/>
            <a:ext cx="4754880" cy="274320"/>
          </a:xfrm>
          <a:prstGeom prst="rect">
            <a:avLst/>
          </a:prstGeom>
          <a:noFill/>
        </p:spPr>
        <p:txBody>
          <a:bodyPr wrap="square" lIns="0" rIns="0" tIns="0" bIns="0" anchor="t">
            <a:spAutoFit/>
          </a:bodyPr>
          <a:lstStyle/>
          <a:p>
            <a:pPr algn="l"/>
            <a:r>
              <a:rPr sz="1350" b="0" i="0">
                <a:solidFill>
                  <a:srgbClr val="D8E0EA"/>
                </a:solidFill>
                <a:latin typeface="Courier New"/>
              </a:rPr>
              <a:t>developers.deepgram.com/docs/flux</a:t>
            </a:r>
          </a:p>
        </p:txBody>
      </p:sp>
      <p:sp>
        <p:nvSpPr>
          <p:cNvPr id="13" name="Rounded Rectangle 12"/>
          <p:cNvSpPr/>
          <p:nvPr/>
        </p:nvSpPr>
        <p:spPr>
          <a:xfrm>
            <a:off x="6309360" y="2944368"/>
            <a:ext cx="5349240" cy="822960"/>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83680" y="3072384"/>
            <a:ext cx="4754880" cy="256032"/>
          </a:xfrm>
          <a:prstGeom prst="rect">
            <a:avLst/>
          </a:prstGeom>
          <a:noFill/>
        </p:spPr>
        <p:txBody>
          <a:bodyPr wrap="square" lIns="0" rIns="0" tIns="0" bIns="0" anchor="t">
            <a:spAutoFit/>
          </a:bodyPr>
          <a:lstStyle/>
          <a:p>
            <a:pPr algn="l"/>
            <a:r>
              <a:rPr sz="1200" b="1" i="0">
                <a:solidFill>
                  <a:srgbClr val="13EF93"/>
                </a:solidFill>
                <a:latin typeface="Calibri"/>
              </a:rPr>
              <a:t>Voice catalogue</a:t>
            </a:r>
          </a:p>
        </p:txBody>
      </p:sp>
      <p:sp>
        <p:nvSpPr>
          <p:cNvPr id="15" name="TextBox 14"/>
          <p:cNvSpPr txBox="1"/>
          <p:nvPr/>
        </p:nvSpPr>
        <p:spPr>
          <a:xfrm>
            <a:off x="6583680" y="3364992"/>
            <a:ext cx="4754880" cy="274320"/>
          </a:xfrm>
          <a:prstGeom prst="rect">
            <a:avLst/>
          </a:prstGeom>
          <a:noFill/>
        </p:spPr>
        <p:txBody>
          <a:bodyPr wrap="square" lIns="0" rIns="0" tIns="0" bIns="0" anchor="t">
            <a:spAutoFit/>
          </a:bodyPr>
          <a:lstStyle/>
          <a:p>
            <a:pPr algn="l"/>
            <a:r>
              <a:rPr sz="1350" b="0" i="0">
                <a:solidFill>
                  <a:srgbClr val="D8E0EA"/>
                </a:solidFill>
                <a:latin typeface="Courier New"/>
              </a:rPr>
              <a:t>developers.deepgram.com/docs/tts-models</a:t>
            </a:r>
          </a:p>
        </p:txBody>
      </p:sp>
      <p:sp>
        <p:nvSpPr>
          <p:cNvPr id="16" name="Rounded Rectangle 15"/>
          <p:cNvSpPr/>
          <p:nvPr/>
        </p:nvSpPr>
        <p:spPr>
          <a:xfrm>
            <a:off x="685800" y="3913632"/>
            <a:ext cx="5349240" cy="822960"/>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60120" y="4041648"/>
            <a:ext cx="4754880" cy="256032"/>
          </a:xfrm>
          <a:prstGeom prst="rect">
            <a:avLst/>
          </a:prstGeom>
          <a:noFill/>
        </p:spPr>
        <p:txBody>
          <a:bodyPr wrap="square" lIns="0" rIns="0" tIns="0" bIns="0" anchor="t">
            <a:spAutoFit/>
          </a:bodyPr>
          <a:lstStyle/>
          <a:p>
            <a:pPr algn="l"/>
            <a:r>
              <a:rPr sz="1200" b="1" i="0">
                <a:solidFill>
                  <a:srgbClr val="13EF93"/>
                </a:solidFill>
                <a:latin typeface="Calibri"/>
              </a:rPr>
              <a:t>Discord</a:t>
            </a:r>
          </a:p>
        </p:txBody>
      </p:sp>
      <p:sp>
        <p:nvSpPr>
          <p:cNvPr id="18" name="TextBox 17"/>
          <p:cNvSpPr txBox="1"/>
          <p:nvPr/>
        </p:nvSpPr>
        <p:spPr>
          <a:xfrm>
            <a:off x="960120" y="4334256"/>
            <a:ext cx="4754880" cy="274320"/>
          </a:xfrm>
          <a:prstGeom prst="rect">
            <a:avLst/>
          </a:prstGeom>
          <a:noFill/>
        </p:spPr>
        <p:txBody>
          <a:bodyPr wrap="square" lIns="0" rIns="0" tIns="0" bIns="0" anchor="t">
            <a:spAutoFit/>
          </a:bodyPr>
          <a:lstStyle/>
          <a:p>
            <a:pPr algn="l"/>
            <a:r>
              <a:rPr sz="1350" b="0" i="0">
                <a:solidFill>
                  <a:srgbClr val="D8E0EA"/>
                </a:solidFill>
                <a:latin typeface="Courier New"/>
              </a:rPr>
              <a:t>discord.gg/xWRaCDBtW4</a:t>
            </a:r>
          </a:p>
        </p:txBody>
      </p:sp>
      <p:sp>
        <p:nvSpPr>
          <p:cNvPr id="19" name="Rounded Rectangle 18"/>
          <p:cNvSpPr/>
          <p:nvPr/>
        </p:nvSpPr>
        <p:spPr>
          <a:xfrm>
            <a:off x="6309360" y="3913632"/>
            <a:ext cx="5349240" cy="822960"/>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0" y="4041648"/>
            <a:ext cx="4754880" cy="256032"/>
          </a:xfrm>
          <a:prstGeom prst="rect">
            <a:avLst/>
          </a:prstGeom>
          <a:noFill/>
        </p:spPr>
        <p:txBody>
          <a:bodyPr wrap="square" lIns="0" rIns="0" tIns="0" bIns="0" anchor="t">
            <a:spAutoFit/>
          </a:bodyPr>
          <a:lstStyle/>
          <a:p>
            <a:pPr algn="l"/>
            <a:r>
              <a:rPr sz="1200" b="1" i="0">
                <a:solidFill>
                  <a:srgbClr val="13EF93"/>
                </a:solidFill>
                <a:latin typeface="Calibri"/>
              </a:rPr>
              <a:t>GitHub Discussions</a:t>
            </a:r>
          </a:p>
        </p:txBody>
      </p:sp>
      <p:sp>
        <p:nvSpPr>
          <p:cNvPr id="21" name="TextBox 20"/>
          <p:cNvSpPr txBox="1"/>
          <p:nvPr/>
        </p:nvSpPr>
        <p:spPr>
          <a:xfrm>
            <a:off x="6583680" y="4334256"/>
            <a:ext cx="4754880" cy="274320"/>
          </a:xfrm>
          <a:prstGeom prst="rect">
            <a:avLst/>
          </a:prstGeom>
          <a:noFill/>
        </p:spPr>
        <p:txBody>
          <a:bodyPr wrap="square" lIns="0" rIns="0" tIns="0" bIns="0" anchor="t">
            <a:spAutoFit/>
          </a:bodyPr>
          <a:lstStyle/>
          <a:p>
            <a:pPr algn="l"/>
            <a:r>
              <a:rPr sz="1350" b="0" i="0">
                <a:solidFill>
                  <a:srgbClr val="D8E0EA"/>
                </a:solidFill>
                <a:latin typeface="Courier New"/>
              </a:rPr>
              <a:t>github.com/orgs/deepgram/discussions</a:t>
            </a:r>
          </a:p>
        </p:txBody>
      </p:sp>
      <p:sp>
        <p:nvSpPr>
          <p:cNvPr id="22" name="TextBox 21"/>
          <p:cNvSpPr txBox="1"/>
          <p:nvPr/>
        </p:nvSpPr>
        <p:spPr>
          <a:xfrm>
            <a:off x="685800" y="5175504"/>
            <a:ext cx="10820095" cy="731520"/>
          </a:xfrm>
          <a:prstGeom prst="rect">
            <a:avLst/>
          </a:prstGeom>
          <a:noFill/>
        </p:spPr>
        <p:txBody>
          <a:bodyPr wrap="square" lIns="0" rIns="0" tIns="0" bIns="0" anchor="t">
            <a:spAutoFit/>
          </a:bodyPr>
          <a:lstStyle/>
          <a:p>
            <a:pPr algn="l"/>
            <a:r>
              <a:rPr sz="2400" b="1" i="0">
                <a:solidFill>
                  <a:srgbClr val="FFFFFF"/>
                </a:solidFill>
                <a:latin typeface="Calibri"/>
              </a:rPr>
              <a:t>Thank you — go build something that talks back.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4070A"/>
        </a:solidFill>
        <a:effectLst/>
      </p:bgPr>
    </p:bg>
    <p:spTree>
      <p:nvGrpSpPr>
        <p:cNvPr id="1" name=""/>
        <p:cNvGrpSpPr/>
        <p:nvPr/>
      </p:nvGrpSpPr>
      <p:grpSpPr/>
      <p:sp>
        <p:nvSpPr>
          <p:cNvPr id="2" name="TextBox 1"/>
          <p:cNvSpPr txBox="1"/>
          <p:nvPr/>
        </p:nvSpPr>
        <p:spPr>
          <a:xfrm>
            <a:off x="7985455" y="502920"/>
            <a:ext cx="3749039" cy="3108960"/>
          </a:xfrm>
          <a:prstGeom prst="rect">
            <a:avLst/>
          </a:prstGeom>
          <a:noFill/>
        </p:spPr>
        <p:txBody>
          <a:bodyPr wrap="square" lIns="0" rIns="0" tIns="0" bIns="0" anchor="t">
            <a:spAutoFit/>
          </a:bodyPr>
          <a:lstStyle/>
          <a:p>
            <a:pPr algn="r"/>
            <a:r>
              <a:rPr sz="22000" b="1" i="0">
                <a:solidFill>
                  <a:srgbClr val="0C1A15"/>
                </a:solidFill>
                <a:latin typeface="Calibri"/>
              </a:rPr>
              <a:t>05</a:t>
            </a:r>
          </a:p>
        </p:txBody>
      </p:sp>
      <p:sp>
        <p:nvSpPr>
          <p:cNvPr id="3" name="Rectangle 2"/>
          <p:cNvSpPr/>
          <p:nvPr/>
        </p:nvSpPr>
        <p:spPr>
          <a:xfrm>
            <a:off x="685800" y="2798064"/>
            <a:ext cx="822960" cy="45720"/>
          </a:xfrm>
          <a:prstGeom prst="rect">
            <a:avLst/>
          </a:prstGeom>
          <a:solidFill>
            <a:srgbClr val="13EF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685800" y="2148840"/>
            <a:ext cx="7315200" cy="365760"/>
          </a:xfrm>
          <a:prstGeom prst="rect">
            <a:avLst/>
          </a:prstGeom>
          <a:noFill/>
        </p:spPr>
        <p:txBody>
          <a:bodyPr wrap="square" lIns="0" rIns="0" tIns="0" bIns="0" anchor="t">
            <a:spAutoFit/>
          </a:bodyPr>
          <a:lstStyle/>
          <a:p>
            <a:pPr algn="l"/>
            <a:r>
              <a:rPr sz="1250" b="1" i="0">
                <a:solidFill>
                  <a:srgbClr val="13EF93"/>
                </a:solidFill>
                <a:latin typeface="Calibri"/>
              </a:rPr>
              <a:t>SECTION 05</a:t>
            </a:r>
          </a:p>
        </p:txBody>
      </p:sp>
      <p:sp>
        <p:nvSpPr>
          <p:cNvPr id="5" name="TextBox 4"/>
          <p:cNvSpPr txBox="1"/>
          <p:nvPr/>
        </p:nvSpPr>
        <p:spPr>
          <a:xfrm>
            <a:off x="685800" y="3035808"/>
            <a:ext cx="8595360" cy="914400"/>
          </a:xfrm>
          <a:prstGeom prst="rect">
            <a:avLst/>
          </a:prstGeom>
          <a:noFill/>
        </p:spPr>
        <p:txBody>
          <a:bodyPr wrap="square" lIns="0" rIns="0" tIns="0" bIns="0" anchor="t">
            <a:spAutoFit/>
          </a:bodyPr>
          <a:lstStyle/>
          <a:p>
            <a:pPr algn="l"/>
            <a:r>
              <a:rPr sz="5200" b="1" i="0">
                <a:solidFill>
                  <a:srgbClr val="FFFFFF"/>
                </a:solidFill>
                <a:latin typeface="Calibri"/>
              </a:rPr>
              <a:t>Appendix</a:t>
            </a:r>
          </a:p>
        </p:txBody>
      </p:sp>
      <p:sp>
        <p:nvSpPr>
          <p:cNvPr id="6" name="TextBox 5"/>
          <p:cNvSpPr txBox="1"/>
          <p:nvPr/>
        </p:nvSpPr>
        <p:spPr>
          <a:xfrm>
            <a:off x="685800" y="4096512"/>
            <a:ext cx="7863840" cy="822960"/>
          </a:xfrm>
          <a:prstGeom prst="rect">
            <a:avLst/>
          </a:prstGeom>
          <a:noFill/>
        </p:spPr>
        <p:txBody>
          <a:bodyPr wrap="square" lIns="0" rIns="0" tIns="0" bIns="0" anchor="t">
            <a:spAutoFit/>
          </a:bodyPr>
          <a:lstStyle/>
          <a:p>
            <a:pPr algn="l">
              <a:lnSpc>
                <a:spcPct val="120000"/>
              </a:lnSpc>
            </a:pPr>
            <a:r>
              <a:rPr sz="1700" b="0" i="0">
                <a:solidFill>
                  <a:srgbClr val="8FA0B3"/>
                </a:solidFill>
                <a:latin typeface="Calibri"/>
              </a:rPr>
              <a:t>Backup slides. Not part of the run of show — jump to them when the room needs them.</a:t>
            </a:r>
          </a:p>
        </p:txBody>
      </p:sp>
      <p:sp>
        <p:nvSpPr>
          <p:cNvPr id="7" name="TextBox 6"/>
          <p:cNvSpPr txBox="1"/>
          <p:nvPr/>
        </p:nvSpPr>
        <p:spPr>
          <a:xfrm>
            <a:off x="685800" y="5138928"/>
            <a:ext cx="7863840" cy="365760"/>
          </a:xfrm>
          <a:prstGeom prst="rect">
            <a:avLst/>
          </a:prstGeom>
          <a:noFill/>
        </p:spPr>
        <p:txBody>
          <a:bodyPr wrap="square" lIns="0" rIns="0" tIns="0" bIns="0" anchor="t">
            <a:spAutoFit/>
          </a:bodyPr>
          <a:lstStyle/>
          <a:p>
            <a:pPr algn="l"/>
            <a:r>
              <a:rPr sz="1300" b="0" i="0">
                <a:solidFill>
                  <a:srgbClr val="5D6E80"/>
                </a:solidFill>
                <a:latin typeface="Courier New"/>
              </a:rPr>
              <a:t>environment failures  ·  check-yourself answers  ·  regions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85800" y="566928"/>
            <a:ext cx="10820095" cy="658368"/>
          </a:xfrm>
          <a:prstGeom prst="rect">
            <a:avLst/>
          </a:prstGeom>
          <a:noFill/>
        </p:spPr>
        <p:txBody>
          <a:bodyPr wrap="square" lIns="0" rIns="0" tIns="0" bIns="0" anchor="t">
            <a:spAutoFit/>
          </a:bodyPr>
          <a:lstStyle/>
          <a:p>
            <a:pPr algn="l"/>
            <a:r>
              <a:rPr sz="3600" b="1" i="0">
                <a:solidFill>
                  <a:srgbClr val="FFFFFF"/>
                </a:solidFill>
                <a:latin typeface="Calibri"/>
              </a:rPr>
              <a:t>The five failures you will actually hit</a:t>
            </a:r>
          </a:p>
        </p:txBody>
      </p:sp>
      <p:sp>
        <p:nvSpPr>
          <p:cNvPr id="3" name="Rounded Rectangle 2"/>
          <p:cNvSpPr/>
          <p:nvPr/>
        </p:nvSpPr>
        <p:spPr>
          <a:xfrm>
            <a:off x="685800" y="1298448"/>
            <a:ext cx="10820095" cy="822960"/>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60120" y="1444751"/>
            <a:ext cx="365760" cy="274320"/>
          </a:xfrm>
          <a:prstGeom prst="rect">
            <a:avLst/>
          </a:prstGeom>
          <a:noFill/>
        </p:spPr>
        <p:txBody>
          <a:bodyPr wrap="square" lIns="0" rIns="0" tIns="0" bIns="0" anchor="t">
            <a:spAutoFit/>
          </a:bodyPr>
          <a:lstStyle/>
          <a:p>
            <a:pPr algn="l"/>
            <a:r>
              <a:rPr sz="1500" b="1" i="0">
                <a:solidFill>
                  <a:srgbClr val="FFB454"/>
                </a:solidFill>
                <a:latin typeface="Courier New"/>
              </a:rPr>
              <a:t>1</a:t>
            </a:r>
          </a:p>
        </p:txBody>
      </p:sp>
      <p:sp>
        <p:nvSpPr>
          <p:cNvPr id="5" name="TextBox 4"/>
          <p:cNvSpPr txBox="1"/>
          <p:nvPr/>
        </p:nvSpPr>
        <p:spPr>
          <a:xfrm>
            <a:off x="1399032" y="1408176"/>
            <a:ext cx="3017520" cy="274320"/>
          </a:xfrm>
          <a:prstGeom prst="rect">
            <a:avLst/>
          </a:prstGeom>
          <a:noFill/>
        </p:spPr>
        <p:txBody>
          <a:bodyPr wrap="square" lIns="0" rIns="0" tIns="0" bIns="0" anchor="t">
            <a:spAutoFit/>
          </a:bodyPr>
          <a:lstStyle/>
          <a:p>
            <a:pPr algn="l"/>
            <a:r>
              <a:rPr sz="1400" b="1" i="0">
                <a:solidFill>
                  <a:srgbClr val="FFFFFF"/>
                </a:solidFill>
                <a:latin typeface="Calibri"/>
              </a:rPr>
              <a:t>Microphone permission</a:t>
            </a:r>
          </a:p>
        </p:txBody>
      </p:sp>
      <p:sp>
        <p:nvSpPr>
          <p:cNvPr id="6" name="TextBox 5"/>
          <p:cNvSpPr txBox="1"/>
          <p:nvPr/>
        </p:nvSpPr>
        <p:spPr>
          <a:xfrm>
            <a:off x="1399032" y="1700784"/>
            <a:ext cx="9784080" cy="384048"/>
          </a:xfrm>
          <a:prstGeom prst="rect">
            <a:avLst/>
          </a:prstGeom>
          <a:noFill/>
        </p:spPr>
        <p:txBody>
          <a:bodyPr wrap="square" lIns="0" rIns="0" tIns="0" bIns="0" anchor="t">
            <a:spAutoFit/>
          </a:bodyPr>
          <a:lstStyle/>
          <a:p>
            <a:pPr algn="l">
              <a:lnSpc>
                <a:spcPct val="108000"/>
              </a:lnSpc>
            </a:pPr>
            <a:r>
              <a:rPr sz="1150" b="0" i="0">
                <a:solidFill>
                  <a:srgbClr val="8FA0B3"/>
                </a:solidFill>
                <a:latin typeface="Calibri"/>
              </a:rPr>
              <a:t>The prompt appears during Step 1 and people click past it. Icon at the left of the address bar, allow, press the button again. On macOS also check System Settings → Privacy &amp; Security → Microphone — and note it's the browser now, not the terminal.</a:t>
            </a:r>
          </a:p>
        </p:txBody>
      </p:sp>
      <p:sp>
        <p:nvSpPr>
          <p:cNvPr id="7" name="Rounded Rectangle 6"/>
          <p:cNvSpPr/>
          <p:nvPr/>
        </p:nvSpPr>
        <p:spPr>
          <a:xfrm>
            <a:off x="685800" y="2212848"/>
            <a:ext cx="10820095" cy="822960"/>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60120" y="2359152"/>
            <a:ext cx="365760" cy="274320"/>
          </a:xfrm>
          <a:prstGeom prst="rect">
            <a:avLst/>
          </a:prstGeom>
          <a:noFill/>
        </p:spPr>
        <p:txBody>
          <a:bodyPr wrap="square" lIns="0" rIns="0" tIns="0" bIns="0" anchor="t">
            <a:spAutoFit/>
          </a:bodyPr>
          <a:lstStyle/>
          <a:p>
            <a:pPr algn="l"/>
            <a:r>
              <a:rPr sz="1500" b="1" i="0">
                <a:solidFill>
                  <a:srgbClr val="FFB454"/>
                </a:solidFill>
                <a:latin typeface="Courier New"/>
              </a:rPr>
              <a:t>2</a:t>
            </a:r>
          </a:p>
        </p:txBody>
      </p:sp>
      <p:sp>
        <p:nvSpPr>
          <p:cNvPr id="9" name="TextBox 8"/>
          <p:cNvSpPr txBox="1"/>
          <p:nvPr/>
        </p:nvSpPr>
        <p:spPr>
          <a:xfrm>
            <a:off x="1399032" y="2322576"/>
            <a:ext cx="3017520" cy="274320"/>
          </a:xfrm>
          <a:prstGeom prst="rect">
            <a:avLst/>
          </a:prstGeom>
          <a:noFill/>
        </p:spPr>
        <p:txBody>
          <a:bodyPr wrap="square" lIns="0" rIns="0" tIns="0" bIns="0" anchor="t">
            <a:spAutoFit/>
          </a:bodyPr>
          <a:lstStyle/>
          <a:p>
            <a:pPr algn="l"/>
            <a:r>
              <a:rPr sz="1400" b="1" i="0">
                <a:solidFill>
                  <a:srgbClr val="FFFFFF"/>
                </a:solidFill>
                <a:latin typeface="Calibri"/>
              </a:rPr>
              <a:t>The page is on the wrong address</a:t>
            </a:r>
          </a:p>
        </p:txBody>
      </p:sp>
      <p:sp>
        <p:nvSpPr>
          <p:cNvPr id="10" name="TextBox 9"/>
          <p:cNvSpPr txBox="1"/>
          <p:nvPr/>
        </p:nvSpPr>
        <p:spPr>
          <a:xfrm>
            <a:off x="1399032" y="2615184"/>
            <a:ext cx="9784080" cy="384048"/>
          </a:xfrm>
          <a:prstGeom prst="rect">
            <a:avLst/>
          </a:prstGeom>
          <a:noFill/>
        </p:spPr>
        <p:txBody>
          <a:bodyPr wrap="square" lIns="0" rIns="0" tIns="0" bIns="0" anchor="t">
            <a:spAutoFit/>
          </a:bodyPr>
          <a:lstStyle/>
          <a:p>
            <a:pPr algn="l">
              <a:lnSpc>
                <a:spcPct val="108000"/>
              </a:lnSpc>
            </a:pPr>
            <a:r>
              <a:rPr sz="1150" b="0" i="0">
                <a:solidFill>
                  <a:srgbClr val="8FA0B3"/>
                </a:solidFill>
                <a:latin typeface="Calibri"/>
              </a:rPr>
              <a:t>getUserMedia and AudioWorklet need a secure context, which browsers grant to localhost and nothing else. A LAN address makes the audio API silently vanish. Symptom: Connect stays disabled with a red box above it. Use the 127.0.0.1:8000 the terminal printed.</a:t>
            </a:r>
          </a:p>
        </p:txBody>
      </p:sp>
      <p:sp>
        <p:nvSpPr>
          <p:cNvPr id="11" name="Rounded Rectangle 10"/>
          <p:cNvSpPr/>
          <p:nvPr/>
        </p:nvSpPr>
        <p:spPr>
          <a:xfrm>
            <a:off x="685800" y="3127248"/>
            <a:ext cx="10820095" cy="822960"/>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0120" y="3273552"/>
            <a:ext cx="365760" cy="274320"/>
          </a:xfrm>
          <a:prstGeom prst="rect">
            <a:avLst/>
          </a:prstGeom>
          <a:noFill/>
        </p:spPr>
        <p:txBody>
          <a:bodyPr wrap="square" lIns="0" rIns="0" tIns="0" bIns="0" anchor="t">
            <a:spAutoFit/>
          </a:bodyPr>
          <a:lstStyle/>
          <a:p>
            <a:pPr algn="l"/>
            <a:r>
              <a:rPr sz="1500" b="1" i="0">
                <a:solidFill>
                  <a:srgbClr val="FFB454"/>
                </a:solidFill>
                <a:latin typeface="Courier New"/>
              </a:rPr>
              <a:t>3</a:t>
            </a:r>
          </a:p>
        </p:txBody>
      </p:sp>
      <p:sp>
        <p:nvSpPr>
          <p:cNvPr id="13" name="TextBox 12"/>
          <p:cNvSpPr txBox="1"/>
          <p:nvPr/>
        </p:nvSpPr>
        <p:spPr>
          <a:xfrm>
            <a:off x="1399032" y="3236976"/>
            <a:ext cx="3017520" cy="274320"/>
          </a:xfrm>
          <a:prstGeom prst="rect">
            <a:avLst/>
          </a:prstGeom>
          <a:noFill/>
        </p:spPr>
        <p:txBody>
          <a:bodyPr wrap="square" lIns="0" rIns="0" tIns="0" bIns="0" anchor="t">
            <a:spAutoFit/>
          </a:bodyPr>
          <a:lstStyle/>
          <a:p>
            <a:pPr algn="l"/>
            <a:r>
              <a:rPr sz="1400" b="1" i="0">
                <a:solidFill>
                  <a:srgbClr val="FFFFFF"/>
                </a:solidFill>
                <a:latin typeface="Calibri"/>
              </a:rPr>
              <a:t>Bluetooth headsets</a:t>
            </a:r>
          </a:p>
        </p:txBody>
      </p:sp>
      <p:sp>
        <p:nvSpPr>
          <p:cNvPr id="14" name="TextBox 13"/>
          <p:cNvSpPr txBox="1"/>
          <p:nvPr/>
        </p:nvSpPr>
        <p:spPr>
          <a:xfrm>
            <a:off x="1399032" y="3529584"/>
            <a:ext cx="9784080" cy="384048"/>
          </a:xfrm>
          <a:prstGeom prst="rect">
            <a:avLst/>
          </a:prstGeom>
          <a:noFill/>
        </p:spPr>
        <p:txBody>
          <a:bodyPr wrap="square" lIns="0" rIns="0" tIns="0" bIns="0" anchor="t">
            <a:spAutoFit/>
          </a:bodyPr>
          <a:lstStyle/>
          <a:p>
            <a:pPr algn="l">
              <a:lnSpc>
                <a:spcPct val="108000"/>
              </a:lnSpc>
            </a:pPr>
            <a:r>
              <a:rPr sz="1150" b="0" i="0">
                <a:solidFill>
                  <a:srgbClr val="8FA0B3"/>
                </a:solidFill>
                <a:latin typeface="Calibri"/>
              </a:rPr>
              <a:t>Activating the microphone flips many headsets into a low-quality mono profile, and some then fail to open at all. Reconnect, or switch to wired.</a:t>
            </a:r>
          </a:p>
        </p:txBody>
      </p:sp>
      <p:sp>
        <p:nvSpPr>
          <p:cNvPr id="15" name="Rounded Rectangle 14"/>
          <p:cNvSpPr/>
          <p:nvPr/>
        </p:nvSpPr>
        <p:spPr>
          <a:xfrm>
            <a:off x="685800" y="4041648"/>
            <a:ext cx="10820095" cy="822960"/>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60120" y="4187952"/>
            <a:ext cx="365760" cy="274320"/>
          </a:xfrm>
          <a:prstGeom prst="rect">
            <a:avLst/>
          </a:prstGeom>
          <a:noFill/>
        </p:spPr>
        <p:txBody>
          <a:bodyPr wrap="square" lIns="0" rIns="0" tIns="0" bIns="0" anchor="t">
            <a:spAutoFit/>
          </a:bodyPr>
          <a:lstStyle/>
          <a:p>
            <a:pPr algn="l"/>
            <a:r>
              <a:rPr sz="1500" b="1" i="0">
                <a:solidFill>
                  <a:srgbClr val="FFB454"/>
                </a:solidFill>
                <a:latin typeface="Courier New"/>
              </a:rPr>
              <a:t>4</a:t>
            </a:r>
          </a:p>
        </p:txBody>
      </p:sp>
      <p:sp>
        <p:nvSpPr>
          <p:cNvPr id="17" name="TextBox 16"/>
          <p:cNvSpPr txBox="1"/>
          <p:nvPr/>
        </p:nvSpPr>
        <p:spPr>
          <a:xfrm>
            <a:off x="1399032" y="4151376"/>
            <a:ext cx="3017520" cy="274320"/>
          </a:xfrm>
          <a:prstGeom prst="rect">
            <a:avLst/>
          </a:prstGeom>
          <a:noFill/>
        </p:spPr>
        <p:txBody>
          <a:bodyPr wrap="square" lIns="0" rIns="0" tIns="0" bIns="0" anchor="t">
            <a:spAutoFit/>
          </a:bodyPr>
          <a:lstStyle/>
          <a:p>
            <a:pPr algn="l"/>
            <a:r>
              <a:rPr sz="1400" b="1" i="0">
                <a:solidFill>
                  <a:srgbClr val="FFFFFF"/>
                </a:solidFill>
                <a:latin typeface="Calibri"/>
              </a:rPr>
              <a:t>The agent talks to itself</a:t>
            </a:r>
          </a:p>
        </p:txBody>
      </p:sp>
      <p:sp>
        <p:nvSpPr>
          <p:cNvPr id="18" name="TextBox 17"/>
          <p:cNvSpPr txBox="1"/>
          <p:nvPr/>
        </p:nvSpPr>
        <p:spPr>
          <a:xfrm>
            <a:off x="1399032" y="4443984"/>
            <a:ext cx="9784080" cy="384048"/>
          </a:xfrm>
          <a:prstGeom prst="rect">
            <a:avLst/>
          </a:prstGeom>
          <a:noFill/>
        </p:spPr>
        <p:txBody>
          <a:bodyPr wrap="square" lIns="0" rIns="0" tIns="0" bIns="0" anchor="t">
            <a:spAutoFit/>
          </a:bodyPr>
          <a:lstStyle/>
          <a:p>
            <a:pPr algn="l">
              <a:lnSpc>
                <a:spcPct val="108000"/>
              </a:lnSpc>
            </a:pPr>
            <a:r>
              <a:rPr sz="1150" b="0" i="0">
                <a:solidFill>
                  <a:srgbClr val="8FA0B3"/>
                </a:solidFill>
                <a:latin typeface="Calibri"/>
              </a:rPr>
              <a:t>Laptop speakers feeding the laptop microphone, past the echo canceller. Rarer than it used to be, which makes it more confusing when it hits one person. Headphones, or turn the volume down.</a:t>
            </a:r>
          </a:p>
        </p:txBody>
      </p:sp>
      <p:sp>
        <p:nvSpPr>
          <p:cNvPr id="19" name="Rounded Rectangle 18"/>
          <p:cNvSpPr/>
          <p:nvPr/>
        </p:nvSpPr>
        <p:spPr>
          <a:xfrm>
            <a:off x="685800" y="4956048"/>
            <a:ext cx="10820095" cy="822960"/>
          </a:xfrm>
          <a:prstGeom prst="roundRect">
            <a:avLst>
              <a:gd name="adj" fmla="val 6000"/>
            </a:avLst>
          </a:prstGeom>
          <a:solidFill>
            <a:srgbClr val="1520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60120" y="5102352"/>
            <a:ext cx="365760" cy="274320"/>
          </a:xfrm>
          <a:prstGeom prst="rect">
            <a:avLst/>
          </a:prstGeom>
          <a:noFill/>
        </p:spPr>
        <p:txBody>
          <a:bodyPr wrap="square" lIns="0" rIns="0" tIns="0" bIns="0" anchor="t">
            <a:spAutoFit/>
          </a:bodyPr>
          <a:lstStyle/>
          <a:p>
            <a:pPr algn="l"/>
            <a:r>
              <a:rPr sz="1500" b="1" i="0">
                <a:solidFill>
                  <a:srgbClr val="FFB454"/>
                </a:solidFill>
                <a:latin typeface="Courier New"/>
              </a:rPr>
              <a:t>5</a:t>
            </a:r>
          </a:p>
        </p:txBody>
      </p:sp>
      <p:sp>
        <p:nvSpPr>
          <p:cNvPr id="21" name="TextBox 20"/>
          <p:cNvSpPr txBox="1"/>
          <p:nvPr/>
        </p:nvSpPr>
        <p:spPr>
          <a:xfrm>
            <a:off x="1399032" y="5065776"/>
            <a:ext cx="3017520" cy="274320"/>
          </a:xfrm>
          <a:prstGeom prst="rect">
            <a:avLst/>
          </a:prstGeom>
          <a:noFill/>
        </p:spPr>
        <p:txBody>
          <a:bodyPr wrap="square" lIns="0" rIns="0" tIns="0" bIns="0" anchor="t">
            <a:spAutoFit/>
          </a:bodyPr>
          <a:lstStyle/>
          <a:p>
            <a:pPr algn="l"/>
            <a:r>
              <a:rPr sz="1400" b="1" i="0">
                <a:solidFill>
                  <a:srgbClr val="FFFFFF"/>
                </a:solidFill>
                <a:latin typeface="Calibri"/>
              </a:rPr>
              <a:t>A truncated API key</a:t>
            </a:r>
          </a:p>
        </p:txBody>
      </p:sp>
      <p:sp>
        <p:nvSpPr>
          <p:cNvPr id="22" name="TextBox 21"/>
          <p:cNvSpPr txBox="1"/>
          <p:nvPr/>
        </p:nvSpPr>
        <p:spPr>
          <a:xfrm>
            <a:off x="1399032" y="5358384"/>
            <a:ext cx="9784080" cy="384048"/>
          </a:xfrm>
          <a:prstGeom prst="rect">
            <a:avLst/>
          </a:prstGeom>
          <a:noFill/>
        </p:spPr>
        <p:txBody>
          <a:bodyPr wrap="square" lIns="0" rIns="0" tIns="0" bIns="0" anchor="t">
            <a:spAutoFit/>
          </a:bodyPr>
          <a:lstStyle/>
          <a:p>
            <a:pPr algn="l">
              <a:lnSpc>
                <a:spcPct val="108000"/>
              </a:lnSpc>
            </a:pPr>
            <a:r>
              <a:rPr sz="1150" b="0" i="0">
                <a:solidFill>
                  <a:srgbClr val="8FA0B3"/>
                </a:solidFill>
                <a:latin typeface="Calibri"/>
              </a:rPr>
              <a:t>Copy-paste drops characters or adds a space. Step 1 makes a real authenticated call, so this surfaces immediately as “Deepgram rejected the key.”</a:t>
            </a:r>
          </a:p>
        </p:txBody>
      </p:sp>
      <p:sp>
        <p:nvSpPr>
          <p:cNvPr id="23" name="TextBox 22"/>
          <p:cNvSpPr txBox="1"/>
          <p:nvPr/>
        </p:nvSpPr>
        <p:spPr>
          <a:xfrm>
            <a:off x="685800" y="5961888"/>
            <a:ext cx="10820095" cy="548640"/>
          </a:xfrm>
          <a:prstGeom prst="rect">
            <a:avLst/>
          </a:prstGeom>
          <a:noFill/>
        </p:spPr>
        <p:txBody>
          <a:bodyPr wrap="square" lIns="0" rIns="0" tIns="0" bIns="0" anchor="t">
            <a:spAutoFit/>
          </a:bodyPr>
          <a:lstStyle/>
          <a:p>
            <a:pPr algn="l"/>
            <a:r>
              <a:rPr sz="1250" b="0" i="1">
                <a:solidFill>
                  <a:srgbClr val="13EF93"/>
                </a:solidFill>
                <a:latin typeface="Calibri"/>
              </a:rPr>
              <a:t>And one that isn't an environment failure at all: “The agent refused these settings.” The machine is fine — a model isn't served where that person is connecting. Step 1 prints which.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85800" y="566928"/>
            <a:ext cx="10820095" cy="658368"/>
          </a:xfrm>
          <a:prstGeom prst="rect">
            <a:avLst/>
          </a:prstGeom>
          <a:noFill/>
        </p:spPr>
        <p:txBody>
          <a:bodyPr wrap="square" lIns="0" rIns="0" tIns="0" bIns="0" anchor="t">
            <a:spAutoFit/>
          </a:bodyPr>
          <a:lstStyle/>
          <a:p>
            <a:pPr algn="l"/>
            <a:r>
              <a:rPr sz="3600" b="1" i="0">
                <a:solidFill>
                  <a:srgbClr val="FFFFFF"/>
                </a:solidFill>
                <a:latin typeface="Calibri"/>
              </a:rPr>
              <a:t>Check-yourself answers</a:t>
            </a:r>
          </a:p>
        </p:txBody>
      </p:sp>
      <p:sp>
        <p:nvSpPr>
          <p:cNvPr id="3" name="TextBox 2"/>
          <p:cNvSpPr txBox="1"/>
          <p:nvPr/>
        </p:nvSpPr>
        <p:spPr>
          <a:xfrm>
            <a:off x="685800" y="1243584"/>
            <a:ext cx="10820095" cy="640080"/>
          </a:xfrm>
          <a:prstGeom prst="rect">
            <a:avLst/>
          </a:prstGeom>
          <a:noFill/>
        </p:spPr>
        <p:txBody>
          <a:bodyPr wrap="square" lIns="0" rIns="0" tIns="0" bIns="0" anchor="t">
            <a:spAutoFit/>
          </a:bodyPr>
          <a:lstStyle/>
          <a:p>
            <a:pPr algn="l">
              <a:lnSpc>
                <a:spcPct val="115000"/>
              </a:lnSpc>
            </a:pPr>
            <a:r>
              <a:rPr sz="1600" b="0" i="0">
                <a:solidFill>
                  <a:srgbClr val="8FA0B3"/>
                </a:solidFill>
                <a:latin typeface="Calibri"/>
              </a:rPr>
              <a:t>The LAB.md files pose these. Here are the answers, for when you ask the room.</a:t>
            </a:r>
          </a:p>
        </p:txBody>
      </p:sp>
      <p:sp>
        <p:nvSpPr>
          <p:cNvPr id="4" name="Oval 3"/>
          <p:cNvSpPr/>
          <p:nvPr/>
        </p:nvSpPr>
        <p:spPr>
          <a:xfrm>
            <a:off x="685800" y="1700784"/>
            <a:ext cx="310896" cy="310896"/>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1755648"/>
            <a:ext cx="310896" cy="237744"/>
          </a:xfrm>
          <a:prstGeom prst="rect">
            <a:avLst/>
          </a:prstGeom>
          <a:noFill/>
        </p:spPr>
        <p:txBody>
          <a:bodyPr wrap="square" lIns="0" rIns="0" tIns="0" bIns="0" anchor="t">
            <a:spAutoFit/>
          </a:bodyPr>
          <a:lstStyle/>
          <a:p>
            <a:pPr algn="ctr"/>
            <a:r>
              <a:rPr sz="1200" b="1" i="0">
                <a:solidFill>
                  <a:srgbClr val="13EF93"/>
                </a:solidFill>
                <a:latin typeface="Calibri"/>
              </a:rPr>
              <a:t>0</a:t>
            </a:r>
          </a:p>
        </p:txBody>
      </p:sp>
      <p:sp>
        <p:nvSpPr>
          <p:cNvPr id="6" name="TextBox 5"/>
          <p:cNvSpPr txBox="1"/>
          <p:nvPr/>
        </p:nvSpPr>
        <p:spPr>
          <a:xfrm>
            <a:off x="1161288" y="1682496"/>
            <a:ext cx="10332720" cy="566928"/>
          </a:xfrm>
          <a:prstGeom prst="rect">
            <a:avLst/>
          </a:prstGeom>
          <a:noFill/>
        </p:spPr>
        <p:txBody>
          <a:bodyPr wrap="square" lIns="0" rIns="0" tIns="0" bIns="0" anchor="t">
            <a:spAutoFit/>
          </a:bodyPr>
          <a:lstStyle/>
          <a:p>
            <a:pPr algn="l">
              <a:lnSpc>
                <a:spcPct val="110000"/>
              </a:lnSpc>
            </a:pPr>
            <a:r>
              <a:rPr sz="1250" b="0" i="0">
                <a:solidFill>
                  <a:srgbClr val="D8E0EA"/>
                </a:solidFill>
                <a:latin typeface="Calibri"/>
              </a:rPr>
              <a:t>STT, LLM, TTS — the LLM holds the history. Turn-taking, provider handoffs, buffering, interruption signalling. Turn detection is inside the Flux model, server-side; the client still clears queued playback. The next folder.</a:t>
            </a:r>
          </a:p>
        </p:txBody>
      </p:sp>
      <p:sp>
        <p:nvSpPr>
          <p:cNvPr id="7" name="Oval 6"/>
          <p:cNvSpPr/>
          <p:nvPr/>
        </p:nvSpPr>
        <p:spPr>
          <a:xfrm>
            <a:off x="685800" y="2322576"/>
            <a:ext cx="310896" cy="310896"/>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2377440"/>
            <a:ext cx="310896" cy="237744"/>
          </a:xfrm>
          <a:prstGeom prst="rect">
            <a:avLst/>
          </a:prstGeom>
          <a:noFill/>
        </p:spPr>
        <p:txBody>
          <a:bodyPr wrap="square" lIns="0" rIns="0" tIns="0" bIns="0" anchor="t">
            <a:spAutoFit/>
          </a:bodyPr>
          <a:lstStyle/>
          <a:p>
            <a:pPr algn="ctr"/>
            <a:r>
              <a:rPr sz="1200" b="1" i="0">
                <a:solidFill>
                  <a:srgbClr val="13EF93"/>
                </a:solidFill>
                <a:latin typeface="Calibri"/>
              </a:rPr>
              <a:t>1</a:t>
            </a:r>
          </a:p>
        </p:txBody>
      </p:sp>
      <p:sp>
        <p:nvSpPr>
          <p:cNvPr id="9" name="TextBox 8"/>
          <p:cNvSpPr txBox="1"/>
          <p:nvPr/>
        </p:nvSpPr>
        <p:spPr>
          <a:xfrm>
            <a:off x="1161288" y="2304288"/>
            <a:ext cx="10332720" cy="402336"/>
          </a:xfrm>
          <a:prstGeom prst="rect">
            <a:avLst/>
          </a:prstGeom>
          <a:noFill/>
        </p:spPr>
        <p:txBody>
          <a:bodyPr wrap="square" lIns="0" rIns="0" tIns="0" bIns="0" anchor="t">
            <a:spAutoFit/>
          </a:bodyPr>
          <a:lstStyle/>
          <a:p>
            <a:pPr algn="l">
              <a:lnSpc>
                <a:spcPct val="110000"/>
              </a:lnSpc>
            </a:pPr>
            <a:r>
              <a:rPr sz="1250" b="0" i="0">
                <a:solidFill>
                  <a:srgbClr val="D8E0EA"/>
                </a:solidFill>
                <a:latin typeface="Calibri"/>
              </a:rPr>
              <a:t>One. Deepgram brokers the OpenAI call, so your Deepgram key covers the LLM.</a:t>
            </a:r>
          </a:p>
        </p:txBody>
      </p:sp>
      <p:sp>
        <p:nvSpPr>
          <p:cNvPr id="10" name="Oval 9"/>
          <p:cNvSpPr/>
          <p:nvPr/>
        </p:nvSpPr>
        <p:spPr>
          <a:xfrm>
            <a:off x="685800" y="2779776"/>
            <a:ext cx="310896" cy="310896"/>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2834640"/>
            <a:ext cx="310896" cy="237744"/>
          </a:xfrm>
          <a:prstGeom prst="rect">
            <a:avLst/>
          </a:prstGeom>
          <a:noFill/>
        </p:spPr>
        <p:txBody>
          <a:bodyPr wrap="square" lIns="0" rIns="0" tIns="0" bIns="0" anchor="t">
            <a:spAutoFit/>
          </a:bodyPr>
          <a:lstStyle/>
          <a:p>
            <a:pPr algn="ctr"/>
            <a:r>
              <a:rPr sz="1200" b="1" i="0">
                <a:solidFill>
                  <a:srgbClr val="13EF93"/>
                </a:solidFill>
                <a:latin typeface="Calibri"/>
              </a:rPr>
              <a:t>2</a:t>
            </a:r>
          </a:p>
        </p:txBody>
      </p:sp>
      <p:sp>
        <p:nvSpPr>
          <p:cNvPr id="12" name="TextBox 11"/>
          <p:cNvSpPr txBox="1"/>
          <p:nvPr/>
        </p:nvSpPr>
        <p:spPr>
          <a:xfrm>
            <a:off x="1161288" y="2761488"/>
            <a:ext cx="10332720" cy="566928"/>
          </a:xfrm>
          <a:prstGeom prst="rect">
            <a:avLst/>
          </a:prstGeom>
          <a:noFill/>
        </p:spPr>
        <p:txBody>
          <a:bodyPr wrap="square" lIns="0" rIns="0" tIns="0" bIns="0" anchor="t">
            <a:spAutoFit/>
          </a:bodyPr>
          <a:lstStyle/>
          <a:p>
            <a:pPr algn="l">
              <a:lnSpc>
                <a:spcPct val="110000"/>
              </a:lnSpc>
            </a:pPr>
            <a:r>
              <a:rPr sz="1250" b="0" i="0">
                <a:solidFill>
                  <a:srgbClr val="D8E0EA"/>
                </a:solidFill>
                <a:latin typeface="Calibri"/>
              </a:rPr>
              <a:t>listen configures speech-to-text; the LLM is named under think. The agent discards media that arrives before the handshake completes, so audio sent early is silently lost.</a:t>
            </a:r>
          </a:p>
        </p:txBody>
      </p:sp>
      <p:sp>
        <p:nvSpPr>
          <p:cNvPr id="13" name="Oval 12"/>
          <p:cNvSpPr/>
          <p:nvPr/>
        </p:nvSpPr>
        <p:spPr>
          <a:xfrm>
            <a:off x="685800" y="3401568"/>
            <a:ext cx="310896" cy="310896"/>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3456432"/>
            <a:ext cx="310896" cy="237744"/>
          </a:xfrm>
          <a:prstGeom prst="rect">
            <a:avLst/>
          </a:prstGeom>
          <a:noFill/>
        </p:spPr>
        <p:txBody>
          <a:bodyPr wrap="square" lIns="0" rIns="0" tIns="0" bIns="0" anchor="t">
            <a:spAutoFit/>
          </a:bodyPr>
          <a:lstStyle/>
          <a:p>
            <a:pPr algn="ctr"/>
            <a:r>
              <a:rPr sz="1200" b="1" i="0">
                <a:solidFill>
                  <a:srgbClr val="13EF93"/>
                </a:solidFill>
                <a:latin typeface="Calibri"/>
              </a:rPr>
              <a:t>3</a:t>
            </a:r>
          </a:p>
        </p:txBody>
      </p:sp>
      <p:sp>
        <p:nvSpPr>
          <p:cNvPr id="15" name="TextBox 14"/>
          <p:cNvSpPr txBox="1"/>
          <p:nvPr/>
        </p:nvSpPr>
        <p:spPr>
          <a:xfrm>
            <a:off x="1161288" y="3383279"/>
            <a:ext cx="10332720" cy="402336"/>
          </a:xfrm>
          <a:prstGeom prst="rect">
            <a:avLst/>
          </a:prstGeom>
          <a:noFill/>
        </p:spPr>
        <p:txBody>
          <a:bodyPr wrap="square" lIns="0" rIns="0" tIns="0" bIns="0" anchor="t">
            <a:spAutoFit/>
          </a:bodyPr>
          <a:lstStyle/>
          <a:p>
            <a:pPr algn="l">
              <a:lnSpc>
                <a:spcPct val="110000"/>
              </a:lnSpc>
            </a:pPr>
            <a:r>
              <a:rPr sz="1250" b="0" i="0">
                <a:solidFill>
                  <a:srgbClr val="D8E0EA"/>
                </a:solidFill>
                <a:latin typeface="Calibri"/>
              </a:rPr>
              <a:t>The greeting starts arriving within milliseconds of SettingsApplied, and audio with nowhere to go is audio thrown away.</a:t>
            </a:r>
          </a:p>
        </p:txBody>
      </p:sp>
      <p:sp>
        <p:nvSpPr>
          <p:cNvPr id="16" name="Oval 15"/>
          <p:cNvSpPr/>
          <p:nvPr/>
        </p:nvSpPr>
        <p:spPr>
          <a:xfrm>
            <a:off x="685800" y="3858768"/>
            <a:ext cx="310896" cy="310896"/>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85800" y="3913631"/>
            <a:ext cx="310896" cy="237744"/>
          </a:xfrm>
          <a:prstGeom prst="rect">
            <a:avLst/>
          </a:prstGeom>
          <a:noFill/>
        </p:spPr>
        <p:txBody>
          <a:bodyPr wrap="square" lIns="0" rIns="0" tIns="0" bIns="0" anchor="t">
            <a:spAutoFit/>
          </a:bodyPr>
          <a:lstStyle/>
          <a:p>
            <a:pPr algn="ctr"/>
            <a:r>
              <a:rPr sz="1200" b="1" i="0">
                <a:solidFill>
                  <a:srgbClr val="13EF93"/>
                </a:solidFill>
                <a:latin typeface="Calibri"/>
              </a:rPr>
              <a:t>4</a:t>
            </a:r>
          </a:p>
        </p:txBody>
      </p:sp>
      <p:sp>
        <p:nvSpPr>
          <p:cNvPr id="18" name="TextBox 17"/>
          <p:cNvSpPr txBox="1"/>
          <p:nvPr/>
        </p:nvSpPr>
        <p:spPr>
          <a:xfrm>
            <a:off x="1161288" y="3840480"/>
            <a:ext cx="10332720" cy="402336"/>
          </a:xfrm>
          <a:prstGeom prst="rect">
            <a:avLst/>
          </a:prstGeom>
          <a:noFill/>
        </p:spPr>
        <p:txBody>
          <a:bodyPr wrap="square" lIns="0" rIns="0" tIns="0" bIns="0" anchor="t">
            <a:spAutoFit/>
          </a:bodyPr>
          <a:lstStyle/>
          <a:p>
            <a:pPr algn="l">
              <a:lnSpc>
                <a:spcPct val="110000"/>
              </a:lnSpc>
            </a:pPr>
            <a:r>
              <a:rPr sz="1250" b="0" i="0">
                <a:solidFill>
                  <a:srgbClr val="D8E0EA"/>
                </a:solidFill>
                <a:latin typeface="Calibri"/>
              </a:rPr>
              <a:t>Flux does turn detection inside the model, so there's nothing for client-side VAD to do.</a:t>
            </a:r>
          </a:p>
        </p:txBody>
      </p:sp>
      <p:sp>
        <p:nvSpPr>
          <p:cNvPr id="19" name="Oval 18"/>
          <p:cNvSpPr/>
          <p:nvPr/>
        </p:nvSpPr>
        <p:spPr>
          <a:xfrm>
            <a:off x="685800" y="4315968"/>
            <a:ext cx="310896" cy="310896"/>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5800" y="4370831"/>
            <a:ext cx="310896" cy="237744"/>
          </a:xfrm>
          <a:prstGeom prst="rect">
            <a:avLst/>
          </a:prstGeom>
          <a:noFill/>
        </p:spPr>
        <p:txBody>
          <a:bodyPr wrap="square" lIns="0" rIns="0" tIns="0" bIns="0" anchor="t">
            <a:spAutoFit/>
          </a:bodyPr>
          <a:lstStyle/>
          <a:p>
            <a:pPr algn="ctr"/>
            <a:r>
              <a:rPr sz="1200" b="1" i="0">
                <a:solidFill>
                  <a:srgbClr val="13EF93"/>
                </a:solidFill>
                <a:latin typeface="Calibri"/>
              </a:rPr>
              <a:t>5</a:t>
            </a:r>
          </a:p>
        </p:txBody>
      </p:sp>
      <p:sp>
        <p:nvSpPr>
          <p:cNvPr id="21" name="TextBox 20"/>
          <p:cNvSpPr txBox="1"/>
          <p:nvPr/>
        </p:nvSpPr>
        <p:spPr>
          <a:xfrm>
            <a:off x="1161288" y="4297680"/>
            <a:ext cx="10332720" cy="566928"/>
          </a:xfrm>
          <a:prstGeom prst="rect">
            <a:avLst/>
          </a:prstGeom>
          <a:noFill/>
        </p:spPr>
        <p:txBody>
          <a:bodyPr wrap="square" lIns="0" rIns="0" tIns="0" bIns="0" anchor="t">
            <a:spAutoFit/>
          </a:bodyPr>
          <a:lstStyle/>
          <a:p>
            <a:pPr algn="l">
              <a:lnSpc>
                <a:spcPct val="110000"/>
              </a:lnSpc>
            </a:pPr>
            <a:r>
              <a:rPr sz="1250" b="0" i="0">
                <a:solidFill>
                  <a:srgbClr val="D8E0EA"/>
                </a:solidFill>
                <a:latin typeface="Calibri"/>
              </a:rPr>
              <a:t>Because the pump would immediately refill the browser's queue from the Python-side one — the agent talks over the user a moment later rather than immediately, which is worse, because it looks like it nearly works.</a:t>
            </a:r>
          </a:p>
        </p:txBody>
      </p:sp>
      <p:sp>
        <p:nvSpPr>
          <p:cNvPr id="22" name="Oval 21"/>
          <p:cNvSpPr/>
          <p:nvPr/>
        </p:nvSpPr>
        <p:spPr>
          <a:xfrm>
            <a:off x="685800" y="4937759"/>
            <a:ext cx="310896" cy="310896"/>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5800" y="4992623"/>
            <a:ext cx="310896" cy="237744"/>
          </a:xfrm>
          <a:prstGeom prst="rect">
            <a:avLst/>
          </a:prstGeom>
          <a:noFill/>
        </p:spPr>
        <p:txBody>
          <a:bodyPr wrap="square" lIns="0" rIns="0" tIns="0" bIns="0" anchor="t">
            <a:spAutoFit/>
          </a:bodyPr>
          <a:lstStyle/>
          <a:p>
            <a:pPr algn="ctr"/>
            <a:r>
              <a:rPr sz="1200" b="1" i="0">
                <a:solidFill>
                  <a:srgbClr val="13EF93"/>
                </a:solidFill>
                <a:latin typeface="Calibri"/>
              </a:rPr>
              <a:t>6</a:t>
            </a:r>
          </a:p>
        </p:txBody>
      </p:sp>
      <p:sp>
        <p:nvSpPr>
          <p:cNvPr id="24" name="TextBox 23"/>
          <p:cNvSpPr txBox="1"/>
          <p:nvPr/>
        </p:nvSpPr>
        <p:spPr>
          <a:xfrm>
            <a:off x="1161288" y="4919472"/>
            <a:ext cx="10332720" cy="402336"/>
          </a:xfrm>
          <a:prstGeom prst="rect">
            <a:avLst/>
          </a:prstGeom>
          <a:noFill/>
        </p:spPr>
        <p:txBody>
          <a:bodyPr wrap="square" lIns="0" rIns="0" tIns="0" bIns="0" anchor="t">
            <a:spAutoFit/>
          </a:bodyPr>
          <a:lstStyle/>
          <a:p>
            <a:pPr algn="l">
              <a:lnSpc>
                <a:spcPct val="110000"/>
              </a:lnSpc>
            </a:pPr>
            <a:r>
              <a:rPr sz="1250" b="0" i="0">
                <a:solidFill>
                  <a:srgbClr val="D8E0EA"/>
                </a:solidFill>
                <a:latin typeface="Calibri"/>
              </a:rPr>
              <a:t>Tell it that it's speaking (no markdown, bullets, or emoji), and tell it to be brief.</a:t>
            </a:r>
          </a:p>
        </p:txBody>
      </p:sp>
      <p:sp>
        <p:nvSpPr>
          <p:cNvPr id="25" name="Oval 24"/>
          <p:cNvSpPr/>
          <p:nvPr/>
        </p:nvSpPr>
        <p:spPr>
          <a:xfrm>
            <a:off x="685800" y="5394959"/>
            <a:ext cx="310896" cy="310896"/>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5800" y="5449823"/>
            <a:ext cx="310896" cy="237744"/>
          </a:xfrm>
          <a:prstGeom prst="rect">
            <a:avLst/>
          </a:prstGeom>
          <a:noFill/>
        </p:spPr>
        <p:txBody>
          <a:bodyPr wrap="square" lIns="0" rIns="0" tIns="0" bIns="0" anchor="t">
            <a:spAutoFit/>
          </a:bodyPr>
          <a:lstStyle/>
          <a:p>
            <a:pPr algn="ctr"/>
            <a:r>
              <a:rPr sz="1200" b="1" i="0">
                <a:solidFill>
                  <a:srgbClr val="13EF93"/>
                </a:solidFill>
                <a:latin typeface="Calibri"/>
              </a:rPr>
              <a:t>7</a:t>
            </a:r>
          </a:p>
        </p:txBody>
      </p:sp>
      <p:sp>
        <p:nvSpPr>
          <p:cNvPr id="27" name="TextBox 26"/>
          <p:cNvSpPr txBox="1"/>
          <p:nvPr/>
        </p:nvSpPr>
        <p:spPr>
          <a:xfrm>
            <a:off x="1161288" y="5376672"/>
            <a:ext cx="10332720" cy="402336"/>
          </a:xfrm>
          <a:prstGeom prst="rect">
            <a:avLst/>
          </a:prstGeom>
          <a:noFill/>
        </p:spPr>
        <p:txBody>
          <a:bodyPr wrap="square" lIns="0" rIns="0" tIns="0" bIns="0" anchor="t">
            <a:spAutoFit/>
          </a:bodyPr>
          <a:lstStyle/>
          <a:p>
            <a:pPr algn="l">
              <a:lnSpc>
                <a:spcPct val="110000"/>
              </a:lnSpc>
            </a:pPr>
            <a:r>
              <a:rPr sz="1250" b="0" i="0">
                <a:solidFill>
                  <a:srgbClr val="D8E0EA"/>
                </a:solidFill>
                <a:latin typeface="Calibri"/>
              </a:rPr>
              <a:t>Setting endpoint moves execution to Deepgram; omitting it keeps the function client-side.</a:t>
            </a:r>
          </a:p>
        </p:txBody>
      </p:sp>
      <p:sp>
        <p:nvSpPr>
          <p:cNvPr id="28" name="Oval 27"/>
          <p:cNvSpPr/>
          <p:nvPr/>
        </p:nvSpPr>
        <p:spPr>
          <a:xfrm>
            <a:off x="685800" y="5852159"/>
            <a:ext cx="310896" cy="310896"/>
          </a:xfrm>
          <a:prstGeom prst="ellipse">
            <a:avLst/>
          </a:prstGeom>
          <a:solidFill>
            <a:srgbClr val="0A2A20"/>
          </a:solidFill>
          <a:ln w="12700">
            <a:solidFill>
              <a:srgbClr val="13EF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5800" y="5907023"/>
            <a:ext cx="310896" cy="237744"/>
          </a:xfrm>
          <a:prstGeom prst="rect">
            <a:avLst/>
          </a:prstGeom>
          <a:noFill/>
        </p:spPr>
        <p:txBody>
          <a:bodyPr wrap="square" lIns="0" rIns="0" tIns="0" bIns="0" anchor="t">
            <a:spAutoFit/>
          </a:bodyPr>
          <a:lstStyle/>
          <a:p>
            <a:pPr algn="ctr"/>
            <a:r>
              <a:rPr sz="1200" b="1" i="0">
                <a:solidFill>
                  <a:srgbClr val="13EF93"/>
                </a:solidFill>
                <a:latin typeface="Calibri"/>
              </a:rPr>
              <a:t>8</a:t>
            </a:r>
          </a:p>
        </p:txBody>
      </p:sp>
      <p:sp>
        <p:nvSpPr>
          <p:cNvPr id="30" name="TextBox 29"/>
          <p:cNvSpPr txBox="1"/>
          <p:nvPr/>
        </p:nvSpPr>
        <p:spPr>
          <a:xfrm>
            <a:off x="1161288" y="5833872"/>
            <a:ext cx="10332720" cy="402336"/>
          </a:xfrm>
          <a:prstGeom prst="rect">
            <a:avLst/>
          </a:prstGeom>
          <a:noFill/>
        </p:spPr>
        <p:txBody>
          <a:bodyPr wrap="square" lIns="0" rIns="0" tIns="0" bIns="0" anchor="t">
            <a:spAutoFit/>
          </a:bodyPr>
          <a:lstStyle/>
          <a:p>
            <a:pPr algn="l">
              <a:lnSpc>
                <a:spcPct val="110000"/>
              </a:lnSpc>
            </a:pPr>
            <a:r>
              <a:rPr sz="1250" b="0" i="0">
                <a:solidFill>
                  <a:srgbClr val="D8E0EA"/>
                </a:solidFill>
                <a:latin typeface="Calibri"/>
              </a:rPr>
              <a:t>Raise eot_threshold. It demands more confidence before Flux calls the turn over.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70B10"/>
        </a:solidFill>
        <a:effectLst/>
      </p:bgPr>
    </p:bg>
    <p:spTree>
      <p:nvGrpSpPr>
        <p:cNvPr id="1" name=""/>
        <p:cNvGrpSpPr/>
        <p:nvPr/>
      </p:nvGrpSpPr>
      <p:grpSpPr/>
      <p:sp>
        <p:nvSpPr>
          <p:cNvPr id="2" name="TextBox 1"/>
          <p:cNvSpPr txBox="1"/>
          <p:nvPr/>
        </p:nvSpPr>
        <p:spPr>
          <a:xfrm>
            <a:off x="685800" y="566928"/>
            <a:ext cx="10820095" cy="658368"/>
          </a:xfrm>
          <a:prstGeom prst="rect">
            <a:avLst/>
          </a:prstGeom>
          <a:noFill/>
        </p:spPr>
        <p:txBody>
          <a:bodyPr wrap="square" lIns="0" rIns="0" tIns="0" bIns="0" anchor="t">
            <a:spAutoFit/>
          </a:bodyPr>
          <a:lstStyle/>
          <a:p>
            <a:pPr algn="l"/>
            <a:r>
              <a:rPr sz="3600" b="1" i="0">
                <a:solidFill>
                  <a:srgbClr val="FFFFFF"/>
                </a:solidFill>
                <a:latin typeface="Calibri"/>
              </a:rPr>
              <a:t>Running in another region</a:t>
            </a:r>
          </a:p>
        </p:txBody>
      </p:sp>
      <p:sp>
        <p:nvSpPr>
          <p:cNvPr id="3" name="TextBox 2"/>
          <p:cNvSpPr txBox="1"/>
          <p:nvPr/>
        </p:nvSpPr>
        <p:spPr>
          <a:xfrm>
            <a:off x="685800" y="1280160"/>
            <a:ext cx="10424160" cy="640080"/>
          </a:xfrm>
          <a:prstGeom prst="rect">
            <a:avLst/>
          </a:prstGeom>
          <a:noFill/>
        </p:spPr>
        <p:txBody>
          <a:bodyPr wrap="square" lIns="0" rIns="0" tIns="0" bIns="0" anchor="t">
            <a:spAutoFit/>
          </a:bodyPr>
          <a:lstStyle/>
          <a:p>
            <a:pPr algn="l">
              <a:lnSpc>
                <a:spcPct val="115000"/>
              </a:lnSpc>
            </a:pPr>
            <a:r>
              <a:rPr sz="1600" b="0" i="0">
                <a:solidFill>
                  <a:srgbClr val="8FA0B3"/>
                </a:solidFill>
                <a:latin typeface="Calibri"/>
              </a:rPr>
              <a:t>Deepgram serves the same APIs from more than one place. Global is the default; the EU and AU endpoints process audio inside those geographies.</a:t>
            </a:r>
          </a:p>
        </p:txBody>
      </p:sp>
      <p:sp>
        <p:nvSpPr>
          <p:cNvPr id="4" name="Rounded Rectangle 3"/>
          <p:cNvSpPr/>
          <p:nvPr/>
        </p:nvSpPr>
        <p:spPr>
          <a:xfrm>
            <a:off x="685800" y="2121408"/>
            <a:ext cx="5623560" cy="1005840"/>
          </a:xfrm>
          <a:prstGeom prst="roundRect">
            <a:avLst>
              <a:gd name="adj" fmla="val 5000"/>
            </a:avLst>
          </a:prstGeom>
          <a:solidFill>
            <a:srgbClr val="0C13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941832" y="2304288"/>
            <a:ext cx="5166360" cy="237744"/>
          </a:xfrm>
          <a:prstGeom prst="rect">
            <a:avLst/>
          </a:prstGeom>
          <a:noFill/>
        </p:spPr>
        <p:txBody>
          <a:bodyPr wrap="square" lIns="0" rIns="0" tIns="0" bIns="0" anchor="t">
            <a:spAutoFit/>
          </a:bodyPr>
          <a:lstStyle/>
          <a:p>
            <a:pPr algn="l"/>
            <a:r>
              <a:rPr sz="1050" b="1" i="0">
                <a:solidFill>
                  <a:srgbClr val="5D6E80"/>
                </a:solidFill>
                <a:latin typeface="Calibri"/>
              </a:rPr>
              <a:t>ONE LINE IN .env</a:t>
            </a:r>
          </a:p>
        </p:txBody>
      </p:sp>
      <p:sp>
        <p:nvSpPr>
          <p:cNvPr id="6" name="TextBox 5"/>
          <p:cNvSpPr txBox="1"/>
          <p:nvPr/>
        </p:nvSpPr>
        <p:spPr>
          <a:xfrm>
            <a:off x="941832" y="2633472"/>
            <a:ext cx="5166360" cy="356616"/>
          </a:xfrm>
          <a:prstGeom prst="rect">
            <a:avLst/>
          </a:prstGeom>
          <a:noFill/>
        </p:spPr>
        <p:txBody>
          <a:bodyPr wrap="square" lIns="0" rIns="0" tIns="0" bIns="0" anchor="t">
            <a:spAutoFit/>
          </a:bodyPr>
          <a:lstStyle/>
          <a:p>
            <a:pPr algn="l">
              <a:lnSpc>
                <a:spcPct val="100000"/>
              </a:lnSpc>
              <a:spcAft>
                <a:spcPts val="300"/>
              </a:spcAft>
            </a:pPr>
            <a:r>
              <a:rPr sz="1250" b="0" i="0">
                <a:solidFill>
                  <a:srgbClr val="13EF93"/>
                </a:solidFill>
                <a:latin typeface="Courier New"/>
              </a:rPr>
              <a:t>DEEPGRAM_REGION=eu      # global (default), eu, or au</a:t>
            </a:r>
          </a:p>
        </p:txBody>
      </p:sp>
      <p:sp>
        <p:nvSpPr>
          <p:cNvPr id="7" name="TextBox 6"/>
          <p:cNvSpPr txBox="1"/>
          <p:nvPr/>
        </p:nvSpPr>
        <p:spPr>
          <a:xfrm>
            <a:off x="685800" y="3328416"/>
            <a:ext cx="5623560" cy="1371600"/>
          </a:xfrm>
          <a:prstGeom prst="rect">
            <a:avLst/>
          </a:prstGeom>
          <a:noFill/>
        </p:spPr>
        <p:txBody>
          <a:bodyPr wrap="square" lIns="0" rIns="0" tIns="0" bIns="0" anchor="t">
            <a:spAutoFit/>
          </a:bodyPr>
          <a:lstStyle/>
          <a:p>
            <a:pPr algn="l">
              <a:lnSpc>
                <a:spcPct val="115000"/>
              </a:lnSpc>
            </a:pPr>
            <a:r>
              <a:rPr sz="1350" b="0" i="0">
                <a:solidFill>
                  <a:srgbClr val="D8E0EA"/>
                </a:solidFill>
                <a:latin typeface="Calibri"/>
              </a:rPr>
              <a:t>That is the whole change. Your key works in every region, no step's code names one, and every step reads the same .env — so one line moves Steps 1 through 8 together.</a:t>
            </a:r>
          </a:p>
        </p:txBody>
      </p:sp>
      <p:sp>
        <p:nvSpPr>
          <p:cNvPr id="8" name="Rounded Rectangle 7"/>
          <p:cNvSpPr/>
          <p:nvPr/>
        </p:nvSpPr>
        <p:spPr>
          <a:xfrm>
            <a:off x="6720840" y="2121408"/>
            <a:ext cx="4782312" cy="2432304"/>
          </a:xfrm>
          <a:prstGeom prst="roundRect">
            <a:avLst>
              <a:gd name="adj" fmla="val 6000"/>
            </a:avLst>
          </a:prstGeom>
          <a:solidFill>
            <a:srgbClr val="15202B"/>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013448" y="2359152"/>
            <a:ext cx="4206240" cy="2011680"/>
          </a:xfrm>
          <a:prstGeom prst="rect">
            <a:avLst/>
          </a:prstGeom>
          <a:noFill/>
        </p:spPr>
        <p:txBody>
          <a:bodyPr wrap="square" lIns="0" rIns="0" tIns="0" bIns="0" anchor="t">
            <a:spAutoFit/>
          </a:bodyPr>
          <a:lstStyle/>
          <a:p>
            <a:pPr algn="l">
              <a:spcAft>
                <a:spcPts val="800"/>
              </a:spcAft>
            </a:pPr>
            <a:r>
              <a:rPr sz="1450" b="1" i="0">
                <a:solidFill>
                  <a:srgbClr val="FFB454"/>
                </a:solidFill>
                <a:latin typeface="Calibri"/>
              </a:rPr>
              <a:t>As of August 2026, au needs one change</a:t>
            </a:r>
          </a:p>
          <a:p>
            <a:pPr algn="l">
              <a:lnSpc>
                <a:spcPct val="112000"/>
              </a:lnSpc>
              <a:spcAft>
                <a:spcPts val="1000"/>
              </a:spcAft>
            </a:pPr>
            <a:r>
              <a:rPr sz="1300" b="0" i="0">
                <a:solidFill>
                  <a:srgbClr val="D8E0EA"/>
                </a:solidFill>
                <a:latin typeface="Calibri"/>
              </a:rPr>
              <a:t>Flux TTS is not served there yet, so flux-alexis-en is refused — Flux STT and the LLM are fine.</a:t>
            </a:r>
          </a:p>
          <a:p>
            <a:pPr algn="l">
              <a:lnSpc>
                <a:spcPct val="112000"/>
              </a:lnSpc>
            </a:pPr>
            <a:r>
              <a:rPr sz="1300" b="0" i="0">
                <a:solidFill>
                  <a:srgbClr val="8FA0B3"/>
                </a:solidFill>
                <a:latin typeface="Calibri"/>
              </a:rPr>
              <a:t>Set speak to aura-2-thalia-en in every step's SETTINGS and the workshop runs unchanged. Step 6 teaches changing the voice anyway, so it costs the room nothing.</a:t>
            </a:r>
          </a:p>
        </p:txBody>
      </p:sp>
      <p:sp>
        <p:nvSpPr>
          <p:cNvPr id="10" name="Rounded Rectangle 9"/>
          <p:cNvSpPr/>
          <p:nvPr/>
        </p:nvSpPr>
        <p:spPr>
          <a:xfrm>
            <a:off x="685800" y="4791456"/>
            <a:ext cx="10820095" cy="1225296"/>
          </a:xfrm>
          <a:prstGeom prst="roundRect">
            <a:avLst>
              <a:gd name="adj" fmla="val 6000"/>
            </a:avLst>
          </a:prstGeom>
          <a:solidFill>
            <a:srgbClr val="1C2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69848" y="5010912"/>
            <a:ext cx="10241280" cy="822960"/>
          </a:xfrm>
          <a:prstGeom prst="rect">
            <a:avLst/>
          </a:prstGeom>
          <a:noFill/>
        </p:spPr>
        <p:txBody>
          <a:bodyPr wrap="square" lIns="0" rIns="0" tIns="0" bIns="0" anchor="t">
            <a:spAutoFit/>
          </a:bodyPr>
          <a:lstStyle/>
          <a:p>
            <a:pPr algn="l">
              <a:spcAft>
                <a:spcPts val="600"/>
              </a:spcAft>
            </a:pPr>
            <a:r>
              <a:rPr sz="1550" b="1" i="0">
                <a:solidFill>
                  <a:srgbClr val="13EF93"/>
                </a:solidFill>
                <a:latin typeface="Calibri"/>
              </a:rPr>
              <a:t>You don't have to test the region yourself.</a:t>
            </a:r>
          </a:p>
          <a:p>
            <a:pPr algn="l">
              <a:lnSpc>
                <a:spcPct val="114000"/>
              </a:lnSpc>
            </a:pPr>
            <a:r>
              <a:rPr sz="1350" b="0" i="0">
                <a:solidFill>
                  <a:srgbClr val="D8E0EA"/>
                </a:solidFill>
                <a:latin typeface="Calibri"/>
              </a:rPr>
              <a:t>Step 1 opens the same WebSocket Step 2 opens, with the same three models, and reports whether the server accepted them. Model availability is per-region and moves over time — a key that works and an endpoint that answers still don't tell you a model is served there.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